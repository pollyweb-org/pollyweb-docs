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51" r:id="rId4"/>
  </p:sldMasterIdLst>
  <p:notesMasterIdLst>
    <p:notesMasterId r:id="rId33"/>
  </p:notesMasterIdLst>
  <p:handoutMasterIdLst>
    <p:handoutMasterId r:id="rId34"/>
  </p:handoutMasterIdLst>
  <p:sldIdLst>
    <p:sldId id="1470" r:id="rId5"/>
    <p:sldId id="544" r:id="rId6"/>
    <p:sldId id="1555" r:id="rId7"/>
    <p:sldId id="1553" r:id="rId8"/>
    <p:sldId id="1601" r:id="rId9"/>
    <p:sldId id="1556" r:id="rId10"/>
    <p:sldId id="1579" r:id="rId11"/>
    <p:sldId id="1559" r:id="rId12"/>
    <p:sldId id="1582" r:id="rId13"/>
    <p:sldId id="1588" r:id="rId14"/>
    <p:sldId id="1567" r:id="rId15"/>
    <p:sldId id="1592" r:id="rId16"/>
    <p:sldId id="1593" r:id="rId17"/>
    <p:sldId id="1594" r:id="rId18"/>
    <p:sldId id="1595" r:id="rId19"/>
    <p:sldId id="1589" r:id="rId20"/>
    <p:sldId id="1572" r:id="rId21"/>
    <p:sldId id="1596" r:id="rId22"/>
    <p:sldId id="1597" r:id="rId23"/>
    <p:sldId id="1573" r:id="rId24"/>
    <p:sldId id="1598" r:id="rId25"/>
    <p:sldId id="1599" r:id="rId26"/>
    <p:sldId id="1563" r:id="rId27"/>
    <p:sldId id="1578" r:id="rId28"/>
    <p:sldId id="1600" r:id="rId29"/>
    <p:sldId id="1602" r:id="rId30"/>
    <p:sldId id="1605" r:id="rId31"/>
    <p:sldId id="1604" r:id="rId32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EC2CEF-DAE0-412F-B6F7-6F4A6F0D4AEE}">
          <p14:sldIdLst>
            <p14:sldId id="1470"/>
            <p14:sldId id="544"/>
            <p14:sldId id="1555"/>
            <p14:sldId id="1553"/>
            <p14:sldId id="1601"/>
            <p14:sldId id="1556"/>
            <p14:sldId id="1579"/>
            <p14:sldId id="1559"/>
            <p14:sldId id="1582"/>
            <p14:sldId id="1588"/>
            <p14:sldId id="1567"/>
            <p14:sldId id="1592"/>
            <p14:sldId id="1593"/>
            <p14:sldId id="1594"/>
            <p14:sldId id="1595"/>
            <p14:sldId id="1589"/>
            <p14:sldId id="1572"/>
            <p14:sldId id="1596"/>
            <p14:sldId id="1597"/>
            <p14:sldId id="1573"/>
            <p14:sldId id="1598"/>
            <p14:sldId id="1599"/>
            <p14:sldId id="1563"/>
            <p14:sldId id="1578"/>
            <p14:sldId id="1600"/>
            <p14:sldId id="1602"/>
            <p14:sldId id="1605"/>
            <p14:sldId id="1604"/>
          </p14:sldIdLst>
        </p14:section>
        <p14:section name="Templates" id="{3AA3B90E-C84F-4FDE-8DE1-5ADF71A485D5}">
          <p14:sldIdLst/>
        </p14:section>
        <p14:section name="Not used" id="{81A34A80-2318-4501-B317-13257E5A44CD}">
          <p14:sldIdLst/>
        </p14:section>
        <p14:section name="Default Section" id="{E9052640-2729-DF4F-AE69-DCD364834D1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576D"/>
    <a:srgbClr val="AA72D4"/>
    <a:srgbClr val="FFCC66"/>
    <a:srgbClr val="000000"/>
    <a:srgbClr val="FFFF99"/>
    <a:srgbClr val="023581"/>
    <a:srgbClr val="38638E"/>
    <a:srgbClr val="D9D9D9"/>
    <a:srgbClr val="E3E6EE"/>
    <a:srgbClr val="779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5" autoAdjust="0"/>
    <p:restoredTop sz="79525" autoAdjust="0"/>
  </p:normalViewPr>
  <p:slideViewPr>
    <p:cSldViewPr snapToGrid="0" showGuides="1">
      <p:cViewPr varScale="1">
        <p:scale>
          <a:sx n="87" d="100"/>
          <a:sy n="87" d="100"/>
        </p:scale>
        <p:origin x="2152" y="19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325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439651-5657-4ACE-8526-EB0EAFD83944}" type="datetime1">
              <a:rPr lang="en-GB" smtClean="0"/>
              <a:t>25/09/2023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18A1656-FDB1-442A-B22F-67D2FDA9ED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7850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CA1872-591F-4558-AB14-AA939DCFAB16}" type="datetime1">
              <a:rPr lang="en-GB" noProof="0" smtClean="0"/>
              <a:t>25/09/2023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6332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966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16344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9009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8209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5577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013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4721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40386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986071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22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76159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98680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WG17 PP content:</a:t>
            </a:r>
          </a:p>
          <a:p>
            <a:r>
              <a:rPr lang="en-GB" dirty="0"/>
              <a:t>Mobile Device Fundamentals</a:t>
            </a:r>
          </a:p>
          <a:p>
            <a:r>
              <a:rPr lang="en-GB" dirty="0"/>
              <a:t> Security IC Platform Protection Profile with Augmentation Package</a:t>
            </a:r>
          </a:p>
          <a:p>
            <a:r>
              <a:rPr lang="en-GB" dirty="0"/>
              <a:t> Secure Sub-System in System-on-Chip (3S in SoC) Protection Profile</a:t>
            </a:r>
          </a:p>
          <a:p>
            <a:r>
              <a:rPr lang="en-GB" dirty="0"/>
              <a:t> Common Criteria Protection Profile Cryptographic Service Provider</a:t>
            </a:r>
          </a:p>
          <a:p>
            <a:r>
              <a:rPr lang="en-GB" dirty="0"/>
              <a:t> Embedded UICC for Consumer Devices</a:t>
            </a:r>
          </a:p>
          <a:p>
            <a:r>
              <a:rPr lang="en-GB" dirty="0"/>
              <a:t> Secure Element Protection Profile</a:t>
            </a:r>
          </a:p>
          <a:p>
            <a:endParaRPr lang="en-GB" dirty="0"/>
          </a:p>
          <a:p>
            <a:pPr rtl="0"/>
            <a:r>
              <a:rPr lang="en-GB" dirty="0">
                <a:effectLst/>
                <a:latin typeface="-apple-system"/>
              </a:rPr>
              <a:t>Qualified electronic attestation of attributes</a:t>
            </a:r>
          </a:p>
          <a:p>
            <a:pPr rtl="0"/>
            <a:r>
              <a:rPr lang="en-GB" dirty="0">
                <a:effectLst/>
                <a:latin typeface="-apple-system"/>
              </a:rPr>
              <a:t>Editor of PP 419 241-2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27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59329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https://digital-</a:t>
            </a:r>
            <a:r>
              <a:rPr lang="en-GB" dirty="0" err="1"/>
              <a:t>strategy.ec.europa.eu</a:t>
            </a:r>
            <a:r>
              <a:rPr lang="en-GB" dirty="0"/>
              <a:t>/</a:t>
            </a:r>
            <a:r>
              <a:rPr lang="en-GB" dirty="0" err="1"/>
              <a:t>en</a:t>
            </a:r>
            <a:r>
              <a:rPr lang="en-GB" dirty="0"/>
              <a:t>/news/eu-digital-identity-4-projects-launched-test-eudi-wallet 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336304E-FDE3-4B4F-A3B7-EBE87F3FA5E2}" type="slidenum">
              <a:rPr lang="en-GB" noProof="0" smtClean="0"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00625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46F2062-ED6C-D98F-47A1-24BCEB5178AE}"/>
              </a:ext>
            </a:extLst>
          </p:cNvPr>
          <p:cNvSpPr/>
          <p:nvPr userDrawn="1"/>
        </p:nvSpPr>
        <p:spPr>
          <a:xfrm flipH="1">
            <a:off x="6504040" y="-1"/>
            <a:ext cx="5687961" cy="6858000"/>
          </a:xfrm>
          <a:custGeom>
            <a:avLst/>
            <a:gdLst>
              <a:gd name="connsiteX0" fmla="*/ 5687961 w 5687961"/>
              <a:gd name="connsiteY0" fmla="*/ 0 h 6858000"/>
              <a:gd name="connsiteX1" fmla="*/ 0 w 5687961"/>
              <a:gd name="connsiteY1" fmla="*/ 0 h 6858000"/>
              <a:gd name="connsiteX2" fmla="*/ 0 w 5687961"/>
              <a:gd name="connsiteY2" fmla="*/ 6858000 h 6858000"/>
              <a:gd name="connsiteX3" fmla="*/ 2309299 w 56879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7961" h="6858000">
                <a:moveTo>
                  <a:pt x="5687961" y="0"/>
                </a:moveTo>
                <a:lnTo>
                  <a:pt x="0" y="0"/>
                </a:lnTo>
                <a:lnTo>
                  <a:pt x="0" y="6858000"/>
                </a:lnTo>
                <a:lnTo>
                  <a:pt x="2309299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F10FE7-337A-1346-B868-07C4486A6B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262" y="1209368"/>
            <a:ext cx="7001738" cy="4439265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E6934-BAAC-D760-AFB5-F08701CD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93" y="3063630"/>
            <a:ext cx="10029958" cy="730737"/>
          </a:xfrm>
          <a:solidFill>
            <a:schemeClr val="bg1">
              <a:lumMod val="85000"/>
              <a:alpha val="74000"/>
            </a:schemeClr>
          </a:solidFill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  <p:pic>
        <p:nvPicPr>
          <p:cNvPr id="3" name="Picture 2" descr="Text, logo&#10;&#10;Description automatically generated">
            <a:extLst>
              <a:ext uri="{FF2B5EF4-FFF2-40B4-BE49-F238E27FC236}">
                <a16:creationId xmlns:a16="http://schemas.microsoft.com/office/drawing/2014/main" id="{B5C4EFEF-FE36-6A8E-DC86-D16493409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784" y="186606"/>
            <a:ext cx="1821862" cy="320340"/>
          </a:xfrm>
          <a:prstGeom prst="rect">
            <a:avLst/>
          </a:prstGeom>
        </p:spPr>
      </p:pic>
      <p:pic>
        <p:nvPicPr>
          <p:cNvPr id="5" name="Picture Placeholder 8" descr="A picture containing outdoor&#10;&#10;Description automatically generated">
            <a:extLst>
              <a:ext uri="{FF2B5EF4-FFF2-40B4-BE49-F238E27FC236}">
                <a16:creationId xmlns:a16="http://schemas.microsoft.com/office/drawing/2014/main" id="{21376CF3-3FE2-1F8D-2D95-D68B12C9C3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69610" y="1193510"/>
            <a:ext cx="7022390" cy="4500000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38299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46F2062-ED6C-D98F-47A1-24BCEB5178AE}"/>
              </a:ext>
            </a:extLst>
          </p:cNvPr>
          <p:cNvSpPr/>
          <p:nvPr userDrawn="1"/>
        </p:nvSpPr>
        <p:spPr>
          <a:xfrm flipH="1">
            <a:off x="6504040" y="-1"/>
            <a:ext cx="5687961" cy="6858000"/>
          </a:xfrm>
          <a:custGeom>
            <a:avLst/>
            <a:gdLst>
              <a:gd name="connsiteX0" fmla="*/ 5687961 w 5687961"/>
              <a:gd name="connsiteY0" fmla="*/ 0 h 6858000"/>
              <a:gd name="connsiteX1" fmla="*/ 0 w 5687961"/>
              <a:gd name="connsiteY1" fmla="*/ 0 h 6858000"/>
              <a:gd name="connsiteX2" fmla="*/ 0 w 5687961"/>
              <a:gd name="connsiteY2" fmla="*/ 6858000 h 6858000"/>
              <a:gd name="connsiteX3" fmla="*/ 2309299 w 56879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7961" h="6858000">
                <a:moveTo>
                  <a:pt x="5687961" y="0"/>
                </a:moveTo>
                <a:lnTo>
                  <a:pt x="0" y="0"/>
                </a:lnTo>
                <a:lnTo>
                  <a:pt x="0" y="6858000"/>
                </a:lnTo>
                <a:lnTo>
                  <a:pt x="2309299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F10FE7-337A-1346-B868-07C4486A6B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262" y="1209368"/>
            <a:ext cx="7001738" cy="4439265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 dirty="0"/>
          </a:p>
        </p:txBody>
      </p:sp>
      <p:pic>
        <p:nvPicPr>
          <p:cNvPr id="3" name="Picture 2" descr="Text, logo&#10;&#10;Description automatically generated">
            <a:extLst>
              <a:ext uri="{FF2B5EF4-FFF2-40B4-BE49-F238E27FC236}">
                <a16:creationId xmlns:a16="http://schemas.microsoft.com/office/drawing/2014/main" id="{B5C4EFEF-FE36-6A8E-DC86-D16493409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1784" y="186606"/>
            <a:ext cx="1821862" cy="320340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828E41-3755-37FB-41AF-0E69F59EC9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526" y="3813922"/>
            <a:ext cx="6307514" cy="44074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Click to add subtitle</a:t>
            </a:r>
          </a:p>
        </p:txBody>
      </p:sp>
      <p:pic>
        <p:nvPicPr>
          <p:cNvPr id="5" name="Picture Placeholder 8" descr="A picture containing outdoor&#10;&#10;Description automatically generated">
            <a:extLst>
              <a:ext uri="{FF2B5EF4-FFF2-40B4-BE49-F238E27FC236}">
                <a16:creationId xmlns:a16="http://schemas.microsoft.com/office/drawing/2014/main" id="{F56E178F-E3F1-58FA-1ACA-061B3EABB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69610" y="1193510"/>
            <a:ext cx="7022390" cy="4500000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E6934-BAAC-D760-AFB5-F08701CD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93" y="3063630"/>
            <a:ext cx="10029958" cy="730737"/>
          </a:xfrm>
          <a:solidFill>
            <a:schemeClr val="bg1">
              <a:lumMod val="85000"/>
              <a:alpha val="74000"/>
            </a:schemeClr>
          </a:solidFill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GB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79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069852-DA44-DEAB-142F-A6A67C989BE9}"/>
              </a:ext>
            </a:extLst>
          </p:cNvPr>
          <p:cNvSpPr/>
          <p:nvPr userDrawn="1"/>
        </p:nvSpPr>
        <p:spPr>
          <a:xfrm>
            <a:off x="7605486" y="0"/>
            <a:ext cx="3251200" cy="688529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8EF9690-9695-FF96-EED9-380099567B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44675" y="1806138"/>
            <a:ext cx="2820225" cy="50791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2ABA64C5-A638-435A-14B2-8840A8795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71774" y="0"/>
            <a:ext cx="2820225" cy="50791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184E588-655A-B808-E7B9-6522DF5D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</p:spPr>
        <p:txBody>
          <a:bodyPr anchor="ctr">
            <a:normAutofit/>
          </a:bodyPr>
          <a:lstStyle/>
          <a:p>
            <a:endParaRPr lang="en-IN" sz="40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C522518-9073-D1DE-DFD6-A67783C7E3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8" y="1284477"/>
            <a:ext cx="5187030" cy="486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24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75B637-4FC2-0182-F9FA-33C906107079}"/>
              </a:ext>
            </a:extLst>
          </p:cNvPr>
          <p:cNvSpPr/>
          <p:nvPr userDrawn="1"/>
        </p:nvSpPr>
        <p:spPr>
          <a:xfrm>
            <a:off x="0" y="-96253"/>
            <a:ext cx="1779814" cy="69542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0445A351-4591-AFDC-EE7E-2235A39670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6593"/>
            <a:ext cx="5086351" cy="3884814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37AFDC0-7552-5531-4E94-BB1C79063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320" y="344181"/>
            <a:ext cx="6719209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B88C795-0770-3882-5A06-9636DBA23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906" y="1284477"/>
            <a:ext cx="5569631" cy="486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4pPr>
              <a:defRPr/>
            </a:lvl4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43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8A9FB3-1256-FEB1-E5E5-F7FB9CAA0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593" y="842211"/>
            <a:ext cx="12191999" cy="321644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A33C05-4B17-2F99-FD3C-51569CCE8FBC}"/>
              </a:ext>
            </a:extLst>
          </p:cNvPr>
          <p:cNvSpPr/>
          <p:nvPr userDrawn="1"/>
        </p:nvSpPr>
        <p:spPr>
          <a:xfrm>
            <a:off x="-9187" y="4050631"/>
            <a:ext cx="12201187" cy="2887579"/>
          </a:xfrm>
          <a:prstGeom prst="rect">
            <a:avLst/>
          </a:prstGeom>
          <a:solidFill>
            <a:srgbClr val="1F5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D6014E-5D2B-EA38-0D2C-5AB209DFE6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345" y="5358480"/>
            <a:ext cx="3153443" cy="95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edit Master text le7tj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0F64608-399C-87D9-6096-E538F615B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3445" y="5358480"/>
            <a:ext cx="3153444" cy="95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1EFC55AC-8035-8B7E-EBB4-104FA1FF92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62214" y="5366167"/>
            <a:ext cx="3153444" cy="95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B964E-15EA-BCB9-28B2-E145B2715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521" y="4275220"/>
            <a:ext cx="10515600" cy="73073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Like to know more on how we can help you?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93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2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2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FACF8-6DF5-05BE-94EA-8476A8949D0E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7A38C4F-7F86-F6A9-CE32-C6940CFE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237662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859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2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22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8C84230-AF00-82BA-D08F-B7D5F3DA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19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3B61D-4DC6-8B00-764C-871129E0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96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D1942BB-9F65-C58B-24EE-37DC25EA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56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D0E1-FA77-1ADD-8A6D-43C023D6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453861-03F4-1A74-A417-4CA48BA4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B8D6E1-39C9-4C44-91D8-BAEE9FF6D549}" type="datetime1">
              <a:rPr lang="en-GB" noProof="0" smtClean="0"/>
              <a:t>25/09/2023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2860F-89B7-5F83-3E49-0A600372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67BD0-9F65-484B-C3D2-3E6C8724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273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6E63DA1-0C1E-2971-0FA1-1F4DD78E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1787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486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AE64A89-AEAA-12CF-44CA-475AB70F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45238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8157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6" y="1449704"/>
            <a:ext cx="11181080" cy="4971416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EEE7A-9516-C6C7-978F-97084712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407991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9450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393840"/>
            <a:ext cx="5503862" cy="5092514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00824"/>
            <a:ext cx="5181600" cy="5085529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CFBF9-47EA-4A33-6F20-32626BCF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7213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9567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253650"/>
            <a:ext cx="5157787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7" y="2254252"/>
            <a:ext cx="5157787" cy="403478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3650"/>
            <a:ext cx="5183188" cy="823912"/>
          </a:xfrm>
        </p:spPr>
        <p:txBody>
          <a:bodyPr rtlCol="0" anchor="b"/>
          <a:lstStyle>
            <a:lvl1pPr marL="0" indent="0"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54252"/>
            <a:ext cx="5183188" cy="403478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1DEF9-3B2F-0416-CD2E-F44F3E582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7402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829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4000"/>
            </a:lvl1pPr>
          </a:lstStyle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5253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243324"/>
            <a:ext cx="8590547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and Drop </a:t>
            </a:r>
            <a:br>
              <a:rPr lang="en-GB" noProof="0"/>
            </a:br>
            <a:r>
              <a:rPr lang="en-GB" noProof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000" b="1" spc="-300" dirty="0"/>
            </a:lvl1pPr>
          </a:lstStyle>
          <a:p>
            <a:pPr lvl="0" algn="r" rtl="0"/>
            <a:r>
              <a:rPr lang="en-GB" noProof="0" dirty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>
            <a:normAutofit/>
          </a:bodyPr>
          <a:lstStyle>
            <a:lvl1pPr marL="0" indent="0" algn="r">
              <a:buNone/>
              <a:defRPr sz="22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4B04A0-18B8-4210-4FE7-0C9AA1BE864F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550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34A7977D-52D0-0829-3577-40A36EBF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02653B7-14FC-6792-4BA4-084472429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1895" y="2453439"/>
            <a:ext cx="3112169" cy="1692275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A20F75-6BA1-BF97-FBB1-B4A64FB13E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462" y="2453440"/>
            <a:ext cx="2759075" cy="16922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2394578-A17F-BC48-2C13-F1666A1498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72463" y="2453774"/>
            <a:ext cx="2759075" cy="16922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7334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2560" y="284131"/>
            <a:ext cx="8991600" cy="6315137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l">
              <a:defRPr lang="en-ZA" sz="4000" b="1" spc="-300" dirty="0"/>
            </a:lvl1pPr>
          </a:lstStyle>
          <a:p>
            <a:pPr lvl="0" algn="r" rtl="0"/>
            <a:r>
              <a:rPr lang="en-GB" noProof="0" dirty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n-GB" noProof="0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2267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defRPr sz="4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n-GB" noProof="0" dirty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22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86012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06328" y="602822"/>
            <a:ext cx="5542280" cy="5946568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defRPr sz="4000" b="1" spc="-3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 dirty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799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0694" y="167561"/>
            <a:ext cx="4646863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0062" y="1869795"/>
            <a:ext cx="7258379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4000" b="1" spc="-3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 dirty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40297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8997787" y="1796715"/>
            <a:ext cx="2600654" cy="801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0064D-AFA4-AE2A-F6FF-9D7098C1E60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178801" y="3762376"/>
            <a:ext cx="2133600" cy="242728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90410-D78D-7289-58C3-0D35CFA5182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09138" y="3762375"/>
            <a:ext cx="2133600" cy="24272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C93397-1BD8-CF16-6ED5-40500E0C697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48464" y="3762375"/>
            <a:ext cx="2133600" cy="242728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241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6243" y="129552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999" y="1848358"/>
            <a:ext cx="5472000" cy="360000"/>
          </a:xfrm>
        </p:spPr>
        <p:txBody>
          <a:bodyPr rtlCol="0" anchor="t">
            <a:noAutofit/>
          </a:bodyPr>
          <a:lstStyle>
            <a:lvl1pPr marL="0" indent="0"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999" y="2396847"/>
            <a:ext cx="5472000" cy="4167428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3756" y="1849583"/>
            <a:ext cx="5472000" cy="358775"/>
          </a:xfrm>
        </p:spPr>
        <p:txBody>
          <a:bodyPr rtlCol="0">
            <a:noAutofit/>
          </a:bodyPr>
          <a:lstStyle>
            <a:lvl1pPr marL="0" indent="0">
              <a:buNone/>
              <a:defRPr sz="2200" b="1"/>
            </a:lvl1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3643" y="2356554"/>
            <a:ext cx="5472113" cy="4207721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5F13318-8A7A-19E0-9C54-196FFF63B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4044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0465" y="1074918"/>
            <a:ext cx="11049535" cy="5659654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Enter your caption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C6B21-1219-C612-C385-9B9F686F4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76896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2720" y="326007"/>
            <a:ext cx="9113520" cy="61944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 rtl="0"/>
            <a:r>
              <a:rPr lang="en-GB" noProof="0" dirty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960" y="431464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96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Email ID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2960" y="5016034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Company Website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525577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3560" y="1296794"/>
            <a:ext cx="10515600" cy="488315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1993389"/>
            <a:ext cx="10515600" cy="466725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6C9D84A-48DA-683E-E959-0F532B3F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8365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151250"/>
            <a:ext cx="11310788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680442"/>
            <a:ext cx="5472000" cy="4914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0399" y="1680442"/>
            <a:ext cx="5472113" cy="4914000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8C111DE-4156-EAF3-A4F5-62608357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4181"/>
            <a:ext cx="11310789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43115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8" y="1183309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517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3419" y="1651701"/>
            <a:ext cx="3600450" cy="4679249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54101" y="1651700"/>
            <a:ext cx="3600450" cy="4679250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487B1DD-B32A-B4EC-4156-7A2A45480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223133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065C56-D3D2-0CCA-B296-1DA6F164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27309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3E810D-9C27-AEB3-4C1B-BCFAA4F6C5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2788" y="2454095"/>
            <a:ext cx="3300730" cy="4059724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91772F-5B3F-F356-C464-6882A734BE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2630" y="1243013"/>
            <a:ext cx="3300730" cy="1042987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C6FC5F0-1810-2004-B5F9-A12A5D7517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52169" y="2454095"/>
            <a:ext cx="3300730" cy="40592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FDDC8E-6934-F55A-BBC4-2B275AEE82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88058" y="2454275"/>
            <a:ext cx="3300729" cy="4059238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IN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FD96D6A-EB73-51E5-BA9F-8C997B655CF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52169" y="1205863"/>
            <a:ext cx="3300729" cy="1042987"/>
          </a:xfrm>
        </p:spPr>
        <p:txBody>
          <a:bodyPr/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7686361-8ACE-0509-3EDD-39D8A5C3D8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588058" y="1205864"/>
            <a:ext cx="3300727" cy="104298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5909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8" y="1320287"/>
            <a:ext cx="10515600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33898C-82EC-5530-9AA8-AB703F221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058368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53690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D0DBA3-01F9-0DAC-D000-F418E787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165944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87809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938" y="1443579"/>
            <a:ext cx="11557411" cy="5070240"/>
          </a:xfrm>
        </p:spPr>
        <p:txBody>
          <a:bodyPr/>
          <a:lstStyle>
            <a:lvl1pPr marL="0" indent="0">
              <a:buNone/>
              <a:defRPr sz="22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000" b="0" i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7" name="Group 28"/>
          <p:cNvGrpSpPr>
            <a:grpSpLocks/>
          </p:cNvGrpSpPr>
          <p:nvPr userDrawn="1"/>
        </p:nvGrpSpPr>
        <p:grpSpPr bwMode="auto">
          <a:xfrm>
            <a:off x="130176" y="163518"/>
            <a:ext cx="3849688" cy="745823"/>
            <a:chOff x="520" y="-440"/>
            <a:chExt cx="1514" cy="293"/>
          </a:xfrm>
        </p:grpSpPr>
        <p:sp>
          <p:nvSpPr>
            <p:cNvPr id="8" name="Rectangle 29"/>
            <p:cNvSpPr>
              <a:spLocks noChangeArrowheads="1"/>
            </p:cNvSpPr>
            <p:nvPr userDrawn="1"/>
          </p:nvSpPr>
          <p:spPr bwMode="auto">
            <a:xfrm>
              <a:off x="520" y="-440"/>
              <a:ext cx="1199" cy="2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800">
                <a:solidFill>
                  <a:srgbClr val="023F88"/>
                </a:solidFill>
              </a:endParaRPr>
            </a:p>
          </p:txBody>
        </p:sp>
        <p:sp>
          <p:nvSpPr>
            <p:cNvPr id="9" name="AutoShape 30"/>
            <p:cNvSpPr>
              <a:spLocks noChangeArrowheads="1"/>
            </p:cNvSpPr>
            <p:nvPr userDrawn="1"/>
          </p:nvSpPr>
          <p:spPr bwMode="auto">
            <a:xfrm flipV="1">
              <a:off x="1716" y="-436"/>
              <a:ext cx="318" cy="28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800">
                <a:solidFill>
                  <a:srgbClr val="023F88"/>
                </a:solidFill>
              </a:endParaRPr>
            </a:p>
          </p:txBody>
        </p:sp>
      </p:grp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7B01BC8-82F5-2C33-2215-A9477F29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1545886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8109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3174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46F2062-ED6C-D98F-47A1-24BCEB5178AE}"/>
              </a:ext>
            </a:extLst>
          </p:cNvPr>
          <p:cNvSpPr/>
          <p:nvPr userDrawn="1"/>
        </p:nvSpPr>
        <p:spPr>
          <a:xfrm flipH="1">
            <a:off x="6504039" y="0"/>
            <a:ext cx="5687961" cy="6858000"/>
          </a:xfrm>
          <a:custGeom>
            <a:avLst/>
            <a:gdLst>
              <a:gd name="connsiteX0" fmla="*/ 5687961 w 5687961"/>
              <a:gd name="connsiteY0" fmla="*/ 0 h 6858000"/>
              <a:gd name="connsiteX1" fmla="*/ 0 w 5687961"/>
              <a:gd name="connsiteY1" fmla="*/ 0 h 6858000"/>
              <a:gd name="connsiteX2" fmla="*/ 0 w 5687961"/>
              <a:gd name="connsiteY2" fmla="*/ 6858000 h 6858000"/>
              <a:gd name="connsiteX3" fmla="*/ 2309299 w 56879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7961" h="6858000">
                <a:moveTo>
                  <a:pt x="5687961" y="0"/>
                </a:moveTo>
                <a:lnTo>
                  <a:pt x="0" y="0"/>
                </a:lnTo>
                <a:lnTo>
                  <a:pt x="0" y="6858000"/>
                </a:lnTo>
                <a:lnTo>
                  <a:pt x="2309299" y="6858000"/>
                </a:lnTo>
                <a:close/>
              </a:path>
            </a:pathLst>
          </a:cu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F10FE7-337A-1346-B868-07C4486A6B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262" y="1209368"/>
            <a:ext cx="7001738" cy="4439265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6" name="Picture 5" descr="Text, logo&#10;&#10;Description automatically generated">
            <a:extLst>
              <a:ext uri="{FF2B5EF4-FFF2-40B4-BE49-F238E27FC236}">
                <a16:creationId xmlns:a16="http://schemas.microsoft.com/office/drawing/2014/main" id="{AA911471-11DC-692A-BE70-4224B8A4AC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2356" y="132243"/>
            <a:ext cx="1821862" cy="32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21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FF93F6-169F-18AE-3551-11C0F9CEB7F8}"/>
              </a:ext>
            </a:extLst>
          </p:cNvPr>
          <p:cNvSpPr/>
          <p:nvPr userDrawn="1"/>
        </p:nvSpPr>
        <p:spPr>
          <a:xfrm>
            <a:off x="9438968" y="0"/>
            <a:ext cx="275303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3BD3C4A-03E3-797C-4560-31534A0EF5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41457" y="0"/>
            <a:ext cx="3982065" cy="604683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76227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86BC5C9-C092-DAAA-9EB7-A023F240DB2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20232" y="704255"/>
            <a:ext cx="4144297" cy="26325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 w="76200">
            <a:solidFill>
              <a:schemeClr val="bg1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0421009-6708-4D91-87D8-0AC5A5258C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8023123" cy="408530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2246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AA5A7A6-614F-4605-B3B2-B2FE4E9818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28147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3F67D03-E76F-EAD1-454F-2A8C73FA97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8925" y="4051573"/>
            <a:ext cx="3784301" cy="194176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53629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095336A-C829-E0A7-ABB3-210F794563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91540" y="4347594"/>
            <a:ext cx="957600" cy="957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D6835-FE7A-A420-5D7E-45AF96177DA5}"/>
              </a:ext>
            </a:extLst>
          </p:cNvPr>
          <p:cNvSpPr/>
          <p:nvPr userDrawn="1"/>
        </p:nvSpPr>
        <p:spPr>
          <a:xfrm>
            <a:off x="0" y="2890684"/>
            <a:ext cx="3746090" cy="39673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88DD607-8291-C12E-E200-3FB41EDCD6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66374" y="1154603"/>
            <a:ext cx="2857322" cy="283837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11296C1-FA7A-29F3-9E3F-76E98619FF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66374" y="4140116"/>
            <a:ext cx="1792613" cy="17926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B27FF5-4F8E-5764-427D-1CBBE7F621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1889" y="2200363"/>
            <a:ext cx="1792613" cy="17926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20293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069852-DA44-DEAB-142F-A6A67C989BE9}"/>
              </a:ext>
            </a:extLst>
          </p:cNvPr>
          <p:cNvSpPr/>
          <p:nvPr userDrawn="1"/>
        </p:nvSpPr>
        <p:spPr>
          <a:xfrm>
            <a:off x="7605486" y="0"/>
            <a:ext cx="32512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8EF9690-9695-FF96-EED9-380099567B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44675" y="1806138"/>
            <a:ext cx="2820225" cy="50791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2ABA64C5-A638-435A-14B2-8840A87953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71774" y="0"/>
            <a:ext cx="2820225" cy="507915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3616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7D8E338-3D7F-E20E-8FB6-8FFDE9395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91870" y="2593171"/>
            <a:ext cx="1670400" cy="16704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205841DD-B0EA-F09A-D3C8-C961616E2C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60800" y="2593171"/>
            <a:ext cx="1670400" cy="16704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A73933CD-E4B2-CB4A-B11C-8A59A24E127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29728" y="2593171"/>
            <a:ext cx="1670400" cy="16704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22197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03EB1A13-4A90-6992-688E-D8D72D21DE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2403" y="1232204"/>
            <a:ext cx="2212258" cy="34383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777D1EE9-3FD9-574E-9EC1-2D72622632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27467" y="1232204"/>
            <a:ext cx="2212258" cy="34383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19264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7102946-8615-E1E0-A01B-D50191A82B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2005278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12815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AABD650-FAD2-D898-A55B-5EEFDA1A22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5483" y="996813"/>
            <a:ext cx="1314000" cy="1314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0ABF251D-7420-3F05-C0B0-9CA73F44EB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05483" y="2771187"/>
            <a:ext cx="1314000" cy="1314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F761F9D3-8C83-6788-E5A9-E822481652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05483" y="4545019"/>
            <a:ext cx="1314000" cy="1314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83845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FDC156-C710-A35D-6A2A-86DE6A3B99ED}"/>
              </a:ext>
            </a:extLst>
          </p:cNvPr>
          <p:cNvSpPr/>
          <p:nvPr userDrawn="1"/>
        </p:nvSpPr>
        <p:spPr>
          <a:xfrm>
            <a:off x="0" y="2797560"/>
            <a:ext cx="12192000" cy="4060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E7DD41-D5D1-053A-B269-EE7A9186CE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30700" y="2198156"/>
            <a:ext cx="4510319" cy="260140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DD7173E-8845-B41C-A79D-BDAF5E37BA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80844" y="2129400"/>
            <a:ext cx="1299600" cy="1299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77A2C61E-2780-407C-90F8-2976D5C234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00898" y="2129400"/>
            <a:ext cx="1299600" cy="1299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82050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082CC0-C2BF-AFFA-4389-2E3F393C4EF8}"/>
              </a:ext>
            </a:extLst>
          </p:cNvPr>
          <p:cNvSpPr/>
          <p:nvPr userDrawn="1"/>
        </p:nvSpPr>
        <p:spPr>
          <a:xfrm>
            <a:off x="6821714" y="0"/>
            <a:ext cx="53702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3C1494F-AF30-CEAA-6FAE-49B1BD1B2C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7472" y="889000"/>
            <a:ext cx="2401141" cy="5171999"/>
          </a:xfrm>
          <a:prstGeom prst="roundRect">
            <a:avLst>
              <a:gd name="adj" fmla="val 1277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C0793D5-3441-1378-3035-5FF05F681D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5108" y="129007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9C67F5-4FB5-A262-103B-5CF6859864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05108" y="371259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336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5CE775-4DAF-5141-6712-8E1231434B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255934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28534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EF72597A-C51E-E81B-80B1-BD518C6119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192001" cy="6858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0745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2" y="1255581"/>
            <a:ext cx="11557411" cy="5206390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sz="2200" b="0" i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220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 sz="220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220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7" name="Group 28"/>
          <p:cNvGrpSpPr>
            <a:grpSpLocks/>
          </p:cNvGrpSpPr>
          <p:nvPr userDrawn="1"/>
        </p:nvGrpSpPr>
        <p:grpSpPr bwMode="auto">
          <a:xfrm>
            <a:off x="130176" y="163518"/>
            <a:ext cx="3849688" cy="745823"/>
            <a:chOff x="520" y="-440"/>
            <a:chExt cx="1514" cy="293"/>
          </a:xfrm>
        </p:grpSpPr>
        <p:sp>
          <p:nvSpPr>
            <p:cNvPr id="8" name="Rectangle 29"/>
            <p:cNvSpPr>
              <a:spLocks noChangeArrowheads="1"/>
            </p:cNvSpPr>
            <p:nvPr userDrawn="1"/>
          </p:nvSpPr>
          <p:spPr bwMode="auto">
            <a:xfrm>
              <a:off x="520" y="-440"/>
              <a:ext cx="1199" cy="2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800">
                <a:solidFill>
                  <a:srgbClr val="023F88"/>
                </a:solidFill>
              </a:endParaRPr>
            </a:p>
          </p:txBody>
        </p:sp>
        <p:sp>
          <p:nvSpPr>
            <p:cNvPr id="9" name="AutoShape 30"/>
            <p:cNvSpPr>
              <a:spLocks noChangeArrowheads="1"/>
            </p:cNvSpPr>
            <p:nvPr userDrawn="1"/>
          </p:nvSpPr>
          <p:spPr bwMode="auto">
            <a:xfrm flipV="1">
              <a:off x="1716" y="-436"/>
              <a:ext cx="318" cy="28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800">
                <a:solidFill>
                  <a:srgbClr val="023F88"/>
                </a:solidFill>
              </a:endParaRPr>
            </a:p>
          </p:txBody>
        </p:sp>
      </p:grp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EC6992D-A5E4-BF1F-34FF-35E81F84A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285788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7689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 dirty="0"/>
              <a:t>Click icon to add picture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2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2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FACF8-6DF5-05BE-94EA-8476A8949D0E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F78A286-D904-DB68-965B-B43CA631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9808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2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22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A2E2382F-4603-F597-48D9-EF4BB145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E63BF-D163-ED14-5D8E-70CFDE47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183874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rgbClr val="E3E6EE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16394" y="1698469"/>
            <a:ext cx="1729332" cy="1729332"/>
          </a:xfrm>
          <a:prstGeom prst="ellipse">
            <a:avLst/>
          </a:prstGeom>
          <a:solidFill>
            <a:srgbClr val="E3E6EE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rgbClr val="E3E6EE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rgbClr val="E3E6EE"/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2" y="1868537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58025" y="1872133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en-GB" noProof="0" dirty="0"/>
              <a:t>Click icon to add picture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>
                <a:solidFill>
                  <a:srgbClr val="1F508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>
                <a:solidFill>
                  <a:srgbClr val="1F508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1F508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en-GB" noProof="0" dirty="0"/>
              <a:t>Executive 01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596B9ED-9F18-C6E2-E174-F434A568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293809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588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189AA-B74F-F7D7-3E12-E5715957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B8D6E1-39C9-4C44-91D8-BAEE9FF6D549}" type="datetime1">
              <a:rPr lang="en-GB" noProof="0" smtClean="0"/>
              <a:t>25/09/2023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799FA-52A6-D627-1DFD-8235E541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83AE8-9AB7-71B4-9506-F030100E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EC71654-96A5-4280-94F3-931C61A9F92C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017706F-413A-1406-A30F-2ED98CBEA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5420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9092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217516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7C590C6-5DD7-32D0-D715-4EA94D60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325313"/>
            <a:ext cx="10837862" cy="435133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8EA58-512D-BA8A-0352-750E5474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847758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1DF3D-0D2A-CEA9-B9AB-5BDFB7DD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21551-9FD4-20D2-C6D7-D45DCF2A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4000"/>
            </a:lvl1pPr>
          </a:lstStyle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465138"/>
            <a:ext cx="6172200" cy="5403850"/>
          </a:xfrm>
        </p:spPr>
        <p:txBody>
          <a:bodyPr rtlCol="0"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62560" y="284131"/>
            <a:ext cx="8991600" cy="6315137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l">
              <a:defRPr lang="en-ZA" sz="4000" b="1" spc="-300" dirty="0"/>
            </a:lvl1pPr>
          </a:lstStyle>
          <a:p>
            <a:pPr lvl="0" algn="r" rtl="0"/>
            <a:r>
              <a:rPr lang="en-GB" noProof="0" dirty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n-GB" noProof="0" dirty="0"/>
              <a:t>Click to edit Master subtitle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219935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1600" y="16756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defRPr sz="4000" b="1" spc="-3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 dirty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962644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8" y="1155834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579938"/>
            <a:ext cx="5472000" cy="360000"/>
          </a:xfrm>
        </p:spPr>
        <p:txBody>
          <a:bodyPr rtlCol="0" anchor="t"/>
          <a:lstStyle>
            <a:lvl1pPr marL="0" indent="0"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023668"/>
            <a:ext cx="5472000" cy="464129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rgbClr val="1F5080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70825"/>
            <a:ext cx="5555450" cy="358775"/>
          </a:xfrm>
        </p:spPr>
        <p:txBody>
          <a:bodyPr rtlCol="0"/>
          <a:lstStyle>
            <a:lvl1pPr marL="0" indent="0">
              <a:buNone/>
              <a:defRPr sz="2200" b="1"/>
            </a:lvl1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555450" cy="4644601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AE71845-1569-77D5-9221-D7461F1B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1339512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39804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2560" y="1308846"/>
            <a:ext cx="11816080" cy="5396753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Enter your caption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E8A7A-7498-7B0B-AF2B-CD1DD2EF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7213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913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72720" y="326007"/>
            <a:ext cx="9113520" cy="61944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n-GB" noProof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000" b="1" spc="-300" dirty="0"/>
            </a:lvl1pPr>
          </a:lstStyle>
          <a:p>
            <a:pPr lvl="0" algn="r" rtl="0"/>
            <a:r>
              <a:rPr lang="en-GB" noProof="0" dirty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960" y="431464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4296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Email ID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2960" y="5016034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Company Website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44080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8" y="1071556"/>
            <a:ext cx="10515600" cy="488315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70809"/>
            <a:ext cx="10515600" cy="466725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31075E7-B9D0-A1A5-7095-2CA1465A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20345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151250"/>
            <a:ext cx="11070948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562" y="1587582"/>
            <a:ext cx="5472000" cy="4914000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14774" y="1587582"/>
            <a:ext cx="5472113" cy="4914000"/>
          </a:xfrm>
        </p:spPr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D757BF7-681D-EC8D-6124-7A4DBFF7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72133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862965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6ECBAA9-635B-7074-3F77-3E2B7AD22F3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5939" y="1152000"/>
            <a:ext cx="10761962" cy="360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57F551-C613-DACB-20A2-A6AC1AC77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00" y="1589082"/>
            <a:ext cx="2160000" cy="46792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5610504-EA79-B225-6AA6-CDC220DC1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6312" y="1589082"/>
            <a:ext cx="2160588" cy="46792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50394B9-4E58-62C5-653A-1434D423A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16812" y="1589082"/>
            <a:ext cx="2160588" cy="46792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77E819A-C16C-875D-8108-4213250A78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7312" y="1589082"/>
            <a:ext cx="2160588" cy="4679250"/>
          </a:xfrm>
        </p:spPr>
        <p:txBody>
          <a:bodyPr/>
          <a:lstStyle/>
          <a:p>
            <a:endParaRPr lang="en-IN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B8C595A9-03A9-2953-FFF8-D341ABFA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27309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98548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147535"/>
            <a:ext cx="11112231" cy="360000"/>
          </a:xfrm>
        </p:spPr>
        <p:txBody>
          <a:bodyPr rtlCol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206" y="1580152"/>
            <a:ext cx="2160000" cy="467925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18683" y="1580152"/>
            <a:ext cx="2160588" cy="4679250"/>
          </a:xfrm>
        </p:spPr>
        <p:txBody>
          <a:bodyPr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948" y="1580152"/>
            <a:ext cx="2160588" cy="4679250"/>
          </a:xfrm>
        </p:spPr>
        <p:txBody>
          <a:bodyPr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12765" y="1580152"/>
            <a:ext cx="2160588" cy="4679250"/>
          </a:xfrm>
        </p:spPr>
        <p:txBody>
          <a:bodyPr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7582" y="1580152"/>
            <a:ext cx="2160588" cy="4683715"/>
          </a:xfrm>
        </p:spPr>
        <p:txBody>
          <a:bodyPr rtlCol="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5AABDEF-FBF5-F81E-3A00-59882274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344181"/>
            <a:ext cx="930938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15485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42B5-7237-CCC6-A4BC-72BCBA29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33915" cy="73073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3687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8" y="1352371"/>
            <a:ext cx="9309851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n-GB" noProof="0" dirty="0"/>
              <a:t>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1C12932-AD57-B53B-8A13-43DE44B9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09851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72327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74020" cy="730737"/>
          </a:xfrm>
        </p:spPr>
        <p:txBody>
          <a:bodyPr rtlCol="0"/>
          <a:lstStyle/>
          <a:p>
            <a:pPr rtl="0"/>
            <a:r>
              <a:rPr lang="en-GB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235720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46F2062-ED6C-D98F-47A1-24BCEB5178AE}"/>
              </a:ext>
            </a:extLst>
          </p:cNvPr>
          <p:cNvSpPr/>
          <p:nvPr userDrawn="1"/>
        </p:nvSpPr>
        <p:spPr>
          <a:xfrm flipH="1">
            <a:off x="6351639" y="604684"/>
            <a:ext cx="5687961" cy="6858000"/>
          </a:xfrm>
          <a:custGeom>
            <a:avLst/>
            <a:gdLst>
              <a:gd name="connsiteX0" fmla="*/ 5687961 w 5687961"/>
              <a:gd name="connsiteY0" fmla="*/ 0 h 6858000"/>
              <a:gd name="connsiteX1" fmla="*/ 0 w 5687961"/>
              <a:gd name="connsiteY1" fmla="*/ 0 h 6858000"/>
              <a:gd name="connsiteX2" fmla="*/ 0 w 5687961"/>
              <a:gd name="connsiteY2" fmla="*/ 6858000 h 6858000"/>
              <a:gd name="connsiteX3" fmla="*/ 2309299 w 56879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7961" h="6858000">
                <a:moveTo>
                  <a:pt x="5687961" y="0"/>
                </a:moveTo>
                <a:lnTo>
                  <a:pt x="0" y="0"/>
                </a:lnTo>
                <a:lnTo>
                  <a:pt x="0" y="6858000"/>
                </a:lnTo>
                <a:lnTo>
                  <a:pt x="2309299" y="6858000"/>
                </a:lnTo>
                <a:close/>
              </a:path>
            </a:pathLst>
          </a:cu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F10FE7-337A-1346-B868-07C4486A6B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262" y="1209368"/>
            <a:ext cx="7001738" cy="4439265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pic>
        <p:nvPicPr>
          <p:cNvPr id="6" name="Picture 5" descr="Text, logo&#10;&#10;Description automatically generated">
            <a:extLst>
              <a:ext uri="{FF2B5EF4-FFF2-40B4-BE49-F238E27FC236}">
                <a16:creationId xmlns:a16="http://schemas.microsoft.com/office/drawing/2014/main" id="{AA911471-11DC-692A-BE70-4224B8A4AC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8399" y="759474"/>
            <a:ext cx="1821862" cy="32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174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FF93F6-169F-18AE-3551-11C0F9CEB7F8}"/>
              </a:ext>
            </a:extLst>
          </p:cNvPr>
          <p:cNvSpPr/>
          <p:nvPr userDrawn="1"/>
        </p:nvSpPr>
        <p:spPr>
          <a:xfrm>
            <a:off x="9438968" y="0"/>
            <a:ext cx="2753032" cy="6858000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3BD3C4A-03E3-797C-4560-31534A0EF5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41457" y="0"/>
            <a:ext cx="3982065" cy="604683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pic>
        <p:nvPicPr>
          <p:cNvPr id="3" name="Picture 2" descr="Text, logo&#10;&#10;Description automatically generated">
            <a:extLst>
              <a:ext uri="{FF2B5EF4-FFF2-40B4-BE49-F238E27FC236}">
                <a16:creationId xmlns:a16="http://schemas.microsoft.com/office/drawing/2014/main" id="{BEF44B88-C631-2FA2-2BD4-DD2227C190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6942" y="6431280"/>
            <a:ext cx="1822203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6952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AA5A7A6-614F-4605-B3B2-B2FE4E9818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640080"/>
            <a:ext cx="6096000" cy="328147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93F67D03-E76F-EAD1-454F-2A8C73FA97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7965" y="4214133"/>
            <a:ext cx="3784301" cy="194176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832305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095336A-C829-E0A7-ABB3-210F794563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91540" y="4347594"/>
            <a:ext cx="957600" cy="957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4D6835-FE7A-A420-5D7E-45AF96177DA5}"/>
              </a:ext>
            </a:extLst>
          </p:cNvPr>
          <p:cNvSpPr/>
          <p:nvPr userDrawn="1"/>
        </p:nvSpPr>
        <p:spPr>
          <a:xfrm>
            <a:off x="0" y="2890684"/>
            <a:ext cx="3746090" cy="3967316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88DD607-8291-C12E-E200-3FB41EDCD6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66374" y="1154603"/>
            <a:ext cx="2857322" cy="283837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11296C1-FA7A-29F3-9E3F-76E98619FF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66374" y="4140116"/>
            <a:ext cx="1792613" cy="17926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8B27FF5-4F8E-5764-427D-1CBBE7F621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1889" y="2200363"/>
            <a:ext cx="1792613" cy="179261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81004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FDC156-C710-A35D-6A2A-86DE6A3B99ED}"/>
              </a:ext>
            </a:extLst>
          </p:cNvPr>
          <p:cNvSpPr/>
          <p:nvPr userDrawn="1"/>
        </p:nvSpPr>
        <p:spPr>
          <a:xfrm>
            <a:off x="0" y="2797560"/>
            <a:ext cx="12192000" cy="4060439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AE7DD41-D5D1-053A-B269-EE7A9186CE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30700" y="2198156"/>
            <a:ext cx="4510319" cy="2601409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1DD7173E-8845-B41C-A79D-BDAF5E37BA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680844" y="2129400"/>
            <a:ext cx="1299600" cy="1299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77A2C61E-2780-407C-90F8-2976D5C234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00898" y="2129400"/>
            <a:ext cx="1299600" cy="12996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63991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082CC0-C2BF-AFFA-4389-2E3F393C4EF8}"/>
              </a:ext>
            </a:extLst>
          </p:cNvPr>
          <p:cNvSpPr/>
          <p:nvPr userDrawn="1"/>
        </p:nvSpPr>
        <p:spPr>
          <a:xfrm>
            <a:off x="6821714" y="980198"/>
            <a:ext cx="5370286" cy="6858000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3C1494F-AF30-CEAA-6FAE-49B1BD1B2C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7472" y="889000"/>
            <a:ext cx="2401141" cy="5171999"/>
          </a:xfrm>
          <a:prstGeom prst="roundRect">
            <a:avLst>
              <a:gd name="adj" fmla="val 1277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C0793D5-3441-1378-3035-5FF05F681D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5108" y="129007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9C67F5-4FB5-A262-103B-5CF6859864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05108" y="371259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537617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082CC0-C2BF-AFFA-4389-2E3F393C4EF8}"/>
              </a:ext>
            </a:extLst>
          </p:cNvPr>
          <p:cNvSpPr/>
          <p:nvPr userDrawn="1"/>
        </p:nvSpPr>
        <p:spPr>
          <a:xfrm>
            <a:off x="6821714" y="0"/>
            <a:ext cx="5370286" cy="6858000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33C1494F-AF30-CEAA-6FAE-49B1BD1B2C2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87472" y="889000"/>
            <a:ext cx="2401141" cy="5171999"/>
          </a:xfrm>
          <a:prstGeom prst="roundRect">
            <a:avLst>
              <a:gd name="adj" fmla="val 12776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3C0793D5-3441-1378-3035-5FF05F681D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05108" y="129007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9C67F5-4FB5-A262-103B-5CF6859864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05108" y="3712598"/>
            <a:ext cx="810000" cy="810000"/>
          </a:xfrm>
          <a:prstGeom prst="ellips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69484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75B637-4FC2-0182-F9FA-33C906107079}"/>
              </a:ext>
            </a:extLst>
          </p:cNvPr>
          <p:cNvSpPr/>
          <p:nvPr userDrawn="1"/>
        </p:nvSpPr>
        <p:spPr>
          <a:xfrm>
            <a:off x="0" y="0"/>
            <a:ext cx="2700668" cy="6858000"/>
          </a:xfrm>
          <a:prstGeom prst="rect">
            <a:avLst/>
          </a:prstGeom>
          <a:solidFill>
            <a:srgbClr val="1F5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0445A351-4591-AFDC-EE7E-2235A39670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71551" y="1369804"/>
            <a:ext cx="6057901" cy="3884814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526343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7F5CE775-4DAF-5141-6712-8E1231434B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45431"/>
            <a:ext cx="12192000" cy="5255934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585084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EF72597A-C51E-E81B-80B1-BD518C6119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553452"/>
            <a:ext cx="12192001" cy="6039853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6870981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785E-E6C5-9227-2F8B-23941C55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00415" cy="73073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51CCA-61C3-5ADE-B779-604CD230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9B8D6E1-39C9-4C44-91D8-BAEE9FF6D549}" type="datetime1">
              <a:rPr lang="en-GB" noProof="0" smtClean="0"/>
              <a:t>25/09/2023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D41F3-9DE1-1899-4C17-E8335D24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27445-900E-22C7-EC7D-9CF879AD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0521127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E6D4E7-B76E-4A8D-9C01-D80A032A1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536" y="1479301"/>
            <a:ext cx="5631264" cy="50345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EB10760-C3FC-4CAD-96FE-9E8776008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479301"/>
            <a:ext cx="5619518" cy="50345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DF4C7B-F0DC-81FC-E430-58543F21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9300415" cy="73073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07613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210-B436-4AA3-9CB4-BACF6736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80" y="365126"/>
            <a:ext cx="9361342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69563-AE06-439B-AD7B-3C6273D5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278" y="6356350"/>
            <a:ext cx="1078992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186D7-0888-4EE5-AD2B-59326BD4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198" y="6356350"/>
            <a:ext cx="601522" cy="365125"/>
          </a:xfrm>
        </p:spPr>
        <p:txBody>
          <a:bodyPr/>
          <a:lstStyle/>
          <a:p>
            <a:fld id="{FEEE8908-1CA0-4C1B-B971-89240273EC14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D2725A-16B3-4797-91B0-B8A4EE579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280" y="1416758"/>
            <a:ext cx="5597296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5FF76FC-8C1B-4D8A-94AB-618B1BCE1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280" y="2240670"/>
            <a:ext cx="5597296" cy="3684588"/>
          </a:xfrm>
        </p:spPr>
        <p:txBody>
          <a:bodyPr/>
          <a:lstStyle>
            <a:lvl1pPr marL="228600" indent="-228600">
              <a:buClr>
                <a:schemeClr val="accent3"/>
              </a:buClr>
              <a:buFont typeface="Proxima Nova Rg" panose="02000506030000020004" pitchFamily="50" charset="0"/>
              <a:buChar char="–"/>
              <a:defRPr/>
            </a:lvl1pPr>
            <a:lvl2pPr marL="685800" indent="-228600">
              <a:buClr>
                <a:schemeClr val="accent3"/>
              </a:buClr>
              <a:buFont typeface="Proxima Nova Rg" panose="02000506030000020004" pitchFamily="50" charset="0"/>
              <a:buChar char="–"/>
              <a:defRPr/>
            </a:lvl2pPr>
            <a:lvl3pPr marL="1143000" indent="-228600">
              <a:buClr>
                <a:schemeClr val="accent3"/>
              </a:buClr>
              <a:buFont typeface="Proxima Nova Rg" panose="02000506030000020004" pitchFamily="50" charset="0"/>
              <a:buChar char="–"/>
              <a:defRPr/>
            </a:lvl3pPr>
            <a:lvl4pPr marL="1600200" indent="-228600">
              <a:buClr>
                <a:schemeClr val="accent3"/>
              </a:buClr>
              <a:buFont typeface="Proxima Nova Rg" panose="02000506030000020004" pitchFamily="50" charset="0"/>
              <a:buChar char="–"/>
              <a:defRPr/>
            </a:lvl4pPr>
            <a:lvl5pPr marL="2057400" indent="-228600">
              <a:buClr>
                <a:schemeClr val="accent3"/>
              </a:buClr>
              <a:buFont typeface="Proxima Nova Rg" panose="02000506030000020004" pitchFamily="50" charset="0"/>
              <a:buChar char="–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637CA0F-52D9-495C-8DB4-EA9834F4F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16758"/>
            <a:ext cx="5619520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30277AF-8189-4808-914C-BA12595DD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0670"/>
            <a:ext cx="561952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4DC417-436E-4AAC-9FA9-D5A2DBC47DFF}"/>
              </a:ext>
            </a:extLst>
          </p:cNvPr>
          <p:cNvCxnSpPr/>
          <p:nvPr userDrawn="1"/>
        </p:nvCxnSpPr>
        <p:spPr>
          <a:xfrm>
            <a:off x="400279" y="1159727"/>
            <a:ext cx="1139144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6889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210-B436-4AA3-9CB4-BACF6736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9" y="365126"/>
            <a:ext cx="7184985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69563-AE06-439B-AD7B-3C6273D5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278" y="6356350"/>
            <a:ext cx="1078992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186D7-0888-4EE5-AD2B-59326BD4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198" y="6356350"/>
            <a:ext cx="601522" cy="365125"/>
          </a:xfrm>
        </p:spPr>
        <p:txBody>
          <a:bodyPr/>
          <a:lstStyle/>
          <a:p>
            <a:fld id="{FEEE8908-1CA0-4C1B-B971-89240273EC14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4DC417-436E-4AAC-9FA9-D5A2DBC47DFF}"/>
              </a:ext>
            </a:extLst>
          </p:cNvPr>
          <p:cNvCxnSpPr/>
          <p:nvPr userDrawn="1"/>
        </p:nvCxnSpPr>
        <p:spPr>
          <a:xfrm>
            <a:off x="400279" y="1159727"/>
            <a:ext cx="1139144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61D5DA2-61FE-464E-9EF5-8C2B16156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279" y="1945393"/>
            <a:ext cx="3456008" cy="31483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/>
                </a:solidFill>
              </a:defRPr>
            </a:lvl2pPr>
            <a:lvl3pPr marL="914400" indent="0"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buNone/>
              <a:defRPr sz="1600">
                <a:solidFill>
                  <a:schemeClr val="tx1"/>
                </a:solidFill>
              </a:defRPr>
            </a:lvl4pPr>
            <a:lvl5pPr marL="18288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48F75024-0180-49AB-B251-DCAF8AF8FBA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0279" y="1470834"/>
            <a:ext cx="2773101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BUSINESS DESCRIPTION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360F220D-D435-48E0-B922-DA7A06F1953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04800" y="5411164"/>
            <a:ext cx="11750040" cy="815009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3278F5A-7440-499A-A70A-DDFE15F7BDA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29256" y="1945394"/>
            <a:ext cx="3456008" cy="1021504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FE24555-3409-45CC-A049-B3DA3480DC3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129256" y="1470834"/>
            <a:ext cx="3456008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VALUE ADD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6BAC247D-EF64-45A2-ABD3-84DBCE069F6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129256" y="3612146"/>
            <a:ext cx="3456008" cy="1481641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AABC6A3-E7B0-4B62-AF56-FD4C7208EE2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29256" y="3137587"/>
            <a:ext cx="3456008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RESULTS &amp; MILESTONES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66EBDF3D-A3A6-4BDB-918C-29705DCE98BD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356600" y="1576390"/>
            <a:ext cx="3456008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DEAL SOURCE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11ADCF37-35CB-4A10-943B-A4B1F5872C2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356600" y="2753402"/>
            <a:ext cx="3456008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DEAL STRUCTURE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176A747D-C510-4A93-B49E-E43D52A70AB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56600" y="1961270"/>
            <a:ext cx="3455987" cy="595992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9D2B48A1-F517-4CF5-9C11-87E691942A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56600" y="3162841"/>
            <a:ext cx="3455987" cy="59599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65507BE7-5715-419B-9D1D-60CB9FD0AB59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8356600" y="3968087"/>
            <a:ext cx="3456008" cy="384880"/>
          </a:xfrm>
        </p:spPr>
        <p:txBody>
          <a:bodyPr anchor="ctr">
            <a:noAutofit/>
          </a:bodyPr>
          <a:lstStyle>
            <a:lvl1pPr marL="0" indent="0">
              <a:buNone/>
              <a:defRPr sz="1200" b="1" spc="150" baseline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AMOUNT INVESTED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6074365A-C335-426D-8161-6AA41C3D65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356600" y="4377526"/>
            <a:ext cx="3455988" cy="827282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622E230-F749-4FE3-AA52-FADD2A2DE9E3}"/>
              </a:ext>
            </a:extLst>
          </p:cNvPr>
          <p:cNvGrpSpPr/>
          <p:nvPr userDrawn="1"/>
        </p:nvGrpSpPr>
        <p:grpSpPr>
          <a:xfrm>
            <a:off x="8017940" y="46894"/>
            <a:ext cx="243437" cy="5193580"/>
            <a:chOff x="8017940" y="46894"/>
            <a:chExt cx="243437" cy="519358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E966C23-F37D-46C8-BD77-1C4C42602E62}"/>
                </a:ext>
              </a:extLst>
            </p:cNvPr>
            <p:cNvGrpSpPr/>
            <p:nvPr userDrawn="1"/>
          </p:nvGrpSpPr>
          <p:grpSpPr>
            <a:xfrm>
              <a:off x="8017940" y="1648899"/>
              <a:ext cx="243435" cy="243435"/>
              <a:chOff x="223925" y="1233055"/>
              <a:chExt cx="426315" cy="426315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22F51C46-0837-48C8-840D-907C8F2640F8}"/>
                  </a:ext>
                </a:extLst>
              </p:cNvPr>
              <p:cNvSpPr/>
              <p:nvPr userDrawn="1"/>
            </p:nvSpPr>
            <p:spPr>
              <a:xfrm>
                <a:off x="223925" y="1233055"/>
                <a:ext cx="426315" cy="426315"/>
              </a:xfrm>
              <a:prstGeom prst="ellipse">
                <a:avLst/>
              </a:prstGeom>
              <a:solidFill>
                <a:schemeClr val="accent3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63E67702-935B-43FB-AC0D-760CC6E43132}"/>
                  </a:ext>
                </a:extLst>
              </p:cNvPr>
              <p:cNvSpPr/>
              <p:nvPr userDrawn="1"/>
            </p:nvSpPr>
            <p:spPr>
              <a:xfrm>
                <a:off x="321335" y="1330465"/>
                <a:ext cx="231494" cy="2314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D15B7B9-C2B0-4521-8161-A83334B5F0BC}"/>
                </a:ext>
              </a:extLst>
            </p:cNvPr>
            <p:cNvGrpSpPr/>
            <p:nvPr userDrawn="1"/>
          </p:nvGrpSpPr>
          <p:grpSpPr>
            <a:xfrm>
              <a:off x="8017942" y="2824124"/>
              <a:ext cx="243435" cy="243435"/>
              <a:chOff x="223925" y="1233055"/>
              <a:chExt cx="426315" cy="426315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8BFBBB4-98E5-4CEE-9BA7-93D1FA5AAB4A}"/>
                  </a:ext>
                </a:extLst>
              </p:cNvPr>
              <p:cNvSpPr/>
              <p:nvPr userDrawn="1"/>
            </p:nvSpPr>
            <p:spPr>
              <a:xfrm>
                <a:off x="223925" y="1233055"/>
                <a:ext cx="426315" cy="426315"/>
              </a:xfrm>
              <a:prstGeom prst="ellipse">
                <a:avLst/>
              </a:prstGeom>
              <a:solidFill>
                <a:schemeClr val="accent3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8496907-EE2B-4049-AA37-4398DEDC480E}"/>
                  </a:ext>
                </a:extLst>
              </p:cNvPr>
              <p:cNvSpPr/>
              <p:nvPr userDrawn="1"/>
            </p:nvSpPr>
            <p:spPr>
              <a:xfrm>
                <a:off x="321335" y="1330465"/>
                <a:ext cx="231494" cy="2314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7310549-51A6-43B3-90C6-DEF97F51FAF6}"/>
                </a:ext>
              </a:extLst>
            </p:cNvPr>
            <p:cNvGrpSpPr/>
            <p:nvPr userDrawn="1"/>
          </p:nvGrpSpPr>
          <p:grpSpPr>
            <a:xfrm>
              <a:off x="8017941" y="4038809"/>
              <a:ext cx="243435" cy="243435"/>
              <a:chOff x="223925" y="1233055"/>
              <a:chExt cx="426315" cy="426315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E8A5503-540F-4F01-A1CB-F3275C64DB64}"/>
                  </a:ext>
                </a:extLst>
              </p:cNvPr>
              <p:cNvSpPr/>
              <p:nvPr userDrawn="1"/>
            </p:nvSpPr>
            <p:spPr>
              <a:xfrm>
                <a:off x="223925" y="1233055"/>
                <a:ext cx="426315" cy="426315"/>
              </a:xfrm>
              <a:prstGeom prst="ellipse">
                <a:avLst/>
              </a:prstGeom>
              <a:solidFill>
                <a:schemeClr val="accent3"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57F3CC9-2A34-49BA-9E84-BFB5F169B60A}"/>
                  </a:ext>
                </a:extLst>
              </p:cNvPr>
              <p:cNvSpPr/>
              <p:nvPr userDrawn="1"/>
            </p:nvSpPr>
            <p:spPr>
              <a:xfrm>
                <a:off x="321335" y="1330465"/>
                <a:ext cx="231494" cy="2314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5E60F69F-F3EC-4B81-A962-27BF728DF2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39660" y="46894"/>
              <a:ext cx="0" cy="5193580"/>
            </a:xfrm>
            <a:prstGeom prst="straightConnector1">
              <a:avLst/>
            </a:prstGeom>
            <a:ln w="28575">
              <a:gradFill>
                <a:gsLst>
                  <a:gs pos="0">
                    <a:schemeClr val="accent3">
                      <a:alpha val="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25922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210-B436-4AA3-9CB4-BACF6736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80" y="365126"/>
            <a:ext cx="9040500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D2725A-16B3-4797-91B0-B8A4EE579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280" y="1416758"/>
            <a:ext cx="7052080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5FF76FC-8C1B-4D8A-94AB-618B1BCE1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280" y="2240669"/>
            <a:ext cx="7052080" cy="43285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30277AF-8189-4808-914C-BA12595DD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3400" y="1416758"/>
            <a:ext cx="3638320" cy="5152483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 sz="2200">
                <a:solidFill>
                  <a:schemeClr val="tx1"/>
                </a:solidFill>
              </a:defRPr>
            </a:lvl3pPr>
            <a:lvl4pPr>
              <a:defRPr sz="2200">
                <a:solidFill>
                  <a:schemeClr val="tx1"/>
                </a:solidFill>
              </a:defRPr>
            </a:lvl4pPr>
            <a:lvl5pP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20268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4210-B436-4AA3-9CB4-BACF6736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80" y="365126"/>
            <a:ext cx="9297174" cy="64008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69563-AE06-439B-AD7B-3C6273D5A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278" y="6356350"/>
            <a:ext cx="1078992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186D7-0888-4EE5-AD2B-59326BD4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198" y="6356350"/>
            <a:ext cx="601522" cy="365125"/>
          </a:xfrm>
        </p:spPr>
        <p:txBody>
          <a:bodyPr/>
          <a:lstStyle/>
          <a:p>
            <a:fld id="{FEEE8908-1CA0-4C1B-B971-89240273EC1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7DBC1B-F65C-418F-8092-88B8805E04F7}"/>
              </a:ext>
            </a:extLst>
          </p:cNvPr>
          <p:cNvCxnSpPr/>
          <p:nvPr userDrawn="1"/>
        </p:nvCxnSpPr>
        <p:spPr>
          <a:xfrm>
            <a:off x="400279" y="1159727"/>
            <a:ext cx="11391441" cy="0"/>
          </a:xfrm>
          <a:prstGeom prst="line">
            <a:avLst/>
          </a:prstGeom>
          <a:ln>
            <a:solidFill>
              <a:srgbClr val="02358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05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44181"/>
            <a:ext cx="10515600" cy="73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284477"/>
            <a:ext cx="10515600" cy="486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54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9B8D6E1-39C9-4C44-91D8-BAEE9FF6D549}" type="datetime1">
              <a:rPr lang="en-GB" noProof="0" smtClean="0"/>
              <a:t>25/09/2023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91109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49800" y="63198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GB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4B26F7-21E0-5BBB-6543-A89E04013D7E}"/>
              </a:ext>
            </a:extLst>
          </p:cNvPr>
          <p:cNvCxnSpPr>
            <a:cxnSpLocks/>
          </p:cNvCxnSpPr>
          <p:nvPr userDrawn="1"/>
        </p:nvCxnSpPr>
        <p:spPr>
          <a:xfrm>
            <a:off x="-12000" y="6829053"/>
            <a:ext cx="12204000" cy="0"/>
          </a:xfrm>
          <a:prstGeom prst="line">
            <a:avLst/>
          </a:prstGeom>
          <a:ln w="73025">
            <a:solidFill>
              <a:schemeClr val="accent1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0C61932-EC70-D33D-3D24-A5659F216FD0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pic>
        <p:nvPicPr>
          <p:cNvPr id="11" name="Picture 10" descr="Text, logo&#10;&#10;Description automatically generated">
            <a:extLst>
              <a:ext uri="{FF2B5EF4-FFF2-40B4-BE49-F238E27FC236}">
                <a16:creationId xmlns:a16="http://schemas.microsoft.com/office/drawing/2014/main" id="{78448403-E0AE-96C3-D8B3-10011C6E11A9}"/>
              </a:ext>
            </a:extLst>
          </p:cNvPr>
          <p:cNvPicPr>
            <a:picLocks noChangeAspect="1"/>
          </p:cNvPicPr>
          <p:nvPr userDrawn="1"/>
        </p:nvPicPr>
        <p:blipFill>
          <a:blip r:embed="rId88"/>
          <a:stretch>
            <a:fillRect/>
          </a:stretch>
        </p:blipFill>
        <p:spPr>
          <a:xfrm>
            <a:off x="9982200" y="185738"/>
            <a:ext cx="1821600" cy="31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7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53" r:id="rId2"/>
    <p:sldLayoutId id="2147483880" r:id="rId3"/>
    <p:sldLayoutId id="2147483990" r:id="rId4"/>
    <p:sldLayoutId id="2147484026" r:id="rId5"/>
    <p:sldLayoutId id="2147483952" r:id="rId6"/>
    <p:sldLayoutId id="2147483953" r:id="rId7"/>
    <p:sldLayoutId id="2147483954" r:id="rId8"/>
    <p:sldLayoutId id="2147483955" r:id="rId9"/>
    <p:sldLayoutId id="2147484051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  <p:sldLayoutId id="2147483962" r:id="rId17"/>
    <p:sldLayoutId id="2147484025" r:id="rId18"/>
    <p:sldLayoutId id="2147483963" r:id="rId19"/>
    <p:sldLayoutId id="2147483964" r:id="rId20"/>
    <p:sldLayoutId id="2147483965" r:id="rId21"/>
    <p:sldLayoutId id="2147483966" r:id="rId22"/>
    <p:sldLayoutId id="2147483967" r:id="rId23"/>
    <p:sldLayoutId id="2147483968" r:id="rId24"/>
    <p:sldLayoutId id="2147483969" r:id="rId25"/>
    <p:sldLayoutId id="2147483970" r:id="rId26"/>
    <p:sldLayoutId id="2147483971" r:id="rId27"/>
    <p:sldLayoutId id="2147483972" r:id="rId28"/>
    <p:sldLayoutId id="2147484024" r:id="rId29"/>
    <p:sldLayoutId id="2147483974" r:id="rId30"/>
    <p:sldLayoutId id="2147483975" r:id="rId31"/>
    <p:sldLayoutId id="2147483976" r:id="rId32"/>
    <p:sldLayoutId id="2147483977" r:id="rId33"/>
    <p:sldLayoutId id="2147483978" r:id="rId34"/>
    <p:sldLayoutId id="2147483979" r:id="rId35"/>
    <p:sldLayoutId id="2147483980" r:id="rId36"/>
    <p:sldLayoutId id="2147483981" r:id="rId37"/>
    <p:sldLayoutId id="2147483982" r:id="rId38"/>
    <p:sldLayoutId id="2147483983" r:id="rId39"/>
    <p:sldLayoutId id="2147483984" r:id="rId40"/>
    <p:sldLayoutId id="2147483985" r:id="rId41"/>
    <p:sldLayoutId id="2147483986" r:id="rId42"/>
    <p:sldLayoutId id="2147483987" r:id="rId43"/>
    <p:sldLayoutId id="2147483988" r:id="rId44"/>
    <p:sldLayoutId id="2147483989" r:id="rId45"/>
    <p:sldLayoutId id="2147483991" r:id="rId46"/>
    <p:sldLayoutId id="2147483992" r:id="rId47"/>
    <p:sldLayoutId id="2147483993" r:id="rId48"/>
    <p:sldLayoutId id="2147483662" r:id="rId49"/>
    <p:sldLayoutId id="2147483663" r:id="rId50"/>
    <p:sldLayoutId id="2147483654" r:id="rId51"/>
    <p:sldLayoutId id="2147484050" r:id="rId52"/>
    <p:sldLayoutId id="2147483674" r:id="rId53"/>
    <p:sldLayoutId id="2147483668" r:id="rId54"/>
    <p:sldLayoutId id="2147483669" r:id="rId55"/>
    <p:sldLayoutId id="2147483670" r:id="rId56"/>
    <p:sldLayoutId id="2147483671" r:id="rId57"/>
    <p:sldLayoutId id="2147483673" r:id="rId58"/>
    <p:sldLayoutId id="2147483729" r:id="rId59"/>
    <p:sldLayoutId id="2147483733" r:id="rId60"/>
    <p:sldLayoutId id="2147483785" r:id="rId61"/>
    <p:sldLayoutId id="2147483803" r:id="rId62"/>
    <p:sldLayoutId id="2147483855" r:id="rId63"/>
    <p:sldLayoutId id="2147483865" r:id="rId64"/>
    <p:sldLayoutId id="2147483866" r:id="rId65"/>
    <p:sldLayoutId id="2147484023" r:id="rId66"/>
    <p:sldLayoutId id="2147483868" r:id="rId67"/>
    <p:sldLayoutId id="2147484022" r:id="rId68"/>
    <p:sldLayoutId id="2147483869" r:id="rId69"/>
    <p:sldLayoutId id="2147483870" r:id="rId70"/>
    <p:sldLayoutId id="2147483875" r:id="rId71"/>
    <p:sldLayoutId id="2147483876" r:id="rId72"/>
    <p:sldLayoutId id="2147483878" r:id="rId73"/>
    <p:sldLayoutId id="2147483879" r:id="rId74"/>
    <p:sldLayoutId id="2147483885" r:id="rId75"/>
    <p:sldLayoutId id="2147483886" r:id="rId76"/>
    <p:sldLayoutId id="2147483950" r:id="rId77"/>
    <p:sldLayoutId id="2147483887" r:id="rId78"/>
    <p:sldLayoutId id="2147483888" r:id="rId79"/>
    <p:sldLayoutId id="2147483889" r:id="rId80"/>
    <p:sldLayoutId id="2147484052" r:id="rId81"/>
    <p:sldLayoutId id="2147484043" r:id="rId82"/>
    <p:sldLayoutId id="2147484044" r:id="rId83"/>
    <p:sldLayoutId id="2147484045" r:id="rId84"/>
    <p:sldLayoutId id="2147484046" r:id="rId85"/>
    <p:sldLayoutId id="2147484047" r:id="rId8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svg"/><Relationship Id="rId21" Type="http://schemas.openxmlformats.org/officeDocument/2006/relationships/image" Target="../media/image25.svg"/><Relationship Id="rId34" Type="http://schemas.openxmlformats.org/officeDocument/2006/relationships/image" Target="../media/image38.png"/><Relationship Id="rId42" Type="http://schemas.openxmlformats.org/officeDocument/2006/relationships/image" Target="../media/image46.pn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svg"/><Relationship Id="rId40" Type="http://schemas.openxmlformats.org/officeDocument/2006/relationships/image" Target="../media/image44.png"/><Relationship Id="rId45" Type="http://schemas.openxmlformats.org/officeDocument/2006/relationships/image" Target="../media/image49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4" Type="http://schemas.openxmlformats.org/officeDocument/2006/relationships/image" Target="../media/image48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svg"/><Relationship Id="rId30" Type="http://schemas.openxmlformats.org/officeDocument/2006/relationships/image" Target="../media/image34.png"/><Relationship Id="rId35" Type="http://schemas.openxmlformats.org/officeDocument/2006/relationships/image" Target="../media/image39.svg"/><Relationship Id="rId43" Type="http://schemas.openxmlformats.org/officeDocument/2006/relationships/image" Target="../media/image47.svg"/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38" Type="http://schemas.openxmlformats.org/officeDocument/2006/relationships/image" Target="../media/image42.png"/><Relationship Id="rId46" Type="http://schemas.openxmlformats.org/officeDocument/2006/relationships/image" Target="../media/image50.png"/><Relationship Id="rId20" Type="http://schemas.openxmlformats.org/officeDocument/2006/relationships/image" Target="../media/image24.png"/><Relationship Id="rId41" Type="http://schemas.openxmlformats.org/officeDocument/2006/relationships/image" Target="../media/image4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u-digital-identity-wallet/architecture-and-reference-framework/releases/download/v1.1.0/ARF-v1.1.0-for-publication.pdf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id.net/specs/openid-4-verifiable-credential-issuance-1_0.html" TargetMode="Externa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image" Target="../media/image36.png"/><Relationship Id="rId26" Type="http://schemas.openxmlformats.org/officeDocument/2006/relationships/image" Target="../media/image22.png"/><Relationship Id="rId39" Type="http://schemas.openxmlformats.org/officeDocument/2006/relationships/image" Target="../media/image39.svg"/><Relationship Id="rId21" Type="http://schemas.openxmlformats.org/officeDocument/2006/relationships/image" Target="../media/image17.svg"/><Relationship Id="rId34" Type="http://schemas.openxmlformats.org/officeDocument/2006/relationships/image" Target="../media/image6.png"/><Relationship Id="rId42" Type="http://schemas.openxmlformats.org/officeDocument/2006/relationships/image" Target="../media/image44.png"/><Relationship Id="rId47" Type="http://schemas.openxmlformats.org/officeDocument/2006/relationships/image" Target="../media/image49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29" Type="http://schemas.openxmlformats.org/officeDocument/2006/relationships/image" Target="../media/image25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11" Type="http://schemas.openxmlformats.org/officeDocument/2006/relationships/image" Target="../media/image40.png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9.svg"/><Relationship Id="rId40" Type="http://schemas.openxmlformats.org/officeDocument/2006/relationships/image" Target="../media/image42.png"/><Relationship Id="rId45" Type="http://schemas.openxmlformats.org/officeDocument/2006/relationships/image" Target="../media/image47.svg"/><Relationship Id="rId5" Type="http://schemas.openxmlformats.org/officeDocument/2006/relationships/image" Target="../media/image14.png"/><Relationship Id="rId15" Type="http://schemas.openxmlformats.org/officeDocument/2006/relationships/image" Target="../media/image33.svg"/><Relationship Id="rId23" Type="http://schemas.openxmlformats.org/officeDocument/2006/relationships/image" Target="../media/image19.svg"/><Relationship Id="rId28" Type="http://schemas.openxmlformats.org/officeDocument/2006/relationships/image" Target="../media/image24.png"/><Relationship Id="rId36" Type="http://schemas.openxmlformats.org/officeDocument/2006/relationships/image" Target="../media/image8.png"/><Relationship Id="rId10" Type="http://schemas.openxmlformats.org/officeDocument/2006/relationships/image" Target="../media/image31.svg"/><Relationship Id="rId19" Type="http://schemas.openxmlformats.org/officeDocument/2006/relationships/image" Target="../media/image37.svg"/><Relationship Id="rId31" Type="http://schemas.openxmlformats.org/officeDocument/2006/relationships/image" Target="../media/image27.svg"/><Relationship Id="rId44" Type="http://schemas.openxmlformats.org/officeDocument/2006/relationships/image" Target="../media/image46.png"/><Relationship Id="rId4" Type="http://schemas.openxmlformats.org/officeDocument/2006/relationships/image" Target="../media/image13.svg"/><Relationship Id="rId9" Type="http://schemas.openxmlformats.org/officeDocument/2006/relationships/image" Target="../media/image30.png"/><Relationship Id="rId14" Type="http://schemas.openxmlformats.org/officeDocument/2006/relationships/image" Target="../media/image32.png"/><Relationship Id="rId22" Type="http://schemas.openxmlformats.org/officeDocument/2006/relationships/image" Target="../media/image18.png"/><Relationship Id="rId27" Type="http://schemas.openxmlformats.org/officeDocument/2006/relationships/image" Target="../media/image23.svg"/><Relationship Id="rId30" Type="http://schemas.openxmlformats.org/officeDocument/2006/relationships/image" Target="../media/image26.png"/><Relationship Id="rId35" Type="http://schemas.openxmlformats.org/officeDocument/2006/relationships/image" Target="../media/image7.svg"/><Relationship Id="rId43" Type="http://schemas.openxmlformats.org/officeDocument/2006/relationships/image" Target="../media/image45.svg"/><Relationship Id="rId8" Type="http://schemas.openxmlformats.org/officeDocument/2006/relationships/image" Target="../media/image11.svg"/><Relationship Id="rId3" Type="http://schemas.openxmlformats.org/officeDocument/2006/relationships/image" Target="../media/image12.png"/><Relationship Id="rId12" Type="http://schemas.openxmlformats.org/officeDocument/2006/relationships/image" Target="../media/image41.svg"/><Relationship Id="rId17" Type="http://schemas.openxmlformats.org/officeDocument/2006/relationships/image" Target="../media/image35.svg"/><Relationship Id="rId25" Type="http://schemas.openxmlformats.org/officeDocument/2006/relationships/image" Target="../media/image21.svg"/><Relationship Id="rId33" Type="http://schemas.openxmlformats.org/officeDocument/2006/relationships/image" Target="../media/image29.svg"/><Relationship Id="rId38" Type="http://schemas.openxmlformats.org/officeDocument/2006/relationships/image" Target="../media/image38.png"/><Relationship Id="rId46" Type="http://schemas.openxmlformats.org/officeDocument/2006/relationships/image" Target="../media/image48.png"/><Relationship Id="rId20" Type="http://schemas.openxmlformats.org/officeDocument/2006/relationships/image" Target="../media/image16.png"/><Relationship Id="rId41" Type="http://schemas.openxmlformats.org/officeDocument/2006/relationships/image" Target="../media/image43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13.svg"/><Relationship Id="rId18" Type="http://schemas.openxmlformats.org/officeDocument/2006/relationships/image" Target="../media/image30.png"/><Relationship Id="rId3" Type="http://schemas.openxmlformats.org/officeDocument/2006/relationships/image" Target="../media/image51.png"/><Relationship Id="rId21" Type="http://schemas.openxmlformats.org/officeDocument/2006/relationships/image" Target="../media/image41.svg"/><Relationship Id="rId7" Type="http://schemas.openxmlformats.org/officeDocument/2006/relationships/image" Target="../media/image55.pn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svg"/><Relationship Id="rId11" Type="http://schemas.openxmlformats.org/officeDocument/2006/relationships/image" Target="../media/image50.png"/><Relationship Id="rId24" Type="http://schemas.openxmlformats.org/officeDocument/2006/relationships/image" Target="../media/image61.svg"/><Relationship Id="rId5" Type="http://schemas.openxmlformats.org/officeDocument/2006/relationships/image" Target="../media/image53.png"/><Relationship Id="rId15" Type="http://schemas.openxmlformats.org/officeDocument/2006/relationships/image" Target="../media/image15.svg"/><Relationship Id="rId23" Type="http://schemas.openxmlformats.org/officeDocument/2006/relationships/image" Target="../media/image60.png"/><Relationship Id="rId10" Type="http://schemas.openxmlformats.org/officeDocument/2006/relationships/image" Target="../media/image58.svg"/><Relationship Id="rId19" Type="http://schemas.openxmlformats.org/officeDocument/2006/relationships/image" Target="../media/image31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14.png"/><Relationship Id="rId22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microsoft.com/en-us/security/blog/2007/09/11/stride-chart/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13.svg"/><Relationship Id="rId18" Type="http://schemas.openxmlformats.org/officeDocument/2006/relationships/image" Target="../media/image30.png"/><Relationship Id="rId3" Type="http://schemas.openxmlformats.org/officeDocument/2006/relationships/image" Target="../media/image51.png"/><Relationship Id="rId21" Type="http://schemas.openxmlformats.org/officeDocument/2006/relationships/image" Target="../media/image41.svg"/><Relationship Id="rId7" Type="http://schemas.openxmlformats.org/officeDocument/2006/relationships/image" Target="../media/image55.pn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svg"/><Relationship Id="rId11" Type="http://schemas.openxmlformats.org/officeDocument/2006/relationships/image" Target="../media/image50.png"/><Relationship Id="rId5" Type="http://schemas.openxmlformats.org/officeDocument/2006/relationships/image" Target="../media/image53.png"/><Relationship Id="rId15" Type="http://schemas.openxmlformats.org/officeDocument/2006/relationships/image" Target="../media/image15.svg"/><Relationship Id="rId10" Type="http://schemas.openxmlformats.org/officeDocument/2006/relationships/image" Target="../media/image58.svg"/><Relationship Id="rId19" Type="http://schemas.openxmlformats.org/officeDocument/2006/relationships/image" Target="../media/image31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microsoft.com/en-us/security/blog/2007/09/11/stride-chart/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13.svg"/><Relationship Id="rId18" Type="http://schemas.openxmlformats.org/officeDocument/2006/relationships/image" Target="../media/image30.png"/><Relationship Id="rId3" Type="http://schemas.openxmlformats.org/officeDocument/2006/relationships/image" Target="../media/image51.png"/><Relationship Id="rId21" Type="http://schemas.openxmlformats.org/officeDocument/2006/relationships/image" Target="../media/image41.svg"/><Relationship Id="rId7" Type="http://schemas.openxmlformats.org/officeDocument/2006/relationships/image" Target="../media/image55.pn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svg"/><Relationship Id="rId11" Type="http://schemas.openxmlformats.org/officeDocument/2006/relationships/image" Target="../media/image50.png"/><Relationship Id="rId5" Type="http://schemas.openxmlformats.org/officeDocument/2006/relationships/image" Target="../media/image53.png"/><Relationship Id="rId15" Type="http://schemas.openxmlformats.org/officeDocument/2006/relationships/image" Target="../media/image15.svg"/><Relationship Id="rId10" Type="http://schemas.openxmlformats.org/officeDocument/2006/relationships/image" Target="../media/image58.svg"/><Relationship Id="rId19" Type="http://schemas.openxmlformats.org/officeDocument/2006/relationships/image" Target="../media/image31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microsoft.com/en-us/security/blog/2007/09/11/stride-chart/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13.svg"/><Relationship Id="rId18" Type="http://schemas.openxmlformats.org/officeDocument/2006/relationships/image" Target="../media/image30.png"/><Relationship Id="rId3" Type="http://schemas.openxmlformats.org/officeDocument/2006/relationships/image" Target="../media/image51.png"/><Relationship Id="rId21" Type="http://schemas.openxmlformats.org/officeDocument/2006/relationships/image" Target="../media/image41.svg"/><Relationship Id="rId7" Type="http://schemas.openxmlformats.org/officeDocument/2006/relationships/image" Target="../media/image55.pn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svg"/><Relationship Id="rId11" Type="http://schemas.openxmlformats.org/officeDocument/2006/relationships/image" Target="../media/image50.png"/><Relationship Id="rId5" Type="http://schemas.openxmlformats.org/officeDocument/2006/relationships/image" Target="../media/image53.png"/><Relationship Id="rId15" Type="http://schemas.openxmlformats.org/officeDocument/2006/relationships/image" Target="../media/image15.svg"/><Relationship Id="rId10" Type="http://schemas.openxmlformats.org/officeDocument/2006/relationships/image" Target="../media/image58.svg"/><Relationship Id="rId19" Type="http://schemas.openxmlformats.org/officeDocument/2006/relationships/image" Target="../media/image31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microsoft.com/en-us/security/blog/2007/09/11/stride-chart/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13" Type="http://schemas.openxmlformats.org/officeDocument/2006/relationships/image" Target="../media/image13.svg"/><Relationship Id="rId18" Type="http://schemas.openxmlformats.org/officeDocument/2006/relationships/image" Target="../media/image30.png"/><Relationship Id="rId3" Type="http://schemas.openxmlformats.org/officeDocument/2006/relationships/image" Target="../media/image51.png"/><Relationship Id="rId21" Type="http://schemas.openxmlformats.org/officeDocument/2006/relationships/image" Target="../media/image41.svg"/><Relationship Id="rId7" Type="http://schemas.openxmlformats.org/officeDocument/2006/relationships/image" Target="../media/image55.png"/><Relationship Id="rId12" Type="http://schemas.openxmlformats.org/officeDocument/2006/relationships/image" Target="../media/image12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4.svg"/><Relationship Id="rId11" Type="http://schemas.openxmlformats.org/officeDocument/2006/relationships/image" Target="../media/image50.png"/><Relationship Id="rId5" Type="http://schemas.openxmlformats.org/officeDocument/2006/relationships/image" Target="../media/image53.png"/><Relationship Id="rId15" Type="http://schemas.openxmlformats.org/officeDocument/2006/relationships/image" Target="../media/image15.svg"/><Relationship Id="rId10" Type="http://schemas.openxmlformats.org/officeDocument/2006/relationships/image" Target="../media/image58.svg"/><Relationship Id="rId19" Type="http://schemas.openxmlformats.org/officeDocument/2006/relationships/image" Target="../media/image31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www.microsoft.com/en-us/security/blog/2007/09/11/stride-chart/" TargetMode="External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eu-digital-identity-wallet/architecture-and-reference-framework/releases/download/v1.1.0/ARF-v1.1.0-for-publication.pdf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-identity-wallet.eu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dc4eu.eu/" TargetMode="External"/><Relationship Id="rId4" Type="http://schemas.openxmlformats.org/officeDocument/2006/relationships/hyperlink" Target="https://www.nobidconsortiu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A76C9BA-FB80-6ABF-7A86-445A4444C6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Placeholder 8" descr="A picture containing outdoor&#10;&#10;Description automatically generated">
            <a:extLst>
              <a:ext uri="{FF2B5EF4-FFF2-40B4-BE49-F238E27FC236}">
                <a16:creationId xmlns:a16="http://schemas.microsoft.com/office/drawing/2014/main" id="{4096F19E-1571-7FE0-3B35-DE67F9A4C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9538" y="1209675"/>
            <a:ext cx="7002462" cy="4438650"/>
          </a:xfrm>
          <a:custGeom>
            <a:avLst/>
            <a:gdLst>
              <a:gd name="connsiteX0" fmla="*/ 0 w 7001738"/>
              <a:gd name="connsiteY0" fmla="*/ 0 h 4439265"/>
              <a:gd name="connsiteX1" fmla="*/ 7001738 w 7001738"/>
              <a:gd name="connsiteY1" fmla="*/ 0 h 4439265"/>
              <a:gd name="connsiteX2" fmla="*/ 7001738 w 7001738"/>
              <a:gd name="connsiteY2" fmla="*/ 4439265 h 4439265"/>
              <a:gd name="connsiteX3" fmla="*/ 2309972 w 7001738"/>
              <a:gd name="connsiteY3" fmla="*/ 4439265 h 443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1738" h="4439265">
                <a:moveTo>
                  <a:pt x="0" y="0"/>
                </a:moveTo>
                <a:lnTo>
                  <a:pt x="7001738" y="0"/>
                </a:lnTo>
                <a:lnTo>
                  <a:pt x="7001738" y="4439265"/>
                </a:lnTo>
                <a:lnTo>
                  <a:pt x="2309972" y="44392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ED3773F-D828-E1FA-2973-F97958412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Wallet Verification</a:t>
            </a:r>
            <a:br>
              <a:rPr lang="en-IN" b="1" dirty="0"/>
            </a:br>
            <a:r>
              <a:rPr lang="en-IN" sz="2000" b="1" dirty="0"/>
              <a:t>+ current state of certain EUDI wallet initiatives (additions to original presentation)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69DE71-8032-5509-32D0-9DA496457B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6525" y="4028110"/>
            <a:ext cx="6780923" cy="2488024"/>
          </a:xfrm>
        </p:spPr>
        <p:txBody>
          <a:bodyPr>
            <a:normAutofit/>
          </a:bodyPr>
          <a:lstStyle/>
          <a:p>
            <a:r>
              <a:rPr lang="da-DK" sz="1800" b="1" i="1" dirty="0"/>
              <a:t>Jan Lindquist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i="1" dirty="0"/>
              <a:t>Product Manager ”Mobile Application Security Core”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i="1" dirty="0"/>
              <a:t>ISO/CEN Standards Expert (</a:t>
            </a:r>
            <a:r>
              <a:rPr lang="da-DK" sz="1800" i="1" dirty="0" err="1"/>
              <a:t>Privacy</a:t>
            </a:r>
            <a:r>
              <a:rPr lang="da-DK" sz="1800" i="1" dirty="0"/>
              <a:t>)</a:t>
            </a:r>
          </a:p>
          <a:p>
            <a:r>
              <a:rPr lang="da-DK" sz="1800" b="1" i="1" dirty="0"/>
              <a:t>Francis Richards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i="1" dirty="0"/>
              <a:t>Product Manager ”Signer”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i="1" dirty="0"/>
              <a:t>Solutions Architect</a:t>
            </a:r>
          </a:p>
        </p:txBody>
      </p:sp>
    </p:spTree>
    <p:extLst>
      <p:ext uri="{BB962C8B-B14F-4D97-AF65-F5344CB8AC3E}">
        <p14:creationId xmlns:p14="http://schemas.microsoft.com/office/powerpoint/2010/main" val="329819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1751F75-FF99-B514-2828-84A504627C1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6350" r="16350"/>
          <a:stretch/>
        </p:blipFill>
        <p:spPr>
          <a:xfrm>
            <a:off x="101600" y="167561"/>
            <a:ext cx="6096000" cy="6371351"/>
          </a:xfrm>
          <a:noFill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1D49EE-F580-672B-061A-46586A56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anchor="ctr">
            <a:normAutofit/>
          </a:bodyPr>
          <a:lstStyle/>
          <a:p>
            <a:r>
              <a:rPr lang="da-DK" b="1" dirty="0"/>
              <a:t>Agenda</a:t>
            </a:r>
            <a:endParaRPr lang="en-FR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2A890-F76E-6C53-CE0F-CEF3E0935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681578" cy="2428351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a-DK" sz="1600" dirty="0"/>
              <a:t>EU digital </a:t>
            </a:r>
            <a:r>
              <a:rPr lang="da-DK" sz="1600" dirty="0" err="1"/>
              <a:t>identity</a:t>
            </a:r>
            <a:r>
              <a:rPr lang="da-DK" sz="1600" dirty="0"/>
              <a:t> (EUDI) </a:t>
            </a:r>
            <a:r>
              <a:rPr lang="da-DK" sz="1600" dirty="0" err="1"/>
              <a:t>wallet</a:t>
            </a:r>
            <a:r>
              <a:rPr lang="da-DK" sz="1600" dirty="0"/>
              <a:t> ecosystem – A </a:t>
            </a:r>
            <a:r>
              <a:rPr lang="da-DK" sz="1600" dirty="0" err="1"/>
              <a:t>simplified</a:t>
            </a:r>
            <a:r>
              <a:rPr lang="da-DK" sz="1600" dirty="0"/>
              <a:t> view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600" i="0" dirty="0">
                <a:effectLst/>
              </a:rPr>
              <a:t>‘Wallet </a:t>
            </a:r>
            <a:r>
              <a:rPr lang="da-DK" sz="1600" i="0" dirty="0" err="1">
                <a:effectLst/>
              </a:rPr>
              <a:t>verification</a:t>
            </a:r>
            <a:r>
              <a:rPr lang="da-DK" sz="1600" i="0" dirty="0">
                <a:effectLst/>
              </a:rPr>
              <a:t>’ – a definition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‘Wallet verification’ – five mechanisms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‘Wallet verification’ – EUDI wallet building blocks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Current state (regulatory, pilots etc)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Open discussion</a:t>
            </a:r>
          </a:p>
          <a:p>
            <a:pPr marL="0" indent="0">
              <a:buNone/>
            </a:pPr>
            <a:endParaRPr lang="en-IN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FAFB7-0D73-7535-3B11-F0339C8790EA}"/>
              </a:ext>
            </a:extLst>
          </p:cNvPr>
          <p:cNvSpPr txBox="1"/>
          <p:nvPr/>
        </p:nvSpPr>
        <p:spPr>
          <a:xfrm>
            <a:off x="6350400" y="5892581"/>
            <a:ext cx="5219999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Kindly 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The EUDI wallet landscape continues to mature and evolve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This presentation contains assumptions that may be or prove to be inaccurate</a:t>
            </a:r>
          </a:p>
        </p:txBody>
      </p:sp>
    </p:spTree>
    <p:extLst>
      <p:ext uri="{BB962C8B-B14F-4D97-AF65-F5344CB8AC3E}">
        <p14:creationId xmlns:p14="http://schemas.microsoft.com/office/powerpoint/2010/main" val="12016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>
            <a:noAutofit/>
          </a:bodyPr>
          <a:lstStyle/>
          <a:p>
            <a:r>
              <a:rPr lang="en-GB" sz="2800" b="1" dirty="0"/>
              <a:t>EU digital identity wallet ecosystem</a:t>
            </a:r>
            <a:br>
              <a:rPr lang="en-GB" sz="2800" b="1" dirty="0"/>
            </a:br>
            <a:r>
              <a:rPr lang="en-GB" sz="2800" b="1" dirty="0"/>
              <a:t>A simplified view</a:t>
            </a:r>
          </a:p>
        </p:txBody>
      </p:sp>
      <p:grpSp>
        <p:nvGrpSpPr>
          <p:cNvPr id="1153" name="Group 1152">
            <a:extLst>
              <a:ext uri="{FF2B5EF4-FFF2-40B4-BE49-F238E27FC236}">
                <a16:creationId xmlns:a16="http://schemas.microsoft.com/office/drawing/2014/main" id="{87B0333C-DD7F-769C-E8A3-699D8D92CF2F}"/>
              </a:ext>
            </a:extLst>
          </p:cNvPr>
          <p:cNvGrpSpPr/>
          <p:nvPr/>
        </p:nvGrpSpPr>
        <p:grpSpPr>
          <a:xfrm>
            <a:off x="8669697" y="1616631"/>
            <a:ext cx="1402111" cy="1220881"/>
            <a:chOff x="8169554" y="984221"/>
            <a:chExt cx="1231062" cy="1231062"/>
          </a:xfrm>
        </p:grpSpPr>
        <p:pic>
          <p:nvPicPr>
            <p:cNvPr id="37" name="Graphic 36" descr="Blackboard outline">
              <a:extLst>
                <a:ext uri="{FF2B5EF4-FFF2-40B4-BE49-F238E27FC236}">
                  <a16:creationId xmlns:a16="http://schemas.microsoft.com/office/drawing/2014/main" id="{C50AFC0C-0534-5BF1-36A7-6C9463612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69554" y="984221"/>
              <a:ext cx="1231062" cy="1231062"/>
            </a:xfrm>
            <a:prstGeom prst="rect">
              <a:avLst/>
            </a:prstGeom>
          </p:spPr>
        </p:pic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28F89E2C-5BCC-875C-EEB6-CE10BB803E51}"/>
                </a:ext>
              </a:extLst>
            </p:cNvPr>
            <p:cNvSpPr txBox="1"/>
            <p:nvPr/>
          </p:nvSpPr>
          <p:spPr>
            <a:xfrm>
              <a:off x="8169555" y="1896061"/>
              <a:ext cx="12310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Signatures</a:t>
              </a:r>
            </a:p>
          </p:txBody>
        </p:sp>
      </p:grp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C1CDDE21-D991-F320-7F69-662CC7E12DDD}"/>
              </a:ext>
            </a:extLst>
          </p:cNvPr>
          <p:cNvGrpSpPr/>
          <p:nvPr/>
        </p:nvGrpSpPr>
        <p:grpSpPr>
          <a:xfrm>
            <a:off x="9793898" y="1605043"/>
            <a:ext cx="1724992" cy="1246117"/>
            <a:chOff x="7174809" y="2301265"/>
            <a:chExt cx="1514553" cy="1256508"/>
          </a:xfrm>
        </p:grpSpPr>
        <p:grpSp>
          <p:nvGrpSpPr>
            <p:cNvPr id="1100" name="Group 1099">
              <a:extLst>
                <a:ext uri="{FF2B5EF4-FFF2-40B4-BE49-F238E27FC236}">
                  <a16:creationId xmlns:a16="http://schemas.microsoft.com/office/drawing/2014/main" id="{9FE80B2C-040A-7273-F21E-94DA4DBB3105}"/>
                </a:ext>
              </a:extLst>
            </p:cNvPr>
            <p:cNvGrpSpPr/>
            <p:nvPr/>
          </p:nvGrpSpPr>
          <p:grpSpPr>
            <a:xfrm>
              <a:off x="7314569" y="2301265"/>
              <a:ext cx="1256510" cy="1256508"/>
              <a:chOff x="6877217" y="1300250"/>
              <a:chExt cx="1256510" cy="1256508"/>
            </a:xfrm>
          </p:grpSpPr>
          <p:sp>
            <p:nvSpPr>
              <p:cNvPr id="1090" name="TextBox 1089">
                <a:extLst>
                  <a:ext uri="{FF2B5EF4-FFF2-40B4-BE49-F238E27FC236}">
                    <a16:creationId xmlns:a16="http://schemas.microsoft.com/office/drawing/2014/main" id="{D5BC72C1-B530-1679-F559-46E0FDAEA47F}"/>
                  </a:ext>
                </a:extLst>
              </p:cNvPr>
              <p:cNvSpPr txBox="1"/>
              <p:nvPr/>
            </p:nvSpPr>
            <p:spPr>
              <a:xfrm>
                <a:off x="7130359" y="1864396"/>
                <a:ext cx="728750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GB" sz="1400" dirty="0"/>
                  <a:t>WWW</a:t>
                </a:r>
              </a:p>
            </p:txBody>
          </p:sp>
          <p:pic>
            <p:nvPicPr>
              <p:cNvPr id="1098" name="Graphic 1097" descr="Cloud outline">
                <a:extLst>
                  <a:ext uri="{FF2B5EF4-FFF2-40B4-BE49-F238E27FC236}">
                    <a16:creationId xmlns:a16="http://schemas.microsoft.com/office/drawing/2014/main" id="{71951531-DB6F-B304-0BB1-5B1281C49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877217" y="1300250"/>
                <a:ext cx="1256510" cy="1256508"/>
              </a:xfrm>
              <a:prstGeom prst="rect">
                <a:avLst/>
              </a:prstGeom>
            </p:spPr>
          </p:pic>
        </p:grp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CFC8FB6C-AF61-221F-D556-C99D7869C999}"/>
                </a:ext>
              </a:extLst>
            </p:cNvPr>
            <p:cNvSpPr txBox="1"/>
            <p:nvPr/>
          </p:nvSpPr>
          <p:spPr>
            <a:xfrm>
              <a:off x="7174809" y="3238550"/>
              <a:ext cx="1514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Online Services</a:t>
              </a:r>
            </a:p>
          </p:txBody>
        </p:sp>
      </p:grpSp>
      <p:sp>
        <p:nvSpPr>
          <p:cNvPr id="1155" name="Rectangle: Rounded Corners 1154">
            <a:extLst>
              <a:ext uri="{FF2B5EF4-FFF2-40B4-BE49-F238E27FC236}">
                <a16:creationId xmlns:a16="http://schemas.microsoft.com/office/drawing/2014/main" id="{E65F558A-30C5-3863-C507-1C0CB2511735}"/>
              </a:ext>
            </a:extLst>
          </p:cNvPr>
          <p:cNvSpPr/>
          <p:nvPr/>
        </p:nvSpPr>
        <p:spPr>
          <a:xfrm>
            <a:off x="8399717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FD5D725-47C2-B6A0-470B-9E1782C8A7A0}"/>
              </a:ext>
            </a:extLst>
          </p:cNvPr>
          <p:cNvGrpSpPr/>
          <p:nvPr/>
        </p:nvGrpSpPr>
        <p:grpSpPr>
          <a:xfrm>
            <a:off x="300942" y="1640924"/>
            <a:ext cx="3941356" cy="3586979"/>
            <a:chOff x="217971" y="1381876"/>
            <a:chExt cx="4024327" cy="3627660"/>
          </a:xfrm>
        </p:grpSpPr>
        <p:grpSp>
          <p:nvGrpSpPr>
            <p:cNvPr id="1144" name="Group 1143">
              <a:extLst>
                <a:ext uri="{FF2B5EF4-FFF2-40B4-BE49-F238E27FC236}">
                  <a16:creationId xmlns:a16="http://schemas.microsoft.com/office/drawing/2014/main" id="{59B86552-312D-7583-183C-07BD57C6D938}"/>
                </a:ext>
              </a:extLst>
            </p:cNvPr>
            <p:cNvGrpSpPr/>
            <p:nvPr/>
          </p:nvGrpSpPr>
          <p:grpSpPr>
            <a:xfrm>
              <a:off x="469177" y="1381876"/>
              <a:ext cx="926446" cy="1104189"/>
              <a:chOff x="1573706" y="1774169"/>
              <a:chExt cx="926446" cy="1104189"/>
            </a:xfrm>
          </p:grpSpPr>
          <p:grpSp>
            <p:nvGrpSpPr>
              <p:cNvPr id="1081" name="Group 1080">
                <a:extLst>
                  <a:ext uri="{FF2B5EF4-FFF2-40B4-BE49-F238E27FC236}">
                    <a16:creationId xmlns:a16="http://schemas.microsoft.com/office/drawing/2014/main" id="{1DE6171F-3236-6816-899E-6D766E0294A6}"/>
                  </a:ext>
                </a:extLst>
              </p:cNvPr>
              <p:cNvGrpSpPr/>
              <p:nvPr/>
            </p:nvGrpSpPr>
            <p:grpSpPr>
              <a:xfrm>
                <a:off x="1573706" y="1774169"/>
                <a:ext cx="914400" cy="914400"/>
                <a:chOff x="198736" y="1908208"/>
                <a:chExt cx="914400" cy="914400"/>
              </a:xfrm>
            </p:grpSpPr>
            <p:pic>
              <p:nvPicPr>
                <p:cNvPr id="16" name="Graphic 15" descr="Court outline">
                  <a:extLst>
                    <a:ext uri="{FF2B5EF4-FFF2-40B4-BE49-F238E27FC236}">
                      <a16:creationId xmlns:a16="http://schemas.microsoft.com/office/drawing/2014/main" id="{49BC39B4-3D84-F003-8D4F-700DA687BB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8736" y="1908208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401B50D0-A5D3-C52D-AAF4-F22CF682C429}"/>
                    </a:ext>
                  </a:extLst>
                </p:cNvPr>
                <p:cNvGrpSpPr/>
                <p:nvPr/>
              </p:nvGrpSpPr>
              <p:grpSpPr>
                <a:xfrm>
                  <a:off x="685182" y="2174652"/>
                  <a:ext cx="393998" cy="625760"/>
                  <a:chOff x="6863503" y="1009650"/>
                  <a:chExt cx="161925" cy="257175"/>
                </a:xfrm>
                <a:noFill/>
              </p:grpSpPr>
              <p:sp>
                <p:nvSpPr>
                  <p:cNvPr id="1024" name="Freeform: Shape 1023">
                    <a:extLst>
                      <a:ext uri="{FF2B5EF4-FFF2-40B4-BE49-F238E27FC236}">
                        <a16:creationId xmlns:a16="http://schemas.microsoft.com/office/drawing/2014/main" id="{D84536DA-BA2C-5EAF-DB45-02836F0D6691}"/>
                      </a:ext>
                    </a:extLst>
                  </p:cNvPr>
                  <p:cNvSpPr/>
                  <p:nvPr/>
                </p:nvSpPr>
                <p:spPr>
                  <a:xfrm>
                    <a:off x="6863503" y="1009650"/>
                    <a:ext cx="161925" cy="257175"/>
                  </a:xfrm>
                  <a:custGeom>
                    <a:avLst/>
                    <a:gdLst>
                      <a:gd name="connsiteX0" fmla="*/ 137636 w 161925"/>
                      <a:gd name="connsiteY0" fmla="*/ 0 h 257175"/>
                      <a:gd name="connsiteX1" fmla="*/ 161925 w 161925"/>
                      <a:gd name="connsiteY1" fmla="*/ 24289 h 257175"/>
                      <a:gd name="connsiteX2" fmla="*/ 161925 w 161925"/>
                      <a:gd name="connsiteY2" fmla="*/ 232886 h 257175"/>
                      <a:gd name="connsiteX3" fmla="*/ 137636 w 161925"/>
                      <a:gd name="connsiteY3" fmla="*/ 257175 h 257175"/>
                      <a:gd name="connsiteX4" fmla="*/ 24289 w 161925"/>
                      <a:gd name="connsiteY4" fmla="*/ 257175 h 257175"/>
                      <a:gd name="connsiteX5" fmla="*/ 0 w 161925"/>
                      <a:gd name="connsiteY5" fmla="*/ 232886 h 257175"/>
                      <a:gd name="connsiteX6" fmla="*/ 0 w 161925"/>
                      <a:gd name="connsiteY6" fmla="*/ 24289 h 257175"/>
                      <a:gd name="connsiteX7" fmla="*/ 24289 w 161925"/>
                      <a:gd name="connsiteY7" fmla="*/ 0 h 2571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61925" h="257175">
                        <a:moveTo>
                          <a:pt x="137636" y="0"/>
                        </a:moveTo>
                        <a:cubicBezTo>
                          <a:pt x="151051" y="0"/>
                          <a:pt x="161925" y="10874"/>
                          <a:pt x="161925" y="24289"/>
                        </a:cubicBezTo>
                        <a:lnTo>
                          <a:pt x="161925" y="232886"/>
                        </a:lnTo>
                        <a:cubicBezTo>
                          <a:pt x="161925" y="246301"/>
                          <a:pt x="151051" y="257175"/>
                          <a:pt x="137636" y="257175"/>
                        </a:cubicBezTo>
                        <a:lnTo>
                          <a:pt x="24289" y="257175"/>
                        </a:lnTo>
                        <a:cubicBezTo>
                          <a:pt x="10874" y="257175"/>
                          <a:pt x="0" y="246301"/>
                          <a:pt x="0" y="232886"/>
                        </a:cubicBezTo>
                        <a:lnTo>
                          <a:pt x="0" y="24289"/>
                        </a:lnTo>
                        <a:cubicBezTo>
                          <a:pt x="0" y="10874"/>
                          <a:pt x="10874" y="0"/>
                          <a:pt x="24289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25" name="Freeform: Shape 1024">
                    <a:extLst>
                      <a:ext uri="{FF2B5EF4-FFF2-40B4-BE49-F238E27FC236}">
                        <a16:creationId xmlns:a16="http://schemas.microsoft.com/office/drawing/2014/main" id="{9CCFD462-03E9-1EDD-CEB3-87D1A4D46792}"/>
                      </a:ext>
                    </a:extLst>
                  </p:cNvPr>
                  <p:cNvSpPr/>
                  <p:nvPr/>
                </p:nvSpPr>
                <p:spPr>
                  <a:xfrm>
                    <a:off x="6896840" y="1109662"/>
                    <a:ext cx="95250" cy="95250"/>
                  </a:xfrm>
                  <a:custGeom>
                    <a:avLst/>
                    <a:gdLst>
                      <a:gd name="connsiteX0" fmla="*/ 95250 w 95250"/>
                      <a:gd name="connsiteY0" fmla="*/ 47625 h 95250"/>
                      <a:gd name="connsiteX1" fmla="*/ 47625 w 95250"/>
                      <a:gd name="connsiteY1" fmla="*/ 95250 h 95250"/>
                      <a:gd name="connsiteX2" fmla="*/ 0 w 95250"/>
                      <a:gd name="connsiteY2" fmla="*/ 47625 h 95250"/>
                      <a:gd name="connsiteX3" fmla="*/ 47625 w 95250"/>
                      <a:gd name="connsiteY3" fmla="*/ 0 h 95250"/>
                      <a:gd name="connsiteX4" fmla="*/ 95250 w 95250"/>
                      <a:gd name="connsiteY4" fmla="*/ 47625 h 95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250" h="95250">
                        <a:moveTo>
                          <a:pt x="95250" y="47625"/>
                        </a:moveTo>
                        <a:cubicBezTo>
                          <a:pt x="95250" y="73928"/>
                          <a:pt x="73928" y="95250"/>
                          <a:pt x="47625" y="95250"/>
                        </a:cubicBezTo>
                        <a:cubicBezTo>
                          <a:pt x="21322" y="95250"/>
                          <a:pt x="0" y="73928"/>
                          <a:pt x="0" y="47625"/>
                        </a:cubicBezTo>
                        <a:cubicBezTo>
                          <a:pt x="0" y="21322"/>
                          <a:pt x="21322" y="0"/>
                          <a:pt x="47625" y="0"/>
                        </a:cubicBezTo>
                        <a:cubicBezTo>
                          <a:pt x="73928" y="0"/>
                          <a:pt x="95250" y="21322"/>
                          <a:pt x="95250" y="47625"/>
                        </a:cubicBezTo>
                        <a:close/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26" name="Freeform: Shape 1025">
                    <a:extLst>
                      <a:ext uri="{FF2B5EF4-FFF2-40B4-BE49-F238E27FC236}">
                        <a16:creationId xmlns:a16="http://schemas.microsoft.com/office/drawing/2014/main" id="{D29F0185-B437-B549-4405-A1A9D0415263}"/>
                      </a:ext>
                    </a:extLst>
                  </p:cNvPr>
                  <p:cNvSpPr/>
                  <p:nvPr/>
                </p:nvSpPr>
                <p:spPr>
                  <a:xfrm>
                    <a:off x="6896840" y="1109662"/>
                    <a:ext cx="95250" cy="95250"/>
                  </a:xfrm>
                  <a:custGeom>
                    <a:avLst/>
                    <a:gdLst>
                      <a:gd name="connsiteX0" fmla="*/ 47625 w 95250"/>
                      <a:gd name="connsiteY0" fmla="*/ 0 h 95250"/>
                      <a:gd name="connsiteX1" fmla="*/ 47625 w 95250"/>
                      <a:gd name="connsiteY1" fmla="*/ 95250 h 95250"/>
                      <a:gd name="connsiteX2" fmla="*/ 95250 w 95250"/>
                      <a:gd name="connsiteY2" fmla="*/ 47625 h 95250"/>
                      <a:gd name="connsiteX3" fmla="*/ 0 w 95250"/>
                      <a:gd name="connsiteY3" fmla="*/ 47625 h 95250"/>
                      <a:gd name="connsiteX4" fmla="*/ 47625 w 95250"/>
                      <a:gd name="connsiteY4" fmla="*/ 0 h 95250"/>
                      <a:gd name="connsiteX5" fmla="*/ 73152 w 95250"/>
                      <a:gd name="connsiteY5" fmla="*/ 47625 h 95250"/>
                      <a:gd name="connsiteX6" fmla="*/ 47625 w 95250"/>
                      <a:gd name="connsiteY6" fmla="*/ 95250 h 95250"/>
                      <a:gd name="connsiteX7" fmla="*/ 22098 w 95250"/>
                      <a:gd name="connsiteY7" fmla="*/ 47625 h 95250"/>
                      <a:gd name="connsiteX8" fmla="*/ 47625 w 95250"/>
                      <a:gd name="connsiteY8" fmla="*/ 0 h 95250"/>
                      <a:gd name="connsiteX9" fmla="*/ 14288 w 95250"/>
                      <a:gd name="connsiteY9" fmla="*/ 80963 h 95250"/>
                      <a:gd name="connsiteX10" fmla="*/ 80963 w 95250"/>
                      <a:gd name="connsiteY10" fmla="*/ 80963 h 95250"/>
                      <a:gd name="connsiteX11" fmla="*/ 14288 w 95250"/>
                      <a:gd name="connsiteY11" fmla="*/ 14288 h 95250"/>
                      <a:gd name="connsiteX12" fmla="*/ 80963 w 95250"/>
                      <a:gd name="connsiteY12" fmla="*/ 14288 h 952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95250" h="95250">
                        <a:moveTo>
                          <a:pt x="47625" y="0"/>
                        </a:moveTo>
                        <a:lnTo>
                          <a:pt x="47625" y="95250"/>
                        </a:lnTo>
                        <a:moveTo>
                          <a:pt x="95250" y="47625"/>
                        </a:moveTo>
                        <a:lnTo>
                          <a:pt x="0" y="47625"/>
                        </a:lnTo>
                        <a:moveTo>
                          <a:pt x="47625" y="0"/>
                        </a:moveTo>
                        <a:cubicBezTo>
                          <a:pt x="63532" y="10573"/>
                          <a:pt x="73152" y="28480"/>
                          <a:pt x="73152" y="47625"/>
                        </a:cubicBezTo>
                        <a:cubicBezTo>
                          <a:pt x="73152" y="66770"/>
                          <a:pt x="63532" y="84677"/>
                          <a:pt x="47625" y="95250"/>
                        </a:cubicBezTo>
                        <a:cubicBezTo>
                          <a:pt x="31623" y="84677"/>
                          <a:pt x="22098" y="66770"/>
                          <a:pt x="22098" y="47625"/>
                        </a:cubicBezTo>
                        <a:cubicBezTo>
                          <a:pt x="22098" y="28480"/>
                          <a:pt x="31623" y="10573"/>
                          <a:pt x="47625" y="0"/>
                        </a:cubicBezTo>
                        <a:close/>
                        <a:moveTo>
                          <a:pt x="14288" y="80963"/>
                        </a:moveTo>
                        <a:cubicBezTo>
                          <a:pt x="34195" y="66675"/>
                          <a:pt x="61055" y="66675"/>
                          <a:pt x="80963" y="80963"/>
                        </a:cubicBezTo>
                        <a:moveTo>
                          <a:pt x="14288" y="14288"/>
                        </a:moveTo>
                        <a:cubicBezTo>
                          <a:pt x="34195" y="28575"/>
                          <a:pt x="61055" y="28575"/>
                          <a:pt x="80963" y="14288"/>
                        </a:cubicBezTo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27" name="Freeform: Shape 1026">
                    <a:extLst>
                      <a:ext uri="{FF2B5EF4-FFF2-40B4-BE49-F238E27FC236}">
                        <a16:creationId xmlns:a16="http://schemas.microsoft.com/office/drawing/2014/main" id="{C82ACB25-C204-0AF0-882E-3C319DF1521D}"/>
                      </a:ext>
                    </a:extLst>
                  </p:cNvPr>
                  <p:cNvSpPr/>
                  <p:nvPr/>
                </p:nvSpPr>
                <p:spPr>
                  <a:xfrm>
                    <a:off x="6896840" y="1057275"/>
                    <a:ext cx="95250" cy="9525"/>
                  </a:xfrm>
                  <a:custGeom>
                    <a:avLst/>
                    <a:gdLst>
                      <a:gd name="connsiteX0" fmla="*/ 0 w 95250"/>
                      <a:gd name="connsiteY0" fmla="*/ 0 h 9525"/>
                      <a:gd name="connsiteX1" fmla="*/ 95250 w 95250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5250" h="9525">
                        <a:moveTo>
                          <a:pt x="0" y="0"/>
                        </a:moveTo>
                        <a:lnTo>
                          <a:pt x="95250" y="0"/>
                        </a:lnTo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29" name="Freeform: Shape 1028">
                    <a:extLst>
                      <a:ext uri="{FF2B5EF4-FFF2-40B4-BE49-F238E27FC236}">
                        <a16:creationId xmlns:a16="http://schemas.microsoft.com/office/drawing/2014/main" id="{8BA51E7A-6034-F599-F739-D8B15FF8F48D}"/>
                      </a:ext>
                    </a:extLst>
                  </p:cNvPr>
                  <p:cNvSpPr/>
                  <p:nvPr/>
                </p:nvSpPr>
                <p:spPr>
                  <a:xfrm>
                    <a:off x="6896840" y="1038225"/>
                    <a:ext cx="95250" cy="9525"/>
                  </a:xfrm>
                  <a:custGeom>
                    <a:avLst/>
                    <a:gdLst>
                      <a:gd name="connsiteX0" fmla="*/ 0 w 95250"/>
                      <a:gd name="connsiteY0" fmla="*/ 0 h 9525"/>
                      <a:gd name="connsiteX1" fmla="*/ 95250 w 95250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5250" h="9525">
                        <a:moveTo>
                          <a:pt x="0" y="0"/>
                        </a:moveTo>
                        <a:lnTo>
                          <a:pt x="95250" y="0"/>
                        </a:lnTo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0" name="Freeform: Shape 1029">
                    <a:extLst>
                      <a:ext uri="{FF2B5EF4-FFF2-40B4-BE49-F238E27FC236}">
                        <a16:creationId xmlns:a16="http://schemas.microsoft.com/office/drawing/2014/main" id="{BDE5CADD-DF5D-78E9-4C78-7FE06B2F4C4C}"/>
                      </a:ext>
                    </a:extLst>
                  </p:cNvPr>
                  <p:cNvSpPr/>
                  <p:nvPr/>
                </p:nvSpPr>
                <p:spPr>
                  <a:xfrm>
                    <a:off x="6925415" y="1219200"/>
                    <a:ext cx="38100" cy="28575"/>
                  </a:xfrm>
                  <a:custGeom>
                    <a:avLst/>
                    <a:gdLst>
                      <a:gd name="connsiteX0" fmla="*/ 0 w 38100"/>
                      <a:gd name="connsiteY0" fmla="*/ 0 h 28575"/>
                      <a:gd name="connsiteX1" fmla="*/ 38100 w 38100"/>
                      <a:gd name="connsiteY1" fmla="*/ 0 h 28575"/>
                      <a:gd name="connsiteX2" fmla="*/ 38100 w 38100"/>
                      <a:gd name="connsiteY2" fmla="*/ 28575 h 28575"/>
                      <a:gd name="connsiteX3" fmla="*/ 0 w 38100"/>
                      <a:gd name="connsiteY3" fmla="*/ 28575 h 2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100" h="28575">
                        <a:moveTo>
                          <a:pt x="0" y="0"/>
                        </a:moveTo>
                        <a:lnTo>
                          <a:pt x="38100" y="0"/>
                        </a:lnTo>
                        <a:lnTo>
                          <a:pt x="38100" y="28575"/>
                        </a:lnTo>
                        <a:lnTo>
                          <a:pt x="0" y="28575"/>
                        </a:lnTo>
                        <a:close/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1" name="Freeform: Shape 1030">
                    <a:extLst>
                      <a:ext uri="{FF2B5EF4-FFF2-40B4-BE49-F238E27FC236}">
                        <a16:creationId xmlns:a16="http://schemas.microsoft.com/office/drawing/2014/main" id="{D094FCF8-A43D-E7C5-E0BD-42CFD1CABAF1}"/>
                      </a:ext>
                    </a:extLst>
                  </p:cNvPr>
                  <p:cNvSpPr/>
                  <p:nvPr/>
                </p:nvSpPr>
                <p:spPr>
                  <a:xfrm>
                    <a:off x="6925415" y="1233487"/>
                    <a:ext cx="38100" cy="9525"/>
                  </a:xfrm>
                  <a:custGeom>
                    <a:avLst/>
                    <a:gdLst>
                      <a:gd name="connsiteX0" fmla="*/ 0 w 38100"/>
                      <a:gd name="connsiteY0" fmla="*/ 0 h 9525"/>
                      <a:gd name="connsiteX1" fmla="*/ 38100 w 38100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100" h="9525">
                        <a:moveTo>
                          <a:pt x="0" y="0"/>
                        </a:moveTo>
                        <a:lnTo>
                          <a:pt x="38100" y="0"/>
                        </a:lnTo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2" name="Freeform: Shape 1031">
                    <a:extLst>
                      <a:ext uri="{FF2B5EF4-FFF2-40B4-BE49-F238E27FC236}">
                        <a16:creationId xmlns:a16="http://schemas.microsoft.com/office/drawing/2014/main" id="{30626638-35B9-1D47-95FC-8CED302A1A0A}"/>
                      </a:ext>
                    </a:extLst>
                  </p:cNvPr>
                  <p:cNvSpPr/>
                  <p:nvPr/>
                </p:nvSpPr>
                <p:spPr>
                  <a:xfrm>
                    <a:off x="6934940" y="1223962"/>
                    <a:ext cx="19050" cy="19050"/>
                  </a:xfrm>
                  <a:custGeom>
                    <a:avLst/>
                    <a:gdLst>
                      <a:gd name="connsiteX0" fmla="*/ 19050 w 19050"/>
                      <a:gd name="connsiteY0" fmla="*/ 9525 h 19050"/>
                      <a:gd name="connsiteX1" fmla="*/ 9525 w 19050"/>
                      <a:gd name="connsiteY1" fmla="*/ 19050 h 19050"/>
                      <a:gd name="connsiteX2" fmla="*/ 0 w 19050"/>
                      <a:gd name="connsiteY2" fmla="*/ 9525 h 19050"/>
                      <a:gd name="connsiteX3" fmla="*/ 9525 w 19050"/>
                      <a:gd name="connsiteY3" fmla="*/ 0 h 19050"/>
                      <a:gd name="connsiteX4" fmla="*/ 19050 w 19050"/>
                      <a:gd name="connsiteY4" fmla="*/ 9525 h 19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050" h="19050">
                        <a:moveTo>
                          <a:pt x="19050" y="9525"/>
                        </a:moveTo>
                        <a:cubicBezTo>
                          <a:pt x="19050" y="14786"/>
                          <a:pt x="14786" y="19050"/>
                          <a:pt x="9525" y="19050"/>
                        </a:cubicBezTo>
                        <a:cubicBezTo>
                          <a:pt x="4264" y="19050"/>
                          <a:pt x="0" y="14786"/>
                          <a:pt x="0" y="9525"/>
                        </a:cubicBezTo>
                        <a:cubicBezTo>
                          <a:pt x="0" y="4264"/>
                          <a:pt x="4264" y="0"/>
                          <a:pt x="9525" y="0"/>
                        </a:cubicBezTo>
                        <a:cubicBezTo>
                          <a:pt x="14786" y="0"/>
                          <a:pt x="19050" y="4264"/>
                          <a:pt x="19050" y="9525"/>
                        </a:cubicBezTo>
                        <a:close/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3" name="Freeform: Shape 1032">
                    <a:extLst>
                      <a:ext uri="{FF2B5EF4-FFF2-40B4-BE49-F238E27FC236}">
                        <a16:creationId xmlns:a16="http://schemas.microsoft.com/office/drawing/2014/main" id="{2D94F348-8F32-4FA7-F970-1C8AB8C9D461}"/>
                      </a:ext>
                    </a:extLst>
                  </p:cNvPr>
                  <p:cNvSpPr/>
                  <p:nvPr/>
                </p:nvSpPr>
                <p:spPr>
                  <a:xfrm>
                    <a:off x="6939703" y="1228725"/>
                    <a:ext cx="9525" cy="9525"/>
                  </a:xfrm>
                  <a:custGeom>
                    <a:avLst/>
                    <a:gdLst>
                      <a:gd name="connsiteX0" fmla="*/ 9525 w 9525"/>
                      <a:gd name="connsiteY0" fmla="*/ 4763 h 9525"/>
                      <a:gd name="connsiteX1" fmla="*/ 4763 w 9525"/>
                      <a:gd name="connsiteY1" fmla="*/ 9525 h 9525"/>
                      <a:gd name="connsiteX2" fmla="*/ 0 w 9525"/>
                      <a:gd name="connsiteY2" fmla="*/ 4763 h 9525"/>
                      <a:gd name="connsiteX3" fmla="*/ 4763 w 9525"/>
                      <a:gd name="connsiteY3" fmla="*/ 0 h 9525"/>
                      <a:gd name="connsiteX4" fmla="*/ 9525 w 9525"/>
                      <a:gd name="connsiteY4" fmla="*/ 4763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25" h="9525">
                        <a:moveTo>
                          <a:pt x="9525" y="4763"/>
                        </a:moveTo>
                        <a:cubicBezTo>
                          <a:pt x="9525" y="7393"/>
                          <a:pt x="7393" y="9525"/>
                          <a:pt x="4763" y="9525"/>
                        </a:cubicBezTo>
                        <a:cubicBezTo>
                          <a:pt x="2132" y="9525"/>
                          <a:pt x="0" y="7393"/>
                          <a:pt x="0" y="4763"/>
                        </a:cubicBezTo>
                        <a:cubicBezTo>
                          <a:pt x="0" y="2132"/>
                          <a:pt x="2132" y="0"/>
                          <a:pt x="4763" y="0"/>
                        </a:cubicBezTo>
                        <a:cubicBezTo>
                          <a:pt x="7393" y="0"/>
                          <a:pt x="9525" y="2132"/>
                          <a:pt x="9525" y="4763"/>
                        </a:cubicBezTo>
                        <a:close/>
                      </a:path>
                    </a:pathLst>
                  </a:custGeom>
                  <a:grp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</p:grpSp>
          </p:grpSp>
          <p:sp>
            <p:nvSpPr>
              <p:cNvPr id="1140" name="TextBox 1139">
                <a:extLst>
                  <a:ext uri="{FF2B5EF4-FFF2-40B4-BE49-F238E27FC236}">
                    <a16:creationId xmlns:a16="http://schemas.microsoft.com/office/drawing/2014/main" id="{8E9CB58B-4CC4-3AFE-4A2D-B11CF0E38779}"/>
                  </a:ext>
                </a:extLst>
              </p:cNvPr>
              <p:cNvSpPr txBox="1"/>
              <p:nvPr/>
            </p:nvSpPr>
            <p:spPr>
              <a:xfrm>
                <a:off x="1585752" y="2570581"/>
                <a:ext cx="9144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Passport</a:t>
                </a:r>
              </a:p>
            </p:txBody>
          </p:sp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874A2C9E-77C8-B87B-70CE-14D6DECB69F6}"/>
                </a:ext>
              </a:extLst>
            </p:cNvPr>
            <p:cNvGrpSpPr/>
            <p:nvPr/>
          </p:nvGrpSpPr>
          <p:grpSpPr>
            <a:xfrm>
              <a:off x="2598557" y="2628469"/>
              <a:ext cx="1643741" cy="1149050"/>
              <a:chOff x="122177" y="2320412"/>
              <a:chExt cx="1643741" cy="1149050"/>
            </a:xfrm>
          </p:grpSpPr>
          <p:grpSp>
            <p:nvGrpSpPr>
              <p:cNvPr id="1060" name="Group 1059">
                <a:extLst>
                  <a:ext uri="{FF2B5EF4-FFF2-40B4-BE49-F238E27FC236}">
                    <a16:creationId xmlns:a16="http://schemas.microsoft.com/office/drawing/2014/main" id="{F2D940F8-D233-7AC4-C486-59AB68D102A8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21" name="Graphic 20" descr="Building outline">
                  <a:extLst>
                    <a:ext uri="{FF2B5EF4-FFF2-40B4-BE49-F238E27FC236}">
                      <a16:creationId xmlns:a16="http://schemas.microsoft.com/office/drawing/2014/main" id="{09B172B1-71F4-9380-A068-9933DF40D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057" name="Group 1056">
                  <a:extLst>
                    <a:ext uri="{FF2B5EF4-FFF2-40B4-BE49-F238E27FC236}">
                      <a16:creationId xmlns:a16="http://schemas.microsoft.com/office/drawing/2014/main" id="{890B7C72-FC70-34A4-BD6D-3194D238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037" name="Freeform: Shape 1036">
                    <a:extLst>
                      <a:ext uri="{FF2B5EF4-FFF2-40B4-BE49-F238E27FC236}">
                        <a16:creationId xmlns:a16="http://schemas.microsoft.com/office/drawing/2014/main" id="{1CA8621A-BEBE-C397-C4E9-2675DC6ADF56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8" name="Freeform: Shape 1037">
                    <a:extLst>
                      <a:ext uri="{FF2B5EF4-FFF2-40B4-BE49-F238E27FC236}">
                        <a16:creationId xmlns:a16="http://schemas.microsoft.com/office/drawing/2014/main" id="{301537E5-7475-4537-F5B5-C80034890B81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048" name="Freeform: Shape 1047">
                    <a:extLst>
                      <a:ext uri="{FF2B5EF4-FFF2-40B4-BE49-F238E27FC236}">
                        <a16:creationId xmlns:a16="http://schemas.microsoft.com/office/drawing/2014/main" id="{C5A0F8DA-12D9-FD2D-74EC-30FA33E0E6C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49" name="Freeform: Shape 1048">
                    <a:extLst>
                      <a:ext uri="{FF2B5EF4-FFF2-40B4-BE49-F238E27FC236}">
                        <a16:creationId xmlns:a16="http://schemas.microsoft.com/office/drawing/2014/main" id="{C685F556-2C16-1892-9289-7FC2C08C244E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51" name="Freeform: Shape 1050">
                    <a:extLst>
                      <a:ext uri="{FF2B5EF4-FFF2-40B4-BE49-F238E27FC236}">
                        <a16:creationId xmlns:a16="http://schemas.microsoft.com/office/drawing/2014/main" id="{D4566ABC-F668-5DEF-3D2F-CF0CC3B2C86D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054" name="Graphic 1053" descr="Car outline">
                    <a:extLst>
                      <a:ext uri="{FF2B5EF4-FFF2-40B4-BE49-F238E27FC236}">
                        <a16:creationId xmlns:a16="http://schemas.microsoft.com/office/drawing/2014/main" id="{D53BED46-E0DD-043E-021D-F38ACF9E50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76B00464-1037-04C5-3E6F-A374FD924D51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D4F6B5A9-9CE1-E705-8CCF-5A79133D3E48}"/>
                </a:ext>
              </a:extLst>
            </p:cNvPr>
            <p:cNvGrpSpPr/>
            <p:nvPr/>
          </p:nvGrpSpPr>
          <p:grpSpPr>
            <a:xfrm>
              <a:off x="1586537" y="2652185"/>
              <a:ext cx="1220590" cy="1340777"/>
              <a:chOff x="3339924" y="3114522"/>
              <a:chExt cx="1220590" cy="1340777"/>
            </a:xfrm>
          </p:grpSpPr>
          <p:grpSp>
            <p:nvGrpSpPr>
              <p:cNvPr id="1077" name="Group 1076">
                <a:extLst>
                  <a:ext uri="{FF2B5EF4-FFF2-40B4-BE49-F238E27FC236}">
                    <a16:creationId xmlns:a16="http://schemas.microsoft.com/office/drawing/2014/main" id="{B78D5648-E1D1-5865-10F4-DFFC9032CF0B}"/>
                  </a:ext>
                </a:extLst>
              </p:cNvPr>
              <p:cNvGrpSpPr/>
              <p:nvPr/>
            </p:nvGrpSpPr>
            <p:grpSpPr>
              <a:xfrm>
                <a:off x="3372268" y="3114522"/>
                <a:ext cx="1166564" cy="914400"/>
                <a:chOff x="4857998" y="5398316"/>
                <a:chExt cx="1166564" cy="914400"/>
              </a:xfrm>
            </p:grpSpPr>
            <p:pic>
              <p:nvPicPr>
                <p:cNvPr id="39" name="Graphic 38" descr="Classroom outline">
                  <a:extLst>
                    <a:ext uri="{FF2B5EF4-FFF2-40B4-BE49-F238E27FC236}">
                      <a16:creationId xmlns:a16="http://schemas.microsoft.com/office/drawing/2014/main" id="{C0E2AE4E-B2F6-49AF-8155-123BCB275C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57998" y="539831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076" name="Group 1075">
                  <a:extLst>
                    <a:ext uri="{FF2B5EF4-FFF2-40B4-BE49-F238E27FC236}">
                      <a16:creationId xmlns:a16="http://schemas.microsoft.com/office/drawing/2014/main" id="{EEF0385F-27BB-38A5-F43C-45B3EC1E410C}"/>
                    </a:ext>
                  </a:extLst>
                </p:cNvPr>
                <p:cNvGrpSpPr/>
                <p:nvPr/>
              </p:nvGrpSpPr>
              <p:grpSpPr>
                <a:xfrm>
                  <a:off x="5378440" y="5487802"/>
                  <a:ext cx="646122" cy="646122"/>
                  <a:chOff x="4255686" y="5318098"/>
                  <a:chExt cx="914400" cy="914400"/>
                </a:xfrm>
              </p:grpSpPr>
              <p:sp>
                <p:nvSpPr>
                  <p:cNvPr id="1067" name="Rectangle 1066">
                    <a:extLst>
                      <a:ext uri="{FF2B5EF4-FFF2-40B4-BE49-F238E27FC236}">
                        <a16:creationId xmlns:a16="http://schemas.microsoft.com/office/drawing/2014/main" id="{E344F292-F897-C8B7-6284-280A92945750}"/>
                      </a:ext>
                    </a:extLst>
                  </p:cNvPr>
                  <p:cNvSpPr/>
                  <p:nvPr/>
                </p:nvSpPr>
                <p:spPr>
                  <a:xfrm>
                    <a:off x="4337074" y="5513688"/>
                    <a:ext cx="751624" cy="5232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/>
                  </a:p>
                </p:txBody>
              </p:sp>
              <p:pic>
                <p:nvPicPr>
                  <p:cNvPr id="33" name="Graphic 32" descr="Diploma outline">
                    <a:extLst>
                      <a:ext uri="{FF2B5EF4-FFF2-40B4-BE49-F238E27FC236}">
                        <a16:creationId xmlns:a16="http://schemas.microsoft.com/office/drawing/2014/main" id="{DBA1EC2E-0EEC-3007-99A5-64A16B4F65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255686" y="5318098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42" name="TextBox 1141">
                <a:extLst>
                  <a:ext uri="{FF2B5EF4-FFF2-40B4-BE49-F238E27FC236}">
                    <a16:creationId xmlns:a16="http://schemas.microsoft.com/office/drawing/2014/main" id="{F51F3EF0-A3C6-6AFA-51DC-E0D8F0D63994}"/>
                  </a:ext>
                </a:extLst>
              </p:cNvPr>
              <p:cNvSpPr txBox="1"/>
              <p:nvPr/>
            </p:nvSpPr>
            <p:spPr>
              <a:xfrm>
                <a:off x="3339924" y="3932079"/>
                <a:ext cx="12205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Education/</a:t>
                </a:r>
              </a:p>
              <a:p>
                <a:pPr algn="ctr"/>
                <a:r>
                  <a:rPr lang="en-GB" sz="1400" dirty="0"/>
                  <a:t>Qualifications</a:t>
                </a:r>
              </a:p>
            </p:txBody>
          </p:sp>
        </p:grpSp>
        <p:grpSp>
          <p:nvGrpSpPr>
            <p:cNvPr id="1176" name="Group 1175">
              <a:extLst>
                <a:ext uri="{FF2B5EF4-FFF2-40B4-BE49-F238E27FC236}">
                  <a16:creationId xmlns:a16="http://schemas.microsoft.com/office/drawing/2014/main" id="{14600294-C119-4557-D147-86C5467C5F7F}"/>
                </a:ext>
              </a:extLst>
            </p:cNvPr>
            <p:cNvGrpSpPr/>
            <p:nvPr/>
          </p:nvGrpSpPr>
          <p:grpSpPr>
            <a:xfrm>
              <a:off x="387615" y="2712458"/>
              <a:ext cx="1037082" cy="1065061"/>
              <a:chOff x="466668" y="1370028"/>
              <a:chExt cx="1037082" cy="1065061"/>
            </a:xfrm>
          </p:grpSpPr>
          <p:grpSp>
            <p:nvGrpSpPr>
              <p:cNvPr id="1175" name="Group 1174">
                <a:extLst>
                  <a:ext uri="{FF2B5EF4-FFF2-40B4-BE49-F238E27FC236}">
                    <a16:creationId xmlns:a16="http://schemas.microsoft.com/office/drawing/2014/main" id="{F4AFC5B0-D692-BD86-138C-071FFC414026}"/>
                  </a:ext>
                </a:extLst>
              </p:cNvPr>
              <p:cNvGrpSpPr/>
              <p:nvPr/>
            </p:nvGrpSpPr>
            <p:grpSpPr>
              <a:xfrm>
                <a:off x="466668" y="1370028"/>
                <a:ext cx="1037082" cy="1065061"/>
                <a:chOff x="507950" y="1414992"/>
                <a:chExt cx="1037082" cy="1065061"/>
              </a:xfrm>
            </p:grpSpPr>
            <p:pic>
              <p:nvPicPr>
                <p:cNvPr id="18" name="Graphic 17" descr="Bank outline">
                  <a:extLst>
                    <a:ext uri="{FF2B5EF4-FFF2-40B4-BE49-F238E27FC236}">
                      <a16:creationId xmlns:a16="http://schemas.microsoft.com/office/drawing/2014/main" id="{744CB507-2461-79C6-76B6-178E55BF70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9291" y="1414992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F7CD48C9-7E10-2F4A-3F5E-3251E2D2CE20}"/>
                    </a:ext>
                  </a:extLst>
                </p:cNvPr>
                <p:cNvSpPr txBox="1"/>
                <p:nvPr/>
              </p:nvSpPr>
              <p:spPr>
                <a:xfrm>
                  <a:off x="507950" y="2172276"/>
                  <a:ext cx="103708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Financial</a:t>
                  </a:r>
                </a:p>
              </p:txBody>
            </p:sp>
          </p:grpSp>
          <p:grpSp>
            <p:nvGrpSpPr>
              <p:cNvPr id="1061" name="Group 1060">
                <a:extLst>
                  <a:ext uri="{FF2B5EF4-FFF2-40B4-BE49-F238E27FC236}">
                    <a16:creationId xmlns:a16="http://schemas.microsoft.com/office/drawing/2014/main" id="{DD8D985A-DA99-3311-2E13-1D85508B8D5F}"/>
                  </a:ext>
                </a:extLst>
              </p:cNvPr>
              <p:cNvGrpSpPr/>
              <p:nvPr/>
            </p:nvGrpSpPr>
            <p:grpSpPr>
              <a:xfrm>
                <a:off x="1037934" y="1742938"/>
                <a:ext cx="374620" cy="523220"/>
                <a:chOff x="2137605" y="3011935"/>
                <a:chExt cx="268402" cy="374872"/>
              </a:xfrm>
            </p:grpSpPr>
            <p:sp>
              <p:nvSpPr>
                <p:cNvPr id="1062" name="Oval 1061">
                  <a:extLst>
                    <a:ext uri="{FF2B5EF4-FFF2-40B4-BE49-F238E27FC236}">
                      <a16:creationId xmlns:a16="http://schemas.microsoft.com/office/drawing/2014/main" id="{37E0D53F-378F-5461-4B3C-21BB78E3B7C9}"/>
                    </a:ext>
                  </a:extLst>
                </p:cNvPr>
                <p:cNvSpPr/>
                <p:nvPr/>
              </p:nvSpPr>
              <p:spPr>
                <a:xfrm>
                  <a:off x="2137605" y="3071473"/>
                  <a:ext cx="268402" cy="26840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400"/>
                </a:p>
              </p:txBody>
            </p:sp>
            <p:sp>
              <p:nvSpPr>
                <p:cNvPr id="1063" name="TextBox 1062">
                  <a:extLst>
                    <a:ext uri="{FF2B5EF4-FFF2-40B4-BE49-F238E27FC236}">
                      <a16:creationId xmlns:a16="http://schemas.microsoft.com/office/drawing/2014/main" id="{75E3EF45-451E-FB80-5384-2D9357A1112D}"/>
                    </a:ext>
                  </a:extLst>
                </p:cNvPr>
                <p:cNvSpPr txBox="1"/>
                <p:nvPr/>
              </p:nvSpPr>
              <p:spPr>
                <a:xfrm>
                  <a:off x="2137605" y="3011935"/>
                  <a:ext cx="245831" cy="3748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800" dirty="0"/>
                    <a:t>€</a:t>
                  </a:r>
                </a:p>
              </p:txBody>
            </p:sp>
          </p:grpSp>
        </p:grpSp>
        <p:grpSp>
          <p:nvGrpSpPr>
            <p:cNvPr id="1148" name="Group 1147">
              <a:extLst>
                <a:ext uri="{FF2B5EF4-FFF2-40B4-BE49-F238E27FC236}">
                  <a16:creationId xmlns:a16="http://schemas.microsoft.com/office/drawing/2014/main" id="{D2CA4C37-5231-5D46-CE26-7C33EAB67325}"/>
                </a:ext>
              </a:extLst>
            </p:cNvPr>
            <p:cNvGrpSpPr/>
            <p:nvPr/>
          </p:nvGrpSpPr>
          <p:grpSpPr>
            <a:xfrm>
              <a:off x="1549704" y="3884015"/>
              <a:ext cx="1480093" cy="1108666"/>
              <a:chOff x="703640" y="4445306"/>
              <a:chExt cx="1480093" cy="1108666"/>
            </a:xfrm>
          </p:grpSpPr>
          <p:grpSp>
            <p:nvGrpSpPr>
              <p:cNvPr id="1066" name="Group 1065">
                <a:extLst>
                  <a:ext uri="{FF2B5EF4-FFF2-40B4-BE49-F238E27FC236}">
                    <a16:creationId xmlns:a16="http://schemas.microsoft.com/office/drawing/2014/main" id="{049B63A7-F1BC-0458-A6EF-AAD00B04C1D3}"/>
                  </a:ext>
                </a:extLst>
              </p:cNvPr>
              <p:cNvGrpSpPr/>
              <p:nvPr/>
            </p:nvGrpSpPr>
            <p:grpSpPr>
              <a:xfrm>
                <a:off x="800934" y="4445306"/>
                <a:ext cx="1132854" cy="914400"/>
                <a:chOff x="163324" y="3444758"/>
                <a:chExt cx="1132854" cy="914400"/>
              </a:xfrm>
            </p:grpSpPr>
            <p:pic>
              <p:nvPicPr>
                <p:cNvPr id="23" name="Graphic 22" descr="Remote work outline">
                  <a:extLst>
                    <a:ext uri="{FF2B5EF4-FFF2-40B4-BE49-F238E27FC236}">
                      <a16:creationId xmlns:a16="http://schemas.microsoft.com/office/drawing/2014/main" id="{1B16C49F-4BD4-4466-0C82-23EA7E2806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63324" y="3444758"/>
                  <a:ext cx="857930" cy="914400"/>
                </a:xfrm>
                <a:prstGeom prst="rect">
                  <a:avLst/>
                </a:prstGeom>
              </p:spPr>
            </p:pic>
            <p:pic>
              <p:nvPicPr>
                <p:cNvPr id="45" name="Graphic 44" descr="Construction worker female outline">
                  <a:extLst>
                    <a:ext uri="{FF2B5EF4-FFF2-40B4-BE49-F238E27FC236}">
                      <a16:creationId xmlns:a16="http://schemas.microsoft.com/office/drawing/2014/main" id="{FFE5964A-A710-AAE4-6D98-B195DB3DD3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5824" y="3907984"/>
                  <a:ext cx="440354" cy="440354"/>
                </a:xfrm>
                <a:prstGeom prst="rect">
                  <a:avLst/>
                </a:prstGeom>
              </p:spPr>
            </p:pic>
          </p:grpSp>
          <p:sp>
            <p:nvSpPr>
              <p:cNvPr id="1147" name="TextBox 1146">
                <a:extLst>
                  <a:ext uri="{FF2B5EF4-FFF2-40B4-BE49-F238E27FC236}">
                    <a16:creationId xmlns:a16="http://schemas.microsoft.com/office/drawing/2014/main" id="{34DFF0ED-4708-C59C-B233-A2629A0189CF}"/>
                  </a:ext>
                </a:extLst>
              </p:cNvPr>
              <p:cNvSpPr txBox="1"/>
              <p:nvPr/>
            </p:nvSpPr>
            <p:spPr>
              <a:xfrm>
                <a:off x="703640" y="5246195"/>
                <a:ext cx="148009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Employment</a:t>
                </a:r>
              </a:p>
            </p:txBody>
          </p:sp>
        </p:grp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835FCBA1-8D6A-C121-C345-F661D91F46D6}"/>
                </a:ext>
              </a:extLst>
            </p:cNvPr>
            <p:cNvGrpSpPr/>
            <p:nvPr/>
          </p:nvGrpSpPr>
          <p:grpSpPr>
            <a:xfrm>
              <a:off x="217971" y="3990663"/>
              <a:ext cx="1415006" cy="1018873"/>
              <a:chOff x="763799" y="4582764"/>
              <a:chExt cx="1415006" cy="1018873"/>
            </a:xfrm>
          </p:grpSpPr>
          <p:grpSp>
            <p:nvGrpSpPr>
              <p:cNvPr id="1080" name="Group 1079">
                <a:extLst>
                  <a:ext uri="{FF2B5EF4-FFF2-40B4-BE49-F238E27FC236}">
                    <a16:creationId xmlns:a16="http://schemas.microsoft.com/office/drawing/2014/main" id="{D53EE7FD-EB29-2ECB-182A-55812733C875}"/>
                  </a:ext>
                </a:extLst>
              </p:cNvPr>
              <p:cNvGrpSpPr/>
              <p:nvPr/>
            </p:nvGrpSpPr>
            <p:grpSpPr>
              <a:xfrm>
                <a:off x="988654" y="4582764"/>
                <a:ext cx="980420" cy="914400"/>
                <a:chOff x="1312261" y="4823233"/>
                <a:chExt cx="980420" cy="914400"/>
              </a:xfrm>
            </p:grpSpPr>
            <p:pic>
              <p:nvPicPr>
                <p:cNvPr id="35" name="Graphic 34" descr="Schoolhouse outline">
                  <a:extLst>
                    <a:ext uri="{FF2B5EF4-FFF2-40B4-BE49-F238E27FC236}">
                      <a16:creationId xmlns:a16="http://schemas.microsoft.com/office/drawing/2014/main" id="{3D918741-6ECF-F7EF-3700-ED0A89BA30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12261" y="4823233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079" name="Group 1078">
                  <a:extLst>
                    <a:ext uri="{FF2B5EF4-FFF2-40B4-BE49-F238E27FC236}">
                      <a16:creationId xmlns:a16="http://schemas.microsoft.com/office/drawing/2014/main" id="{CE3ABCC2-AE01-FCDF-9DEF-31027C8973BC}"/>
                    </a:ext>
                  </a:extLst>
                </p:cNvPr>
                <p:cNvGrpSpPr/>
                <p:nvPr/>
              </p:nvGrpSpPr>
              <p:grpSpPr>
                <a:xfrm>
                  <a:off x="1769461" y="5036691"/>
                  <a:ext cx="523220" cy="523220"/>
                  <a:chOff x="2012519" y="4590147"/>
                  <a:chExt cx="914400" cy="914400"/>
                </a:xfrm>
              </p:grpSpPr>
              <p:sp>
                <p:nvSpPr>
                  <p:cNvPr id="1078" name="Oval 1077">
                    <a:extLst>
                      <a:ext uri="{FF2B5EF4-FFF2-40B4-BE49-F238E27FC236}">
                        <a16:creationId xmlns:a16="http://schemas.microsoft.com/office/drawing/2014/main" id="{0F60B0DA-4ACF-1D9D-4236-4AFBF6D430D4}"/>
                      </a:ext>
                    </a:extLst>
                  </p:cNvPr>
                  <p:cNvSpPr/>
                  <p:nvPr/>
                </p:nvSpPr>
                <p:spPr>
                  <a:xfrm>
                    <a:off x="2110738" y="4688366"/>
                    <a:ext cx="717962" cy="71796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/>
                  </a:p>
                </p:txBody>
              </p:sp>
              <p:pic>
                <p:nvPicPr>
                  <p:cNvPr id="31" name="Graphic 30" descr="Medical outline">
                    <a:extLst>
                      <a:ext uri="{FF2B5EF4-FFF2-40B4-BE49-F238E27FC236}">
                        <a16:creationId xmlns:a16="http://schemas.microsoft.com/office/drawing/2014/main" id="{FEA2D88E-7D37-4C7D-61D2-22DA77CE84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96DAC541-7B7A-43D3-8B79-37D633B846F1}">
                        <asvg:svgBlip xmlns:asvg="http://schemas.microsoft.com/office/drawing/2016/SVG/main" r:embed="rId2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012519" y="4590147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56" name="TextBox 1155">
                <a:extLst>
                  <a:ext uri="{FF2B5EF4-FFF2-40B4-BE49-F238E27FC236}">
                    <a16:creationId xmlns:a16="http://schemas.microsoft.com/office/drawing/2014/main" id="{34D7F1F0-F305-90C9-942E-D7279E5FD5C2}"/>
                  </a:ext>
                </a:extLst>
              </p:cNvPr>
              <p:cNvSpPr txBox="1"/>
              <p:nvPr/>
            </p:nvSpPr>
            <p:spPr>
              <a:xfrm>
                <a:off x="763799" y="5293860"/>
                <a:ext cx="14150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Health/Medical</a:t>
                </a:r>
              </a:p>
            </p:txBody>
          </p:sp>
        </p:grpSp>
      </p:grpSp>
      <p:sp>
        <p:nvSpPr>
          <p:cNvPr id="1158" name="Rectangle: Rounded Corners 1157">
            <a:extLst>
              <a:ext uri="{FF2B5EF4-FFF2-40B4-BE49-F238E27FC236}">
                <a16:creationId xmlns:a16="http://schemas.microsoft.com/office/drawing/2014/main" id="{ABEBF817-3137-05F5-AB04-8A18E6C2F3DF}"/>
              </a:ext>
            </a:extLst>
          </p:cNvPr>
          <p:cNvSpPr/>
          <p:nvPr/>
        </p:nvSpPr>
        <p:spPr>
          <a:xfrm>
            <a:off x="380989" y="1232561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B2AD39-6D60-8BF7-D647-F80EC73DB009}"/>
              </a:ext>
            </a:extLst>
          </p:cNvPr>
          <p:cNvGrpSpPr/>
          <p:nvPr/>
        </p:nvGrpSpPr>
        <p:grpSpPr>
          <a:xfrm>
            <a:off x="2939955" y="1552472"/>
            <a:ext cx="1037374" cy="1206553"/>
            <a:chOff x="2890821" y="1265828"/>
            <a:chExt cx="1059212" cy="1220237"/>
          </a:xfrm>
        </p:grpSpPr>
        <p:grpSp>
          <p:nvGrpSpPr>
            <p:cNvPr id="1173" name="Group 1172">
              <a:extLst>
                <a:ext uri="{FF2B5EF4-FFF2-40B4-BE49-F238E27FC236}">
                  <a16:creationId xmlns:a16="http://schemas.microsoft.com/office/drawing/2014/main" id="{1E472DAB-FDF6-91F4-0962-FC2EB1C9894C}"/>
                </a:ext>
              </a:extLst>
            </p:cNvPr>
            <p:cNvGrpSpPr/>
            <p:nvPr/>
          </p:nvGrpSpPr>
          <p:grpSpPr>
            <a:xfrm>
              <a:off x="2941520" y="1265828"/>
              <a:ext cx="945908" cy="1031978"/>
              <a:chOff x="5778070" y="-227746"/>
              <a:chExt cx="979872" cy="1031978"/>
            </a:xfrm>
          </p:grpSpPr>
          <p:grpSp>
            <p:nvGrpSpPr>
              <p:cNvPr id="1132" name="Group 1131">
                <a:extLst>
                  <a:ext uri="{FF2B5EF4-FFF2-40B4-BE49-F238E27FC236}">
                    <a16:creationId xmlns:a16="http://schemas.microsoft.com/office/drawing/2014/main" id="{86BC4AE0-7477-59DA-EAB9-122D169C69FC}"/>
                  </a:ext>
                </a:extLst>
              </p:cNvPr>
              <p:cNvGrpSpPr/>
              <p:nvPr/>
            </p:nvGrpSpPr>
            <p:grpSpPr>
              <a:xfrm>
                <a:off x="5778070" y="-227746"/>
                <a:ext cx="914400" cy="1031978"/>
                <a:chOff x="2553799" y="3489523"/>
                <a:chExt cx="914400" cy="1031978"/>
              </a:xfrm>
            </p:grpSpPr>
            <p:pic>
              <p:nvPicPr>
                <p:cNvPr id="1119" name="Graphic 1118" descr="Court outline">
                  <a:extLst>
                    <a:ext uri="{FF2B5EF4-FFF2-40B4-BE49-F238E27FC236}">
                      <a16:creationId xmlns:a16="http://schemas.microsoft.com/office/drawing/2014/main" id="{C6DDA0D2-5CA2-26F3-49DD-28CE2F6E2D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3799" y="3607101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31" name="Graphic 1130" descr="Flag outline">
                  <a:extLst>
                    <a:ext uri="{FF2B5EF4-FFF2-40B4-BE49-F238E27FC236}">
                      <a16:creationId xmlns:a16="http://schemas.microsoft.com/office/drawing/2014/main" id="{DE1CA47C-0759-58BB-10B4-B666DA7FEA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46680" y="3489523"/>
                  <a:ext cx="269966" cy="269966"/>
                </a:xfrm>
                <a:prstGeom prst="rect">
                  <a:avLst/>
                </a:prstGeom>
              </p:spPr>
            </p:pic>
          </p:grpSp>
          <p:grpSp>
            <p:nvGrpSpPr>
              <p:cNvPr id="1172" name="Group 1171">
                <a:extLst>
                  <a:ext uri="{FF2B5EF4-FFF2-40B4-BE49-F238E27FC236}">
                    <a16:creationId xmlns:a16="http://schemas.microsoft.com/office/drawing/2014/main" id="{6910BC86-6ACE-D59C-B96F-1BF33A9C8A13}"/>
                  </a:ext>
                </a:extLst>
              </p:cNvPr>
              <p:cNvGrpSpPr/>
              <p:nvPr/>
            </p:nvGrpSpPr>
            <p:grpSpPr>
              <a:xfrm>
                <a:off x="6305934" y="282544"/>
                <a:ext cx="452008" cy="493208"/>
                <a:chOff x="6339651" y="270239"/>
                <a:chExt cx="452008" cy="493208"/>
              </a:xfrm>
            </p:grpSpPr>
            <p:sp>
              <p:nvSpPr>
                <p:cNvPr id="1171" name="Oval 1170">
                  <a:extLst>
                    <a:ext uri="{FF2B5EF4-FFF2-40B4-BE49-F238E27FC236}">
                      <a16:creationId xmlns:a16="http://schemas.microsoft.com/office/drawing/2014/main" id="{7FAEFFD8-1E2E-CA98-39A5-35C809D4BF12}"/>
                    </a:ext>
                  </a:extLst>
                </p:cNvPr>
                <p:cNvSpPr/>
                <p:nvPr/>
              </p:nvSpPr>
              <p:spPr>
                <a:xfrm>
                  <a:off x="6462753" y="559096"/>
                  <a:ext cx="214312" cy="1494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1168" name="Group 1167">
                  <a:extLst>
                    <a:ext uri="{FF2B5EF4-FFF2-40B4-BE49-F238E27FC236}">
                      <a16:creationId xmlns:a16="http://schemas.microsoft.com/office/drawing/2014/main" id="{25246CAB-DDC1-51B0-56DF-4ED8470B430C}"/>
                    </a:ext>
                  </a:extLst>
                </p:cNvPr>
                <p:cNvGrpSpPr/>
                <p:nvPr/>
              </p:nvGrpSpPr>
              <p:grpSpPr>
                <a:xfrm>
                  <a:off x="6339651" y="270239"/>
                  <a:ext cx="452008" cy="493208"/>
                  <a:chOff x="3664941" y="1702205"/>
                  <a:chExt cx="452008" cy="493208"/>
                </a:xfrm>
              </p:grpSpPr>
              <p:sp>
                <p:nvSpPr>
                  <p:cNvPr id="1137" name="Freeform: Shape 1136">
                    <a:extLst>
                      <a:ext uri="{FF2B5EF4-FFF2-40B4-BE49-F238E27FC236}">
                        <a16:creationId xmlns:a16="http://schemas.microsoft.com/office/drawing/2014/main" id="{0B81D2DF-D22E-1673-FC70-99126AD09267}"/>
                      </a:ext>
                    </a:extLst>
                  </p:cNvPr>
                  <p:cNvSpPr/>
                  <p:nvPr/>
                </p:nvSpPr>
                <p:spPr>
                  <a:xfrm>
                    <a:off x="3691724" y="1727704"/>
                    <a:ext cx="425225" cy="467709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42875" cap="flat">
                    <a:solidFill>
                      <a:schemeClr val="bg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2" name="Freeform: Shape 11">
                    <a:extLst>
                      <a:ext uri="{FF2B5EF4-FFF2-40B4-BE49-F238E27FC236}">
                        <a16:creationId xmlns:a16="http://schemas.microsoft.com/office/drawing/2014/main" id="{7981ACE6-A665-39FF-CD92-597CE217247E}"/>
                      </a:ext>
                    </a:extLst>
                  </p:cNvPr>
                  <p:cNvSpPr/>
                  <p:nvPr/>
                </p:nvSpPr>
                <p:spPr>
                  <a:xfrm>
                    <a:off x="3664941" y="1702205"/>
                    <a:ext cx="425225" cy="467709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" name="Freeform: Shape 12">
                    <a:extLst>
                      <a:ext uri="{FF2B5EF4-FFF2-40B4-BE49-F238E27FC236}">
                        <a16:creationId xmlns:a16="http://schemas.microsoft.com/office/drawing/2014/main" id="{829BFCDA-27E7-4D98-522A-257D1D909942}"/>
                      </a:ext>
                    </a:extLst>
                  </p:cNvPr>
                  <p:cNvSpPr/>
                  <p:nvPr/>
                </p:nvSpPr>
                <p:spPr>
                  <a:xfrm>
                    <a:off x="3884435" y="1882123"/>
                    <a:ext cx="194096" cy="225201"/>
                  </a:xfrm>
                  <a:custGeom>
                    <a:avLst/>
                    <a:gdLst>
                      <a:gd name="connsiteX0" fmla="*/ 643 w 189735"/>
                      <a:gd name="connsiteY0" fmla="*/ 150919 h 220141"/>
                      <a:gd name="connsiteX1" fmla="*/ 14645 w 189735"/>
                      <a:gd name="connsiteY1" fmla="*/ 133488 h 220141"/>
                      <a:gd name="connsiteX2" fmla="*/ 36743 w 189735"/>
                      <a:gd name="connsiteY2" fmla="*/ 132535 h 220141"/>
                      <a:gd name="connsiteX3" fmla="*/ 59317 w 189735"/>
                      <a:gd name="connsiteY3" fmla="*/ 157777 h 220141"/>
                      <a:gd name="connsiteX4" fmla="*/ 142851 w 189735"/>
                      <a:gd name="connsiteY4" fmla="*/ 10711 h 220141"/>
                      <a:gd name="connsiteX5" fmla="*/ 181142 w 189735"/>
                      <a:gd name="connsiteY5" fmla="*/ 1567 h 220141"/>
                      <a:gd name="connsiteX6" fmla="*/ 188952 w 189735"/>
                      <a:gd name="connsiteY6" fmla="*/ 7663 h 220141"/>
                      <a:gd name="connsiteX7" fmla="*/ 187904 w 189735"/>
                      <a:gd name="connsiteY7" fmla="*/ 17664 h 220141"/>
                      <a:gd name="connsiteX8" fmla="*/ 79605 w 189735"/>
                      <a:gd name="connsiteY8" fmla="*/ 215212 h 220141"/>
                      <a:gd name="connsiteX9" fmla="*/ 39029 w 189735"/>
                      <a:gd name="connsiteY9" fmla="*/ 215212 h 220141"/>
                      <a:gd name="connsiteX10" fmla="*/ 643 w 189735"/>
                      <a:gd name="connsiteY10" fmla="*/ 155491 h 220141"/>
                      <a:gd name="connsiteX11" fmla="*/ 643 w 189735"/>
                      <a:gd name="connsiteY11" fmla="*/ 150919 h 2201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89735" h="220141">
                        <a:moveTo>
                          <a:pt x="643" y="150919"/>
                        </a:moveTo>
                        <a:cubicBezTo>
                          <a:pt x="2643" y="143394"/>
                          <a:pt x="7691" y="137012"/>
                          <a:pt x="14645" y="133488"/>
                        </a:cubicBezTo>
                        <a:cubicBezTo>
                          <a:pt x="21503" y="129964"/>
                          <a:pt x="29599" y="129678"/>
                          <a:pt x="36743" y="132535"/>
                        </a:cubicBezTo>
                        <a:cubicBezTo>
                          <a:pt x="47125" y="137679"/>
                          <a:pt x="55221" y="146728"/>
                          <a:pt x="59317" y="157777"/>
                        </a:cubicBezTo>
                        <a:cubicBezTo>
                          <a:pt x="77891" y="103960"/>
                          <a:pt x="106275" y="54049"/>
                          <a:pt x="142851" y="10711"/>
                        </a:cubicBezTo>
                        <a:cubicBezTo>
                          <a:pt x="153138" y="1186"/>
                          <a:pt x="167712" y="-2339"/>
                          <a:pt x="181142" y="1567"/>
                        </a:cubicBezTo>
                        <a:cubicBezTo>
                          <a:pt x="184666" y="2138"/>
                          <a:pt x="187523" y="4424"/>
                          <a:pt x="188952" y="7663"/>
                        </a:cubicBezTo>
                        <a:cubicBezTo>
                          <a:pt x="190286" y="10996"/>
                          <a:pt x="189905" y="14711"/>
                          <a:pt x="187904" y="17664"/>
                        </a:cubicBezTo>
                        <a:cubicBezTo>
                          <a:pt x="138279" y="74814"/>
                          <a:pt x="101322" y="142156"/>
                          <a:pt x="79605" y="215212"/>
                        </a:cubicBezTo>
                        <a:cubicBezTo>
                          <a:pt x="66842" y="221785"/>
                          <a:pt x="51792" y="221785"/>
                          <a:pt x="39029" y="215212"/>
                        </a:cubicBezTo>
                        <a:cubicBezTo>
                          <a:pt x="29313" y="193400"/>
                          <a:pt x="16359" y="173302"/>
                          <a:pt x="643" y="155491"/>
                        </a:cubicBezTo>
                        <a:cubicBezTo>
                          <a:pt x="-214" y="154062"/>
                          <a:pt x="-214" y="152347"/>
                          <a:pt x="643" y="150919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75000"/>
                    </a:schemeClr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p:grpSp>
          </p:grpSp>
        </p:grpSp>
        <p:sp>
          <p:nvSpPr>
            <p:cNvPr id="1116" name="TextBox 1115">
              <a:extLst>
                <a:ext uri="{FF2B5EF4-FFF2-40B4-BE49-F238E27FC236}">
                  <a16:creationId xmlns:a16="http://schemas.microsoft.com/office/drawing/2014/main" id="{5BD1B637-9F0B-C4FE-53F5-1DD4E95A0FF5}"/>
                </a:ext>
              </a:extLst>
            </p:cNvPr>
            <p:cNvSpPr txBox="1"/>
            <p:nvPr/>
          </p:nvSpPr>
          <p:spPr>
            <a:xfrm>
              <a:off x="2890821" y="2178288"/>
              <a:ext cx="1059212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GB" sz="1400" dirty="0"/>
                <a:t>National eID</a:t>
              </a:r>
            </a:p>
          </p:txBody>
        </p:sp>
      </p:grpSp>
      <p:grpSp>
        <p:nvGrpSpPr>
          <p:cNvPr id="1187" name="Group 1186">
            <a:extLst>
              <a:ext uri="{FF2B5EF4-FFF2-40B4-BE49-F238E27FC236}">
                <a16:creationId xmlns:a16="http://schemas.microsoft.com/office/drawing/2014/main" id="{E2EAC7B5-48DC-E529-618C-9841AB7EEA84}"/>
              </a:ext>
            </a:extLst>
          </p:cNvPr>
          <p:cNvGrpSpPr/>
          <p:nvPr/>
        </p:nvGrpSpPr>
        <p:grpSpPr>
          <a:xfrm>
            <a:off x="1641973" y="1705908"/>
            <a:ext cx="1024056" cy="1053117"/>
            <a:chOff x="1851098" y="1436921"/>
            <a:chExt cx="1045614" cy="1065061"/>
          </a:xfrm>
        </p:grpSpPr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4AAFB094-82B1-462B-83D9-4A54376D1B94}"/>
                </a:ext>
              </a:extLst>
            </p:cNvPr>
            <p:cNvGrpSpPr/>
            <p:nvPr/>
          </p:nvGrpSpPr>
          <p:grpSpPr>
            <a:xfrm>
              <a:off x="1851098" y="1436921"/>
              <a:ext cx="1037082" cy="1065061"/>
              <a:chOff x="507950" y="1414992"/>
              <a:chExt cx="1037082" cy="1065061"/>
            </a:xfrm>
          </p:grpSpPr>
          <p:pic>
            <p:nvPicPr>
              <p:cNvPr id="1183" name="Graphic 1182" descr="Bank outline">
                <a:extLst>
                  <a:ext uri="{FF2B5EF4-FFF2-40B4-BE49-F238E27FC236}">
                    <a16:creationId xmlns:a16="http://schemas.microsoft.com/office/drawing/2014/main" id="{08685F08-78B2-1DF5-2FF7-D336868BAB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69291" y="1414992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84" name="TextBox 1183">
                <a:extLst>
                  <a:ext uri="{FF2B5EF4-FFF2-40B4-BE49-F238E27FC236}">
                    <a16:creationId xmlns:a16="http://schemas.microsoft.com/office/drawing/2014/main" id="{2209DB3F-50B6-72CB-BA16-88CD8675CBCC}"/>
                  </a:ext>
                </a:extLst>
              </p:cNvPr>
              <p:cNvSpPr txBox="1"/>
              <p:nvPr/>
            </p:nvSpPr>
            <p:spPr>
              <a:xfrm>
                <a:off x="507950" y="2172276"/>
                <a:ext cx="10370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Certificates</a:t>
                </a:r>
              </a:p>
            </p:txBody>
          </p:sp>
        </p:grpSp>
        <p:grpSp>
          <p:nvGrpSpPr>
            <p:cNvPr id="1186" name="Group 1185">
              <a:extLst>
                <a:ext uri="{FF2B5EF4-FFF2-40B4-BE49-F238E27FC236}">
                  <a16:creationId xmlns:a16="http://schemas.microsoft.com/office/drawing/2014/main" id="{771982ED-9AC5-1FB3-5BC8-A6B16366733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92712" y="1896096"/>
              <a:ext cx="504000" cy="411855"/>
              <a:chOff x="2558344" y="3099862"/>
              <a:chExt cx="471122" cy="384988"/>
            </a:xfrm>
          </p:grpSpPr>
          <p:sp>
            <p:nvSpPr>
              <p:cNvPr id="1185" name="Rectangle 1184">
                <a:extLst>
                  <a:ext uri="{FF2B5EF4-FFF2-40B4-BE49-F238E27FC236}">
                    <a16:creationId xmlns:a16="http://schemas.microsoft.com/office/drawing/2014/main" id="{0B96FCE8-E8D8-9DE0-9017-6428864E6EF7}"/>
                  </a:ext>
                </a:extLst>
              </p:cNvPr>
              <p:cNvSpPr/>
              <p:nvPr/>
            </p:nvSpPr>
            <p:spPr>
              <a:xfrm>
                <a:off x="2580704" y="3123016"/>
                <a:ext cx="379268" cy="2071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A7922ABF-12A2-9FF5-B694-DB28B2F092A3}"/>
                  </a:ext>
                </a:extLst>
              </p:cNvPr>
              <p:cNvSpPr/>
              <p:nvPr/>
            </p:nvSpPr>
            <p:spPr>
              <a:xfrm>
                <a:off x="2558344" y="3099862"/>
                <a:ext cx="471122" cy="384988"/>
              </a:xfrm>
              <a:custGeom>
                <a:avLst/>
                <a:gdLst>
                  <a:gd name="connsiteX0" fmla="*/ 0 w 349339"/>
                  <a:gd name="connsiteY0" fmla="*/ 40106 h 285470"/>
                  <a:gd name="connsiteX1" fmla="*/ 41624 w 349339"/>
                  <a:gd name="connsiteY1" fmla="*/ 6 h 285470"/>
                  <a:gd name="connsiteX2" fmla="*/ 270796 w 349339"/>
                  <a:gd name="connsiteY2" fmla="*/ 6 h 285470"/>
                  <a:gd name="connsiteX3" fmla="*/ 297656 w 349339"/>
                  <a:gd name="connsiteY3" fmla="*/ 22485 h 285470"/>
                  <a:gd name="connsiteX4" fmla="*/ 297656 w 349339"/>
                  <a:gd name="connsiteY4" fmla="*/ 34010 h 285470"/>
                  <a:gd name="connsiteX5" fmla="*/ 281083 w 349339"/>
                  <a:gd name="connsiteY5" fmla="*/ 28391 h 285470"/>
                  <a:gd name="connsiteX6" fmla="*/ 269748 w 349339"/>
                  <a:gd name="connsiteY6" fmla="*/ 16008 h 285470"/>
                  <a:gd name="connsiteX7" fmla="*/ 50482 w 349339"/>
                  <a:gd name="connsiteY7" fmla="*/ 16008 h 285470"/>
                  <a:gd name="connsiteX8" fmla="*/ 50482 w 349339"/>
                  <a:gd name="connsiteY8" fmla="*/ 48965 h 285470"/>
                  <a:gd name="connsiteX9" fmla="*/ 16573 w 349339"/>
                  <a:gd name="connsiteY9" fmla="*/ 48965 h 285470"/>
                  <a:gd name="connsiteX10" fmla="*/ 16573 w 349339"/>
                  <a:gd name="connsiteY10" fmla="*/ 168408 h 285470"/>
                  <a:gd name="connsiteX11" fmla="*/ 25432 w 349339"/>
                  <a:gd name="connsiteY11" fmla="*/ 177647 h 285470"/>
                  <a:gd name="connsiteX12" fmla="*/ 145828 w 349339"/>
                  <a:gd name="connsiteY12" fmla="*/ 177647 h 285470"/>
                  <a:gd name="connsiteX13" fmla="*/ 155353 w 349339"/>
                  <a:gd name="connsiteY13" fmla="*/ 193268 h 285470"/>
                  <a:gd name="connsiteX14" fmla="*/ 24003 w 349339"/>
                  <a:gd name="connsiteY14" fmla="*/ 193268 h 285470"/>
                  <a:gd name="connsiteX15" fmla="*/ 0 w 349339"/>
                  <a:gd name="connsiteY15" fmla="*/ 169456 h 285470"/>
                  <a:gd name="connsiteX16" fmla="*/ 162401 w 349339"/>
                  <a:gd name="connsiteY16" fmla="*/ 262325 h 285470"/>
                  <a:gd name="connsiteX17" fmla="*/ 193453 w 349339"/>
                  <a:gd name="connsiteY17" fmla="*/ 211271 h 285470"/>
                  <a:gd name="connsiteX18" fmla="*/ 155162 w 349339"/>
                  <a:gd name="connsiteY18" fmla="*/ 102209 h 285470"/>
                  <a:gd name="connsiteX19" fmla="*/ 253079 w 349339"/>
                  <a:gd name="connsiteY19" fmla="*/ 36201 h 285470"/>
                  <a:gd name="connsiteX20" fmla="*/ 346234 w 349339"/>
                  <a:gd name="connsiteY20" fmla="*/ 108305 h 285470"/>
                  <a:gd name="connsiteX21" fmla="*/ 300514 w 349339"/>
                  <a:gd name="connsiteY21" fmla="*/ 214700 h 285470"/>
                  <a:gd name="connsiteX22" fmla="*/ 335471 w 349339"/>
                  <a:gd name="connsiteY22" fmla="*/ 265373 h 285470"/>
                  <a:gd name="connsiteX23" fmla="*/ 297275 w 349339"/>
                  <a:gd name="connsiteY23" fmla="*/ 255562 h 285470"/>
                  <a:gd name="connsiteX24" fmla="*/ 286321 w 349339"/>
                  <a:gd name="connsiteY24" fmla="*/ 285089 h 285470"/>
                  <a:gd name="connsiteX25" fmla="*/ 245364 w 349339"/>
                  <a:gd name="connsiteY25" fmla="*/ 232416 h 285470"/>
                  <a:gd name="connsiteX26" fmla="*/ 214313 w 349339"/>
                  <a:gd name="connsiteY26" fmla="*/ 285470 h 285470"/>
                  <a:gd name="connsiteX27" fmla="*/ 200215 w 349339"/>
                  <a:gd name="connsiteY27" fmla="*/ 253466 h 285470"/>
                  <a:gd name="connsiteX28" fmla="*/ 162782 w 349339"/>
                  <a:gd name="connsiteY28" fmla="*/ 133070 h 285470"/>
                  <a:gd name="connsiteX29" fmla="*/ 250031 w 349339"/>
                  <a:gd name="connsiteY29" fmla="*/ 214033 h 285470"/>
                  <a:gd name="connsiteX30" fmla="*/ 336137 w 349339"/>
                  <a:gd name="connsiteY30" fmla="*/ 133070 h 285470"/>
                  <a:gd name="connsiteX31" fmla="*/ 251365 w 349339"/>
                  <a:gd name="connsiteY31" fmla="*/ 50393 h 285470"/>
                  <a:gd name="connsiteX32" fmla="*/ 162782 w 349339"/>
                  <a:gd name="connsiteY32" fmla="*/ 133070 h 285470"/>
                  <a:gd name="connsiteX33" fmla="*/ 183928 w 349339"/>
                  <a:gd name="connsiteY33" fmla="*/ 133070 h 285470"/>
                  <a:gd name="connsiteX34" fmla="*/ 203263 w 349339"/>
                  <a:gd name="connsiteY34" fmla="*/ 88017 h 285470"/>
                  <a:gd name="connsiteX35" fmla="*/ 250031 w 349339"/>
                  <a:gd name="connsiteY35" fmla="*/ 69729 h 285470"/>
                  <a:gd name="connsiteX36" fmla="*/ 296037 w 349339"/>
                  <a:gd name="connsiteY36" fmla="*/ 88398 h 285470"/>
                  <a:gd name="connsiteX37" fmla="*/ 314992 w 349339"/>
                  <a:gd name="connsiteY37" fmla="*/ 133070 h 285470"/>
                  <a:gd name="connsiteX38" fmla="*/ 250031 w 349339"/>
                  <a:gd name="connsiteY38" fmla="*/ 194602 h 285470"/>
                  <a:gd name="connsiteX39" fmla="*/ 183928 w 349339"/>
                  <a:gd name="connsiteY39" fmla="*/ 133070 h 285470"/>
                  <a:gd name="connsiteX40" fmla="*/ 198406 w 349339"/>
                  <a:gd name="connsiteY40" fmla="*/ 133070 h 285470"/>
                  <a:gd name="connsiteX41" fmla="*/ 250031 w 349339"/>
                  <a:gd name="connsiteY41" fmla="*/ 181362 h 285470"/>
                  <a:gd name="connsiteX42" fmla="*/ 300799 w 349339"/>
                  <a:gd name="connsiteY42" fmla="*/ 133070 h 285470"/>
                  <a:gd name="connsiteX43" fmla="*/ 250031 w 349339"/>
                  <a:gd name="connsiteY43" fmla="*/ 83350 h 285470"/>
                  <a:gd name="connsiteX44" fmla="*/ 198406 w 349339"/>
                  <a:gd name="connsiteY44" fmla="*/ 133070 h 285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49339" h="285470">
                    <a:moveTo>
                      <a:pt x="0" y="40106"/>
                    </a:moveTo>
                    <a:lnTo>
                      <a:pt x="41624" y="6"/>
                    </a:lnTo>
                    <a:lnTo>
                      <a:pt x="270796" y="6"/>
                    </a:lnTo>
                    <a:cubicBezTo>
                      <a:pt x="284416" y="-280"/>
                      <a:pt x="296037" y="9436"/>
                      <a:pt x="297656" y="22485"/>
                    </a:cubicBezTo>
                    <a:lnTo>
                      <a:pt x="297656" y="34010"/>
                    </a:lnTo>
                    <a:lnTo>
                      <a:pt x="281083" y="28391"/>
                    </a:lnTo>
                    <a:cubicBezTo>
                      <a:pt x="281369" y="22009"/>
                      <a:pt x="276415" y="16484"/>
                      <a:pt x="269748" y="16008"/>
                    </a:cubicBezTo>
                    <a:lnTo>
                      <a:pt x="50482" y="16008"/>
                    </a:lnTo>
                    <a:lnTo>
                      <a:pt x="50482" y="48965"/>
                    </a:lnTo>
                    <a:lnTo>
                      <a:pt x="16573" y="48965"/>
                    </a:lnTo>
                    <a:lnTo>
                      <a:pt x="16573" y="168408"/>
                    </a:lnTo>
                    <a:cubicBezTo>
                      <a:pt x="17050" y="173075"/>
                      <a:pt x="20669" y="176885"/>
                      <a:pt x="25432" y="177647"/>
                    </a:cubicBezTo>
                    <a:lnTo>
                      <a:pt x="145828" y="177647"/>
                    </a:lnTo>
                    <a:lnTo>
                      <a:pt x="155353" y="193268"/>
                    </a:lnTo>
                    <a:lnTo>
                      <a:pt x="24003" y="193268"/>
                    </a:lnTo>
                    <a:cubicBezTo>
                      <a:pt x="11335" y="191459"/>
                      <a:pt x="1429" y="181743"/>
                      <a:pt x="0" y="169456"/>
                    </a:cubicBezTo>
                    <a:close/>
                    <a:moveTo>
                      <a:pt x="162401" y="262325"/>
                    </a:moveTo>
                    <a:lnTo>
                      <a:pt x="193453" y="211271"/>
                    </a:lnTo>
                    <a:cubicBezTo>
                      <a:pt x="156972" y="187172"/>
                      <a:pt x="141351" y="142786"/>
                      <a:pt x="155162" y="102209"/>
                    </a:cubicBezTo>
                    <a:cubicBezTo>
                      <a:pt x="168878" y="61728"/>
                      <a:pt x="208788" y="34772"/>
                      <a:pt x="253079" y="36201"/>
                    </a:cubicBezTo>
                    <a:cubicBezTo>
                      <a:pt x="297275" y="37630"/>
                      <a:pt x="335280" y="66967"/>
                      <a:pt x="346234" y="108305"/>
                    </a:cubicBezTo>
                    <a:cubicBezTo>
                      <a:pt x="357188" y="149644"/>
                      <a:pt x="338519" y="192983"/>
                      <a:pt x="300514" y="214700"/>
                    </a:cubicBezTo>
                    <a:lnTo>
                      <a:pt x="335471" y="265373"/>
                    </a:lnTo>
                    <a:lnTo>
                      <a:pt x="297275" y="255562"/>
                    </a:lnTo>
                    <a:lnTo>
                      <a:pt x="286321" y="285089"/>
                    </a:lnTo>
                    <a:lnTo>
                      <a:pt x="245364" y="232416"/>
                    </a:lnTo>
                    <a:lnTo>
                      <a:pt x="214313" y="285470"/>
                    </a:lnTo>
                    <a:lnTo>
                      <a:pt x="200215" y="253466"/>
                    </a:lnTo>
                    <a:close/>
                    <a:moveTo>
                      <a:pt x="162782" y="133070"/>
                    </a:moveTo>
                    <a:cubicBezTo>
                      <a:pt x="164973" y="178028"/>
                      <a:pt x="203263" y="213557"/>
                      <a:pt x="250031" y="214033"/>
                    </a:cubicBezTo>
                    <a:cubicBezTo>
                      <a:pt x="296323" y="212985"/>
                      <a:pt x="333946" y="177647"/>
                      <a:pt x="336137" y="133070"/>
                    </a:cubicBezTo>
                    <a:cubicBezTo>
                      <a:pt x="334899" y="88303"/>
                      <a:pt x="297847" y="52108"/>
                      <a:pt x="251365" y="50393"/>
                    </a:cubicBezTo>
                    <a:cubicBezTo>
                      <a:pt x="203454" y="50108"/>
                      <a:pt x="164116" y="86874"/>
                      <a:pt x="162782" y="133070"/>
                    </a:cubicBezTo>
                    <a:close/>
                    <a:moveTo>
                      <a:pt x="183928" y="133070"/>
                    </a:moveTo>
                    <a:cubicBezTo>
                      <a:pt x="183832" y="116116"/>
                      <a:pt x="190786" y="99923"/>
                      <a:pt x="203263" y="88017"/>
                    </a:cubicBezTo>
                    <a:cubicBezTo>
                      <a:pt x="215646" y="76206"/>
                      <a:pt x="232505" y="69539"/>
                      <a:pt x="250031" y="69729"/>
                    </a:cubicBezTo>
                    <a:cubicBezTo>
                      <a:pt x="267271" y="69824"/>
                      <a:pt x="283845" y="76587"/>
                      <a:pt x="296037" y="88398"/>
                    </a:cubicBezTo>
                    <a:cubicBezTo>
                      <a:pt x="308229" y="100304"/>
                      <a:pt x="315087" y="116306"/>
                      <a:pt x="314992" y="133070"/>
                    </a:cubicBezTo>
                    <a:cubicBezTo>
                      <a:pt x="314230" y="167170"/>
                      <a:pt x="285369" y="194411"/>
                      <a:pt x="250031" y="194602"/>
                    </a:cubicBezTo>
                    <a:cubicBezTo>
                      <a:pt x="214217" y="194983"/>
                      <a:pt x="184690" y="167551"/>
                      <a:pt x="183928" y="133070"/>
                    </a:cubicBezTo>
                    <a:close/>
                    <a:moveTo>
                      <a:pt x="198406" y="133070"/>
                    </a:moveTo>
                    <a:cubicBezTo>
                      <a:pt x="199930" y="159645"/>
                      <a:pt x="222313" y="180695"/>
                      <a:pt x="250031" y="181362"/>
                    </a:cubicBezTo>
                    <a:cubicBezTo>
                      <a:pt x="277368" y="180314"/>
                      <a:pt x="299371" y="159359"/>
                      <a:pt x="300799" y="133070"/>
                    </a:cubicBezTo>
                    <a:cubicBezTo>
                      <a:pt x="300133" y="106115"/>
                      <a:pt x="277844" y="84398"/>
                      <a:pt x="250031" y="83350"/>
                    </a:cubicBezTo>
                    <a:cubicBezTo>
                      <a:pt x="221837" y="84112"/>
                      <a:pt x="199168" y="105924"/>
                      <a:pt x="198406" y="13307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sz="1400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530EB0-D806-0607-5EF9-F974EF466C08}"/>
              </a:ext>
            </a:extLst>
          </p:cNvPr>
          <p:cNvGrpSpPr/>
          <p:nvPr/>
        </p:nvGrpSpPr>
        <p:grpSpPr>
          <a:xfrm>
            <a:off x="630799" y="5645279"/>
            <a:ext cx="3205725" cy="1060399"/>
            <a:chOff x="565185" y="5631498"/>
            <a:chExt cx="3182172" cy="1072425"/>
          </a:xfrm>
        </p:grpSpPr>
        <p:grpSp>
          <p:nvGrpSpPr>
            <p:cNvPr id="1160" name="Group 1159">
              <a:extLst>
                <a:ext uri="{FF2B5EF4-FFF2-40B4-BE49-F238E27FC236}">
                  <a16:creationId xmlns:a16="http://schemas.microsoft.com/office/drawing/2014/main" id="{3497F186-315D-6921-064C-4EF1DCD70A07}"/>
                </a:ext>
              </a:extLst>
            </p:cNvPr>
            <p:cNvGrpSpPr/>
            <p:nvPr/>
          </p:nvGrpSpPr>
          <p:grpSpPr>
            <a:xfrm>
              <a:off x="2832957" y="5653774"/>
              <a:ext cx="914400" cy="1050149"/>
              <a:chOff x="3370143" y="5697655"/>
              <a:chExt cx="914400" cy="1050149"/>
            </a:xfrm>
          </p:grpSpPr>
          <p:pic>
            <p:nvPicPr>
              <p:cNvPr id="43" name="Graphic 42" descr="Store outline">
                <a:extLst>
                  <a:ext uri="{FF2B5EF4-FFF2-40B4-BE49-F238E27FC236}">
                    <a16:creationId xmlns:a16="http://schemas.microsoft.com/office/drawing/2014/main" id="{39AF9DBF-F493-9C09-A06D-5E68FEB020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3370143" y="569765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59" name="TextBox 1158">
                <a:extLst>
                  <a:ext uri="{FF2B5EF4-FFF2-40B4-BE49-F238E27FC236}">
                    <a16:creationId xmlns:a16="http://schemas.microsoft.com/office/drawing/2014/main" id="{9E18D4F4-7370-8544-4A3F-9DA32C6E722B}"/>
                  </a:ext>
                </a:extLst>
              </p:cNvPr>
              <p:cNvSpPr txBox="1"/>
              <p:nvPr/>
            </p:nvSpPr>
            <p:spPr>
              <a:xfrm>
                <a:off x="3406017" y="6440027"/>
                <a:ext cx="8760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Retail</a:t>
                </a:r>
              </a:p>
            </p:txBody>
          </p:sp>
        </p:grpSp>
        <p:grpSp>
          <p:nvGrpSpPr>
            <p:cNvPr id="1194" name="Group 1193">
              <a:extLst>
                <a:ext uri="{FF2B5EF4-FFF2-40B4-BE49-F238E27FC236}">
                  <a16:creationId xmlns:a16="http://schemas.microsoft.com/office/drawing/2014/main" id="{F345F565-CE3E-DF2C-1E9C-236FC75B08D1}"/>
                </a:ext>
              </a:extLst>
            </p:cNvPr>
            <p:cNvGrpSpPr/>
            <p:nvPr/>
          </p:nvGrpSpPr>
          <p:grpSpPr>
            <a:xfrm>
              <a:off x="1734509" y="5631498"/>
              <a:ext cx="914400" cy="1072425"/>
              <a:chOff x="1769806" y="5521799"/>
              <a:chExt cx="914400" cy="1072425"/>
            </a:xfrm>
          </p:grpSpPr>
          <p:pic>
            <p:nvPicPr>
              <p:cNvPr id="1191" name="Graphic 1190" descr="Streetcar outline">
                <a:extLst>
                  <a:ext uri="{FF2B5EF4-FFF2-40B4-BE49-F238E27FC236}">
                    <a16:creationId xmlns:a16="http://schemas.microsoft.com/office/drawing/2014/main" id="{D72ADBC9-9939-3DA9-08F8-FE1F69A29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/>
              </a:stretch>
            </p:blipFill>
            <p:spPr>
              <a:xfrm>
                <a:off x="1769806" y="552179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92" name="TextBox 1191">
                <a:extLst>
                  <a:ext uri="{FF2B5EF4-FFF2-40B4-BE49-F238E27FC236}">
                    <a16:creationId xmlns:a16="http://schemas.microsoft.com/office/drawing/2014/main" id="{41D5959A-417F-C239-89B0-0EFB3CA8DA09}"/>
                  </a:ext>
                </a:extLst>
              </p:cNvPr>
              <p:cNvSpPr txBox="1"/>
              <p:nvPr/>
            </p:nvSpPr>
            <p:spPr>
              <a:xfrm>
                <a:off x="1916034" y="6286447"/>
                <a:ext cx="62194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Travel</a:t>
                </a:r>
              </a:p>
            </p:txBody>
          </p:sp>
        </p:grpSp>
        <p:grpSp>
          <p:nvGrpSpPr>
            <p:cNvPr id="1195" name="Group 1194">
              <a:extLst>
                <a:ext uri="{FF2B5EF4-FFF2-40B4-BE49-F238E27FC236}">
                  <a16:creationId xmlns:a16="http://schemas.microsoft.com/office/drawing/2014/main" id="{15A6DFB7-A644-B8E5-1918-CCFB3D0B6969}"/>
                </a:ext>
              </a:extLst>
            </p:cNvPr>
            <p:cNvGrpSpPr/>
            <p:nvPr/>
          </p:nvGrpSpPr>
          <p:grpSpPr>
            <a:xfrm>
              <a:off x="565185" y="5799132"/>
              <a:ext cx="803174" cy="904791"/>
              <a:chOff x="680792" y="5594820"/>
              <a:chExt cx="803174" cy="904791"/>
            </a:xfrm>
          </p:grpSpPr>
          <p:pic>
            <p:nvPicPr>
              <p:cNvPr id="1189" name="Graphic 1188" descr="Ticket outline">
                <a:extLst>
                  <a:ext uri="{FF2B5EF4-FFF2-40B4-BE49-F238E27FC236}">
                    <a16:creationId xmlns:a16="http://schemas.microsoft.com/office/drawing/2014/main" id="{6C7AD09A-F572-A34E-CEA2-96DE69466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>
                <a:fillRect/>
              </a:stretch>
            </p:blipFill>
            <p:spPr>
              <a:xfrm>
                <a:off x="680792" y="5594820"/>
                <a:ext cx="803174" cy="803174"/>
              </a:xfrm>
              <a:prstGeom prst="rect">
                <a:avLst/>
              </a:prstGeom>
            </p:spPr>
          </p:pic>
          <p:sp>
            <p:nvSpPr>
              <p:cNvPr id="1193" name="TextBox 1192">
                <a:extLst>
                  <a:ext uri="{FF2B5EF4-FFF2-40B4-BE49-F238E27FC236}">
                    <a16:creationId xmlns:a16="http://schemas.microsoft.com/office/drawing/2014/main" id="{010FE579-AEB5-BF1E-70E8-F6E8FE3AF011}"/>
                  </a:ext>
                </a:extLst>
              </p:cNvPr>
              <p:cNvSpPr txBox="1"/>
              <p:nvPr/>
            </p:nvSpPr>
            <p:spPr>
              <a:xfrm>
                <a:off x="691170" y="6191834"/>
                <a:ext cx="78241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solidFill>
                      <a:schemeClr val="tx1">
                        <a:lumMod val="60000"/>
                        <a:lumOff val="40000"/>
                      </a:schemeClr>
                    </a:solidFill>
                  </a:rPr>
                  <a:t>Services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7DE7269-BF4D-C257-F87C-F080B6B29CE5}"/>
              </a:ext>
            </a:extLst>
          </p:cNvPr>
          <p:cNvGrpSpPr/>
          <p:nvPr/>
        </p:nvGrpSpPr>
        <p:grpSpPr>
          <a:xfrm>
            <a:off x="8850881" y="2876254"/>
            <a:ext cx="2641502" cy="2241230"/>
            <a:chOff x="9133728" y="2738306"/>
            <a:chExt cx="2254749" cy="2259919"/>
          </a:xfrm>
        </p:grpSpPr>
        <p:grpSp>
          <p:nvGrpSpPr>
            <p:cNvPr id="1217" name="Group 1216">
              <a:extLst>
                <a:ext uri="{FF2B5EF4-FFF2-40B4-BE49-F238E27FC236}">
                  <a16:creationId xmlns:a16="http://schemas.microsoft.com/office/drawing/2014/main" id="{69C8711B-F256-0A04-59BE-2F2544F9EEC7}"/>
                </a:ext>
              </a:extLst>
            </p:cNvPr>
            <p:cNvGrpSpPr/>
            <p:nvPr/>
          </p:nvGrpSpPr>
          <p:grpSpPr>
            <a:xfrm>
              <a:off x="9133728" y="3914342"/>
              <a:ext cx="914400" cy="1083883"/>
              <a:chOff x="8421245" y="3275105"/>
              <a:chExt cx="914400" cy="1083883"/>
            </a:xfrm>
          </p:grpSpPr>
          <p:pic>
            <p:nvPicPr>
              <p:cNvPr id="1094" name="Graphic 1093" descr="Mortgage outline">
                <a:extLst>
                  <a:ext uri="{FF2B5EF4-FFF2-40B4-BE49-F238E27FC236}">
                    <a16:creationId xmlns:a16="http://schemas.microsoft.com/office/drawing/2014/main" id="{E3C17E35-E215-48AC-37D2-DB02FEE9A3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8421245" y="327510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6" name="TextBox 1215">
                <a:extLst>
                  <a:ext uri="{FF2B5EF4-FFF2-40B4-BE49-F238E27FC236}">
                    <a16:creationId xmlns:a16="http://schemas.microsoft.com/office/drawing/2014/main" id="{F5582526-6FE6-F069-756E-8BAA5AE1ED56}"/>
                  </a:ext>
                </a:extLst>
              </p:cNvPr>
              <p:cNvSpPr txBox="1"/>
              <p:nvPr/>
            </p:nvSpPr>
            <p:spPr>
              <a:xfrm>
                <a:off x="8490756" y="4051211"/>
                <a:ext cx="7753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/>
                  <a:t>Loans</a:t>
                </a:r>
              </a:p>
            </p:txBody>
          </p:sp>
        </p:grpSp>
        <p:grpSp>
          <p:nvGrpSpPr>
            <p:cNvPr id="1219" name="Group 1218">
              <a:extLst>
                <a:ext uri="{FF2B5EF4-FFF2-40B4-BE49-F238E27FC236}">
                  <a16:creationId xmlns:a16="http://schemas.microsoft.com/office/drawing/2014/main" id="{7DF47615-E4C8-66AB-E2D8-A7A5BB370340}"/>
                </a:ext>
              </a:extLst>
            </p:cNvPr>
            <p:cNvGrpSpPr/>
            <p:nvPr/>
          </p:nvGrpSpPr>
          <p:grpSpPr>
            <a:xfrm>
              <a:off x="9145074" y="2777236"/>
              <a:ext cx="914400" cy="1084207"/>
              <a:chOff x="9578715" y="3292356"/>
              <a:chExt cx="914400" cy="1084207"/>
            </a:xfrm>
          </p:grpSpPr>
          <p:pic>
            <p:nvPicPr>
              <p:cNvPr id="1096" name="Graphic 1095" descr="Police female outline">
                <a:extLst>
                  <a:ext uri="{FF2B5EF4-FFF2-40B4-BE49-F238E27FC236}">
                    <a16:creationId xmlns:a16="http://schemas.microsoft.com/office/drawing/2014/main" id="{4179D028-DFA5-62EC-D9FC-461BBF715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/>
              </a:stretch>
            </p:blipFill>
            <p:spPr>
              <a:xfrm>
                <a:off x="9578715" y="329235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18" name="TextBox 1217">
                <a:extLst>
                  <a:ext uri="{FF2B5EF4-FFF2-40B4-BE49-F238E27FC236}">
                    <a16:creationId xmlns:a16="http://schemas.microsoft.com/office/drawing/2014/main" id="{C0932CCC-870A-DBE8-9CB0-4CBFA0477DAA}"/>
                  </a:ext>
                </a:extLst>
              </p:cNvPr>
              <p:cNvSpPr txBox="1"/>
              <p:nvPr/>
            </p:nvSpPr>
            <p:spPr>
              <a:xfrm>
                <a:off x="9648226" y="4068786"/>
                <a:ext cx="77537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/>
                  <a:t>Officials</a:t>
                </a:r>
              </a:p>
            </p:txBody>
          </p:sp>
        </p:grpSp>
        <p:grpSp>
          <p:nvGrpSpPr>
            <p:cNvPr id="1229" name="Group 1228">
              <a:extLst>
                <a:ext uri="{FF2B5EF4-FFF2-40B4-BE49-F238E27FC236}">
                  <a16:creationId xmlns:a16="http://schemas.microsoft.com/office/drawing/2014/main" id="{95DFE82D-825E-FE44-91F2-ED836B071C66}"/>
                </a:ext>
              </a:extLst>
            </p:cNvPr>
            <p:cNvGrpSpPr/>
            <p:nvPr/>
          </p:nvGrpSpPr>
          <p:grpSpPr>
            <a:xfrm>
              <a:off x="10486574" y="2738306"/>
              <a:ext cx="775378" cy="1203001"/>
              <a:chOff x="10791397" y="3787098"/>
              <a:chExt cx="775378" cy="1203001"/>
            </a:xfrm>
          </p:grpSpPr>
          <p:grpSp>
            <p:nvGrpSpPr>
              <p:cNvPr id="1227" name="Group 1226">
                <a:extLst>
                  <a:ext uri="{FF2B5EF4-FFF2-40B4-BE49-F238E27FC236}">
                    <a16:creationId xmlns:a16="http://schemas.microsoft.com/office/drawing/2014/main" id="{F408423D-EB06-B829-B0B6-12E4020AFEF8}"/>
                  </a:ext>
                </a:extLst>
              </p:cNvPr>
              <p:cNvGrpSpPr/>
              <p:nvPr/>
            </p:nvGrpSpPr>
            <p:grpSpPr>
              <a:xfrm>
                <a:off x="10802221" y="3787098"/>
                <a:ext cx="753730" cy="788585"/>
                <a:chOff x="10815648" y="3787098"/>
                <a:chExt cx="753730" cy="788585"/>
              </a:xfrm>
            </p:grpSpPr>
            <p:pic>
              <p:nvPicPr>
                <p:cNvPr id="1221" name="Graphic 1220" descr="Martini outline">
                  <a:extLst>
                    <a:ext uri="{FF2B5EF4-FFF2-40B4-BE49-F238E27FC236}">
                      <a16:creationId xmlns:a16="http://schemas.microsoft.com/office/drawing/2014/main" id="{71B18DB9-E4AD-00B1-9A97-CFBFDCA79E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96DAC541-7B7A-43D3-8B79-37D633B846F1}">
                      <asvg:svgBlip xmlns:asvg="http://schemas.microsoft.com/office/drawing/2016/SVG/main" r:embed="rId3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60597" y="3787098"/>
                  <a:ext cx="463832" cy="463832"/>
                </a:xfrm>
                <a:prstGeom prst="rect">
                  <a:avLst/>
                </a:prstGeom>
              </p:spPr>
            </p:pic>
            <p:grpSp>
              <p:nvGrpSpPr>
                <p:cNvPr id="1226" name="Group 1225">
                  <a:extLst>
                    <a:ext uri="{FF2B5EF4-FFF2-40B4-BE49-F238E27FC236}">
                      <a16:creationId xmlns:a16="http://schemas.microsoft.com/office/drawing/2014/main" id="{A3D9BDE4-A5EB-B62B-EB6D-C82E208C962E}"/>
                    </a:ext>
                  </a:extLst>
                </p:cNvPr>
                <p:cNvGrpSpPr/>
                <p:nvPr/>
              </p:nvGrpSpPr>
              <p:grpSpPr>
                <a:xfrm>
                  <a:off x="10815648" y="4111851"/>
                  <a:ext cx="753730" cy="463832"/>
                  <a:chOff x="10815648" y="4111851"/>
                  <a:chExt cx="753730" cy="463832"/>
                </a:xfrm>
              </p:grpSpPr>
              <p:pic>
                <p:nvPicPr>
                  <p:cNvPr id="1223" name="Graphic 1222" descr="Beer outline">
                    <a:extLst>
                      <a:ext uri="{FF2B5EF4-FFF2-40B4-BE49-F238E27FC236}">
                        <a16:creationId xmlns:a16="http://schemas.microsoft.com/office/drawing/2014/main" id="{3AE60ADF-A2BD-B177-9103-CA5E95BF06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0">
                    <a:extLst>
                      <a:ext uri="{96DAC541-7B7A-43D3-8B79-37D633B846F1}">
                        <asvg:svgBlip xmlns:asvg="http://schemas.microsoft.com/office/drawing/2016/SVG/main" r:embed="rId4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815648" y="4111851"/>
                    <a:ext cx="463832" cy="463832"/>
                  </a:xfrm>
                  <a:prstGeom prst="rect">
                    <a:avLst/>
                  </a:prstGeom>
                </p:spPr>
              </p:pic>
              <p:pic>
                <p:nvPicPr>
                  <p:cNvPr id="1225" name="Graphic 1224" descr="Wine outline">
                    <a:extLst>
                      <a:ext uri="{FF2B5EF4-FFF2-40B4-BE49-F238E27FC236}">
                        <a16:creationId xmlns:a16="http://schemas.microsoft.com/office/drawing/2014/main" id="{B93DCB79-06BC-6FDF-556C-03A071D8F7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2">
                    <a:extLst>
                      <a:ext uri="{96DAC541-7B7A-43D3-8B79-37D633B846F1}">
                        <asvg:svgBlip xmlns:asvg="http://schemas.microsoft.com/office/drawing/2016/SVG/main" r:embed="rId4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05546" y="4111851"/>
                    <a:ext cx="463832" cy="46383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228" name="TextBox 1227">
                <a:extLst>
                  <a:ext uri="{FF2B5EF4-FFF2-40B4-BE49-F238E27FC236}">
                    <a16:creationId xmlns:a16="http://schemas.microsoft.com/office/drawing/2014/main" id="{418F9628-4228-F4E2-81A0-32AD22C0C58B}"/>
                  </a:ext>
                </a:extLst>
              </p:cNvPr>
              <p:cNvSpPr txBox="1"/>
              <p:nvPr/>
            </p:nvSpPr>
            <p:spPr>
              <a:xfrm>
                <a:off x="10791397" y="4466879"/>
                <a:ext cx="7753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/>
                  <a:t>Alcohol retailers</a:t>
                </a:r>
              </a:p>
            </p:txBody>
          </p:sp>
        </p:grpSp>
        <p:grpSp>
          <p:nvGrpSpPr>
            <p:cNvPr id="1233" name="Group 1232">
              <a:extLst>
                <a:ext uri="{FF2B5EF4-FFF2-40B4-BE49-F238E27FC236}">
                  <a16:creationId xmlns:a16="http://schemas.microsoft.com/office/drawing/2014/main" id="{E1B8876F-3600-2B26-5782-4706101CC13B}"/>
                </a:ext>
              </a:extLst>
            </p:cNvPr>
            <p:cNvGrpSpPr/>
            <p:nvPr/>
          </p:nvGrpSpPr>
          <p:grpSpPr>
            <a:xfrm>
              <a:off x="10369347" y="3929937"/>
              <a:ext cx="1019130" cy="1068288"/>
              <a:chOff x="7080896" y="3864621"/>
              <a:chExt cx="1019130" cy="1068288"/>
            </a:xfrm>
          </p:grpSpPr>
          <p:pic>
            <p:nvPicPr>
              <p:cNvPr id="1231" name="Graphic 1230" descr="Care outline">
                <a:extLst>
                  <a:ext uri="{FF2B5EF4-FFF2-40B4-BE49-F238E27FC236}">
                    <a16:creationId xmlns:a16="http://schemas.microsoft.com/office/drawing/2014/main" id="{C2883A19-074C-AC60-ED6A-29F33F309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p:blipFill>
            <p:spPr>
              <a:xfrm>
                <a:off x="7133261" y="386462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32" name="TextBox 1231">
                <a:extLst>
                  <a:ext uri="{FF2B5EF4-FFF2-40B4-BE49-F238E27FC236}">
                    <a16:creationId xmlns:a16="http://schemas.microsoft.com/office/drawing/2014/main" id="{C66E8BD1-DBF5-2660-08D1-80A11E9C362A}"/>
                  </a:ext>
                </a:extLst>
              </p:cNvPr>
              <p:cNvSpPr txBox="1"/>
              <p:nvPr/>
            </p:nvSpPr>
            <p:spPr>
              <a:xfrm>
                <a:off x="7080896" y="4625132"/>
                <a:ext cx="101913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/>
                  <a:t>Well-being</a:t>
                </a:r>
              </a:p>
            </p:txBody>
          </p:sp>
        </p:grp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211C03-4561-9321-7A03-26CA31CF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042" y="1981755"/>
            <a:ext cx="2066555" cy="350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43C5ED-6076-58A4-BE6A-C2064AA30B15}"/>
              </a:ext>
            </a:extLst>
          </p:cNvPr>
          <p:cNvSpPr/>
          <p:nvPr/>
        </p:nvSpPr>
        <p:spPr>
          <a:xfrm>
            <a:off x="5510581" y="2599800"/>
            <a:ext cx="1481197" cy="25200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Person Identification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7B01D6-2087-81C0-C904-EB1442C50154}"/>
              </a:ext>
            </a:extLst>
          </p:cNvPr>
          <p:cNvGrpSpPr/>
          <p:nvPr/>
        </p:nvGrpSpPr>
        <p:grpSpPr>
          <a:xfrm>
            <a:off x="5510581" y="3103800"/>
            <a:ext cx="1481197" cy="1512000"/>
            <a:chOff x="5510575" y="3102045"/>
            <a:chExt cx="1440000" cy="151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EA2182B-4D6D-49D5-669D-1813FFC91DAA}"/>
                </a:ext>
              </a:extLst>
            </p:cNvPr>
            <p:cNvSpPr/>
            <p:nvPr/>
          </p:nvSpPr>
          <p:spPr>
            <a:xfrm>
              <a:off x="5510575" y="3354045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Driving Licence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D8F96D-7CD2-C300-1225-E0D55E3D323A}"/>
                </a:ext>
              </a:extLst>
            </p:cNvPr>
            <p:cNvSpPr/>
            <p:nvPr/>
          </p:nvSpPr>
          <p:spPr>
            <a:xfrm>
              <a:off x="5510575" y="3606819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9C1111-6530-7B1E-F9DD-6D9789262B52}"/>
                </a:ext>
              </a:extLst>
            </p:cNvPr>
            <p:cNvSpPr/>
            <p:nvPr/>
          </p:nvSpPr>
          <p:spPr>
            <a:xfrm>
              <a:off x="5510575" y="3102045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7348BF-CB1C-35FF-F29E-B5B75F44893A}"/>
                </a:ext>
              </a:extLst>
            </p:cNvPr>
            <p:cNvSpPr/>
            <p:nvPr/>
          </p:nvSpPr>
          <p:spPr>
            <a:xfrm>
              <a:off x="5510575" y="3858045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09DD58-B075-EE38-BFD6-5C7AE5364F76}"/>
                </a:ext>
              </a:extLst>
            </p:cNvPr>
            <p:cNvSpPr/>
            <p:nvPr/>
          </p:nvSpPr>
          <p:spPr>
            <a:xfrm>
              <a:off x="5510575" y="4110045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1FAD82-F6EA-D2F7-51D1-A0D2D49AA224}"/>
                </a:ext>
              </a:extLst>
            </p:cNvPr>
            <p:cNvSpPr/>
            <p:nvPr/>
          </p:nvSpPr>
          <p:spPr>
            <a:xfrm>
              <a:off x="5510575" y="4362045"/>
              <a:ext cx="1440000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6C95FE2-5C94-0813-19EC-AB6C79FDDC6F}"/>
              </a:ext>
            </a:extLst>
          </p:cNvPr>
          <p:cNvSpPr/>
          <p:nvPr/>
        </p:nvSpPr>
        <p:spPr>
          <a:xfrm>
            <a:off x="5510581" y="4615800"/>
            <a:ext cx="1481197" cy="252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Shopping Coupon</a:t>
            </a:r>
          </a:p>
        </p:txBody>
      </p:sp>
      <p:sp>
        <p:nvSpPr>
          <p:cNvPr id="1161" name="Rectangle 1160">
            <a:extLst>
              <a:ext uri="{FF2B5EF4-FFF2-40B4-BE49-F238E27FC236}">
                <a16:creationId xmlns:a16="http://schemas.microsoft.com/office/drawing/2014/main" id="{C19E3104-9B35-DADE-1F7F-382BB416F216}"/>
              </a:ext>
            </a:extLst>
          </p:cNvPr>
          <p:cNvSpPr/>
          <p:nvPr/>
        </p:nvSpPr>
        <p:spPr>
          <a:xfrm>
            <a:off x="5510581" y="2851800"/>
            <a:ext cx="1481197" cy="25200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Certificates</a:t>
            </a:r>
          </a:p>
        </p:txBody>
      </p:sp>
      <p:sp>
        <p:nvSpPr>
          <p:cNvPr id="1240" name="Arrow: Right 1239">
            <a:extLst>
              <a:ext uri="{FF2B5EF4-FFF2-40B4-BE49-F238E27FC236}">
                <a16:creationId xmlns:a16="http://schemas.microsoft.com/office/drawing/2014/main" id="{9AA814A9-AEE1-D54C-75F8-C6EF3E11E9AA}"/>
              </a:ext>
            </a:extLst>
          </p:cNvPr>
          <p:cNvSpPr/>
          <p:nvPr/>
        </p:nvSpPr>
        <p:spPr>
          <a:xfrm>
            <a:off x="7177819" y="3425631"/>
            <a:ext cx="1491878" cy="455582"/>
          </a:xfrm>
          <a:prstGeom prst="rightArrow">
            <a:avLst>
              <a:gd name="adj1" fmla="val 61863"/>
              <a:gd name="adj2" fmla="val 4293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Consent</a:t>
            </a:r>
          </a:p>
        </p:txBody>
      </p:sp>
      <p:sp>
        <p:nvSpPr>
          <p:cNvPr id="1241" name="Arrow: Right 1240">
            <a:extLst>
              <a:ext uri="{FF2B5EF4-FFF2-40B4-BE49-F238E27FC236}">
                <a16:creationId xmlns:a16="http://schemas.microsoft.com/office/drawing/2014/main" id="{F7440D85-1A96-6922-0D93-663EF45A248B}"/>
              </a:ext>
            </a:extLst>
          </p:cNvPr>
          <p:cNvSpPr/>
          <p:nvPr/>
        </p:nvSpPr>
        <p:spPr>
          <a:xfrm>
            <a:off x="7177819" y="3981979"/>
            <a:ext cx="1491878" cy="455582"/>
          </a:xfrm>
          <a:prstGeom prst="rightArrow">
            <a:avLst>
              <a:gd name="adj1" fmla="val 61863"/>
              <a:gd name="adj2" fmla="val 4293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Selective Disclosure</a:t>
            </a:r>
          </a:p>
        </p:txBody>
      </p:sp>
      <p:sp>
        <p:nvSpPr>
          <p:cNvPr id="1242" name="Arrow: Right 1241">
            <a:extLst>
              <a:ext uri="{FF2B5EF4-FFF2-40B4-BE49-F238E27FC236}">
                <a16:creationId xmlns:a16="http://schemas.microsoft.com/office/drawing/2014/main" id="{46929876-06DA-4C70-B4E6-F29B054CDFE8}"/>
              </a:ext>
            </a:extLst>
          </p:cNvPr>
          <p:cNvSpPr/>
          <p:nvPr/>
        </p:nvSpPr>
        <p:spPr>
          <a:xfrm>
            <a:off x="7177819" y="2869283"/>
            <a:ext cx="1491878" cy="455582"/>
          </a:xfrm>
          <a:prstGeom prst="rightArrow">
            <a:avLst>
              <a:gd name="adj1" fmla="val 61863"/>
              <a:gd name="adj2" fmla="val 42930"/>
            </a:avLst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Online Access</a:t>
            </a:r>
          </a:p>
        </p:txBody>
      </p:sp>
      <p:sp>
        <p:nvSpPr>
          <p:cNvPr id="1245" name="Arrow: Right 1244">
            <a:extLst>
              <a:ext uri="{FF2B5EF4-FFF2-40B4-BE49-F238E27FC236}">
                <a16:creationId xmlns:a16="http://schemas.microsoft.com/office/drawing/2014/main" id="{107F0BA7-B299-8086-53F9-ECBF8D114FA5}"/>
              </a:ext>
            </a:extLst>
          </p:cNvPr>
          <p:cNvSpPr/>
          <p:nvPr/>
        </p:nvSpPr>
        <p:spPr>
          <a:xfrm>
            <a:off x="4185702" y="3425631"/>
            <a:ext cx="1147927" cy="455582"/>
          </a:xfrm>
          <a:prstGeom prst="rightArrow">
            <a:avLst>
              <a:gd name="adj1" fmla="val 61863"/>
              <a:gd name="adj2" fmla="val 4293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Certificates</a:t>
            </a:r>
          </a:p>
        </p:txBody>
      </p:sp>
      <p:sp>
        <p:nvSpPr>
          <p:cNvPr id="1246" name="Arrow: Right 1245">
            <a:extLst>
              <a:ext uri="{FF2B5EF4-FFF2-40B4-BE49-F238E27FC236}">
                <a16:creationId xmlns:a16="http://schemas.microsoft.com/office/drawing/2014/main" id="{E048BF47-64EB-4A64-268B-9BCDB991E611}"/>
              </a:ext>
            </a:extLst>
          </p:cNvPr>
          <p:cNvSpPr/>
          <p:nvPr/>
        </p:nvSpPr>
        <p:spPr>
          <a:xfrm>
            <a:off x="4185702" y="3981979"/>
            <a:ext cx="1147927" cy="455582"/>
          </a:xfrm>
          <a:prstGeom prst="rightArrow">
            <a:avLst>
              <a:gd name="adj1" fmla="val 61863"/>
              <a:gd name="adj2" fmla="val 4293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Attestations</a:t>
            </a:r>
          </a:p>
        </p:txBody>
      </p:sp>
      <p:sp>
        <p:nvSpPr>
          <p:cNvPr id="1247" name="Arrow: Right 1246">
            <a:extLst>
              <a:ext uri="{FF2B5EF4-FFF2-40B4-BE49-F238E27FC236}">
                <a16:creationId xmlns:a16="http://schemas.microsoft.com/office/drawing/2014/main" id="{9E9B512F-0892-9551-896C-3612F6009DCF}"/>
              </a:ext>
            </a:extLst>
          </p:cNvPr>
          <p:cNvSpPr/>
          <p:nvPr/>
        </p:nvSpPr>
        <p:spPr>
          <a:xfrm>
            <a:off x="4185702" y="2869283"/>
            <a:ext cx="1147927" cy="455582"/>
          </a:xfrm>
          <a:prstGeom prst="rightArrow">
            <a:avLst>
              <a:gd name="adj1" fmla="val 61863"/>
              <a:gd name="adj2" fmla="val 42930"/>
            </a:avLst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Person Id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D6D64-FB1E-678B-4A80-40E6B194BC28}"/>
              </a:ext>
            </a:extLst>
          </p:cNvPr>
          <p:cNvSpPr/>
          <p:nvPr/>
        </p:nvSpPr>
        <p:spPr>
          <a:xfrm>
            <a:off x="390256" y="5260564"/>
            <a:ext cx="3731368" cy="1418084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Other Providers (Examples)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904CF2B-0804-D03F-8B6F-2AF402673625}"/>
              </a:ext>
            </a:extLst>
          </p:cNvPr>
          <p:cNvGrpSpPr/>
          <p:nvPr/>
        </p:nvGrpSpPr>
        <p:grpSpPr>
          <a:xfrm>
            <a:off x="8208000" y="5259600"/>
            <a:ext cx="3731368" cy="1445114"/>
            <a:chOff x="4533158" y="5396396"/>
            <a:chExt cx="3731368" cy="144511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44B95B1-4C30-092F-BC21-D6E77DFD87C7}"/>
                </a:ext>
              </a:extLst>
            </p:cNvPr>
            <p:cNvGrpSpPr/>
            <p:nvPr/>
          </p:nvGrpSpPr>
          <p:grpSpPr>
            <a:xfrm>
              <a:off x="5035861" y="5781111"/>
              <a:ext cx="2732561" cy="1060399"/>
              <a:chOff x="5035861" y="5781111"/>
              <a:chExt cx="2732561" cy="106039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6A5E5D3-7975-92AF-F0ED-72EC666000CE}"/>
                  </a:ext>
                </a:extLst>
              </p:cNvPr>
              <p:cNvGrpSpPr/>
              <p:nvPr/>
            </p:nvGrpSpPr>
            <p:grpSpPr>
              <a:xfrm>
                <a:off x="6847255" y="5803137"/>
                <a:ext cx="921167" cy="1038373"/>
                <a:chOff x="3160690" y="5697655"/>
                <a:chExt cx="914400" cy="1050149"/>
              </a:xfrm>
            </p:grpSpPr>
            <p:pic>
              <p:nvPicPr>
                <p:cNvPr id="36" name="Graphic 35" descr="Store outline">
                  <a:extLst>
                    <a:ext uri="{FF2B5EF4-FFF2-40B4-BE49-F238E27FC236}">
                      <a16:creationId xmlns:a16="http://schemas.microsoft.com/office/drawing/2014/main" id="{85F83633-B8EF-0FEA-FAED-0FE8604B66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60690" y="5697655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339A208-FF99-33D8-0B8F-ADC3E7117199}"/>
                    </a:ext>
                  </a:extLst>
                </p:cNvPr>
                <p:cNvSpPr txBox="1"/>
                <p:nvPr/>
              </p:nvSpPr>
              <p:spPr>
                <a:xfrm>
                  <a:off x="3196564" y="6440027"/>
                  <a:ext cx="8760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Retail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6E3E82C7-B739-AA98-876C-30D3E3A53C39}"/>
                  </a:ext>
                </a:extLst>
              </p:cNvPr>
              <p:cNvGrpSpPr/>
              <p:nvPr/>
            </p:nvGrpSpPr>
            <p:grpSpPr>
              <a:xfrm>
                <a:off x="5951680" y="5781111"/>
                <a:ext cx="921167" cy="1060399"/>
                <a:chOff x="1769806" y="5521799"/>
                <a:chExt cx="914400" cy="1072425"/>
              </a:xfrm>
            </p:grpSpPr>
            <p:pic>
              <p:nvPicPr>
                <p:cNvPr id="32" name="Graphic 31" descr="Streetcar outline">
                  <a:extLst>
                    <a:ext uri="{FF2B5EF4-FFF2-40B4-BE49-F238E27FC236}">
                      <a16:creationId xmlns:a16="http://schemas.microsoft.com/office/drawing/2014/main" id="{2901B89E-9BB4-35BF-2467-D772C1BA5C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9806" y="55217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FFFDFCA-821B-D658-9FAE-3258F8963420}"/>
                    </a:ext>
                  </a:extLst>
                </p:cNvPr>
                <p:cNvSpPr txBox="1"/>
                <p:nvPr/>
              </p:nvSpPr>
              <p:spPr>
                <a:xfrm>
                  <a:off x="1916034" y="6286447"/>
                  <a:ext cx="6219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Travel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59BC169-0365-1225-2DF1-53938FB1736C}"/>
                  </a:ext>
                </a:extLst>
              </p:cNvPr>
              <p:cNvGrpSpPr/>
              <p:nvPr/>
            </p:nvGrpSpPr>
            <p:grpSpPr>
              <a:xfrm>
                <a:off x="5035861" y="5946865"/>
                <a:ext cx="809118" cy="894645"/>
                <a:chOff x="941025" y="5594820"/>
                <a:chExt cx="803174" cy="904791"/>
              </a:xfrm>
            </p:grpSpPr>
            <p:pic>
              <p:nvPicPr>
                <p:cNvPr id="29" name="Graphic 28" descr="Ticket outline">
                  <a:extLst>
                    <a:ext uri="{FF2B5EF4-FFF2-40B4-BE49-F238E27FC236}">
                      <a16:creationId xmlns:a16="http://schemas.microsoft.com/office/drawing/2014/main" id="{5F8C183F-FD63-12FD-8BAE-0B7588CB6A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1025" y="5594820"/>
                  <a:ext cx="803174" cy="803173"/>
                </a:xfrm>
                <a:prstGeom prst="rect">
                  <a:avLst/>
                </a:prstGeom>
              </p:spPr>
            </p:pic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2BB65EC-19E5-BCC0-5D6A-8C3447711090}"/>
                    </a:ext>
                  </a:extLst>
                </p:cNvPr>
                <p:cNvSpPr txBox="1"/>
                <p:nvPr/>
              </p:nvSpPr>
              <p:spPr>
                <a:xfrm>
                  <a:off x="951403" y="6191834"/>
                  <a:ext cx="78241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Services</a:t>
                  </a:r>
                </a:p>
              </p:txBody>
            </p:sp>
          </p:grpSp>
        </p:grp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A32B4E4-7190-06A2-3A8D-32E799A1FD96}"/>
                </a:ext>
              </a:extLst>
            </p:cNvPr>
            <p:cNvSpPr/>
            <p:nvPr/>
          </p:nvSpPr>
          <p:spPr>
            <a:xfrm>
              <a:off x="4533158" y="5396396"/>
              <a:ext cx="3731368" cy="1418084"/>
            </a:xfrm>
            <a:prstGeom prst="roundRect">
              <a:avLst>
                <a:gd name="adj" fmla="val 1925"/>
              </a:avLst>
            </a:prstGeom>
            <a:noFill/>
            <a:ln>
              <a:solidFill>
                <a:schemeClr val="bg1">
                  <a:lumMod val="50000"/>
                  <a:alpha val="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Other Relying Parties (Examples)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807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1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5" grpId="0" animBg="1"/>
      <p:bldP spid="1158" grpId="0" animBg="1"/>
      <p:bldP spid="4" grpId="0" animBg="1"/>
      <p:bldP spid="14" grpId="0" animBg="1"/>
      <p:bldP spid="1161" grpId="0" animBg="1"/>
      <p:bldP spid="1240" grpId="0" animBg="1"/>
      <p:bldP spid="1241" grpId="0" animBg="1"/>
      <p:bldP spid="1242" grpId="0" animBg="1"/>
      <p:bldP spid="1245" grpId="0" animBg="1"/>
      <p:bldP spid="1246" grpId="0" animBg="1"/>
      <p:bldP spid="124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sz="3600" b="1" dirty="0"/>
              <a:t>‘Wallet </a:t>
            </a:r>
            <a:r>
              <a:rPr lang="da-DK" sz="3600" b="1" dirty="0" err="1"/>
              <a:t>verification</a:t>
            </a:r>
            <a:r>
              <a:rPr lang="da-DK" sz="3600" b="1" dirty="0"/>
              <a:t>’</a:t>
            </a:r>
            <a:br>
              <a:rPr lang="da-DK" sz="3600" b="1" dirty="0"/>
            </a:br>
            <a:r>
              <a:rPr lang="da-DK" sz="3600" b="1" dirty="0"/>
              <a:t>from eIDAS 2 </a:t>
            </a:r>
            <a:r>
              <a:rPr lang="da-DK" sz="3600" b="1" dirty="0" err="1"/>
              <a:t>proposal</a:t>
            </a:r>
            <a:r>
              <a:rPr lang="da-DK" sz="3600" b="1" dirty="0"/>
              <a:t> (2 March 2023)</a:t>
            </a:r>
            <a:endParaRPr lang="en-FR" sz="3600" b="1" dirty="0"/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F366F5EB-65FA-4C5F-BF0F-74401C299040}"/>
              </a:ext>
            </a:extLst>
          </p:cNvPr>
          <p:cNvSpPr txBox="1"/>
          <p:nvPr/>
        </p:nvSpPr>
        <p:spPr>
          <a:xfrm>
            <a:off x="515938" y="1389888"/>
            <a:ext cx="1100550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‘</a:t>
            </a:r>
            <a:r>
              <a:rPr lang="en-GB" sz="2000" i="1" dirty="0"/>
              <a:t>Article 6a</a:t>
            </a:r>
          </a:p>
          <a:p>
            <a:r>
              <a:rPr lang="en-GB" sz="2000" i="1" dirty="0"/>
              <a:t>European Digital Identity Wallets</a:t>
            </a:r>
          </a:p>
          <a:p>
            <a:endParaRPr lang="en-GB" sz="2000" i="1" dirty="0"/>
          </a:p>
          <a:p>
            <a:pPr lvl="1">
              <a:spcBef>
                <a:spcPts val="1200"/>
              </a:spcBef>
            </a:pPr>
            <a:r>
              <a:rPr lang="en-GB" sz="2000" i="1" dirty="0"/>
              <a:t>5. Member States shall provide free of charge validation mechanisms to:</a:t>
            </a:r>
          </a:p>
          <a:p>
            <a:pPr lvl="2" indent="-288925">
              <a:spcBef>
                <a:spcPts val="1200"/>
              </a:spcBef>
              <a:tabLst>
                <a:tab pos="1614488" algn="l"/>
              </a:tabLst>
            </a:pPr>
            <a:r>
              <a:rPr lang="en-GB" sz="2000" i="1" dirty="0"/>
              <a:t>(a) ensure that the authenticity and validity of European Digital Identity Wallets can be </a:t>
            </a:r>
            <a:r>
              <a:rPr lang="en-GB" sz="20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verified</a:t>
            </a:r>
            <a:r>
              <a:rPr lang="en-GB" sz="2000" i="1" dirty="0"/>
              <a:t>;</a:t>
            </a:r>
          </a:p>
          <a:p>
            <a:pPr lvl="2" indent="-288925">
              <a:spcBef>
                <a:spcPts val="1200"/>
              </a:spcBef>
              <a:tabLst>
                <a:tab pos="1614488" algn="l"/>
              </a:tabLst>
            </a:pPr>
            <a:r>
              <a:rPr lang="en-GB" sz="2000" i="1" dirty="0"/>
              <a:t>(b) allow relying parties and users of European Digital Identity Wallets to </a:t>
            </a:r>
            <a:r>
              <a:rPr lang="en-GB" sz="20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verify</a:t>
            </a:r>
            <a:r>
              <a:rPr lang="en-GB" sz="2000" i="1" dirty="0"/>
              <a:t> that the electronic attestations of attributes are authentic and valid;</a:t>
            </a:r>
          </a:p>
          <a:p>
            <a:pPr lvl="2" indent="-288925">
              <a:spcBef>
                <a:spcPts val="1200"/>
              </a:spcBef>
              <a:tabLst>
                <a:tab pos="1614488" algn="l"/>
              </a:tabLst>
            </a:pPr>
            <a:r>
              <a:rPr lang="en-GB" sz="2000" i="1" dirty="0"/>
              <a:t>(c) allow relying parties,  users of European Digital Identity Wallets and qualified trust service providers to </a:t>
            </a:r>
            <a:r>
              <a:rPr lang="en-GB" sz="20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verify</a:t>
            </a:r>
            <a:r>
              <a:rPr lang="en-GB" sz="2000" i="1" dirty="0"/>
              <a:t> the authenticity and validity of attributed person identification data;</a:t>
            </a:r>
          </a:p>
          <a:p>
            <a:pPr lvl="2" indent="-288925">
              <a:spcBef>
                <a:spcPts val="1200"/>
              </a:spcBef>
              <a:tabLst>
                <a:tab pos="1614488" algn="l"/>
              </a:tabLst>
            </a:pPr>
            <a:r>
              <a:rPr lang="en-GB" sz="2000" i="1" dirty="0"/>
              <a:t>(ca) allow European Digital Identity Wallet users to </a:t>
            </a:r>
            <a:r>
              <a:rPr lang="en-GB" sz="2000" b="1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verify</a:t>
            </a:r>
            <a:r>
              <a:rPr lang="en-GB" sz="2000" i="1" dirty="0"/>
              <a:t> the authenticity and validity of the identity of relying parties approved in accordance with Article 6b(1).</a:t>
            </a:r>
          </a:p>
          <a:p>
            <a:endParaRPr lang="en-GB" sz="2000" b="1" i="1" dirty="0"/>
          </a:p>
          <a:p>
            <a:endParaRPr lang="en-GB" sz="2000" i="1" dirty="0"/>
          </a:p>
          <a:p>
            <a:endParaRPr lang="en-GB" i="1" dirty="0"/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F1D84039-D8D1-39A1-A828-3767AB500F67}"/>
              </a:ext>
            </a:extLst>
          </p:cNvPr>
          <p:cNvSpPr txBox="1"/>
          <p:nvPr/>
        </p:nvSpPr>
        <p:spPr>
          <a:xfrm>
            <a:off x="6928022" y="6448738"/>
            <a:ext cx="5020855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https://www.europarl.europa.eu/doceo/document/A-9-2023-0038_EN.html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4ED470-EAAF-7F73-FFD0-3E0072EB437D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32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sz="3600" b="1" dirty="0"/>
              <a:t>‘Wallet </a:t>
            </a:r>
            <a:r>
              <a:rPr lang="da-DK" sz="3600" b="1" dirty="0" err="1"/>
              <a:t>verification</a:t>
            </a:r>
            <a:r>
              <a:rPr lang="da-DK" sz="3600" b="1" dirty="0"/>
              <a:t>’ – a definition</a:t>
            </a:r>
            <a:endParaRPr lang="en-FR" sz="3600" b="1" dirty="0"/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F366F5EB-65FA-4C5F-BF0F-74401C299040}"/>
              </a:ext>
            </a:extLst>
          </p:cNvPr>
          <p:cNvSpPr txBox="1"/>
          <p:nvPr/>
        </p:nvSpPr>
        <p:spPr>
          <a:xfrm>
            <a:off x="515938" y="1389888"/>
            <a:ext cx="110055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Based on eIDAS 2.0 proposal and  </a:t>
            </a:r>
            <a:r>
              <a:rPr lang="en-GB" b="0" i="0" u="none" strike="noStrike" dirty="0">
                <a:effectLst/>
                <a:latin typeface="-apple-system"/>
                <a:hlinkClick r:id="rId2" tooltip="https://github.com/eu-digital-identity-wallet/architecture-and-reference-framework/releases/download/v1.1.0/ARF-v1.1.0-for-publication.pdf"/>
              </a:rPr>
              <a:t>EUDI Architecture and Reference Framework (ARF) v1.1.0</a:t>
            </a:r>
            <a:r>
              <a:rPr lang="en-GB" b="0" i="0" dirty="0">
                <a:solidFill>
                  <a:srgbClr val="172B4D"/>
                </a:solidFill>
                <a:effectLst/>
                <a:latin typeface="-apple-system"/>
              </a:rPr>
              <a:t> </a:t>
            </a:r>
            <a:endParaRPr lang="en-GB" i="1" dirty="0"/>
          </a:p>
          <a:p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b="0" i="0" dirty="0">
                <a:solidFill>
                  <a:schemeClr val="accent1"/>
                </a:solidFill>
                <a:effectLst/>
              </a:rPr>
              <a:t>Wallet verifies: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p</a:t>
            </a:r>
            <a:r>
              <a:rPr lang="en-GB" b="0" i="0" dirty="0">
                <a:solidFill>
                  <a:schemeClr val="accent1"/>
                </a:solidFill>
                <a:effectLst/>
              </a:rPr>
              <a:t>roviders and relying parties are authentic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rgbClr val="7030A0"/>
                </a:solidFill>
              </a:rPr>
              <a:t>relying party is authorised to request attestation of attribute (new and being discussed in working group 20)</a:t>
            </a:r>
            <a:br>
              <a:rPr lang="en-GB" b="0" i="0" dirty="0">
                <a:solidFill>
                  <a:srgbClr val="7030A0"/>
                </a:solidFill>
                <a:effectLst/>
              </a:rPr>
            </a:br>
            <a:endParaRPr lang="en-GB" b="0" i="0" dirty="0">
              <a:solidFill>
                <a:srgbClr val="7030A0"/>
              </a:solidFill>
              <a:effectLst/>
            </a:endParaRPr>
          </a:p>
          <a:p>
            <a:pPr marL="342900" indent="-342900">
              <a:buFont typeface="+mj-lt"/>
              <a:buAutoNum type="arabicPeriod"/>
              <a:tabLst>
                <a:tab pos="3409950" algn="l"/>
              </a:tabLst>
            </a:pPr>
            <a:r>
              <a:rPr lang="en-GB" dirty="0">
                <a:solidFill>
                  <a:schemeClr val="accent1"/>
                </a:solidFill>
              </a:rPr>
              <a:t>Providers verify: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wallet is authentic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wallet holder identity is authentic</a:t>
            </a:r>
            <a:br>
              <a:rPr lang="en-GB" dirty="0">
                <a:solidFill>
                  <a:schemeClr val="accent1"/>
                </a:solidFill>
              </a:rPr>
            </a:br>
            <a:endParaRPr lang="en-GB" dirty="0">
              <a:solidFill>
                <a:schemeClr val="accent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accent1"/>
                </a:solidFill>
              </a:rPr>
              <a:t>Relying parties verify: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wallet is authentic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person identification data (PID) from wallet: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GB" dirty="0">
                <a:solidFill>
                  <a:schemeClr val="accent1"/>
                </a:solidFill>
              </a:rPr>
              <a:t>from authentic source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GB" dirty="0">
                <a:solidFill>
                  <a:schemeClr val="accent1"/>
                </a:solidFill>
              </a:rPr>
              <a:t>belongs to wallet holder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attestations of attributes from wallet: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GB" dirty="0">
                <a:solidFill>
                  <a:schemeClr val="accent1"/>
                </a:solidFill>
              </a:rPr>
              <a:t>from authentic source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GB" dirty="0">
                <a:solidFill>
                  <a:schemeClr val="accent1"/>
                </a:solidFill>
              </a:rPr>
              <a:t>belong to wallet holder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F1D84039-D8D1-39A1-A828-3767AB500F67}"/>
              </a:ext>
            </a:extLst>
          </p:cNvPr>
          <p:cNvSpPr txBox="1"/>
          <p:nvPr/>
        </p:nvSpPr>
        <p:spPr>
          <a:xfrm>
            <a:off x="9327597" y="6264072"/>
            <a:ext cx="2621280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EUDI – EU Digital Identity</a:t>
            </a:r>
          </a:p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4ED470-EAAF-7F73-FFD0-3E0072EB437D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89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8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sz="4000" b="1" dirty="0"/>
              <a:t>‘Wallet </a:t>
            </a:r>
            <a:r>
              <a:rPr lang="da-DK" sz="4000" b="1" dirty="0" err="1"/>
              <a:t>verification</a:t>
            </a:r>
            <a:r>
              <a:rPr lang="da-DK" sz="4000" b="1" dirty="0"/>
              <a:t>’ – a definition </a:t>
            </a:r>
            <a:r>
              <a:rPr lang="da-DK" b="1" dirty="0"/>
              <a:t>(</a:t>
            </a:r>
            <a:r>
              <a:rPr lang="da-DK" b="1" dirty="0" err="1"/>
              <a:t>continued</a:t>
            </a:r>
            <a:r>
              <a:rPr lang="da-DK" b="1" dirty="0"/>
              <a:t>)</a:t>
            </a:r>
            <a:endParaRPr lang="en-FR" b="1" dirty="0"/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F366F5EB-65FA-4C5F-BF0F-74401C299040}"/>
              </a:ext>
            </a:extLst>
          </p:cNvPr>
          <p:cNvSpPr txBox="1"/>
          <p:nvPr/>
        </p:nvSpPr>
        <p:spPr>
          <a:xfrm>
            <a:off x="515938" y="1389888"/>
            <a:ext cx="110055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based on reading </a:t>
            </a:r>
            <a:r>
              <a:rPr lang="en-GB" i="1" dirty="0">
                <a:hlinkClick r:id="rId2"/>
              </a:rPr>
              <a:t>OpenID for Verifiable Credential Issuance v1_0-11</a:t>
            </a:r>
            <a:endParaRPr lang="en-GB" i="1" dirty="0"/>
          </a:p>
          <a:p>
            <a:endParaRPr lang="en-GB" dirty="0"/>
          </a:p>
          <a:p>
            <a:pPr marL="342900" indent="-342900">
              <a:buFont typeface="+mj-lt"/>
              <a:buAutoNum type="arabicPeriod" startAt="4"/>
            </a:pPr>
            <a:r>
              <a:rPr lang="en-GB" dirty="0">
                <a:solidFill>
                  <a:schemeClr val="accent1"/>
                </a:solidFill>
              </a:rPr>
              <a:t>Providers verify: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wallet properly protecting key material (from exfiltration or replay)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wallet adheres to certain policies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>
                <a:solidFill>
                  <a:schemeClr val="accent1"/>
                </a:solidFill>
              </a:rPr>
              <a:t>(potentially) wallet is audited / approved under regulatory scheme(s)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Indeed wallets will be certified</a:t>
            </a:r>
          </a:p>
          <a:p>
            <a:pPr lvl="1"/>
            <a:endParaRPr lang="en-GB" dirty="0">
              <a:solidFill>
                <a:srgbClr val="172B4D"/>
              </a:solidFill>
              <a:latin typeface="-apple-system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F833D7-67D6-698D-81DB-A25026D9DF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56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Rectangle: Rounded Corners 1154">
            <a:extLst>
              <a:ext uri="{FF2B5EF4-FFF2-40B4-BE49-F238E27FC236}">
                <a16:creationId xmlns:a16="http://schemas.microsoft.com/office/drawing/2014/main" id="{E65F558A-30C5-3863-C507-1C0CB2511735}"/>
              </a:ext>
            </a:extLst>
          </p:cNvPr>
          <p:cNvSpPr/>
          <p:nvPr/>
        </p:nvSpPr>
        <p:spPr>
          <a:xfrm>
            <a:off x="8399717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>
            <a:noAutofit/>
          </a:bodyPr>
          <a:lstStyle/>
          <a:p>
            <a:r>
              <a:rPr lang="da-DK" sz="2800" b="1" dirty="0" err="1"/>
              <a:t>Example</a:t>
            </a:r>
            <a:r>
              <a:rPr lang="da-DK" sz="2800" b="1" dirty="0"/>
              <a:t>:</a:t>
            </a:r>
            <a:br>
              <a:rPr lang="da-DK" sz="2800" b="1" dirty="0"/>
            </a:br>
            <a:r>
              <a:rPr lang="da-DK" sz="2800" b="1" dirty="0" err="1"/>
              <a:t>Driving</a:t>
            </a:r>
            <a:r>
              <a:rPr lang="da-DK" sz="2800" b="1" dirty="0"/>
              <a:t> </a:t>
            </a:r>
            <a:r>
              <a:rPr lang="da-DK" sz="2800" b="1" dirty="0" err="1"/>
              <a:t>license</a:t>
            </a:r>
            <a:r>
              <a:rPr lang="da-DK" sz="2800" b="1" dirty="0"/>
              <a:t> </a:t>
            </a:r>
            <a:r>
              <a:rPr lang="da-DK" sz="2800" b="1" dirty="0" err="1"/>
              <a:t>issued</a:t>
            </a:r>
            <a:r>
              <a:rPr lang="da-DK" sz="2800" b="1" dirty="0"/>
              <a:t> to </a:t>
            </a:r>
            <a:r>
              <a:rPr lang="da-DK" sz="2800" b="1" dirty="0" err="1"/>
              <a:t>wallet</a:t>
            </a:r>
            <a:r>
              <a:rPr lang="da-DK" sz="2800" b="1" dirty="0"/>
              <a:t> app on mobile </a:t>
            </a:r>
            <a:r>
              <a:rPr lang="da-DK" sz="2800" b="1" dirty="0" err="1"/>
              <a:t>phone</a:t>
            </a:r>
            <a:endParaRPr lang="en-FR" sz="2800" b="1" dirty="0"/>
          </a:p>
        </p:txBody>
      </p:sp>
      <p:sp>
        <p:nvSpPr>
          <p:cNvPr id="1158" name="Rectangle: Rounded Corners 1157">
            <a:extLst>
              <a:ext uri="{FF2B5EF4-FFF2-40B4-BE49-F238E27FC236}">
                <a16:creationId xmlns:a16="http://schemas.microsoft.com/office/drawing/2014/main" id="{ABEBF817-3137-05F5-AB04-8A18E6C2F3DF}"/>
              </a:ext>
            </a:extLst>
          </p:cNvPr>
          <p:cNvSpPr/>
          <p:nvPr/>
        </p:nvSpPr>
        <p:spPr>
          <a:xfrm>
            <a:off x="380989" y="1232561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961BC09-8171-9FE0-6806-E4AFDC6558FF}"/>
              </a:ext>
            </a:extLst>
          </p:cNvPr>
          <p:cNvGrpSpPr/>
          <p:nvPr/>
        </p:nvGrpSpPr>
        <p:grpSpPr>
          <a:xfrm>
            <a:off x="2632447" y="1552472"/>
            <a:ext cx="1609851" cy="2457230"/>
            <a:chOff x="2632447" y="1552472"/>
            <a:chExt cx="1609851" cy="2457230"/>
          </a:xfrm>
        </p:grpSpPr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874A2C9E-77C8-B87B-70CE-14D6DECB69F6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060" name="Group 1059">
                <a:extLst>
                  <a:ext uri="{FF2B5EF4-FFF2-40B4-BE49-F238E27FC236}">
                    <a16:creationId xmlns:a16="http://schemas.microsoft.com/office/drawing/2014/main" id="{F2D940F8-D233-7AC4-C486-59AB68D102A8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21" name="Graphic 20" descr="Building outline">
                  <a:extLst>
                    <a:ext uri="{FF2B5EF4-FFF2-40B4-BE49-F238E27FC236}">
                      <a16:creationId xmlns:a16="http://schemas.microsoft.com/office/drawing/2014/main" id="{09B172B1-71F4-9380-A068-9933DF40D1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057" name="Group 1056">
                  <a:extLst>
                    <a:ext uri="{FF2B5EF4-FFF2-40B4-BE49-F238E27FC236}">
                      <a16:creationId xmlns:a16="http://schemas.microsoft.com/office/drawing/2014/main" id="{890B7C72-FC70-34A4-BD6D-3194D238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037" name="Freeform: Shape 1036">
                    <a:extLst>
                      <a:ext uri="{FF2B5EF4-FFF2-40B4-BE49-F238E27FC236}">
                        <a16:creationId xmlns:a16="http://schemas.microsoft.com/office/drawing/2014/main" id="{1CA8621A-BEBE-C397-C4E9-2675DC6ADF56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38" name="Freeform: Shape 1037">
                    <a:extLst>
                      <a:ext uri="{FF2B5EF4-FFF2-40B4-BE49-F238E27FC236}">
                        <a16:creationId xmlns:a16="http://schemas.microsoft.com/office/drawing/2014/main" id="{301537E5-7475-4537-F5B5-C80034890B81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048" name="Freeform: Shape 1047">
                    <a:extLst>
                      <a:ext uri="{FF2B5EF4-FFF2-40B4-BE49-F238E27FC236}">
                        <a16:creationId xmlns:a16="http://schemas.microsoft.com/office/drawing/2014/main" id="{C5A0F8DA-12D9-FD2D-74EC-30FA33E0E6C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49" name="Freeform: Shape 1048">
                    <a:extLst>
                      <a:ext uri="{FF2B5EF4-FFF2-40B4-BE49-F238E27FC236}">
                        <a16:creationId xmlns:a16="http://schemas.microsoft.com/office/drawing/2014/main" id="{C685F556-2C16-1892-9289-7FC2C08C244E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051" name="Freeform: Shape 1050">
                    <a:extLst>
                      <a:ext uri="{FF2B5EF4-FFF2-40B4-BE49-F238E27FC236}">
                        <a16:creationId xmlns:a16="http://schemas.microsoft.com/office/drawing/2014/main" id="{D4566ABC-F668-5DEF-3D2F-CF0CC3B2C86D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054" name="Graphic 1053" descr="Car outline">
                    <a:extLst>
                      <a:ext uri="{FF2B5EF4-FFF2-40B4-BE49-F238E27FC236}">
                        <a16:creationId xmlns:a16="http://schemas.microsoft.com/office/drawing/2014/main" id="{D53BED46-E0DD-043E-021D-F38ACF9E50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41" name="TextBox 1140">
                <a:extLst>
                  <a:ext uri="{FF2B5EF4-FFF2-40B4-BE49-F238E27FC236}">
                    <a16:creationId xmlns:a16="http://schemas.microsoft.com/office/drawing/2014/main" id="{76B00464-1037-04C5-3E6F-A374FD924D51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AB2AD39-6D60-8BF7-D647-F80EC73DB009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173" name="Group 1172">
                <a:extLst>
                  <a:ext uri="{FF2B5EF4-FFF2-40B4-BE49-F238E27FC236}">
                    <a16:creationId xmlns:a16="http://schemas.microsoft.com/office/drawing/2014/main" id="{1E472DAB-FDF6-91F4-0962-FC2EB1C9894C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132" name="Group 1131">
                  <a:extLst>
                    <a:ext uri="{FF2B5EF4-FFF2-40B4-BE49-F238E27FC236}">
                      <a16:creationId xmlns:a16="http://schemas.microsoft.com/office/drawing/2014/main" id="{86BC4AE0-7477-59DA-EAB9-122D169C69FC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119" name="Graphic 1118" descr="Court outline">
                    <a:extLst>
                      <a:ext uri="{FF2B5EF4-FFF2-40B4-BE49-F238E27FC236}">
                        <a16:creationId xmlns:a16="http://schemas.microsoft.com/office/drawing/2014/main" id="{C6DDA0D2-5CA2-26F3-49DD-28CE2F6E2D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131" name="Graphic 1130" descr="Flag outline">
                    <a:extLst>
                      <a:ext uri="{FF2B5EF4-FFF2-40B4-BE49-F238E27FC236}">
                        <a16:creationId xmlns:a16="http://schemas.microsoft.com/office/drawing/2014/main" id="{DE1CA47C-0759-58BB-10B4-B666DA7FEA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72" name="Group 1171">
                  <a:extLst>
                    <a:ext uri="{FF2B5EF4-FFF2-40B4-BE49-F238E27FC236}">
                      <a16:creationId xmlns:a16="http://schemas.microsoft.com/office/drawing/2014/main" id="{6910BC86-6ACE-D59C-B96F-1BF33A9C8A13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171" name="Oval 1170">
                    <a:extLst>
                      <a:ext uri="{FF2B5EF4-FFF2-40B4-BE49-F238E27FC236}">
                        <a16:creationId xmlns:a16="http://schemas.microsoft.com/office/drawing/2014/main" id="{7FAEFFD8-1E2E-CA98-39A5-35C809D4BF12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168" name="Group 1167">
                    <a:extLst>
                      <a:ext uri="{FF2B5EF4-FFF2-40B4-BE49-F238E27FC236}">
                        <a16:creationId xmlns:a16="http://schemas.microsoft.com/office/drawing/2014/main" id="{25246CAB-DDC1-51B0-56DF-4ED8470B430C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137" name="Freeform: Shape 1136">
                      <a:extLst>
                        <a:ext uri="{FF2B5EF4-FFF2-40B4-BE49-F238E27FC236}">
                          <a16:creationId xmlns:a16="http://schemas.microsoft.com/office/drawing/2014/main" id="{0B81D2DF-D22E-1673-FC70-99126AD092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2" name="Freeform: Shape 11">
                      <a:extLst>
                        <a:ext uri="{FF2B5EF4-FFF2-40B4-BE49-F238E27FC236}">
                          <a16:creationId xmlns:a16="http://schemas.microsoft.com/office/drawing/2014/main" id="{7981ACE6-A665-39FF-CD92-597CE21724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" name="Freeform: Shape 12">
                      <a:extLst>
                        <a:ext uri="{FF2B5EF4-FFF2-40B4-BE49-F238E27FC236}">
                          <a16:creationId xmlns:a16="http://schemas.microsoft.com/office/drawing/2014/main" id="{829BFCDA-27E7-4D98-522A-257D1D9099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116" name="TextBox 1115">
                <a:extLst>
                  <a:ext uri="{FF2B5EF4-FFF2-40B4-BE49-F238E27FC236}">
                    <a16:creationId xmlns:a16="http://schemas.microsoft.com/office/drawing/2014/main" id="{5BD1B637-9F0B-C4FE-53F5-1DD4E95A0FF5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219" name="Group 1218">
            <a:extLst>
              <a:ext uri="{FF2B5EF4-FFF2-40B4-BE49-F238E27FC236}">
                <a16:creationId xmlns:a16="http://schemas.microsoft.com/office/drawing/2014/main" id="{7DF47615-E4C8-66AB-E2D8-A7A5BB370340}"/>
              </a:ext>
            </a:extLst>
          </p:cNvPr>
          <p:cNvGrpSpPr/>
          <p:nvPr/>
        </p:nvGrpSpPr>
        <p:grpSpPr>
          <a:xfrm>
            <a:off x="8864173" y="2914862"/>
            <a:ext cx="1071245" cy="1075241"/>
            <a:chOff x="9578715" y="3292356"/>
            <a:chExt cx="914400" cy="1084207"/>
          </a:xfrm>
        </p:grpSpPr>
        <p:pic>
          <p:nvPicPr>
            <p:cNvPr id="1096" name="Graphic 1095" descr="Police female outline">
              <a:extLst>
                <a:ext uri="{FF2B5EF4-FFF2-40B4-BE49-F238E27FC236}">
                  <a16:creationId xmlns:a16="http://schemas.microsoft.com/office/drawing/2014/main" id="{4179D028-DFA5-62EC-D9FC-461BBF715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218" name="TextBox 1217">
              <a:extLst>
                <a:ext uri="{FF2B5EF4-FFF2-40B4-BE49-F238E27FC236}">
                  <a16:creationId xmlns:a16="http://schemas.microsoft.com/office/drawing/2014/main" id="{C0932CCC-870A-DBE8-9CB0-4CBFA0477DAA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EA2182B-4D6D-49D5-669D-1813FFC91DAA}"/>
              </a:ext>
            </a:extLst>
          </p:cNvPr>
          <p:cNvSpPr/>
          <p:nvPr/>
        </p:nvSpPr>
        <p:spPr>
          <a:xfrm>
            <a:off x="5510581" y="3355800"/>
            <a:ext cx="1481197" cy="25200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Driving Licence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1ABAE84-C29A-37B0-E444-3C8707C8DD83}"/>
              </a:ext>
            </a:extLst>
          </p:cNvPr>
          <p:cNvGrpSpPr/>
          <p:nvPr/>
        </p:nvGrpSpPr>
        <p:grpSpPr>
          <a:xfrm>
            <a:off x="5226042" y="1981755"/>
            <a:ext cx="2066555" cy="3505638"/>
            <a:chOff x="5226042" y="1981755"/>
            <a:chExt cx="2066555" cy="3505638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7211C03-4561-9321-7A03-26CA31CFA1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843C5ED-6076-58A4-BE6A-C2064AA30B15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D8F96D-7CD2-C300-1225-E0D55E3D323A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9C1111-6530-7B1E-F9DD-6D9789262B52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7348BF-CB1C-35FF-F29E-B5B75F44893A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09DD58-B075-EE38-BFD6-5C7AE5364F76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1FAD82-F6EA-D2F7-51D1-A0D2D49AA224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C95FE2-5C94-0813-19EC-AB6C79FDDC6F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161" name="Rectangle 1160">
              <a:extLst>
                <a:ext uri="{FF2B5EF4-FFF2-40B4-BE49-F238E27FC236}">
                  <a16:creationId xmlns:a16="http://schemas.microsoft.com/office/drawing/2014/main" id="{C19E3104-9B35-DADE-1F7F-382BB416F216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039C9D3-EB2D-98E0-A1BF-1677573A5907}"/>
              </a:ext>
            </a:extLst>
          </p:cNvPr>
          <p:cNvGrpSpPr/>
          <p:nvPr/>
        </p:nvGrpSpPr>
        <p:grpSpPr>
          <a:xfrm>
            <a:off x="300942" y="1605043"/>
            <a:ext cx="11638426" cy="5100635"/>
            <a:chOff x="300942" y="1605043"/>
            <a:chExt cx="11638426" cy="510063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8530EB0-D806-0607-5EF9-F974EF466C08}"/>
                </a:ext>
              </a:extLst>
            </p:cNvPr>
            <p:cNvGrpSpPr/>
            <p:nvPr/>
          </p:nvGrpSpPr>
          <p:grpSpPr>
            <a:xfrm>
              <a:off x="630799" y="5645279"/>
              <a:ext cx="3205725" cy="1060399"/>
              <a:chOff x="565185" y="5631498"/>
              <a:chExt cx="3182172" cy="1072425"/>
            </a:xfrm>
          </p:grpSpPr>
          <p:grpSp>
            <p:nvGrpSpPr>
              <p:cNvPr id="1160" name="Group 1159">
                <a:extLst>
                  <a:ext uri="{FF2B5EF4-FFF2-40B4-BE49-F238E27FC236}">
                    <a16:creationId xmlns:a16="http://schemas.microsoft.com/office/drawing/2014/main" id="{3497F186-315D-6921-064C-4EF1DCD70A07}"/>
                  </a:ext>
                </a:extLst>
              </p:cNvPr>
              <p:cNvGrpSpPr/>
              <p:nvPr/>
            </p:nvGrpSpPr>
            <p:grpSpPr>
              <a:xfrm>
                <a:off x="2832957" y="5653774"/>
                <a:ext cx="914400" cy="1050149"/>
                <a:chOff x="3370143" y="5697655"/>
                <a:chExt cx="914400" cy="1050149"/>
              </a:xfrm>
            </p:grpSpPr>
            <p:pic>
              <p:nvPicPr>
                <p:cNvPr id="43" name="Graphic 42" descr="Store outline">
                  <a:extLst>
                    <a:ext uri="{FF2B5EF4-FFF2-40B4-BE49-F238E27FC236}">
                      <a16:creationId xmlns:a16="http://schemas.microsoft.com/office/drawing/2014/main" id="{39AF9DBF-F493-9C09-A06D-5E68FEB020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0143" y="5697655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159" name="TextBox 1158">
                  <a:extLst>
                    <a:ext uri="{FF2B5EF4-FFF2-40B4-BE49-F238E27FC236}">
                      <a16:creationId xmlns:a16="http://schemas.microsoft.com/office/drawing/2014/main" id="{9E18D4F4-7370-8544-4A3F-9DA32C6E722B}"/>
                    </a:ext>
                  </a:extLst>
                </p:cNvPr>
                <p:cNvSpPr txBox="1"/>
                <p:nvPr/>
              </p:nvSpPr>
              <p:spPr>
                <a:xfrm>
                  <a:off x="3406017" y="6440027"/>
                  <a:ext cx="8760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Retail</a:t>
                  </a:r>
                </a:p>
              </p:txBody>
            </p:sp>
          </p:grpSp>
          <p:grpSp>
            <p:nvGrpSpPr>
              <p:cNvPr id="1194" name="Group 1193">
                <a:extLst>
                  <a:ext uri="{FF2B5EF4-FFF2-40B4-BE49-F238E27FC236}">
                    <a16:creationId xmlns:a16="http://schemas.microsoft.com/office/drawing/2014/main" id="{F345F565-CE3E-DF2C-1E9C-236FC75B08D1}"/>
                  </a:ext>
                </a:extLst>
              </p:cNvPr>
              <p:cNvGrpSpPr/>
              <p:nvPr/>
            </p:nvGrpSpPr>
            <p:grpSpPr>
              <a:xfrm>
                <a:off x="1734509" y="5631498"/>
                <a:ext cx="914400" cy="1072425"/>
                <a:chOff x="1769806" y="5521799"/>
                <a:chExt cx="914400" cy="1072425"/>
              </a:xfrm>
            </p:grpSpPr>
            <p:pic>
              <p:nvPicPr>
                <p:cNvPr id="1191" name="Graphic 1190" descr="Streetcar outline">
                  <a:extLst>
                    <a:ext uri="{FF2B5EF4-FFF2-40B4-BE49-F238E27FC236}">
                      <a16:creationId xmlns:a16="http://schemas.microsoft.com/office/drawing/2014/main" id="{D72ADBC9-9939-3DA9-08F8-FE1F69A29F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9806" y="5521799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192" name="TextBox 1191">
                  <a:extLst>
                    <a:ext uri="{FF2B5EF4-FFF2-40B4-BE49-F238E27FC236}">
                      <a16:creationId xmlns:a16="http://schemas.microsoft.com/office/drawing/2014/main" id="{41D5959A-417F-C239-89B0-0EFB3CA8DA09}"/>
                    </a:ext>
                  </a:extLst>
                </p:cNvPr>
                <p:cNvSpPr txBox="1"/>
                <p:nvPr/>
              </p:nvSpPr>
              <p:spPr>
                <a:xfrm>
                  <a:off x="1916034" y="6286447"/>
                  <a:ext cx="62194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Travel</a:t>
                  </a:r>
                </a:p>
              </p:txBody>
            </p:sp>
          </p:grpSp>
          <p:grpSp>
            <p:nvGrpSpPr>
              <p:cNvPr id="1195" name="Group 1194">
                <a:extLst>
                  <a:ext uri="{FF2B5EF4-FFF2-40B4-BE49-F238E27FC236}">
                    <a16:creationId xmlns:a16="http://schemas.microsoft.com/office/drawing/2014/main" id="{15A6DFB7-A644-B8E5-1918-CCFB3D0B6969}"/>
                  </a:ext>
                </a:extLst>
              </p:cNvPr>
              <p:cNvGrpSpPr/>
              <p:nvPr/>
            </p:nvGrpSpPr>
            <p:grpSpPr>
              <a:xfrm>
                <a:off x="565185" y="5799132"/>
                <a:ext cx="803174" cy="904791"/>
                <a:chOff x="680792" y="5594820"/>
                <a:chExt cx="803174" cy="904791"/>
              </a:xfrm>
            </p:grpSpPr>
            <p:pic>
              <p:nvPicPr>
                <p:cNvPr id="1189" name="Graphic 1188" descr="Ticket outline">
                  <a:extLst>
                    <a:ext uri="{FF2B5EF4-FFF2-40B4-BE49-F238E27FC236}">
                      <a16:creationId xmlns:a16="http://schemas.microsoft.com/office/drawing/2014/main" id="{6C7AD09A-F572-A34E-CEA2-96DE694663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0792" y="5594820"/>
                  <a:ext cx="803174" cy="803174"/>
                </a:xfrm>
                <a:prstGeom prst="rect">
                  <a:avLst/>
                </a:prstGeom>
              </p:spPr>
            </p:pic>
            <p:sp>
              <p:nvSpPr>
                <p:cNvPr id="1193" name="TextBox 1192">
                  <a:extLst>
                    <a:ext uri="{FF2B5EF4-FFF2-40B4-BE49-F238E27FC236}">
                      <a16:creationId xmlns:a16="http://schemas.microsoft.com/office/drawing/2014/main" id="{010FE579-AEB5-BF1E-70E8-F6E8FE3AF011}"/>
                    </a:ext>
                  </a:extLst>
                </p:cNvPr>
                <p:cNvSpPr txBox="1"/>
                <p:nvPr/>
              </p:nvSpPr>
              <p:spPr>
                <a:xfrm>
                  <a:off x="691170" y="6191834"/>
                  <a:ext cx="78241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rPr>
                    <a:t>Services</a:t>
                  </a:r>
                </a:p>
              </p:txBody>
            </p: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A2702F1-DC60-A3C4-BC6B-B72632EA7449}"/>
                </a:ext>
              </a:extLst>
            </p:cNvPr>
            <p:cNvGrpSpPr/>
            <p:nvPr/>
          </p:nvGrpSpPr>
          <p:grpSpPr>
            <a:xfrm>
              <a:off x="300942" y="1640924"/>
              <a:ext cx="2753853" cy="3586979"/>
              <a:chOff x="300942" y="1640924"/>
              <a:chExt cx="2753853" cy="3586979"/>
            </a:xfrm>
          </p:grpSpPr>
          <p:grpSp>
            <p:nvGrpSpPr>
              <p:cNvPr id="1144" name="Group 1143">
                <a:extLst>
                  <a:ext uri="{FF2B5EF4-FFF2-40B4-BE49-F238E27FC236}">
                    <a16:creationId xmlns:a16="http://schemas.microsoft.com/office/drawing/2014/main" id="{59B86552-312D-7583-183C-07BD57C6D938}"/>
                  </a:ext>
                </a:extLst>
              </p:cNvPr>
              <p:cNvGrpSpPr/>
              <p:nvPr/>
            </p:nvGrpSpPr>
            <p:grpSpPr>
              <a:xfrm>
                <a:off x="546969" y="1640924"/>
                <a:ext cx="907345" cy="1091806"/>
                <a:chOff x="1573706" y="1774169"/>
                <a:chExt cx="926446" cy="1104189"/>
              </a:xfrm>
            </p:grpSpPr>
            <p:grpSp>
              <p:nvGrpSpPr>
                <p:cNvPr id="1081" name="Group 1080">
                  <a:extLst>
                    <a:ext uri="{FF2B5EF4-FFF2-40B4-BE49-F238E27FC236}">
                      <a16:creationId xmlns:a16="http://schemas.microsoft.com/office/drawing/2014/main" id="{1DE6171F-3236-6816-899E-6D766E0294A6}"/>
                    </a:ext>
                  </a:extLst>
                </p:cNvPr>
                <p:cNvGrpSpPr/>
                <p:nvPr/>
              </p:nvGrpSpPr>
              <p:grpSpPr>
                <a:xfrm>
                  <a:off x="1573706" y="1774169"/>
                  <a:ext cx="914400" cy="914400"/>
                  <a:chOff x="198736" y="1908208"/>
                  <a:chExt cx="914400" cy="914400"/>
                </a:xfrm>
              </p:grpSpPr>
              <p:pic>
                <p:nvPicPr>
                  <p:cNvPr id="16" name="Graphic 15" descr="Court outline">
                    <a:extLst>
                      <a:ext uri="{FF2B5EF4-FFF2-40B4-BE49-F238E27FC236}">
                        <a16:creationId xmlns:a16="http://schemas.microsoft.com/office/drawing/2014/main" id="{49BC39B4-3D84-F003-8D4F-700DA687BB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8736" y="1908208"/>
                    <a:ext cx="914400" cy="914400"/>
                  </a:xfrm>
                  <a:prstGeom prst="rect">
                    <a:avLst/>
                  </a:prstGeom>
                </p:spPr>
              </p:pic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01B50D0-A5D3-C52D-AAF4-F22CF682C429}"/>
                      </a:ext>
                    </a:extLst>
                  </p:cNvPr>
                  <p:cNvGrpSpPr/>
                  <p:nvPr/>
                </p:nvGrpSpPr>
                <p:grpSpPr>
                  <a:xfrm>
                    <a:off x="685182" y="2174652"/>
                    <a:ext cx="393998" cy="625760"/>
                    <a:chOff x="6863503" y="1009650"/>
                    <a:chExt cx="161925" cy="257175"/>
                  </a:xfrm>
                  <a:noFill/>
                </p:grpSpPr>
                <p:sp>
                  <p:nvSpPr>
                    <p:cNvPr id="1024" name="Freeform: Shape 1023">
                      <a:extLst>
                        <a:ext uri="{FF2B5EF4-FFF2-40B4-BE49-F238E27FC236}">
                          <a16:creationId xmlns:a16="http://schemas.microsoft.com/office/drawing/2014/main" id="{D84536DA-BA2C-5EAF-DB45-02836F0D66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63503" y="1009650"/>
                      <a:ext cx="161925" cy="257175"/>
                    </a:xfrm>
                    <a:custGeom>
                      <a:avLst/>
                      <a:gdLst>
                        <a:gd name="connsiteX0" fmla="*/ 137636 w 161925"/>
                        <a:gd name="connsiteY0" fmla="*/ 0 h 257175"/>
                        <a:gd name="connsiteX1" fmla="*/ 161925 w 161925"/>
                        <a:gd name="connsiteY1" fmla="*/ 24289 h 257175"/>
                        <a:gd name="connsiteX2" fmla="*/ 161925 w 161925"/>
                        <a:gd name="connsiteY2" fmla="*/ 232886 h 257175"/>
                        <a:gd name="connsiteX3" fmla="*/ 137636 w 161925"/>
                        <a:gd name="connsiteY3" fmla="*/ 257175 h 257175"/>
                        <a:gd name="connsiteX4" fmla="*/ 24289 w 161925"/>
                        <a:gd name="connsiteY4" fmla="*/ 257175 h 257175"/>
                        <a:gd name="connsiteX5" fmla="*/ 0 w 161925"/>
                        <a:gd name="connsiteY5" fmla="*/ 232886 h 257175"/>
                        <a:gd name="connsiteX6" fmla="*/ 0 w 161925"/>
                        <a:gd name="connsiteY6" fmla="*/ 24289 h 257175"/>
                        <a:gd name="connsiteX7" fmla="*/ 24289 w 161925"/>
                        <a:gd name="connsiteY7" fmla="*/ 0 h 257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1925" h="257175">
                          <a:moveTo>
                            <a:pt x="137636" y="0"/>
                          </a:moveTo>
                          <a:cubicBezTo>
                            <a:pt x="151051" y="0"/>
                            <a:pt x="161925" y="10874"/>
                            <a:pt x="161925" y="24289"/>
                          </a:cubicBezTo>
                          <a:lnTo>
                            <a:pt x="161925" y="232886"/>
                          </a:lnTo>
                          <a:cubicBezTo>
                            <a:pt x="161925" y="246301"/>
                            <a:pt x="151051" y="257175"/>
                            <a:pt x="137636" y="257175"/>
                          </a:cubicBezTo>
                          <a:lnTo>
                            <a:pt x="24289" y="257175"/>
                          </a:lnTo>
                          <a:cubicBezTo>
                            <a:pt x="10874" y="257175"/>
                            <a:pt x="0" y="246301"/>
                            <a:pt x="0" y="232886"/>
                          </a:cubicBezTo>
                          <a:lnTo>
                            <a:pt x="0" y="24289"/>
                          </a:lnTo>
                          <a:cubicBezTo>
                            <a:pt x="0" y="10874"/>
                            <a:pt x="10874" y="0"/>
                            <a:pt x="24289" y="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25" name="Freeform: Shape 1024">
                      <a:extLst>
                        <a:ext uri="{FF2B5EF4-FFF2-40B4-BE49-F238E27FC236}">
                          <a16:creationId xmlns:a16="http://schemas.microsoft.com/office/drawing/2014/main" id="{9CCFD462-03E9-1EDD-CEB3-87D1A4D467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840" y="1109662"/>
                      <a:ext cx="95250" cy="95250"/>
                    </a:xfrm>
                    <a:custGeom>
                      <a:avLst/>
                      <a:gdLst>
                        <a:gd name="connsiteX0" fmla="*/ 95250 w 95250"/>
                        <a:gd name="connsiteY0" fmla="*/ 47625 h 95250"/>
                        <a:gd name="connsiteX1" fmla="*/ 47625 w 95250"/>
                        <a:gd name="connsiteY1" fmla="*/ 95250 h 95250"/>
                        <a:gd name="connsiteX2" fmla="*/ 0 w 95250"/>
                        <a:gd name="connsiteY2" fmla="*/ 47625 h 95250"/>
                        <a:gd name="connsiteX3" fmla="*/ 47625 w 95250"/>
                        <a:gd name="connsiteY3" fmla="*/ 0 h 95250"/>
                        <a:gd name="connsiteX4" fmla="*/ 95250 w 95250"/>
                        <a:gd name="connsiteY4" fmla="*/ 47625 h 95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250" h="95250">
                          <a:moveTo>
                            <a:pt x="95250" y="47625"/>
                          </a:moveTo>
                          <a:cubicBezTo>
                            <a:pt x="95250" y="73928"/>
                            <a:pt x="73928" y="95250"/>
                            <a:pt x="47625" y="95250"/>
                          </a:cubicBezTo>
                          <a:cubicBezTo>
                            <a:pt x="21322" y="95250"/>
                            <a:pt x="0" y="73928"/>
                            <a:pt x="0" y="47625"/>
                          </a:cubicBezTo>
                          <a:cubicBezTo>
                            <a:pt x="0" y="21322"/>
                            <a:pt x="21322" y="0"/>
                            <a:pt x="47625" y="0"/>
                          </a:cubicBezTo>
                          <a:cubicBezTo>
                            <a:pt x="73928" y="0"/>
                            <a:pt x="95250" y="21322"/>
                            <a:pt x="95250" y="47625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26" name="Freeform: Shape 1025">
                      <a:extLst>
                        <a:ext uri="{FF2B5EF4-FFF2-40B4-BE49-F238E27FC236}">
                          <a16:creationId xmlns:a16="http://schemas.microsoft.com/office/drawing/2014/main" id="{D29F0185-B437-B549-4405-A1A9D0415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840" y="1109662"/>
                      <a:ext cx="95250" cy="95250"/>
                    </a:xfrm>
                    <a:custGeom>
                      <a:avLst/>
                      <a:gdLst>
                        <a:gd name="connsiteX0" fmla="*/ 47625 w 95250"/>
                        <a:gd name="connsiteY0" fmla="*/ 0 h 95250"/>
                        <a:gd name="connsiteX1" fmla="*/ 47625 w 95250"/>
                        <a:gd name="connsiteY1" fmla="*/ 95250 h 95250"/>
                        <a:gd name="connsiteX2" fmla="*/ 95250 w 95250"/>
                        <a:gd name="connsiteY2" fmla="*/ 47625 h 95250"/>
                        <a:gd name="connsiteX3" fmla="*/ 0 w 95250"/>
                        <a:gd name="connsiteY3" fmla="*/ 47625 h 95250"/>
                        <a:gd name="connsiteX4" fmla="*/ 47625 w 95250"/>
                        <a:gd name="connsiteY4" fmla="*/ 0 h 95250"/>
                        <a:gd name="connsiteX5" fmla="*/ 73152 w 95250"/>
                        <a:gd name="connsiteY5" fmla="*/ 47625 h 95250"/>
                        <a:gd name="connsiteX6" fmla="*/ 47625 w 95250"/>
                        <a:gd name="connsiteY6" fmla="*/ 95250 h 95250"/>
                        <a:gd name="connsiteX7" fmla="*/ 22098 w 95250"/>
                        <a:gd name="connsiteY7" fmla="*/ 47625 h 95250"/>
                        <a:gd name="connsiteX8" fmla="*/ 47625 w 95250"/>
                        <a:gd name="connsiteY8" fmla="*/ 0 h 95250"/>
                        <a:gd name="connsiteX9" fmla="*/ 14288 w 95250"/>
                        <a:gd name="connsiteY9" fmla="*/ 80963 h 95250"/>
                        <a:gd name="connsiteX10" fmla="*/ 80963 w 95250"/>
                        <a:gd name="connsiteY10" fmla="*/ 80963 h 95250"/>
                        <a:gd name="connsiteX11" fmla="*/ 14288 w 95250"/>
                        <a:gd name="connsiteY11" fmla="*/ 14288 h 95250"/>
                        <a:gd name="connsiteX12" fmla="*/ 80963 w 95250"/>
                        <a:gd name="connsiteY12" fmla="*/ 14288 h 952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95250" h="95250">
                          <a:moveTo>
                            <a:pt x="47625" y="0"/>
                          </a:moveTo>
                          <a:lnTo>
                            <a:pt x="47625" y="95250"/>
                          </a:lnTo>
                          <a:moveTo>
                            <a:pt x="95250" y="47625"/>
                          </a:moveTo>
                          <a:lnTo>
                            <a:pt x="0" y="47625"/>
                          </a:lnTo>
                          <a:moveTo>
                            <a:pt x="47625" y="0"/>
                          </a:moveTo>
                          <a:cubicBezTo>
                            <a:pt x="63532" y="10573"/>
                            <a:pt x="73152" y="28480"/>
                            <a:pt x="73152" y="47625"/>
                          </a:cubicBezTo>
                          <a:cubicBezTo>
                            <a:pt x="73152" y="66770"/>
                            <a:pt x="63532" y="84677"/>
                            <a:pt x="47625" y="95250"/>
                          </a:cubicBezTo>
                          <a:cubicBezTo>
                            <a:pt x="31623" y="84677"/>
                            <a:pt x="22098" y="66770"/>
                            <a:pt x="22098" y="47625"/>
                          </a:cubicBezTo>
                          <a:cubicBezTo>
                            <a:pt x="22098" y="28480"/>
                            <a:pt x="31623" y="10573"/>
                            <a:pt x="47625" y="0"/>
                          </a:cubicBezTo>
                          <a:close/>
                          <a:moveTo>
                            <a:pt x="14288" y="80963"/>
                          </a:moveTo>
                          <a:cubicBezTo>
                            <a:pt x="34195" y="66675"/>
                            <a:pt x="61055" y="66675"/>
                            <a:pt x="80963" y="80963"/>
                          </a:cubicBezTo>
                          <a:moveTo>
                            <a:pt x="14288" y="14288"/>
                          </a:moveTo>
                          <a:cubicBezTo>
                            <a:pt x="34195" y="28575"/>
                            <a:pt x="61055" y="28575"/>
                            <a:pt x="80963" y="14288"/>
                          </a:cubicBezTo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27" name="Freeform: Shape 1026">
                      <a:extLst>
                        <a:ext uri="{FF2B5EF4-FFF2-40B4-BE49-F238E27FC236}">
                          <a16:creationId xmlns:a16="http://schemas.microsoft.com/office/drawing/2014/main" id="{C82ACB25-C204-0AF0-882E-3C319DF152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840" y="1057275"/>
                      <a:ext cx="95250" cy="9525"/>
                    </a:xfrm>
                    <a:custGeom>
                      <a:avLst/>
                      <a:gdLst>
                        <a:gd name="connsiteX0" fmla="*/ 0 w 95250"/>
                        <a:gd name="connsiteY0" fmla="*/ 0 h 9525"/>
                        <a:gd name="connsiteX1" fmla="*/ 95250 w 95250"/>
                        <a:gd name="connsiteY1" fmla="*/ 0 h 95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95250" h="9525">
                          <a:moveTo>
                            <a:pt x="0" y="0"/>
                          </a:moveTo>
                          <a:lnTo>
                            <a:pt x="95250" y="0"/>
                          </a:lnTo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29" name="Freeform: Shape 1028">
                      <a:extLst>
                        <a:ext uri="{FF2B5EF4-FFF2-40B4-BE49-F238E27FC236}">
                          <a16:creationId xmlns:a16="http://schemas.microsoft.com/office/drawing/2014/main" id="{8BA51E7A-6034-F599-F739-D8B15FF8F4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96840" y="1038225"/>
                      <a:ext cx="95250" cy="9525"/>
                    </a:xfrm>
                    <a:custGeom>
                      <a:avLst/>
                      <a:gdLst>
                        <a:gd name="connsiteX0" fmla="*/ 0 w 95250"/>
                        <a:gd name="connsiteY0" fmla="*/ 0 h 9525"/>
                        <a:gd name="connsiteX1" fmla="*/ 95250 w 95250"/>
                        <a:gd name="connsiteY1" fmla="*/ 0 h 95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95250" h="9525">
                          <a:moveTo>
                            <a:pt x="0" y="0"/>
                          </a:moveTo>
                          <a:lnTo>
                            <a:pt x="95250" y="0"/>
                          </a:lnTo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0" name="Freeform: Shape 1029">
                      <a:extLst>
                        <a:ext uri="{FF2B5EF4-FFF2-40B4-BE49-F238E27FC236}">
                          <a16:creationId xmlns:a16="http://schemas.microsoft.com/office/drawing/2014/main" id="{BDE5CADD-DF5D-78E9-4C78-7FE06B2F4C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5415" y="1219200"/>
                      <a:ext cx="38100" cy="28575"/>
                    </a:xfrm>
                    <a:custGeom>
                      <a:avLst/>
                      <a:gdLst>
                        <a:gd name="connsiteX0" fmla="*/ 0 w 38100"/>
                        <a:gd name="connsiteY0" fmla="*/ 0 h 28575"/>
                        <a:gd name="connsiteX1" fmla="*/ 38100 w 38100"/>
                        <a:gd name="connsiteY1" fmla="*/ 0 h 28575"/>
                        <a:gd name="connsiteX2" fmla="*/ 38100 w 38100"/>
                        <a:gd name="connsiteY2" fmla="*/ 28575 h 28575"/>
                        <a:gd name="connsiteX3" fmla="*/ 0 w 38100"/>
                        <a:gd name="connsiteY3" fmla="*/ 28575 h 28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8100" h="28575">
                          <a:moveTo>
                            <a:pt x="0" y="0"/>
                          </a:moveTo>
                          <a:lnTo>
                            <a:pt x="38100" y="0"/>
                          </a:lnTo>
                          <a:lnTo>
                            <a:pt x="38100" y="28575"/>
                          </a:lnTo>
                          <a:lnTo>
                            <a:pt x="0" y="2857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1" name="Freeform: Shape 1030">
                      <a:extLst>
                        <a:ext uri="{FF2B5EF4-FFF2-40B4-BE49-F238E27FC236}">
                          <a16:creationId xmlns:a16="http://schemas.microsoft.com/office/drawing/2014/main" id="{D094FCF8-A43D-E7C5-E0BD-42CFD1CABA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25415" y="1233487"/>
                      <a:ext cx="38100" cy="9525"/>
                    </a:xfrm>
                    <a:custGeom>
                      <a:avLst/>
                      <a:gdLst>
                        <a:gd name="connsiteX0" fmla="*/ 0 w 38100"/>
                        <a:gd name="connsiteY0" fmla="*/ 0 h 9525"/>
                        <a:gd name="connsiteX1" fmla="*/ 38100 w 38100"/>
                        <a:gd name="connsiteY1" fmla="*/ 0 h 95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8100" h="9525">
                          <a:moveTo>
                            <a:pt x="0" y="0"/>
                          </a:moveTo>
                          <a:lnTo>
                            <a:pt x="38100" y="0"/>
                          </a:lnTo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2" name="Freeform: Shape 1031">
                      <a:extLst>
                        <a:ext uri="{FF2B5EF4-FFF2-40B4-BE49-F238E27FC236}">
                          <a16:creationId xmlns:a16="http://schemas.microsoft.com/office/drawing/2014/main" id="{30626638-35B9-1D47-95FC-8CED302A1A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4940" y="1223962"/>
                      <a:ext cx="19050" cy="19050"/>
                    </a:xfrm>
                    <a:custGeom>
                      <a:avLst/>
                      <a:gdLst>
                        <a:gd name="connsiteX0" fmla="*/ 19050 w 19050"/>
                        <a:gd name="connsiteY0" fmla="*/ 9525 h 19050"/>
                        <a:gd name="connsiteX1" fmla="*/ 9525 w 19050"/>
                        <a:gd name="connsiteY1" fmla="*/ 19050 h 19050"/>
                        <a:gd name="connsiteX2" fmla="*/ 0 w 19050"/>
                        <a:gd name="connsiteY2" fmla="*/ 9525 h 19050"/>
                        <a:gd name="connsiteX3" fmla="*/ 9525 w 19050"/>
                        <a:gd name="connsiteY3" fmla="*/ 0 h 19050"/>
                        <a:gd name="connsiteX4" fmla="*/ 19050 w 19050"/>
                        <a:gd name="connsiteY4" fmla="*/ 9525 h 190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9050" h="19050">
                          <a:moveTo>
                            <a:pt x="19050" y="9525"/>
                          </a:moveTo>
                          <a:cubicBezTo>
                            <a:pt x="19050" y="14786"/>
                            <a:pt x="14786" y="19050"/>
                            <a:pt x="9525" y="19050"/>
                          </a:cubicBezTo>
                          <a:cubicBezTo>
                            <a:pt x="4264" y="19050"/>
                            <a:pt x="0" y="14786"/>
                            <a:pt x="0" y="9525"/>
                          </a:cubicBezTo>
                          <a:cubicBezTo>
                            <a:pt x="0" y="4264"/>
                            <a:pt x="4264" y="0"/>
                            <a:pt x="9525" y="0"/>
                          </a:cubicBezTo>
                          <a:cubicBezTo>
                            <a:pt x="14786" y="0"/>
                            <a:pt x="19050" y="4264"/>
                            <a:pt x="19050" y="9525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  <p:sp>
                  <p:nvSpPr>
                    <p:cNvPr id="1033" name="Freeform: Shape 1032">
                      <a:extLst>
                        <a:ext uri="{FF2B5EF4-FFF2-40B4-BE49-F238E27FC236}">
                          <a16:creationId xmlns:a16="http://schemas.microsoft.com/office/drawing/2014/main" id="{2D94F348-8F32-4FA7-F970-1C8AB8C9D4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39703" y="1228725"/>
                      <a:ext cx="9525" cy="9525"/>
                    </a:xfrm>
                    <a:custGeom>
                      <a:avLst/>
                      <a:gdLst>
                        <a:gd name="connsiteX0" fmla="*/ 9525 w 9525"/>
                        <a:gd name="connsiteY0" fmla="*/ 4763 h 9525"/>
                        <a:gd name="connsiteX1" fmla="*/ 4763 w 9525"/>
                        <a:gd name="connsiteY1" fmla="*/ 9525 h 9525"/>
                        <a:gd name="connsiteX2" fmla="*/ 0 w 9525"/>
                        <a:gd name="connsiteY2" fmla="*/ 4763 h 9525"/>
                        <a:gd name="connsiteX3" fmla="*/ 4763 w 9525"/>
                        <a:gd name="connsiteY3" fmla="*/ 0 h 9525"/>
                        <a:gd name="connsiteX4" fmla="*/ 9525 w 9525"/>
                        <a:gd name="connsiteY4" fmla="*/ 4763 h 952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525" h="9525">
                          <a:moveTo>
                            <a:pt x="9525" y="4763"/>
                          </a:moveTo>
                          <a:cubicBezTo>
                            <a:pt x="9525" y="7393"/>
                            <a:pt x="7393" y="9525"/>
                            <a:pt x="4763" y="9525"/>
                          </a:cubicBezTo>
                          <a:cubicBezTo>
                            <a:pt x="2132" y="9525"/>
                            <a:pt x="0" y="7393"/>
                            <a:pt x="0" y="4763"/>
                          </a:cubicBezTo>
                          <a:cubicBezTo>
                            <a:pt x="0" y="2132"/>
                            <a:pt x="2132" y="0"/>
                            <a:pt x="4763" y="0"/>
                          </a:cubicBezTo>
                          <a:cubicBezTo>
                            <a:pt x="7393" y="0"/>
                            <a:pt x="9525" y="2132"/>
                            <a:pt x="9525" y="4763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/>
                    </a:p>
                  </p:txBody>
                </p:sp>
              </p:grpSp>
            </p:grpSp>
            <p:sp>
              <p:nvSpPr>
                <p:cNvPr id="1140" name="TextBox 1139">
                  <a:extLst>
                    <a:ext uri="{FF2B5EF4-FFF2-40B4-BE49-F238E27FC236}">
                      <a16:creationId xmlns:a16="http://schemas.microsoft.com/office/drawing/2014/main" id="{8E9CB58B-4CC4-3AFE-4A2D-B11CF0E38779}"/>
                    </a:ext>
                  </a:extLst>
                </p:cNvPr>
                <p:cNvSpPr txBox="1"/>
                <p:nvPr/>
              </p:nvSpPr>
              <p:spPr>
                <a:xfrm>
                  <a:off x="1585752" y="2570581"/>
                  <a:ext cx="9144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Passport</a:t>
                  </a:r>
                </a:p>
              </p:txBody>
            </p:sp>
          </p:grpSp>
          <p:grpSp>
            <p:nvGrpSpPr>
              <p:cNvPr id="1149" name="Group 1148">
                <a:extLst>
                  <a:ext uri="{FF2B5EF4-FFF2-40B4-BE49-F238E27FC236}">
                    <a16:creationId xmlns:a16="http://schemas.microsoft.com/office/drawing/2014/main" id="{D4F6B5A9-9CE1-E705-8CCF-5A79133D3E48}"/>
                  </a:ext>
                </a:extLst>
              </p:cNvPr>
              <p:cNvGrpSpPr/>
              <p:nvPr/>
            </p:nvGrpSpPr>
            <p:grpSpPr>
              <a:xfrm>
                <a:off x="1641292" y="2896988"/>
                <a:ext cx="1195425" cy="1325741"/>
                <a:chOff x="3339924" y="3114522"/>
                <a:chExt cx="1220590" cy="1340777"/>
              </a:xfrm>
            </p:grpSpPr>
            <p:grpSp>
              <p:nvGrpSpPr>
                <p:cNvPr id="1077" name="Group 1076">
                  <a:extLst>
                    <a:ext uri="{FF2B5EF4-FFF2-40B4-BE49-F238E27FC236}">
                      <a16:creationId xmlns:a16="http://schemas.microsoft.com/office/drawing/2014/main" id="{B78D5648-E1D1-5865-10F4-DFFC9032CF0B}"/>
                    </a:ext>
                  </a:extLst>
                </p:cNvPr>
                <p:cNvGrpSpPr/>
                <p:nvPr/>
              </p:nvGrpSpPr>
              <p:grpSpPr>
                <a:xfrm>
                  <a:off x="3372268" y="3114522"/>
                  <a:ext cx="1166564" cy="914400"/>
                  <a:chOff x="4857998" y="5398316"/>
                  <a:chExt cx="1166564" cy="914400"/>
                </a:xfrm>
              </p:grpSpPr>
              <p:pic>
                <p:nvPicPr>
                  <p:cNvPr id="39" name="Graphic 38" descr="Classroom outline">
                    <a:extLst>
                      <a:ext uri="{FF2B5EF4-FFF2-40B4-BE49-F238E27FC236}">
                        <a16:creationId xmlns:a16="http://schemas.microsoft.com/office/drawing/2014/main" id="{C0E2AE4E-B2F6-49AF-8155-123BCB275C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0">
                    <a:extLst>
                      <a:ext uri="{96DAC541-7B7A-43D3-8B79-37D633B846F1}">
                        <asvg:svgBlip xmlns:asvg="http://schemas.microsoft.com/office/drawing/2016/SVG/main" r:embed="rId2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857998" y="5398316"/>
                    <a:ext cx="914400" cy="914400"/>
                  </a:xfrm>
                  <a:prstGeom prst="rect">
                    <a:avLst/>
                  </a:prstGeom>
                </p:spPr>
              </p:pic>
              <p:grpSp>
                <p:nvGrpSpPr>
                  <p:cNvPr id="1076" name="Group 1075">
                    <a:extLst>
                      <a:ext uri="{FF2B5EF4-FFF2-40B4-BE49-F238E27FC236}">
                        <a16:creationId xmlns:a16="http://schemas.microsoft.com/office/drawing/2014/main" id="{EEF0385F-27BB-38A5-F43C-45B3EC1E410C}"/>
                      </a:ext>
                    </a:extLst>
                  </p:cNvPr>
                  <p:cNvGrpSpPr/>
                  <p:nvPr/>
                </p:nvGrpSpPr>
                <p:grpSpPr>
                  <a:xfrm>
                    <a:off x="5378440" y="5487802"/>
                    <a:ext cx="646122" cy="646122"/>
                    <a:chOff x="4255686" y="5318098"/>
                    <a:chExt cx="914400" cy="914400"/>
                  </a:xfrm>
                </p:grpSpPr>
                <p:sp>
                  <p:nvSpPr>
                    <p:cNvPr id="1067" name="Rectangle 1066">
                      <a:extLst>
                        <a:ext uri="{FF2B5EF4-FFF2-40B4-BE49-F238E27FC236}">
                          <a16:creationId xmlns:a16="http://schemas.microsoft.com/office/drawing/2014/main" id="{E344F292-F897-C8B7-6284-280A929457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7074" y="5513688"/>
                      <a:ext cx="751624" cy="5232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/>
                    </a:p>
                  </p:txBody>
                </p:sp>
                <p:pic>
                  <p:nvPicPr>
                    <p:cNvPr id="33" name="Graphic 32" descr="Diploma outline">
                      <a:extLst>
                        <a:ext uri="{FF2B5EF4-FFF2-40B4-BE49-F238E27FC236}">
                          <a16:creationId xmlns:a16="http://schemas.microsoft.com/office/drawing/2014/main" id="{DBA1EC2E-0EEC-3007-99A5-64A16B4F65E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2">
                      <a:extLst>
                        <a:ext uri="{96DAC541-7B7A-43D3-8B79-37D633B846F1}">
                          <asvg:svgBlip xmlns:asvg="http://schemas.microsoft.com/office/drawing/2016/SVG/main" r:embed="rId2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255686" y="5318098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142" name="TextBox 1141">
                  <a:extLst>
                    <a:ext uri="{FF2B5EF4-FFF2-40B4-BE49-F238E27FC236}">
                      <a16:creationId xmlns:a16="http://schemas.microsoft.com/office/drawing/2014/main" id="{F51F3EF0-A3C6-6AFA-51DC-E0D8F0D63994}"/>
                    </a:ext>
                  </a:extLst>
                </p:cNvPr>
                <p:cNvSpPr txBox="1"/>
                <p:nvPr/>
              </p:nvSpPr>
              <p:spPr>
                <a:xfrm>
                  <a:off x="3339924" y="3932079"/>
                  <a:ext cx="122059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Education/</a:t>
                  </a:r>
                </a:p>
                <a:p>
                  <a:pPr algn="ctr"/>
                  <a:r>
                    <a:rPr lang="en-GB" sz="1400" dirty="0"/>
                    <a:t>Qualifications</a:t>
                  </a:r>
                </a:p>
              </p:txBody>
            </p:sp>
          </p:grpSp>
          <p:grpSp>
            <p:nvGrpSpPr>
              <p:cNvPr id="1176" name="Group 1175">
                <a:extLst>
                  <a:ext uri="{FF2B5EF4-FFF2-40B4-BE49-F238E27FC236}">
                    <a16:creationId xmlns:a16="http://schemas.microsoft.com/office/drawing/2014/main" id="{14600294-C119-4557-D147-86C5467C5F7F}"/>
                  </a:ext>
                </a:extLst>
              </p:cNvPr>
              <p:cNvGrpSpPr/>
              <p:nvPr/>
            </p:nvGrpSpPr>
            <p:grpSpPr>
              <a:xfrm>
                <a:off x="467088" y="2956585"/>
                <a:ext cx="1015700" cy="1053117"/>
                <a:chOff x="466668" y="1370028"/>
                <a:chExt cx="1037082" cy="1065061"/>
              </a:xfrm>
            </p:grpSpPr>
            <p:grpSp>
              <p:nvGrpSpPr>
                <p:cNvPr id="1175" name="Group 1174">
                  <a:extLst>
                    <a:ext uri="{FF2B5EF4-FFF2-40B4-BE49-F238E27FC236}">
                      <a16:creationId xmlns:a16="http://schemas.microsoft.com/office/drawing/2014/main" id="{F4AFC5B0-D692-BD86-138C-071FFC414026}"/>
                    </a:ext>
                  </a:extLst>
                </p:cNvPr>
                <p:cNvGrpSpPr/>
                <p:nvPr/>
              </p:nvGrpSpPr>
              <p:grpSpPr>
                <a:xfrm>
                  <a:off x="466668" y="1370028"/>
                  <a:ext cx="1037082" cy="1065061"/>
                  <a:chOff x="507950" y="1414992"/>
                  <a:chExt cx="1037082" cy="1065061"/>
                </a:xfrm>
              </p:grpSpPr>
              <p:pic>
                <p:nvPicPr>
                  <p:cNvPr id="18" name="Graphic 17" descr="Bank outline">
                    <a:extLst>
                      <a:ext uri="{FF2B5EF4-FFF2-40B4-BE49-F238E27FC236}">
                        <a16:creationId xmlns:a16="http://schemas.microsoft.com/office/drawing/2014/main" id="{744CB507-2461-79C6-76B6-178E55BF70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96DAC541-7B7A-43D3-8B79-37D633B846F1}">
                        <asvg:svgBlip xmlns:asvg="http://schemas.microsoft.com/office/drawing/2016/SVG/main" r:embed="rId2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9291" y="141499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143" name="TextBox 1142">
                    <a:extLst>
                      <a:ext uri="{FF2B5EF4-FFF2-40B4-BE49-F238E27FC236}">
                        <a16:creationId xmlns:a16="http://schemas.microsoft.com/office/drawing/2014/main" id="{F7CD48C9-7E10-2F4A-3F5E-3251E2D2CE20}"/>
                      </a:ext>
                    </a:extLst>
                  </p:cNvPr>
                  <p:cNvSpPr txBox="1"/>
                  <p:nvPr/>
                </p:nvSpPr>
                <p:spPr>
                  <a:xfrm>
                    <a:off x="507950" y="2172276"/>
                    <a:ext cx="103708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 dirty="0"/>
                      <a:t>Financial</a:t>
                    </a:r>
                  </a:p>
                </p:txBody>
              </p:sp>
            </p:grpSp>
            <p:grpSp>
              <p:nvGrpSpPr>
                <p:cNvPr id="1061" name="Group 1060">
                  <a:extLst>
                    <a:ext uri="{FF2B5EF4-FFF2-40B4-BE49-F238E27FC236}">
                      <a16:creationId xmlns:a16="http://schemas.microsoft.com/office/drawing/2014/main" id="{DD8D985A-DA99-3311-2E13-1D85508B8D5F}"/>
                    </a:ext>
                  </a:extLst>
                </p:cNvPr>
                <p:cNvGrpSpPr/>
                <p:nvPr/>
              </p:nvGrpSpPr>
              <p:grpSpPr>
                <a:xfrm>
                  <a:off x="1037934" y="1742938"/>
                  <a:ext cx="374620" cy="523220"/>
                  <a:chOff x="2137605" y="3011935"/>
                  <a:chExt cx="268402" cy="374872"/>
                </a:xfrm>
              </p:grpSpPr>
              <p:sp>
                <p:nvSpPr>
                  <p:cNvPr id="1062" name="Oval 1061">
                    <a:extLst>
                      <a:ext uri="{FF2B5EF4-FFF2-40B4-BE49-F238E27FC236}">
                        <a16:creationId xmlns:a16="http://schemas.microsoft.com/office/drawing/2014/main" id="{37E0D53F-378F-5461-4B3C-21BB78E3B7C9}"/>
                      </a:ext>
                    </a:extLst>
                  </p:cNvPr>
                  <p:cNvSpPr/>
                  <p:nvPr/>
                </p:nvSpPr>
                <p:spPr>
                  <a:xfrm>
                    <a:off x="2137605" y="3071473"/>
                    <a:ext cx="268402" cy="268402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400"/>
                  </a:p>
                </p:txBody>
              </p:sp>
              <p:sp>
                <p:nvSpPr>
                  <p:cNvPr id="1063" name="TextBox 1062">
                    <a:extLst>
                      <a:ext uri="{FF2B5EF4-FFF2-40B4-BE49-F238E27FC236}">
                        <a16:creationId xmlns:a16="http://schemas.microsoft.com/office/drawing/2014/main" id="{75E3EF45-451E-FB80-5384-2D9357A1112D}"/>
                      </a:ext>
                    </a:extLst>
                  </p:cNvPr>
                  <p:cNvSpPr txBox="1"/>
                  <p:nvPr/>
                </p:nvSpPr>
                <p:spPr>
                  <a:xfrm>
                    <a:off x="2137605" y="3011935"/>
                    <a:ext cx="245831" cy="37487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2800" dirty="0"/>
                      <a:t>€</a:t>
                    </a:r>
                  </a:p>
                </p:txBody>
              </p:sp>
            </p:grpSp>
          </p:grpSp>
          <p:grpSp>
            <p:nvGrpSpPr>
              <p:cNvPr id="1148" name="Group 1147">
                <a:extLst>
                  <a:ext uri="{FF2B5EF4-FFF2-40B4-BE49-F238E27FC236}">
                    <a16:creationId xmlns:a16="http://schemas.microsoft.com/office/drawing/2014/main" id="{D2CA4C37-5231-5D46-CE26-7C33EAB67325}"/>
                  </a:ext>
                </a:extLst>
              </p:cNvPr>
              <p:cNvGrpSpPr/>
              <p:nvPr/>
            </p:nvGrpSpPr>
            <p:grpSpPr>
              <a:xfrm>
                <a:off x="1605218" y="4115004"/>
                <a:ext cx="1449577" cy="1096233"/>
                <a:chOff x="703640" y="4445306"/>
                <a:chExt cx="1480093" cy="1108666"/>
              </a:xfrm>
            </p:grpSpPr>
            <p:grpSp>
              <p:nvGrpSpPr>
                <p:cNvPr id="1066" name="Group 1065">
                  <a:extLst>
                    <a:ext uri="{FF2B5EF4-FFF2-40B4-BE49-F238E27FC236}">
                      <a16:creationId xmlns:a16="http://schemas.microsoft.com/office/drawing/2014/main" id="{049B63A7-F1BC-0458-A6EF-AAD00B04C1D3}"/>
                    </a:ext>
                  </a:extLst>
                </p:cNvPr>
                <p:cNvGrpSpPr/>
                <p:nvPr/>
              </p:nvGrpSpPr>
              <p:grpSpPr>
                <a:xfrm>
                  <a:off x="800934" y="4445306"/>
                  <a:ext cx="1132854" cy="914400"/>
                  <a:chOff x="163324" y="3444758"/>
                  <a:chExt cx="1132854" cy="914400"/>
                </a:xfrm>
              </p:grpSpPr>
              <p:pic>
                <p:nvPicPr>
                  <p:cNvPr id="23" name="Graphic 22" descr="Remote work outline">
                    <a:extLst>
                      <a:ext uri="{FF2B5EF4-FFF2-40B4-BE49-F238E27FC236}">
                        <a16:creationId xmlns:a16="http://schemas.microsoft.com/office/drawing/2014/main" id="{1B16C49F-4BD4-4466-0C82-23EA7E2806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6">
                    <a:extLst>
                      <a:ext uri="{96DAC541-7B7A-43D3-8B79-37D633B846F1}">
                        <asvg:svgBlip xmlns:asvg="http://schemas.microsoft.com/office/drawing/2016/SVG/main" r:embed="rId27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63324" y="3444758"/>
                    <a:ext cx="85793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45" name="Graphic 44" descr="Construction worker female outline">
                    <a:extLst>
                      <a:ext uri="{FF2B5EF4-FFF2-40B4-BE49-F238E27FC236}">
                        <a16:creationId xmlns:a16="http://schemas.microsoft.com/office/drawing/2014/main" id="{FFE5964A-A710-AAE4-6D98-B195DB3DD3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8">
                    <a:extLst>
                      <a:ext uri="{96DAC541-7B7A-43D3-8B79-37D633B846F1}">
                        <asvg:svgBlip xmlns:asvg="http://schemas.microsoft.com/office/drawing/2016/SVG/main" r:embed="rId2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55824" y="3907984"/>
                    <a:ext cx="440354" cy="44035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34DFF0ED-4708-C59C-B233-A2629A0189CF}"/>
                    </a:ext>
                  </a:extLst>
                </p:cNvPr>
                <p:cNvSpPr txBox="1"/>
                <p:nvPr/>
              </p:nvSpPr>
              <p:spPr>
                <a:xfrm>
                  <a:off x="703640" y="5246195"/>
                  <a:ext cx="14800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Employment</a:t>
                  </a:r>
                </a:p>
              </p:txBody>
            </p:sp>
          </p:grpSp>
          <p:grpSp>
            <p:nvGrpSpPr>
              <p:cNvPr id="1157" name="Group 1156">
                <a:extLst>
                  <a:ext uri="{FF2B5EF4-FFF2-40B4-BE49-F238E27FC236}">
                    <a16:creationId xmlns:a16="http://schemas.microsoft.com/office/drawing/2014/main" id="{835FCBA1-8D6A-C121-C345-F661D91F46D6}"/>
                  </a:ext>
                </a:extLst>
              </p:cNvPr>
              <p:cNvGrpSpPr/>
              <p:nvPr/>
            </p:nvGrpSpPr>
            <p:grpSpPr>
              <a:xfrm>
                <a:off x="300942" y="4220456"/>
                <a:ext cx="1385832" cy="1007447"/>
                <a:chOff x="763799" y="4582764"/>
                <a:chExt cx="1415006" cy="1018873"/>
              </a:xfrm>
            </p:grpSpPr>
            <p:grpSp>
              <p:nvGrpSpPr>
                <p:cNvPr id="1080" name="Group 1079">
                  <a:extLst>
                    <a:ext uri="{FF2B5EF4-FFF2-40B4-BE49-F238E27FC236}">
                      <a16:creationId xmlns:a16="http://schemas.microsoft.com/office/drawing/2014/main" id="{D53EE7FD-EB29-2ECB-182A-55812733C875}"/>
                    </a:ext>
                  </a:extLst>
                </p:cNvPr>
                <p:cNvGrpSpPr/>
                <p:nvPr/>
              </p:nvGrpSpPr>
              <p:grpSpPr>
                <a:xfrm>
                  <a:off x="988654" y="4582764"/>
                  <a:ext cx="980420" cy="914400"/>
                  <a:chOff x="1312261" y="4823233"/>
                  <a:chExt cx="980420" cy="914400"/>
                </a:xfrm>
              </p:grpSpPr>
              <p:pic>
                <p:nvPicPr>
                  <p:cNvPr id="35" name="Graphic 34" descr="Schoolhouse outline">
                    <a:extLst>
                      <a:ext uri="{FF2B5EF4-FFF2-40B4-BE49-F238E27FC236}">
                        <a16:creationId xmlns:a16="http://schemas.microsoft.com/office/drawing/2014/main" id="{3D918741-6ECF-F7EF-3700-ED0A89BA30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0">
                    <a:extLst>
                      <a:ext uri="{96DAC541-7B7A-43D3-8B79-37D633B846F1}">
                        <asvg:svgBlip xmlns:asvg="http://schemas.microsoft.com/office/drawing/2016/SVG/main" r:embed="rId3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12261" y="4823233"/>
                    <a:ext cx="914400" cy="914400"/>
                  </a:xfrm>
                  <a:prstGeom prst="rect">
                    <a:avLst/>
                  </a:prstGeom>
                </p:spPr>
              </p:pic>
              <p:grpSp>
                <p:nvGrpSpPr>
                  <p:cNvPr id="1079" name="Group 1078">
                    <a:extLst>
                      <a:ext uri="{FF2B5EF4-FFF2-40B4-BE49-F238E27FC236}">
                        <a16:creationId xmlns:a16="http://schemas.microsoft.com/office/drawing/2014/main" id="{CE3ABCC2-AE01-FCDF-9DEF-31027C8973BC}"/>
                      </a:ext>
                    </a:extLst>
                  </p:cNvPr>
                  <p:cNvGrpSpPr/>
                  <p:nvPr/>
                </p:nvGrpSpPr>
                <p:grpSpPr>
                  <a:xfrm>
                    <a:off x="1769461" y="5036691"/>
                    <a:ext cx="523220" cy="523220"/>
                    <a:chOff x="2012519" y="4590147"/>
                    <a:chExt cx="914400" cy="914400"/>
                  </a:xfrm>
                </p:grpSpPr>
                <p:sp>
                  <p:nvSpPr>
                    <p:cNvPr id="1078" name="Oval 1077">
                      <a:extLst>
                        <a:ext uri="{FF2B5EF4-FFF2-40B4-BE49-F238E27FC236}">
                          <a16:creationId xmlns:a16="http://schemas.microsoft.com/office/drawing/2014/main" id="{0F60B0DA-4ACF-1D9D-4236-4AFBF6D43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0738" y="4688366"/>
                      <a:ext cx="717962" cy="717962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400"/>
                    </a:p>
                  </p:txBody>
                </p:sp>
                <p:pic>
                  <p:nvPicPr>
                    <p:cNvPr id="31" name="Graphic 30" descr="Medical outline">
                      <a:extLst>
                        <a:ext uri="{FF2B5EF4-FFF2-40B4-BE49-F238E27FC236}">
                          <a16:creationId xmlns:a16="http://schemas.microsoft.com/office/drawing/2014/main" id="{FEA2D88E-7D37-4C7D-61D2-22DA77CE84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2">
                      <a:extLst>
                        <a:ext uri="{96DAC541-7B7A-43D3-8B79-37D633B846F1}">
                          <asvg:svgBlip xmlns:asvg="http://schemas.microsoft.com/office/drawing/2016/SVG/main" r:embed="rId3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012519" y="4590147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156" name="TextBox 1155">
                  <a:extLst>
                    <a:ext uri="{FF2B5EF4-FFF2-40B4-BE49-F238E27FC236}">
                      <a16:creationId xmlns:a16="http://schemas.microsoft.com/office/drawing/2014/main" id="{34D7F1F0-F305-90C9-942E-D7279E5FD5C2}"/>
                    </a:ext>
                  </a:extLst>
                </p:cNvPr>
                <p:cNvSpPr txBox="1"/>
                <p:nvPr/>
              </p:nvSpPr>
              <p:spPr>
                <a:xfrm>
                  <a:off x="763799" y="5293860"/>
                  <a:ext cx="141500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1400" dirty="0"/>
                    <a:t>Health/Medical</a:t>
                  </a:r>
                </a:p>
              </p:txBody>
            </p:sp>
          </p:grpSp>
          <p:grpSp>
            <p:nvGrpSpPr>
              <p:cNvPr id="1187" name="Group 1186">
                <a:extLst>
                  <a:ext uri="{FF2B5EF4-FFF2-40B4-BE49-F238E27FC236}">
                    <a16:creationId xmlns:a16="http://schemas.microsoft.com/office/drawing/2014/main" id="{E2EAC7B5-48DC-E529-618C-9841AB7EEA84}"/>
                  </a:ext>
                </a:extLst>
              </p:cNvPr>
              <p:cNvGrpSpPr/>
              <p:nvPr/>
            </p:nvGrpSpPr>
            <p:grpSpPr>
              <a:xfrm>
                <a:off x="1641973" y="1705908"/>
                <a:ext cx="1024056" cy="1053117"/>
                <a:chOff x="1851098" y="1436921"/>
                <a:chExt cx="1045614" cy="1065061"/>
              </a:xfrm>
            </p:grpSpPr>
            <p:grpSp>
              <p:nvGrpSpPr>
                <p:cNvPr id="1179" name="Group 1178">
                  <a:extLst>
                    <a:ext uri="{FF2B5EF4-FFF2-40B4-BE49-F238E27FC236}">
                      <a16:creationId xmlns:a16="http://schemas.microsoft.com/office/drawing/2014/main" id="{4AAFB094-82B1-462B-83D9-4A54376D1B94}"/>
                    </a:ext>
                  </a:extLst>
                </p:cNvPr>
                <p:cNvGrpSpPr/>
                <p:nvPr/>
              </p:nvGrpSpPr>
              <p:grpSpPr>
                <a:xfrm>
                  <a:off x="1851098" y="1436921"/>
                  <a:ext cx="1037082" cy="1065061"/>
                  <a:chOff x="507950" y="1414992"/>
                  <a:chExt cx="1037082" cy="1065061"/>
                </a:xfrm>
              </p:grpSpPr>
              <p:pic>
                <p:nvPicPr>
                  <p:cNvPr id="1183" name="Graphic 1182" descr="Bank outline">
                    <a:extLst>
                      <a:ext uri="{FF2B5EF4-FFF2-40B4-BE49-F238E27FC236}">
                        <a16:creationId xmlns:a16="http://schemas.microsoft.com/office/drawing/2014/main" id="{08685F08-78B2-1DF5-2FF7-D336868BAB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4">
                    <a:extLst>
                      <a:ext uri="{96DAC541-7B7A-43D3-8B79-37D633B846F1}">
                        <asvg:svgBlip xmlns:asvg="http://schemas.microsoft.com/office/drawing/2016/SVG/main" r:embed="rId2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9291" y="141499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1184" name="TextBox 1183">
                    <a:extLst>
                      <a:ext uri="{FF2B5EF4-FFF2-40B4-BE49-F238E27FC236}">
                        <a16:creationId xmlns:a16="http://schemas.microsoft.com/office/drawing/2014/main" id="{2209DB3F-50B6-72CB-BA16-88CD8675CBCC}"/>
                      </a:ext>
                    </a:extLst>
                  </p:cNvPr>
                  <p:cNvSpPr txBox="1"/>
                  <p:nvPr/>
                </p:nvSpPr>
                <p:spPr>
                  <a:xfrm>
                    <a:off x="507950" y="2172276"/>
                    <a:ext cx="1037082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 dirty="0"/>
                      <a:t>Certificates</a:t>
                    </a:r>
                  </a:p>
                </p:txBody>
              </p:sp>
            </p:grpSp>
            <p:grpSp>
              <p:nvGrpSpPr>
                <p:cNvPr id="1186" name="Group 1185">
                  <a:extLst>
                    <a:ext uri="{FF2B5EF4-FFF2-40B4-BE49-F238E27FC236}">
                      <a16:creationId xmlns:a16="http://schemas.microsoft.com/office/drawing/2014/main" id="{771982ED-9AC5-1FB3-5BC8-A6B1636673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2392712" y="1896096"/>
                  <a:ext cx="504000" cy="411855"/>
                  <a:chOff x="2558344" y="3099862"/>
                  <a:chExt cx="471122" cy="384988"/>
                </a:xfrm>
              </p:grpSpPr>
              <p:sp>
                <p:nvSpPr>
                  <p:cNvPr id="1185" name="Rectangle 1184">
                    <a:extLst>
                      <a:ext uri="{FF2B5EF4-FFF2-40B4-BE49-F238E27FC236}">
                        <a16:creationId xmlns:a16="http://schemas.microsoft.com/office/drawing/2014/main" id="{0B96FCE8-E8D8-9DE0-9017-6428864E6EF7}"/>
                      </a:ext>
                    </a:extLst>
                  </p:cNvPr>
                  <p:cNvSpPr/>
                  <p:nvPr/>
                </p:nvSpPr>
                <p:spPr>
                  <a:xfrm>
                    <a:off x="2580704" y="3123016"/>
                    <a:ext cx="379268" cy="2071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165" name="Freeform: Shape 1164">
                    <a:extLst>
                      <a:ext uri="{FF2B5EF4-FFF2-40B4-BE49-F238E27FC236}">
                        <a16:creationId xmlns:a16="http://schemas.microsoft.com/office/drawing/2014/main" id="{A7922ABF-12A2-9FF5-B694-DB28B2F092A3}"/>
                      </a:ext>
                    </a:extLst>
                  </p:cNvPr>
                  <p:cNvSpPr/>
                  <p:nvPr/>
                </p:nvSpPr>
                <p:spPr>
                  <a:xfrm>
                    <a:off x="2558344" y="3099862"/>
                    <a:ext cx="471122" cy="384988"/>
                  </a:xfrm>
                  <a:custGeom>
                    <a:avLst/>
                    <a:gdLst>
                      <a:gd name="connsiteX0" fmla="*/ 0 w 349339"/>
                      <a:gd name="connsiteY0" fmla="*/ 40106 h 285470"/>
                      <a:gd name="connsiteX1" fmla="*/ 41624 w 349339"/>
                      <a:gd name="connsiteY1" fmla="*/ 6 h 285470"/>
                      <a:gd name="connsiteX2" fmla="*/ 270796 w 349339"/>
                      <a:gd name="connsiteY2" fmla="*/ 6 h 285470"/>
                      <a:gd name="connsiteX3" fmla="*/ 297656 w 349339"/>
                      <a:gd name="connsiteY3" fmla="*/ 22485 h 285470"/>
                      <a:gd name="connsiteX4" fmla="*/ 297656 w 349339"/>
                      <a:gd name="connsiteY4" fmla="*/ 34010 h 285470"/>
                      <a:gd name="connsiteX5" fmla="*/ 281083 w 349339"/>
                      <a:gd name="connsiteY5" fmla="*/ 28391 h 285470"/>
                      <a:gd name="connsiteX6" fmla="*/ 269748 w 349339"/>
                      <a:gd name="connsiteY6" fmla="*/ 16008 h 285470"/>
                      <a:gd name="connsiteX7" fmla="*/ 50482 w 349339"/>
                      <a:gd name="connsiteY7" fmla="*/ 16008 h 285470"/>
                      <a:gd name="connsiteX8" fmla="*/ 50482 w 349339"/>
                      <a:gd name="connsiteY8" fmla="*/ 48965 h 285470"/>
                      <a:gd name="connsiteX9" fmla="*/ 16573 w 349339"/>
                      <a:gd name="connsiteY9" fmla="*/ 48965 h 285470"/>
                      <a:gd name="connsiteX10" fmla="*/ 16573 w 349339"/>
                      <a:gd name="connsiteY10" fmla="*/ 168408 h 285470"/>
                      <a:gd name="connsiteX11" fmla="*/ 25432 w 349339"/>
                      <a:gd name="connsiteY11" fmla="*/ 177647 h 285470"/>
                      <a:gd name="connsiteX12" fmla="*/ 145828 w 349339"/>
                      <a:gd name="connsiteY12" fmla="*/ 177647 h 285470"/>
                      <a:gd name="connsiteX13" fmla="*/ 155353 w 349339"/>
                      <a:gd name="connsiteY13" fmla="*/ 193268 h 285470"/>
                      <a:gd name="connsiteX14" fmla="*/ 24003 w 349339"/>
                      <a:gd name="connsiteY14" fmla="*/ 193268 h 285470"/>
                      <a:gd name="connsiteX15" fmla="*/ 0 w 349339"/>
                      <a:gd name="connsiteY15" fmla="*/ 169456 h 285470"/>
                      <a:gd name="connsiteX16" fmla="*/ 162401 w 349339"/>
                      <a:gd name="connsiteY16" fmla="*/ 262325 h 285470"/>
                      <a:gd name="connsiteX17" fmla="*/ 193453 w 349339"/>
                      <a:gd name="connsiteY17" fmla="*/ 211271 h 285470"/>
                      <a:gd name="connsiteX18" fmla="*/ 155162 w 349339"/>
                      <a:gd name="connsiteY18" fmla="*/ 102209 h 285470"/>
                      <a:gd name="connsiteX19" fmla="*/ 253079 w 349339"/>
                      <a:gd name="connsiteY19" fmla="*/ 36201 h 285470"/>
                      <a:gd name="connsiteX20" fmla="*/ 346234 w 349339"/>
                      <a:gd name="connsiteY20" fmla="*/ 108305 h 285470"/>
                      <a:gd name="connsiteX21" fmla="*/ 300514 w 349339"/>
                      <a:gd name="connsiteY21" fmla="*/ 214700 h 285470"/>
                      <a:gd name="connsiteX22" fmla="*/ 335471 w 349339"/>
                      <a:gd name="connsiteY22" fmla="*/ 265373 h 285470"/>
                      <a:gd name="connsiteX23" fmla="*/ 297275 w 349339"/>
                      <a:gd name="connsiteY23" fmla="*/ 255562 h 285470"/>
                      <a:gd name="connsiteX24" fmla="*/ 286321 w 349339"/>
                      <a:gd name="connsiteY24" fmla="*/ 285089 h 285470"/>
                      <a:gd name="connsiteX25" fmla="*/ 245364 w 349339"/>
                      <a:gd name="connsiteY25" fmla="*/ 232416 h 285470"/>
                      <a:gd name="connsiteX26" fmla="*/ 214313 w 349339"/>
                      <a:gd name="connsiteY26" fmla="*/ 285470 h 285470"/>
                      <a:gd name="connsiteX27" fmla="*/ 200215 w 349339"/>
                      <a:gd name="connsiteY27" fmla="*/ 253466 h 285470"/>
                      <a:gd name="connsiteX28" fmla="*/ 162782 w 349339"/>
                      <a:gd name="connsiteY28" fmla="*/ 133070 h 285470"/>
                      <a:gd name="connsiteX29" fmla="*/ 250031 w 349339"/>
                      <a:gd name="connsiteY29" fmla="*/ 214033 h 285470"/>
                      <a:gd name="connsiteX30" fmla="*/ 336137 w 349339"/>
                      <a:gd name="connsiteY30" fmla="*/ 133070 h 285470"/>
                      <a:gd name="connsiteX31" fmla="*/ 251365 w 349339"/>
                      <a:gd name="connsiteY31" fmla="*/ 50393 h 285470"/>
                      <a:gd name="connsiteX32" fmla="*/ 162782 w 349339"/>
                      <a:gd name="connsiteY32" fmla="*/ 133070 h 285470"/>
                      <a:gd name="connsiteX33" fmla="*/ 183928 w 349339"/>
                      <a:gd name="connsiteY33" fmla="*/ 133070 h 285470"/>
                      <a:gd name="connsiteX34" fmla="*/ 203263 w 349339"/>
                      <a:gd name="connsiteY34" fmla="*/ 88017 h 285470"/>
                      <a:gd name="connsiteX35" fmla="*/ 250031 w 349339"/>
                      <a:gd name="connsiteY35" fmla="*/ 69729 h 285470"/>
                      <a:gd name="connsiteX36" fmla="*/ 296037 w 349339"/>
                      <a:gd name="connsiteY36" fmla="*/ 88398 h 285470"/>
                      <a:gd name="connsiteX37" fmla="*/ 314992 w 349339"/>
                      <a:gd name="connsiteY37" fmla="*/ 133070 h 285470"/>
                      <a:gd name="connsiteX38" fmla="*/ 250031 w 349339"/>
                      <a:gd name="connsiteY38" fmla="*/ 194602 h 285470"/>
                      <a:gd name="connsiteX39" fmla="*/ 183928 w 349339"/>
                      <a:gd name="connsiteY39" fmla="*/ 133070 h 285470"/>
                      <a:gd name="connsiteX40" fmla="*/ 198406 w 349339"/>
                      <a:gd name="connsiteY40" fmla="*/ 133070 h 285470"/>
                      <a:gd name="connsiteX41" fmla="*/ 250031 w 349339"/>
                      <a:gd name="connsiteY41" fmla="*/ 181362 h 285470"/>
                      <a:gd name="connsiteX42" fmla="*/ 300799 w 349339"/>
                      <a:gd name="connsiteY42" fmla="*/ 133070 h 285470"/>
                      <a:gd name="connsiteX43" fmla="*/ 250031 w 349339"/>
                      <a:gd name="connsiteY43" fmla="*/ 83350 h 285470"/>
                      <a:gd name="connsiteX44" fmla="*/ 198406 w 349339"/>
                      <a:gd name="connsiteY44" fmla="*/ 133070 h 2854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</a:cxnLst>
                    <a:rect l="l" t="t" r="r" b="b"/>
                    <a:pathLst>
                      <a:path w="349339" h="285470">
                        <a:moveTo>
                          <a:pt x="0" y="40106"/>
                        </a:moveTo>
                        <a:lnTo>
                          <a:pt x="41624" y="6"/>
                        </a:lnTo>
                        <a:lnTo>
                          <a:pt x="270796" y="6"/>
                        </a:lnTo>
                        <a:cubicBezTo>
                          <a:pt x="284416" y="-280"/>
                          <a:pt x="296037" y="9436"/>
                          <a:pt x="297656" y="22485"/>
                        </a:cubicBezTo>
                        <a:lnTo>
                          <a:pt x="297656" y="34010"/>
                        </a:lnTo>
                        <a:lnTo>
                          <a:pt x="281083" y="28391"/>
                        </a:lnTo>
                        <a:cubicBezTo>
                          <a:pt x="281369" y="22009"/>
                          <a:pt x="276415" y="16484"/>
                          <a:pt x="269748" y="16008"/>
                        </a:cubicBezTo>
                        <a:lnTo>
                          <a:pt x="50482" y="16008"/>
                        </a:lnTo>
                        <a:lnTo>
                          <a:pt x="50482" y="48965"/>
                        </a:lnTo>
                        <a:lnTo>
                          <a:pt x="16573" y="48965"/>
                        </a:lnTo>
                        <a:lnTo>
                          <a:pt x="16573" y="168408"/>
                        </a:lnTo>
                        <a:cubicBezTo>
                          <a:pt x="17050" y="173075"/>
                          <a:pt x="20669" y="176885"/>
                          <a:pt x="25432" y="177647"/>
                        </a:cubicBezTo>
                        <a:lnTo>
                          <a:pt x="145828" y="177647"/>
                        </a:lnTo>
                        <a:lnTo>
                          <a:pt x="155353" y="193268"/>
                        </a:lnTo>
                        <a:lnTo>
                          <a:pt x="24003" y="193268"/>
                        </a:lnTo>
                        <a:cubicBezTo>
                          <a:pt x="11335" y="191459"/>
                          <a:pt x="1429" y="181743"/>
                          <a:pt x="0" y="169456"/>
                        </a:cubicBezTo>
                        <a:close/>
                        <a:moveTo>
                          <a:pt x="162401" y="262325"/>
                        </a:moveTo>
                        <a:lnTo>
                          <a:pt x="193453" y="211271"/>
                        </a:lnTo>
                        <a:cubicBezTo>
                          <a:pt x="156972" y="187172"/>
                          <a:pt x="141351" y="142786"/>
                          <a:pt x="155162" y="102209"/>
                        </a:cubicBezTo>
                        <a:cubicBezTo>
                          <a:pt x="168878" y="61728"/>
                          <a:pt x="208788" y="34772"/>
                          <a:pt x="253079" y="36201"/>
                        </a:cubicBezTo>
                        <a:cubicBezTo>
                          <a:pt x="297275" y="37630"/>
                          <a:pt x="335280" y="66967"/>
                          <a:pt x="346234" y="108305"/>
                        </a:cubicBezTo>
                        <a:cubicBezTo>
                          <a:pt x="357188" y="149644"/>
                          <a:pt x="338519" y="192983"/>
                          <a:pt x="300514" y="214700"/>
                        </a:cubicBezTo>
                        <a:lnTo>
                          <a:pt x="335471" y="265373"/>
                        </a:lnTo>
                        <a:lnTo>
                          <a:pt x="297275" y="255562"/>
                        </a:lnTo>
                        <a:lnTo>
                          <a:pt x="286321" y="285089"/>
                        </a:lnTo>
                        <a:lnTo>
                          <a:pt x="245364" y="232416"/>
                        </a:lnTo>
                        <a:lnTo>
                          <a:pt x="214313" y="285470"/>
                        </a:lnTo>
                        <a:lnTo>
                          <a:pt x="200215" y="253466"/>
                        </a:lnTo>
                        <a:close/>
                        <a:moveTo>
                          <a:pt x="162782" y="133070"/>
                        </a:moveTo>
                        <a:cubicBezTo>
                          <a:pt x="164973" y="178028"/>
                          <a:pt x="203263" y="213557"/>
                          <a:pt x="250031" y="214033"/>
                        </a:cubicBezTo>
                        <a:cubicBezTo>
                          <a:pt x="296323" y="212985"/>
                          <a:pt x="333946" y="177647"/>
                          <a:pt x="336137" y="133070"/>
                        </a:cubicBezTo>
                        <a:cubicBezTo>
                          <a:pt x="334899" y="88303"/>
                          <a:pt x="297847" y="52108"/>
                          <a:pt x="251365" y="50393"/>
                        </a:cubicBezTo>
                        <a:cubicBezTo>
                          <a:pt x="203454" y="50108"/>
                          <a:pt x="164116" y="86874"/>
                          <a:pt x="162782" y="133070"/>
                        </a:cubicBezTo>
                        <a:close/>
                        <a:moveTo>
                          <a:pt x="183928" y="133070"/>
                        </a:moveTo>
                        <a:cubicBezTo>
                          <a:pt x="183832" y="116116"/>
                          <a:pt x="190786" y="99923"/>
                          <a:pt x="203263" y="88017"/>
                        </a:cubicBezTo>
                        <a:cubicBezTo>
                          <a:pt x="215646" y="76206"/>
                          <a:pt x="232505" y="69539"/>
                          <a:pt x="250031" y="69729"/>
                        </a:cubicBezTo>
                        <a:cubicBezTo>
                          <a:pt x="267271" y="69824"/>
                          <a:pt x="283845" y="76587"/>
                          <a:pt x="296037" y="88398"/>
                        </a:cubicBezTo>
                        <a:cubicBezTo>
                          <a:pt x="308229" y="100304"/>
                          <a:pt x="315087" y="116306"/>
                          <a:pt x="314992" y="133070"/>
                        </a:cubicBezTo>
                        <a:cubicBezTo>
                          <a:pt x="314230" y="167170"/>
                          <a:pt x="285369" y="194411"/>
                          <a:pt x="250031" y="194602"/>
                        </a:cubicBezTo>
                        <a:cubicBezTo>
                          <a:pt x="214217" y="194983"/>
                          <a:pt x="184690" y="167551"/>
                          <a:pt x="183928" y="133070"/>
                        </a:cubicBezTo>
                        <a:close/>
                        <a:moveTo>
                          <a:pt x="198406" y="133070"/>
                        </a:moveTo>
                        <a:cubicBezTo>
                          <a:pt x="199930" y="159645"/>
                          <a:pt x="222313" y="180695"/>
                          <a:pt x="250031" y="181362"/>
                        </a:cubicBezTo>
                        <a:cubicBezTo>
                          <a:pt x="277368" y="180314"/>
                          <a:pt x="299371" y="159359"/>
                          <a:pt x="300799" y="133070"/>
                        </a:cubicBezTo>
                        <a:cubicBezTo>
                          <a:pt x="300133" y="106115"/>
                          <a:pt x="277844" y="84398"/>
                          <a:pt x="250031" y="83350"/>
                        </a:cubicBezTo>
                        <a:cubicBezTo>
                          <a:pt x="221837" y="84112"/>
                          <a:pt x="199168" y="105924"/>
                          <a:pt x="198406" y="13307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</p:grp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A2EE413-56F1-18F2-CAE1-FDD93CA1DF3C}"/>
                </a:ext>
              </a:extLst>
            </p:cNvPr>
            <p:cNvGrpSpPr/>
            <p:nvPr/>
          </p:nvGrpSpPr>
          <p:grpSpPr>
            <a:xfrm>
              <a:off x="8669697" y="1605043"/>
              <a:ext cx="2849193" cy="3512441"/>
              <a:chOff x="8669697" y="1605043"/>
              <a:chExt cx="2849193" cy="3512441"/>
            </a:xfrm>
          </p:grpSpPr>
          <p:grpSp>
            <p:nvGrpSpPr>
              <p:cNvPr id="1153" name="Group 1152">
                <a:extLst>
                  <a:ext uri="{FF2B5EF4-FFF2-40B4-BE49-F238E27FC236}">
                    <a16:creationId xmlns:a16="http://schemas.microsoft.com/office/drawing/2014/main" id="{87B0333C-DD7F-769C-E8A3-699D8D92CF2F}"/>
                  </a:ext>
                </a:extLst>
              </p:cNvPr>
              <p:cNvGrpSpPr/>
              <p:nvPr/>
            </p:nvGrpSpPr>
            <p:grpSpPr>
              <a:xfrm>
                <a:off x="8669697" y="1616631"/>
                <a:ext cx="1402111" cy="1220881"/>
                <a:chOff x="8169554" y="984221"/>
                <a:chExt cx="1231062" cy="1231062"/>
              </a:xfrm>
            </p:grpSpPr>
            <p:pic>
              <p:nvPicPr>
                <p:cNvPr id="37" name="Graphic 36" descr="Blackboard outline">
                  <a:extLst>
                    <a:ext uri="{FF2B5EF4-FFF2-40B4-BE49-F238E27FC236}">
                      <a16:creationId xmlns:a16="http://schemas.microsoft.com/office/drawing/2014/main" id="{C50AFC0C-0534-5BF1-36A7-6C9463612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96DAC541-7B7A-43D3-8B79-37D633B846F1}">
                      <asvg:svgBlip xmlns:asvg="http://schemas.microsoft.com/office/drawing/2016/SVG/main" r:embed="rId3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9554" y="984221"/>
                  <a:ext cx="1231062" cy="1231062"/>
                </a:xfrm>
                <a:prstGeom prst="rect">
                  <a:avLst/>
                </a:prstGeom>
              </p:spPr>
            </p:pic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28F89E2C-5BCC-875C-EEB6-CE10BB803E51}"/>
                    </a:ext>
                  </a:extLst>
                </p:cNvPr>
                <p:cNvSpPr txBox="1"/>
                <p:nvPr/>
              </p:nvSpPr>
              <p:spPr>
                <a:xfrm>
                  <a:off x="8169555" y="1896061"/>
                  <a:ext cx="123106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400" dirty="0"/>
                    <a:t>Signatures</a:t>
                  </a:r>
                </a:p>
              </p:txBody>
            </p:sp>
          </p:grpSp>
          <p:grpSp>
            <p:nvGrpSpPr>
              <p:cNvPr id="1154" name="Group 1153">
                <a:extLst>
                  <a:ext uri="{FF2B5EF4-FFF2-40B4-BE49-F238E27FC236}">
                    <a16:creationId xmlns:a16="http://schemas.microsoft.com/office/drawing/2014/main" id="{C1CDDE21-D991-F320-7F69-662CC7E12DDD}"/>
                  </a:ext>
                </a:extLst>
              </p:cNvPr>
              <p:cNvGrpSpPr/>
              <p:nvPr/>
            </p:nvGrpSpPr>
            <p:grpSpPr>
              <a:xfrm>
                <a:off x="9793898" y="1605043"/>
                <a:ext cx="1724992" cy="1246117"/>
                <a:chOff x="7174809" y="2301265"/>
                <a:chExt cx="1514553" cy="1256508"/>
              </a:xfrm>
            </p:grpSpPr>
            <p:grpSp>
              <p:nvGrpSpPr>
                <p:cNvPr id="1100" name="Group 1099">
                  <a:extLst>
                    <a:ext uri="{FF2B5EF4-FFF2-40B4-BE49-F238E27FC236}">
                      <a16:creationId xmlns:a16="http://schemas.microsoft.com/office/drawing/2014/main" id="{9FE80B2C-040A-7273-F21E-94DA4DBB3105}"/>
                    </a:ext>
                  </a:extLst>
                </p:cNvPr>
                <p:cNvGrpSpPr/>
                <p:nvPr/>
              </p:nvGrpSpPr>
              <p:grpSpPr>
                <a:xfrm>
                  <a:off x="7314569" y="2301265"/>
                  <a:ext cx="1256510" cy="1256508"/>
                  <a:chOff x="6877217" y="1300250"/>
                  <a:chExt cx="1256510" cy="1256508"/>
                </a:xfrm>
              </p:grpSpPr>
              <p:sp>
                <p:nvSpPr>
                  <p:cNvPr id="1090" name="TextBox 1089">
                    <a:extLst>
                      <a:ext uri="{FF2B5EF4-FFF2-40B4-BE49-F238E27FC236}">
                        <a16:creationId xmlns:a16="http://schemas.microsoft.com/office/drawing/2014/main" id="{D5BC72C1-B530-1679-F559-46E0FDAEA47F}"/>
                      </a:ext>
                    </a:extLst>
                  </p:cNvPr>
                  <p:cNvSpPr txBox="1"/>
                  <p:nvPr/>
                </p:nvSpPr>
                <p:spPr>
                  <a:xfrm>
                    <a:off x="7130359" y="1864396"/>
                    <a:ext cx="728750" cy="21544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GB" sz="1400" dirty="0"/>
                      <a:t>WWW</a:t>
                    </a:r>
                  </a:p>
                </p:txBody>
              </p:sp>
              <p:pic>
                <p:nvPicPr>
                  <p:cNvPr id="1098" name="Graphic 1097" descr="Cloud outline">
                    <a:extLst>
                      <a:ext uri="{FF2B5EF4-FFF2-40B4-BE49-F238E27FC236}">
                        <a16:creationId xmlns:a16="http://schemas.microsoft.com/office/drawing/2014/main" id="{71951531-DB6F-B304-0BB1-5B1281C499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6">
                    <a:extLst>
                      <a:ext uri="{96DAC541-7B7A-43D3-8B79-37D633B846F1}">
                        <asvg:svgBlip xmlns:asvg="http://schemas.microsoft.com/office/drawing/2016/SVG/main" r:embed="rId3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877217" y="1300250"/>
                    <a:ext cx="1256510" cy="125650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52" name="TextBox 1151">
                  <a:extLst>
                    <a:ext uri="{FF2B5EF4-FFF2-40B4-BE49-F238E27FC236}">
                      <a16:creationId xmlns:a16="http://schemas.microsoft.com/office/drawing/2014/main" id="{CFC8FB6C-AF61-221F-D556-C99D7869C999}"/>
                    </a:ext>
                  </a:extLst>
                </p:cNvPr>
                <p:cNvSpPr txBox="1"/>
                <p:nvPr/>
              </p:nvSpPr>
              <p:spPr>
                <a:xfrm>
                  <a:off x="7174809" y="3238550"/>
                  <a:ext cx="151455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400" dirty="0"/>
                    <a:t>Online Services</a:t>
                  </a:r>
                </a:p>
              </p:txBody>
            </p:sp>
          </p:grpSp>
          <p:grpSp>
            <p:nvGrpSpPr>
              <p:cNvPr id="1217" name="Group 1216">
                <a:extLst>
                  <a:ext uri="{FF2B5EF4-FFF2-40B4-BE49-F238E27FC236}">
                    <a16:creationId xmlns:a16="http://schemas.microsoft.com/office/drawing/2014/main" id="{69C8711B-F256-0A04-59BE-2F2544F9EEC7}"/>
                  </a:ext>
                </a:extLst>
              </p:cNvPr>
              <p:cNvGrpSpPr/>
              <p:nvPr/>
            </p:nvGrpSpPr>
            <p:grpSpPr>
              <a:xfrm>
                <a:off x="8850881" y="4042564"/>
                <a:ext cx="1071245" cy="1074920"/>
                <a:chOff x="8421245" y="3275105"/>
                <a:chExt cx="914400" cy="1083883"/>
              </a:xfrm>
            </p:grpSpPr>
            <p:pic>
              <p:nvPicPr>
                <p:cNvPr id="1094" name="Graphic 1093" descr="Mortgage outline">
                  <a:extLst>
                    <a:ext uri="{FF2B5EF4-FFF2-40B4-BE49-F238E27FC236}">
                      <a16:creationId xmlns:a16="http://schemas.microsoft.com/office/drawing/2014/main" id="{E3C17E35-E215-48AC-37D2-DB02FEE9A3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96DAC541-7B7A-43D3-8B79-37D633B846F1}">
                      <asvg:svgBlip xmlns:asvg="http://schemas.microsoft.com/office/drawing/2016/SVG/main" r:embed="rId3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21245" y="3275105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216" name="TextBox 1215">
                  <a:extLst>
                    <a:ext uri="{FF2B5EF4-FFF2-40B4-BE49-F238E27FC236}">
                      <a16:creationId xmlns:a16="http://schemas.microsoft.com/office/drawing/2014/main" id="{F5582526-6FE6-F069-756E-8BAA5AE1ED56}"/>
                    </a:ext>
                  </a:extLst>
                </p:cNvPr>
                <p:cNvSpPr txBox="1"/>
                <p:nvPr/>
              </p:nvSpPr>
              <p:spPr>
                <a:xfrm>
                  <a:off x="8490756" y="4051211"/>
                  <a:ext cx="775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400" dirty="0"/>
                    <a:t>Loans</a:t>
                  </a:r>
                </a:p>
              </p:txBody>
            </p:sp>
          </p:grpSp>
          <p:grpSp>
            <p:nvGrpSpPr>
              <p:cNvPr id="1229" name="Group 1228">
                <a:extLst>
                  <a:ext uri="{FF2B5EF4-FFF2-40B4-BE49-F238E27FC236}">
                    <a16:creationId xmlns:a16="http://schemas.microsoft.com/office/drawing/2014/main" id="{95DFE82D-825E-FE44-91F2-ED836B071C66}"/>
                  </a:ext>
                </a:extLst>
              </p:cNvPr>
              <p:cNvGrpSpPr/>
              <p:nvPr/>
            </p:nvGrpSpPr>
            <p:grpSpPr>
              <a:xfrm>
                <a:off x="10435778" y="2876254"/>
                <a:ext cx="908377" cy="1193052"/>
                <a:chOff x="10791397" y="3787098"/>
                <a:chExt cx="775378" cy="1203001"/>
              </a:xfrm>
            </p:grpSpPr>
            <p:grpSp>
              <p:nvGrpSpPr>
                <p:cNvPr id="1227" name="Group 1226">
                  <a:extLst>
                    <a:ext uri="{FF2B5EF4-FFF2-40B4-BE49-F238E27FC236}">
                      <a16:creationId xmlns:a16="http://schemas.microsoft.com/office/drawing/2014/main" id="{F408423D-EB06-B829-B0B6-12E4020AFEF8}"/>
                    </a:ext>
                  </a:extLst>
                </p:cNvPr>
                <p:cNvGrpSpPr/>
                <p:nvPr/>
              </p:nvGrpSpPr>
              <p:grpSpPr>
                <a:xfrm>
                  <a:off x="10802221" y="3787098"/>
                  <a:ext cx="753730" cy="788585"/>
                  <a:chOff x="10815648" y="3787098"/>
                  <a:chExt cx="753730" cy="788585"/>
                </a:xfrm>
              </p:grpSpPr>
              <p:pic>
                <p:nvPicPr>
                  <p:cNvPr id="1221" name="Graphic 1220" descr="Martini outline">
                    <a:extLst>
                      <a:ext uri="{FF2B5EF4-FFF2-40B4-BE49-F238E27FC236}">
                        <a16:creationId xmlns:a16="http://schemas.microsoft.com/office/drawing/2014/main" id="{71B18DB9-E4AD-00B1-9A97-CFBFDCA79E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0">
                    <a:extLst>
                      <a:ext uri="{96DAC541-7B7A-43D3-8B79-37D633B846F1}">
                        <asvg:svgBlip xmlns:asvg="http://schemas.microsoft.com/office/drawing/2016/SVG/main" r:embed="rId4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960597" y="3787098"/>
                    <a:ext cx="463832" cy="463832"/>
                  </a:xfrm>
                  <a:prstGeom prst="rect">
                    <a:avLst/>
                  </a:prstGeom>
                </p:spPr>
              </p:pic>
              <p:grpSp>
                <p:nvGrpSpPr>
                  <p:cNvPr id="1226" name="Group 1225">
                    <a:extLst>
                      <a:ext uri="{FF2B5EF4-FFF2-40B4-BE49-F238E27FC236}">
                        <a16:creationId xmlns:a16="http://schemas.microsoft.com/office/drawing/2014/main" id="{A3D9BDE4-A5EB-B62B-EB6D-C82E208C962E}"/>
                      </a:ext>
                    </a:extLst>
                  </p:cNvPr>
                  <p:cNvGrpSpPr/>
                  <p:nvPr/>
                </p:nvGrpSpPr>
                <p:grpSpPr>
                  <a:xfrm>
                    <a:off x="10815648" y="4111851"/>
                    <a:ext cx="753730" cy="463832"/>
                    <a:chOff x="10815648" y="4111851"/>
                    <a:chExt cx="753730" cy="463832"/>
                  </a:xfrm>
                </p:grpSpPr>
                <p:pic>
                  <p:nvPicPr>
                    <p:cNvPr id="1223" name="Graphic 1222" descr="Beer outline">
                      <a:extLst>
                        <a:ext uri="{FF2B5EF4-FFF2-40B4-BE49-F238E27FC236}">
                          <a16:creationId xmlns:a16="http://schemas.microsoft.com/office/drawing/2014/main" id="{3AE60ADF-A2BD-B177-9103-CA5E95BF064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2">
                      <a:extLst>
                        <a:ext uri="{96DAC541-7B7A-43D3-8B79-37D633B846F1}">
                          <asvg:svgBlip xmlns:asvg="http://schemas.microsoft.com/office/drawing/2016/SVG/main" r:embed="rId4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815648" y="4111851"/>
                      <a:ext cx="463832" cy="463832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225" name="Graphic 1224" descr="Wine outline">
                      <a:extLst>
                        <a:ext uri="{FF2B5EF4-FFF2-40B4-BE49-F238E27FC236}">
                          <a16:creationId xmlns:a16="http://schemas.microsoft.com/office/drawing/2014/main" id="{B93DCB79-06BC-6FDF-556C-03A071D8F7F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4">
                      <a:extLst>
                        <a:ext uri="{96DAC541-7B7A-43D3-8B79-37D633B846F1}">
                          <asvg:svgBlip xmlns:asvg="http://schemas.microsoft.com/office/drawing/2016/SVG/main" r:embed="rId4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1105546" y="4111851"/>
                      <a:ext cx="463832" cy="463832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1228" name="TextBox 1227">
                  <a:extLst>
                    <a:ext uri="{FF2B5EF4-FFF2-40B4-BE49-F238E27FC236}">
                      <a16:creationId xmlns:a16="http://schemas.microsoft.com/office/drawing/2014/main" id="{418F9628-4228-F4E2-81A0-32AD22C0C58B}"/>
                    </a:ext>
                  </a:extLst>
                </p:cNvPr>
                <p:cNvSpPr txBox="1"/>
                <p:nvPr/>
              </p:nvSpPr>
              <p:spPr>
                <a:xfrm>
                  <a:off x="10791397" y="4466879"/>
                  <a:ext cx="7753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400" dirty="0"/>
                    <a:t>Alcohol retailers</a:t>
                  </a:r>
                </a:p>
              </p:txBody>
            </p:sp>
          </p:grpSp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E1B8876F-3600-2B26-5782-4706101CC13B}"/>
                  </a:ext>
                </a:extLst>
              </p:cNvPr>
              <p:cNvGrpSpPr/>
              <p:nvPr/>
            </p:nvGrpSpPr>
            <p:grpSpPr>
              <a:xfrm>
                <a:off x="10298443" y="4058030"/>
                <a:ext cx="1193940" cy="1059454"/>
                <a:chOff x="7080896" y="3864621"/>
                <a:chExt cx="1019130" cy="1068288"/>
              </a:xfrm>
            </p:grpSpPr>
            <p:pic>
              <p:nvPicPr>
                <p:cNvPr id="1231" name="Graphic 1230" descr="Care outline">
                  <a:extLst>
                    <a:ext uri="{FF2B5EF4-FFF2-40B4-BE49-F238E27FC236}">
                      <a16:creationId xmlns:a16="http://schemas.microsoft.com/office/drawing/2014/main" id="{C2883A19-074C-AC60-ED6A-29F33F3099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>
                  <a:extLst>
                    <a:ext uri="{96DAC541-7B7A-43D3-8B79-37D633B846F1}">
                      <asvg:svgBlip xmlns:asvg="http://schemas.microsoft.com/office/drawing/2016/SVG/main" r:embed="rId4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33261" y="3864621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232" name="TextBox 1231">
                  <a:extLst>
                    <a:ext uri="{FF2B5EF4-FFF2-40B4-BE49-F238E27FC236}">
                      <a16:creationId xmlns:a16="http://schemas.microsoft.com/office/drawing/2014/main" id="{C66E8BD1-DBF5-2660-08D1-80A11E9C362A}"/>
                    </a:ext>
                  </a:extLst>
                </p:cNvPr>
                <p:cNvSpPr txBox="1"/>
                <p:nvPr/>
              </p:nvSpPr>
              <p:spPr>
                <a:xfrm>
                  <a:off x="7080896" y="4625132"/>
                  <a:ext cx="101913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1400" dirty="0"/>
                    <a:t>Well-being</a:t>
                  </a: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5F2699A-6459-C707-8D5B-4A233DFBBF98}"/>
                </a:ext>
              </a:extLst>
            </p:cNvPr>
            <p:cNvGrpSpPr/>
            <p:nvPr/>
          </p:nvGrpSpPr>
          <p:grpSpPr>
            <a:xfrm>
              <a:off x="4185702" y="2869283"/>
              <a:ext cx="4483995" cy="1568278"/>
              <a:chOff x="4185702" y="2869283"/>
              <a:chExt cx="4483995" cy="1568278"/>
            </a:xfrm>
          </p:grpSpPr>
          <p:sp>
            <p:nvSpPr>
              <p:cNvPr id="1240" name="Arrow: Right 1239">
                <a:extLst>
                  <a:ext uri="{FF2B5EF4-FFF2-40B4-BE49-F238E27FC236}">
                    <a16:creationId xmlns:a16="http://schemas.microsoft.com/office/drawing/2014/main" id="{9AA814A9-AEE1-D54C-75F8-C6EF3E11E9AA}"/>
                  </a:ext>
                </a:extLst>
              </p:cNvPr>
              <p:cNvSpPr/>
              <p:nvPr/>
            </p:nvSpPr>
            <p:spPr>
              <a:xfrm>
                <a:off x="7177819" y="3425631"/>
                <a:ext cx="1491878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Consent</a:t>
                </a:r>
              </a:p>
            </p:txBody>
          </p:sp>
          <p:sp>
            <p:nvSpPr>
              <p:cNvPr id="1241" name="Arrow: Right 1240">
                <a:extLst>
                  <a:ext uri="{FF2B5EF4-FFF2-40B4-BE49-F238E27FC236}">
                    <a16:creationId xmlns:a16="http://schemas.microsoft.com/office/drawing/2014/main" id="{F7440D85-1A96-6922-0D93-663EF45A248B}"/>
                  </a:ext>
                </a:extLst>
              </p:cNvPr>
              <p:cNvSpPr/>
              <p:nvPr/>
            </p:nvSpPr>
            <p:spPr>
              <a:xfrm>
                <a:off x="7177819" y="3981979"/>
                <a:ext cx="1491878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Selective Disclosure</a:t>
                </a:r>
              </a:p>
            </p:txBody>
          </p:sp>
          <p:sp>
            <p:nvSpPr>
              <p:cNvPr id="1242" name="Arrow: Right 1241">
                <a:extLst>
                  <a:ext uri="{FF2B5EF4-FFF2-40B4-BE49-F238E27FC236}">
                    <a16:creationId xmlns:a16="http://schemas.microsoft.com/office/drawing/2014/main" id="{46929876-06DA-4C70-B4E6-F29B054CDFE8}"/>
                  </a:ext>
                </a:extLst>
              </p:cNvPr>
              <p:cNvSpPr/>
              <p:nvPr/>
            </p:nvSpPr>
            <p:spPr>
              <a:xfrm>
                <a:off x="7177819" y="2869283"/>
                <a:ext cx="1491878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noFill/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Online Access</a:t>
                </a:r>
              </a:p>
            </p:txBody>
          </p:sp>
          <p:sp>
            <p:nvSpPr>
              <p:cNvPr id="1245" name="Arrow: Right 1244">
                <a:extLst>
                  <a:ext uri="{FF2B5EF4-FFF2-40B4-BE49-F238E27FC236}">
                    <a16:creationId xmlns:a16="http://schemas.microsoft.com/office/drawing/2014/main" id="{107F0BA7-B299-8086-53F9-ECBF8D114FA5}"/>
                  </a:ext>
                </a:extLst>
              </p:cNvPr>
              <p:cNvSpPr/>
              <p:nvPr/>
            </p:nvSpPr>
            <p:spPr>
              <a:xfrm>
                <a:off x="4185702" y="3425631"/>
                <a:ext cx="1147927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Certificates</a:t>
                </a:r>
              </a:p>
            </p:txBody>
          </p:sp>
          <p:sp>
            <p:nvSpPr>
              <p:cNvPr id="1246" name="Arrow: Right 1245">
                <a:extLst>
                  <a:ext uri="{FF2B5EF4-FFF2-40B4-BE49-F238E27FC236}">
                    <a16:creationId xmlns:a16="http://schemas.microsoft.com/office/drawing/2014/main" id="{E048BF47-64EB-4A64-268B-9BCDB991E611}"/>
                  </a:ext>
                </a:extLst>
              </p:cNvPr>
              <p:cNvSpPr/>
              <p:nvPr/>
            </p:nvSpPr>
            <p:spPr>
              <a:xfrm>
                <a:off x="4185702" y="3981979"/>
                <a:ext cx="1147927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Attestations</a:t>
                </a:r>
              </a:p>
            </p:txBody>
          </p:sp>
          <p:sp>
            <p:nvSpPr>
              <p:cNvPr id="1247" name="Arrow: Right 1246">
                <a:extLst>
                  <a:ext uri="{FF2B5EF4-FFF2-40B4-BE49-F238E27FC236}">
                    <a16:creationId xmlns:a16="http://schemas.microsoft.com/office/drawing/2014/main" id="{9E9B512F-0892-9551-896C-3612F6009DCF}"/>
                  </a:ext>
                </a:extLst>
              </p:cNvPr>
              <p:cNvSpPr/>
              <p:nvPr/>
            </p:nvSpPr>
            <p:spPr>
              <a:xfrm>
                <a:off x="4185702" y="2869283"/>
                <a:ext cx="1147927" cy="455582"/>
              </a:xfrm>
              <a:prstGeom prst="rightArrow">
                <a:avLst>
                  <a:gd name="adj1" fmla="val 61863"/>
                  <a:gd name="adj2" fmla="val 42930"/>
                </a:avLst>
              </a:prstGeom>
              <a:solidFill>
                <a:schemeClr val="bg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GB" sz="1200" dirty="0">
                    <a:solidFill>
                      <a:schemeClr val="tx1"/>
                    </a:solidFill>
                  </a:rPr>
                  <a:t>Person Id Data</a:t>
                </a:r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AED6D64-FB1E-678B-4A80-40E6B194BC28}"/>
                </a:ext>
              </a:extLst>
            </p:cNvPr>
            <p:cNvSpPr/>
            <p:nvPr/>
          </p:nvSpPr>
          <p:spPr>
            <a:xfrm>
              <a:off x="390256" y="5260564"/>
              <a:ext cx="3731368" cy="1418084"/>
            </a:xfrm>
            <a:prstGeom prst="roundRect">
              <a:avLst>
                <a:gd name="adj" fmla="val 1925"/>
              </a:avLst>
            </a:prstGeom>
            <a:noFill/>
            <a:ln>
              <a:solidFill>
                <a:schemeClr val="bg1">
                  <a:lumMod val="50000"/>
                  <a:alpha val="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600" dirty="0">
                  <a:solidFill>
                    <a:schemeClr val="bg1">
                      <a:lumMod val="50000"/>
                    </a:schemeClr>
                  </a:solidFill>
                </a:rPr>
                <a:t>Other Providers (Examples)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904CF2B-0804-D03F-8B6F-2AF402673625}"/>
                </a:ext>
              </a:extLst>
            </p:cNvPr>
            <p:cNvGrpSpPr/>
            <p:nvPr/>
          </p:nvGrpSpPr>
          <p:grpSpPr>
            <a:xfrm>
              <a:off x="8208000" y="5259600"/>
              <a:ext cx="3731368" cy="1445114"/>
              <a:chOff x="4533158" y="5396396"/>
              <a:chExt cx="3731368" cy="144511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C44B95B1-4C30-092F-BC21-D6E77DFD87C7}"/>
                  </a:ext>
                </a:extLst>
              </p:cNvPr>
              <p:cNvGrpSpPr/>
              <p:nvPr/>
            </p:nvGrpSpPr>
            <p:grpSpPr>
              <a:xfrm>
                <a:off x="5035861" y="5781111"/>
                <a:ext cx="2732561" cy="1060399"/>
                <a:chOff x="5035861" y="5781111"/>
                <a:chExt cx="2732561" cy="1060399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46A5E5D3-7975-92AF-F0ED-72EC666000CE}"/>
                    </a:ext>
                  </a:extLst>
                </p:cNvPr>
                <p:cNvGrpSpPr/>
                <p:nvPr/>
              </p:nvGrpSpPr>
              <p:grpSpPr>
                <a:xfrm>
                  <a:off x="6847255" y="5803137"/>
                  <a:ext cx="921167" cy="1038373"/>
                  <a:chOff x="3160690" y="5697655"/>
                  <a:chExt cx="914400" cy="1050149"/>
                </a:xfrm>
              </p:grpSpPr>
              <p:pic>
                <p:nvPicPr>
                  <p:cNvPr id="36" name="Graphic 35" descr="Store outline">
                    <a:extLst>
                      <a:ext uri="{FF2B5EF4-FFF2-40B4-BE49-F238E27FC236}">
                        <a16:creationId xmlns:a16="http://schemas.microsoft.com/office/drawing/2014/main" id="{85F83633-B8EF-0FEA-FAED-0FE8604B66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60690" y="5697655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2339A208-FF99-33D8-0B8F-ADC3E7117199}"/>
                      </a:ext>
                    </a:extLst>
                  </p:cNvPr>
                  <p:cNvSpPr txBox="1"/>
                  <p:nvPr/>
                </p:nvSpPr>
                <p:spPr>
                  <a:xfrm>
                    <a:off x="3196564" y="6440027"/>
                    <a:ext cx="87607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rPr>
                      <a:t>Retail</a:t>
                    </a: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E3E82C7-B739-AA98-876C-30D3E3A53C39}"/>
                    </a:ext>
                  </a:extLst>
                </p:cNvPr>
                <p:cNvGrpSpPr/>
                <p:nvPr/>
              </p:nvGrpSpPr>
              <p:grpSpPr>
                <a:xfrm>
                  <a:off x="5951680" y="5781111"/>
                  <a:ext cx="921167" cy="1060399"/>
                  <a:chOff x="1769806" y="5521799"/>
                  <a:chExt cx="914400" cy="1072425"/>
                </a:xfrm>
              </p:grpSpPr>
              <p:pic>
                <p:nvPicPr>
                  <p:cNvPr id="32" name="Graphic 31" descr="Streetcar outline">
                    <a:extLst>
                      <a:ext uri="{FF2B5EF4-FFF2-40B4-BE49-F238E27FC236}">
                        <a16:creationId xmlns:a16="http://schemas.microsoft.com/office/drawing/2014/main" id="{2901B89E-9BB4-35BF-2467-D772C1BA5C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769806" y="5521799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FFFDFCA-821B-D658-9FAE-3258F8963420}"/>
                      </a:ext>
                    </a:extLst>
                  </p:cNvPr>
                  <p:cNvSpPr txBox="1"/>
                  <p:nvPr/>
                </p:nvSpPr>
                <p:spPr>
                  <a:xfrm>
                    <a:off x="1916034" y="6286447"/>
                    <a:ext cx="62194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rPr>
                      <a:t>Travel</a:t>
                    </a:r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559BC169-0365-1225-2DF1-53938FB1736C}"/>
                    </a:ext>
                  </a:extLst>
                </p:cNvPr>
                <p:cNvGrpSpPr/>
                <p:nvPr/>
              </p:nvGrpSpPr>
              <p:grpSpPr>
                <a:xfrm>
                  <a:off x="5035861" y="5946865"/>
                  <a:ext cx="809118" cy="894645"/>
                  <a:chOff x="941025" y="5594820"/>
                  <a:chExt cx="803174" cy="904791"/>
                </a:xfrm>
              </p:grpSpPr>
              <p:pic>
                <p:nvPicPr>
                  <p:cNvPr id="29" name="Graphic 28" descr="Ticket outline">
                    <a:extLst>
                      <a:ext uri="{FF2B5EF4-FFF2-40B4-BE49-F238E27FC236}">
                        <a16:creationId xmlns:a16="http://schemas.microsoft.com/office/drawing/2014/main" id="{5F8C183F-FD63-12FD-8BAE-0B7588CB6A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41025" y="5594820"/>
                    <a:ext cx="803174" cy="803173"/>
                  </a:xfrm>
                  <a:prstGeom prst="rect">
                    <a:avLst/>
                  </a:prstGeom>
                </p:spPr>
              </p:pic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2BB65EC-19E5-BCC0-5D6A-8C3447711090}"/>
                      </a:ext>
                    </a:extLst>
                  </p:cNvPr>
                  <p:cNvSpPr txBox="1"/>
                  <p:nvPr/>
                </p:nvSpPr>
                <p:spPr>
                  <a:xfrm>
                    <a:off x="951403" y="6191834"/>
                    <a:ext cx="78241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140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rPr>
                      <a:t>Services</a:t>
                    </a:r>
                  </a:p>
                </p:txBody>
              </p:sp>
            </p:grpSp>
          </p:grp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A32B4E4-7190-06A2-3A8D-32E799A1FD96}"/>
                  </a:ext>
                </a:extLst>
              </p:cNvPr>
              <p:cNvSpPr/>
              <p:nvPr/>
            </p:nvSpPr>
            <p:spPr>
              <a:xfrm>
                <a:off x="4533158" y="5396396"/>
                <a:ext cx="3731368" cy="1418084"/>
              </a:xfrm>
              <a:prstGeom prst="roundRect">
                <a:avLst>
                  <a:gd name="adj" fmla="val 1925"/>
                </a:avLst>
              </a:prstGeom>
              <a:noFill/>
              <a:ln>
                <a:solidFill>
                  <a:schemeClr val="bg1">
                    <a:lumMod val="50000"/>
                    <a:alpha val="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1600" dirty="0">
                    <a:solidFill>
                      <a:schemeClr val="bg1">
                        <a:lumMod val="50000"/>
                      </a:schemeClr>
                    </a:solidFill>
                  </a:rPr>
                  <a:t>Other Relying Parties (Examples)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292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4.44444E-6 L -0.10377 0.0011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95" y="4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-0.13932 0.14329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66" y="715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-0.20299 -0.1881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56" y="-942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L -0.25052 -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26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5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303344"/>
              </p:ext>
            </p:extLst>
          </p:nvPr>
        </p:nvGraphicFramePr>
        <p:xfrm>
          <a:off x="1180569" y="119700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accent1"/>
                          </a:solidFill>
                          <a:effectLst/>
                          <a:latin typeface="-apple-system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-apple-system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wallet holder identity is authentic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person identification data (PID) from wallet from authentic source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PID belongs to wallet holder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attestations of attributes from wallet from authentic source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accent1"/>
                          </a:solidFill>
                          <a:latin typeface="-apple-system"/>
                        </a:rPr>
                        <a:t>attestations of attributes belong to wallet holder</a:t>
                      </a:r>
                      <a:endParaRPr lang="en-GB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05FC447E-1B02-E124-58F5-876D070D35F6}"/>
              </a:ext>
            </a:extLst>
          </p:cNvPr>
          <p:cNvGrpSpPr/>
          <p:nvPr/>
        </p:nvGrpSpPr>
        <p:grpSpPr>
          <a:xfrm>
            <a:off x="1152000" y="1647757"/>
            <a:ext cx="9360000" cy="3435082"/>
            <a:chOff x="1152000" y="1538573"/>
            <a:chExt cx="9360000" cy="343508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DE77366-F0A6-7F87-21EE-EC1DE96205DB}"/>
                </a:ext>
              </a:extLst>
            </p:cNvPr>
            <p:cNvSpPr/>
            <p:nvPr/>
          </p:nvSpPr>
          <p:spPr>
            <a:xfrm>
              <a:off x="1152000" y="1538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1949B9A-1B3A-7997-6CCC-0C670C8E3A6C}"/>
                </a:ext>
              </a:extLst>
            </p:cNvPr>
            <p:cNvSpPr/>
            <p:nvPr/>
          </p:nvSpPr>
          <p:spPr>
            <a:xfrm>
              <a:off x="1152000" y="4706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C2CB92E-4A7D-CDC4-8129-4A35D84805A7}"/>
                </a:ext>
              </a:extLst>
            </p:cNvPr>
            <p:cNvSpPr/>
            <p:nvPr/>
          </p:nvSpPr>
          <p:spPr>
            <a:xfrm>
              <a:off x="1152000" y="2317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– checklist (1)</a:t>
            </a:r>
            <a:endParaRPr lang="en-FR" b="1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FEFA52-BD99-C25C-BCBD-83584834306C}"/>
              </a:ext>
            </a:extLst>
          </p:cNvPr>
          <p:cNvGrpSpPr/>
          <p:nvPr/>
        </p:nvGrpSpPr>
        <p:grpSpPr>
          <a:xfrm>
            <a:off x="1152000" y="5211757"/>
            <a:ext cx="9360000" cy="1059082"/>
            <a:chOff x="1152000" y="5102573"/>
            <a:chExt cx="9360000" cy="105908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03D7348-87E1-3405-0471-AFE9A785D428}"/>
                </a:ext>
              </a:extLst>
            </p:cNvPr>
            <p:cNvSpPr/>
            <p:nvPr/>
          </p:nvSpPr>
          <p:spPr>
            <a:xfrm>
              <a:off x="1152000" y="5102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F8EB4E9-FE6E-A9D0-0690-AB7351A1E235}"/>
                </a:ext>
              </a:extLst>
            </p:cNvPr>
            <p:cNvSpPr/>
            <p:nvPr/>
          </p:nvSpPr>
          <p:spPr>
            <a:xfrm>
              <a:off x="1152000" y="5894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F27842-4E0A-08D2-287D-D8E66B0F089F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70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E8BC3166-CD52-FE59-5736-E5B06904E4FF}"/>
              </a:ext>
            </a:extLst>
          </p:cNvPr>
          <p:cNvSpPr/>
          <p:nvPr/>
        </p:nvSpPr>
        <p:spPr>
          <a:xfrm>
            <a:off x="2349319" y="6295122"/>
            <a:ext cx="4525787" cy="456858"/>
          </a:xfrm>
          <a:prstGeom prst="roundRect">
            <a:avLst/>
          </a:prstGeom>
          <a:noFill/>
          <a:ln>
            <a:solidFill>
              <a:srgbClr val="023F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68291"/>
              </p:ext>
            </p:extLst>
          </p:nvPr>
        </p:nvGraphicFramePr>
        <p:xfrm>
          <a:off x="9180000" y="1231200"/>
          <a:ext cx="2550461" cy="505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461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Wallet verification artefacts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60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  <a:p>
                      <a:r>
                        <a:rPr lang="en-GB" sz="900" dirty="0"/>
                        <a:t>(not an artefact </a:t>
                      </a:r>
                      <a:r>
                        <a:rPr lang="en-GB" sz="900" i="1" dirty="0"/>
                        <a:t>per se</a:t>
                      </a:r>
                      <a:r>
                        <a:rPr lang="en-GB" sz="9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grpSp>
        <p:nvGrpSpPr>
          <p:cNvPr id="1250" name="Group 1249">
            <a:extLst>
              <a:ext uri="{FF2B5EF4-FFF2-40B4-BE49-F238E27FC236}">
                <a16:creationId xmlns:a16="http://schemas.microsoft.com/office/drawing/2014/main" id="{BF301479-C9B8-7F84-4228-4C1D8879B821}"/>
              </a:ext>
            </a:extLst>
          </p:cNvPr>
          <p:cNvGrpSpPr/>
          <p:nvPr/>
        </p:nvGrpSpPr>
        <p:grpSpPr>
          <a:xfrm>
            <a:off x="11415536" y="4431950"/>
            <a:ext cx="335658" cy="379187"/>
            <a:chOff x="10749568" y="5635101"/>
            <a:chExt cx="350430" cy="395875"/>
          </a:xfrm>
        </p:grpSpPr>
        <p:pic>
          <p:nvPicPr>
            <p:cNvPr id="1251" name="Graphic 1250" descr="Paper with solid fill">
              <a:extLst>
                <a:ext uri="{FF2B5EF4-FFF2-40B4-BE49-F238E27FC236}">
                  <a16:creationId xmlns:a16="http://schemas.microsoft.com/office/drawing/2014/main" id="{6DE08AE5-1823-3377-24F6-B7E7021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BA3DFEF7-D6CF-5C4D-1F7F-7E191F31EFE3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53" name="Group 1252">
              <a:extLst>
                <a:ext uri="{FF2B5EF4-FFF2-40B4-BE49-F238E27FC236}">
                  <a16:creationId xmlns:a16="http://schemas.microsoft.com/office/drawing/2014/main" id="{A4827675-6BF2-AD8C-C704-8799149C1B73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300A4163-90C8-B71E-4EF9-8D178F60E018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D04AB439-6273-12A7-1A7B-70B339DC3E06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CCBD6E00-CA16-D3DB-7CC0-FC42797C0A19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>
            <a:normAutofit/>
          </a:bodyPr>
          <a:lstStyle/>
          <a:p>
            <a:r>
              <a:rPr lang="da-DK" sz="3200" b="1" dirty="0"/>
              <a:t>1. </a:t>
            </a:r>
            <a:r>
              <a:rPr lang="da-DK" sz="3200" b="1" dirty="0" err="1"/>
              <a:t>Authenticity</a:t>
            </a:r>
            <a:r>
              <a:rPr lang="da-DK" sz="3200" b="1" dirty="0"/>
              <a:t> of </a:t>
            </a:r>
            <a:r>
              <a:rPr lang="da-DK" sz="3200" b="1" dirty="0" err="1"/>
              <a:t>entities</a:t>
            </a:r>
            <a:r>
              <a:rPr lang="da-DK" sz="3200" b="1" dirty="0"/>
              <a:t>, PID and attestations</a:t>
            </a:r>
            <a:endParaRPr lang="en-FR" sz="32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22C10D-3DE9-C770-1EA4-272140962240}"/>
              </a:ext>
            </a:extLst>
          </p:cNvPr>
          <p:cNvGrpSpPr/>
          <p:nvPr/>
        </p:nvGrpSpPr>
        <p:grpSpPr>
          <a:xfrm>
            <a:off x="11355529" y="1730342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530F6E7-6D85-D5DE-387C-13320C3F5801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934E5A80-CAB0-A59A-9BAB-AE5DFDC3EE41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A6405E-C2EC-06B4-B2FB-F43CC0FB2906}"/>
              </a:ext>
            </a:extLst>
          </p:cNvPr>
          <p:cNvGrpSpPr/>
          <p:nvPr/>
        </p:nvGrpSpPr>
        <p:grpSpPr>
          <a:xfrm>
            <a:off x="10908000" y="2660812"/>
            <a:ext cx="825766" cy="321228"/>
            <a:chOff x="4793047" y="6345339"/>
            <a:chExt cx="825766" cy="321228"/>
          </a:xfrm>
        </p:grpSpPr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85DC469-A8F9-28D5-A3BE-3652E1E6F7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98B3799A-1546-2069-978D-AF718E0C996A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D57D338E-7421-5102-40AA-296D566FD82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01F41FF7-5F31-F7BC-9293-DC27910C73ED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1F45C1-5C9D-21D8-7823-3CF674D8DE3C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091" name="Graphic 1090" descr="Fingerprint with solid fill">
              <a:extLst>
                <a:ext uri="{FF2B5EF4-FFF2-40B4-BE49-F238E27FC236}">
                  <a16:creationId xmlns:a16="http://schemas.microsoft.com/office/drawing/2014/main" id="{E118BE61-D657-B2F4-8A38-D01CA4A75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5FA13B-B01B-1ED4-B813-349DAE68C887}"/>
              </a:ext>
            </a:extLst>
          </p:cNvPr>
          <p:cNvGrpSpPr/>
          <p:nvPr/>
        </p:nvGrpSpPr>
        <p:grpSpPr>
          <a:xfrm>
            <a:off x="10921137" y="3071595"/>
            <a:ext cx="812629" cy="446278"/>
            <a:chOff x="10785943" y="5489706"/>
            <a:chExt cx="812629" cy="446278"/>
          </a:xfrm>
        </p:grpSpPr>
        <p:pic>
          <p:nvPicPr>
            <p:cNvPr id="1086" name="Graphic 1085" descr="Key outline">
              <a:extLst>
                <a:ext uri="{FF2B5EF4-FFF2-40B4-BE49-F238E27FC236}">
                  <a16:creationId xmlns:a16="http://schemas.microsoft.com/office/drawing/2014/main" id="{F5E4DB74-1918-43F0-FD88-856A83D50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2CA330D6-AB94-B63B-CC15-BA9962E8F13B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8D439-81A3-76E1-D098-2BB3332D2603}"/>
              </a:ext>
            </a:extLst>
          </p:cNvPr>
          <p:cNvGrpSpPr/>
          <p:nvPr/>
        </p:nvGrpSpPr>
        <p:grpSpPr>
          <a:xfrm>
            <a:off x="11229228" y="4024013"/>
            <a:ext cx="504538" cy="465328"/>
            <a:chOff x="11062681" y="5489706"/>
            <a:chExt cx="504538" cy="465328"/>
          </a:xfrm>
        </p:grpSpPr>
        <p:pic>
          <p:nvPicPr>
            <p:cNvPr id="1084" name="Graphic 1083" descr="Key outline">
              <a:extLst>
                <a:ext uri="{FF2B5EF4-FFF2-40B4-BE49-F238E27FC236}">
                  <a16:creationId xmlns:a16="http://schemas.microsoft.com/office/drawing/2014/main" id="{57EC3A94-B2EB-03BF-AD5B-991D3172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F27E9DA-9085-9A90-89E2-09F35C9E6AD0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5ED7-C19C-9E67-CB34-0E094BF2952F}"/>
              </a:ext>
            </a:extLst>
          </p:cNvPr>
          <p:cNvGrpSpPr/>
          <p:nvPr/>
        </p:nvGrpSpPr>
        <p:grpSpPr>
          <a:xfrm>
            <a:off x="11398108" y="3508468"/>
            <a:ext cx="335658" cy="379187"/>
            <a:chOff x="10749568" y="5635101"/>
            <a:chExt cx="350430" cy="395875"/>
          </a:xfrm>
        </p:grpSpPr>
        <p:pic>
          <p:nvPicPr>
            <p:cNvPr id="1065" name="Graphic 1064" descr="Paper with solid fill">
              <a:extLst>
                <a:ext uri="{FF2B5EF4-FFF2-40B4-BE49-F238E27FC236}">
                  <a16:creationId xmlns:a16="http://schemas.microsoft.com/office/drawing/2014/main" id="{EE051050-C0EE-B6F3-0BE6-4F30EFD1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2BA5A9C9-033B-FF42-844C-816C260033F4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DCABB208-7CEE-F8C8-0134-3813F2F134DB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4D2A03AD-DB65-5AC0-D3F6-2F209597C85D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F724A4D-1F20-606B-458D-144EC4E1ED18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773AAB28-D303-D618-FD04-35ECEAEF1303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0EC42A-D70E-E771-E9D8-4EE5AD18A265}"/>
              </a:ext>
            </a:extLst>
          </p:cNvPr>
          <p:cNvGrpSpPr/>
          <p:nvPr/>
        </p:nvGrpSpPr>
        <p:grpSpPr>
          <a:xfrm>
            <a:off x="11001060" y="4965629"/>
            <a:ext cx="732706" cy="446278"/>
            <a:chOff x="319523" y="5081988"/>
            <a:chExt cx="732706" cy="446278"/>
          </a:xfrm>
        </p:grpSpPr>
        <p:pic>
          <p:nvPicPr>
            <p:cNvPr id="1059" name="Graphic 1058" descr="Key outline">
              <a:extLst>
                <a:ext uri="{FF2B5EF4-FFF2-40B4-BE49-F238E27FC236}">
                  <a16:creationId xmlns:a16="http://schemas.microsoft.com/office/drawing/2014/main" id="{3FB0D03E-834C-953A-992B-184589B9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85684796-2CF6-BB1E-FE23-69E2FE682D46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BFC1F4-CF04-28DD-437A-622A49380A3E}"/>
              </a:ext>
            </a:extLst>
          </p:cNvPr>
          <p:cNvGrpSpPr/>
          <p:nvPr/>
        </p:nvGrpSpPr>
        <p:grpSpPr>
          <a:xfrm>
            <a:off x="11112277" y="2137307"/>
            <a:ext cx="621489" cy="446278"/>
            <a:chOff x="10966769" y="5489706"/>
            <a:chExt cx="621489" cy="446278"/>
          </a:xfrm>
        </p:grpSpPr>
        <p:pic>
          <p:nvPicPr>
            <p:cNvPr id="1056" name="Graphic 1055" descr="Key outline">
              <a:extLst>
                <a:ext uri="{FF2B5EF4-FFF2-40B4-BE49-F238E27FC236}">
                  <a16:creationId xmlns:a16="http://schemas.microsoft.com/office/drawing/2014/main" id="{3AD38416-1CFA-B47A-695A-83462A6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6BDF1E3-5DF2-D8AB-DB86-207AAB9305CA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pic>
        <p:nvPicPr>
          <p:cNvPr id="1041" name="Graphic 1040" descr="Lock with solid fill">
            <a:extLst>
              <a:ext uri="{FF2B5EF4-FFF2-40B4-BE49-F238E27FC236}">
                <a16:creationId xmlns:a16="http://schemas.microsoft.com/office/drawing/2014/main" id="{4855DBF7-FCC6-5867-6066-D3E6DA461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8678" y="5823748"/>
            <a:ext cx="375088" cy="375088"/>
          </a:xfrm>
          <a:prstGeom prst="rect">
            <a:avLst/>
          </a:prstGeom>
        </p:spPr>
      </p:pic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36C8A6D7-7166-B536-9A6A-DC357A1368A4}"/>
              </a:ext>
            </a:extLst>
          </p:cNvPr>
          <p:cNvGrpSpPr/>
          <p:nvPr/>
        </p:nvGrpSpPr>
        <p:grpSpPr>
          <a:xfrm>
            <a:off x="11086549" y="5379154"/>
            <a:ext cx="647217" cy="446278"/>
            <a:chOff x="11005275" y="5489706"/>
            <a:chExt cx="647217" cy="446278"/>
          </a:xfrm>
        </p:grpSpPr>
        <p:pic>
          <p:nvPicPr>
            <p:cNvPr id="1053" name="Graphic 1052" descr="Key outline">
              <a:extLst>
                <a:ext uri="{FF2B5EF4-FFF2-40B4-BE49-F238E27FC236}">
                  <a16:creationId xmlns:a16="http://schemas.microsoft.com/office/drawing/2014/main" id="{2AE2040E-B166-C3F7-466A-F67AF7F6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ACAD7F3-D016-2131-7DC4-F297F6CCE5FB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3D41A1B-8A0B-4105-7D11-AE8CE958B483}"/>
              </a:ext>
            </a:extLst>
          </p:cNvPr>
          <p:cNvGrpSpPr/>
          <p:nvPr/>
        </p:nvGrpSpPr>
        <p:grpSpPr>
          <a:xfrm>
            <a:off x="2408540" y="6346980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A991336-27AF-1C9E-672B-7602D46F8B72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C5DBE48-0DC7-CD75-6ACD-72B2A4D4F5F9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30CD4698-A412-4031-DCCB-82884F7F592F}"/>
              </a:ext>
            </a:extLst>
          </p:cNvPr>
          <p:cNvGrpSpPr/>
          <p:nvPr/>
        </p:nvGrpSpPr>
        <p:grpSpPr>
          <a:xfrm>
            <a:off x="3523127" y="2965685"/>
            <a:ext cx="2066555" cy="3505638"/>
            <a:chOff x="5226042" y="1981755"/>
            <a:chExt cx="2066555" cy="3505638"/>
          </a:xfrm>
        </p:grpSpPr>
        <p:pic>
          <p:nvPicPr>
            <p:cNvPr id="1266" name="Picture 4">
              <a:extLst>
                <a:ext uri="{FF2B5EF4-FFF2-40B4-BE49-F238E27FC236}">
                  <a16:creationId xmlns:a16="http://schemas.microsoft.com/office/drawing/2014/main" id="{9232071C-8A81-2394-F1F6-D2AD0AA43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E339985-D11F-A654-E8B6-D5DEE66BC906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A5815DC1-29FC-8414-731A-02399714E0D5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45A06C72-CB7E-CEA5-54DD-8CABBD8BFB39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EB37CF48-53DF-B97C-A3CA-632E8D879614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D899ECC5-64E7-CC20-6461-236DBB7229A3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44C208CA-43DC-3968-79F8-A284FC4340BE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96BA2D4C-F226-FB7F-A71E-AD51D2151FA8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DE678340-5AE3-7008-27A5-E673A462EA27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sp>
        <p:nvSpPr>
          <p:cNvPr id="1275" name="Rectangle: Rounded Corners 1274">
            <a:extLst>
              <a:ext uri="{FF2B5EF4-FFF2-40B4-BE49-F238E27FC236}">
                <a16:creationId xmlns:a16="http://schemas.microsoft.com/office/drawing/2014/main" id="{4B4E8C7F-2E98-FA69-7606-29487B118563}"/>
              </a:ext>
            </a:extLst>
          </p:cNvPr>
          <p:cNvSpPr/>
          <p:nvPr/>
        </p:nvSpPr>
        <p:spPr>
          <a:xfrm>
            <a:off x="380989" y="1231200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FC3C7082-793C-4C19-39FB-8FC1B0192250}"/>
              </a:ext>
            </a:extLst>
          </p:cNvPr>
          <p:cNvGrpSpPr/>
          <p:nvPr/>
        </p:nvGrpSpPr>
        <p:grpSpPr>
          <a:xfrm>
            <a:off x="1364613" y="1561685"/>
            <a:ext cx="1609851" cy="2457230"/>
            <a:chOff x="2632447" y="1552472"/>
            <a:chExt cx="1609851" cy="2457230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88E1EF6-D084-AAA2-1A0F-9A72A7F54B3D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D306510D-0E47-6DAA-72F6-0BF71753ED9E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1316" name="Graphic 1315" descr="Building outline">
                  <a:extLst>
                    <a:ext uri="{FF2B5EF4-FFF2-40B4-BE49-F238E27FC236}">
                      <a16:creationId xmlns:a16="http://schemas.microsoft.com/office/drawing/2014/main" id="{3F62976D-B533-1A38-7152-908CCC2FA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1B9BC0BF-E80E-CE71-A27E-7C420157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318" name="Freeform: Shape 1317">
                    <a:extLst>
                      <a:ext uri="{FF2B5EF4-FFF2-40B4-BE49-F238E27FC236}">
                        <a16:creationId xmlns:a16="http://schemas.microsoft.com/office/drawing/2014/main" id="{7177F420-EF27-BC8B-67B6-604CC0E09055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19" name="Freeform: Shape 1318">
                    <a:extLst>
                      <a:ext uri="{FF2B5EF4-FFF2-40B4-BE49-F238E27FC236}">
                        <a16:creationId xmlns:a16="http://schemas.microsoft.com/office/drawing/2014/main" id="{441E3236-0FEE-912D-9D94-2470ED60E0F8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20" name="Freeform: Shape 1319">
                    <a:extLst>
                      <a:ext uri="{FF2B5EF4-FFF2-40B4-BE49-F238E27FC236}">
                        <a16:creationId xmlns:a16="http://schemas.microsoft.com/office/drawing/2014/main" id="{8BB90196-2C49-FDA8-395A-9737A9B14FB1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1" name="Freeform: Shape 1320">
                    <a:extLst>
                      <a:ext uri="{FF2B5EF4-FFF2-40B4-BE49-F238E27FC236}">
                        <a16:creationId xmlns:a16="http://schemas.microsoft.com/office/drawing/2014/main" id="{640D48BE-586F-5404-87E9-4E51FA2E024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2" name="Freeform: Shape 1321">
                    <a:extLst>
                      <a:ext uri="{FF2B5EF4-FFF2-40B4-BE49-F238E27FC236}">
                        <a16:creationId xmlns:a16="http://schemas.microsoft.com/office/drawing/2014/main" id="{1F584DC0-2716-2BEE-3FE6-FF6B48944454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323" name="Graphic 1322" descr="Car outline">
                    <a:extLst>
                      <a:ext uri="{FF2B5EF4-FFF2-40B4-BE49-F238E27FC236}">
                        <a16:creationId xmlns:a16="http://schemas.microsoft.com/office/drawing/2014/main" id="{2CAA0850-7B1A-7483-8460-8D7291399B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5" name="TextBox 1314">
                <a:extLst>
                  <a:ext uri="{FF2B5EF4-FFF2-40B4-BE49-F238E27FC236}">
                    <a16:creationId xmlns:a16="http://schemas.microsoft.com/office/drawing/2014/main" id="{7C3DBCBF-AAE3-EB73-DD7E-6AEDA6D37AA3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36CD085-449F-0B95-6870-0CE481F046EB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303" name="Group 1302">
                <a:extLst>
                  <a:ext uri="{FF2B5EF4-FFF2-40B4-BE49-F238E27FC236}">
                    <a16:creationId xmlns:a16="http://schemas.microsoft.com/office/drawing/2014/main" id="{8AD33532-56D7-7F27-F0C2-E22D6EDAD245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305" name="Group 1304">
                  <a:extLst>
                    <a:ext uri="{FF2B5EF4-FFF2-40B4-BE49-F238E27FC236}">
                      <a16:creationId xmlns:a16="http://schemas.microsoft.com/office/drawing/2014/main" id="{559EE3D2-521A-F681-9704-387554181D46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312" name="Graphic 1311" descr="Court outline">
                    <a:extLst>
                      <a:ext uri="{FF2B5EF4-FFF2-40B4-BE49-F238E27FC236}">
                        <a16:creationId xmlns:a16="http://schemas.microsoft.com/office/drawing/2014/main" id="{0039B551-EDA1-358F-560C-4018206CC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313" name="Graphic 1312" descr="Flag outline">
                    <a:extLst>
                      <a:ext uri="{FF2B5EF4-FFF2-40B4-BE49-F238E27FC236}">
                        <a16:creationId xmlns:a16="http://schemas.microsoft.com/office/drawing/2014/main" id="{5E773B77-911A-EDFC-34C0-EE2C8C32E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6" name="Group 1305">
                  <a:extLst>
                    <a:ext uri="{FF2B5EF4-FFF2-40B4-BE49-F238E27FC236}">
                      <a16:creationId xmlns:a16="http://schemas.microsoft.com/office/drawing/2014/main" id="{8F364186-59B7-D820-1A6D-60F0EF4E6236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6A181503-9D35-C5AB-482C-EF53870F9499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308" name="Group 1307">
                    <a:extLst>
                      <a:ext uri="{FF2B5EF4-FFF2-40B4-BE49-F238E27FC236}">
                        <a16:creationId xmlns:a16="http://schemas.microsoft.com/office/drawing/2014/main" id="{431E5F1F-7D06-7B5C-2ADF-D0E58F0682D5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B685A665-483B-A3E8-6575-5C64FE7FF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E4D48EA3-851F-79F7-02C4-0419E0D81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EFE9A8CF-1968-678F-8DCC-EE85D9A53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304" name="TextBox 1303">
                <a:extLst>
                  <a:ext uri="{FF2B5EF4-FFF2-40B4-BE49-F238E27FC236}">
                    <a16:creationId xmlns:a16="http://schemas.microsoft.com/office/drawing/2014/main" id="{0980EDB6-FD2E-BBA8-3388-54CA3CADAFB9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3C0DEA22-EF73-6A33-E477-1BA620DFB867}"/>
              </a:ext>
            </a:extLst>
          </p:cNvPr>
          <p:cNvGrpSpPr/>
          <p:nvPr/>
        </p:nvGrpSpPr>
        <p:grpSpPr>
          <a:xfrm>
            <a:off x="6386032" y="1622388"/>
            <a:ext cx="1071245" cy="1075241"/>
            <a:chOff x="9578715" y="3292356"/>
            <a:chExt cx="914400" cy="1084207"/>
          </a:xfrm>
        </p:grpSpPr>
        <p:pic>
          <p:nvPicPr>
            <p:cNvPr id="1328" name="Graphic 1327" descr="Police female outline">
              <a:extLst>
                <a:ext uri="{FF2B5EF4-FFF2-40B4-BE49-F238E27FC236}">
                  <a16:creationId xmlns:a16="http://schemas.microsoft.com/office/drawing/2014/main" id="{54F53E6E-EC63-764C-5CAF-8DF3A2F5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915B95-7947-413A-1692-6EDD35E00472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1330" name="Rectangle: Rounded Corners 1329">
            <a:extLst>
              <a:ext uri="{FF2B5EF4-FFF2-40B4-BE49-F238E27FC236}">
                <a16:creationId xmlns:a16="http://schemas.microsoft.com/office/drawing/2014/main" id="{5F89B6B6-EA25-8FBB-E4D0-39DC3BBF0648}"/>
              </a:ext>
            </a:extLst>
          </p:cNvPr>
          <p:cNvSpPr/>
          <p:nvPr/>
        </p:nvSpPr>
        <p:spPr>
          <a:xfrm>
            <a:off x="5328000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grpSp>
        <p:nvGrpSpPr>
          <p:cNvPr id="1331" name="Group 1330">
            <a:extLst>
              <a:ext uri="{FF2B5EF4-FFF2-40B4-BE49-F238E27FC236}">
                <a16:creationId xmlns:a16="http://schemas.microsoft.com/office/drawing/2014/main" id="{DCB34534-FD96-BB73-0BDD-24E3BCCA7AF7}"/>
              </a:ext>
            </a:extLst>
          </p:cNvPr>
          <p:cNvGrpSpPr/>
          <p:nvPr/>
        </p:nvGrpSpPr>
        <p:grpSpPr>
          <a:xfrm>
            <a:off x="2952000" y="1505871"/>
            <a:ext cx="3300761" cy="1634468"/>
            <a:chOff x="4613826" y="1464807"/>
            <a:chExt cx="3300761" cy="1634468"/>
          </a:xfrm>
        </p:grpSpPr>
        <p:grpSp>
          <p:nvGrpSpPr>
            <p:cNvPr id="1332" name="Group 1331">
              <a:extLst>
                <a:ext uri="{FF2B5EF4-FFF2-40B4-BE49-F238E27FC236}">
                  <a16:creationId xmlns:a16="http://schemas.microsoft.com/office/drawing/2014/main" id="{660EC898-860D-7FC0-C6BD-620B2E86E76C}"/>
                </a:ext>
              </a:extLst>
            </p:cNvPr>
            <p:cNvGrpSpPr/>
            <p:nvPr/>
          </p:nvGrpSpPr>
          <p:grpSpPr>
            <a:xfrm>
              <a:off x="5534175" y="1464807"/>
              <a:ext cx="1499192" cy="1039219"/>
              <a:chOff x="5077847" y="1464807"/>
              <a:chExt cx="1499192" cy="1039219"/>
            </a:xfrm>
          </p:grpSpPr>
          <p:pic>
            <p:nvPicPr>
              <p:cNvPr id="1336" name="Graphic 1335" descr="Court outline">
                <a:extLst>
                  <a:ext uri="{FF2B5EF4-FFF2-40B4-BE49-F238E27FC236}">
                    <a16:creationId xmlns:a16="http://schemas.microsoft.com/office/drawing/2014/main" id="{5ABE6BC5-A144-E455-76F8-837A5A090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317256" y="1464807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37" name="TextBox 1336">
                <a:extLst>
                  <a:ext uri="{FF2B5EF4-FFF2-40B4-BE49-F238E27FC236}">
                    <a16:creationId xmlns:a16="http://schemas.microsoft.com/office/drawing/2014/main" id="{F4841D7A-F398-1F43-8A55-45E323588556}"/>
                  </a:ext>
                </a:extLst>
              </p:cNvPr>
              <p:cNvSpPr txBox="1"/>
              <p:nvPr/>
            </p:nvSpPr>
            <p:spPr>
              <a:xfrm>
                <a:off x="5077847" y="2196249"/>
                <a:ext cx="149919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Trusted Lists</a:t>
                </a:r>
              </a:p>
            </p:txBody>
          </p:sp>
          <p:grpSp>
            <p:nvGrpSpPr>
              <p:cNvPr id="1338" name="Group 1337">
                <a:extLst>
                  <a:ext uri="{FF2B5EF4-FFF2-40B4-BE49-F238E27FC236}">
                    <a16:creationId xmlns:a16="http://schemas.microsoft.com/office/drawing/2014/main" id="{0670DFA5-40D3-B003-5EBB-94C6824188C3}"/>
                  </a:ext>
                </a:extLst>
              </p:cNvPr>
              <p:cNvGrpSpPr/>
              <p:nvPr/>
            </p:nvGrpSpPr>
            <p:grpSpPr>
              <a:xfrm>
                <a:off x="5821113" y="1547041"/>
                <a:ext cx="413188" cy="506274"/>
                <a:chOff x="4322470" y="2397597"/>
                <a:chExt cx="614808" cy="753316"/>
              </a:xfrm>
            </p:grpSpPr>
            <p:sp>
              <p:nvSpPr>
                <p:cNvPr id="1339" name="Rectangle 1338">
                  <a:extLst>
                    <a:ext uri="{FF2B5EF4-FFF2-40B4-BE49-F238E27FC236}">
                      <a16:creationId xmlns:a16="http://schemas.microsoft.com/office/drawing/2014/main" id="{8441B443-6D9A-858F-C109-4961198A7A1D}"/>
                    </a:ext>
                  </a:extLst>
                </p:cNvPr>
                <p:cNvSpPr/>
                <p:nvPr/>
              </p:nvSpPr>
              <p:spPr>
                <a:xfrm>
                  <a:off x="4341385" y="2427755"/>
                  <a:ext cx="467884" cy="66500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1340" name="Group 1339">
                  <a:extLst>
                    <a:ext uri="{FF2B5EF4-FFF2-40B4-BE49-F238E27FC236}">
                      <a16:creationId xmlns:a16="http://schemas.microsoft.com/office/drawing/2014/main" id="{184B2F3E-DB59-F65C-8485-59EA2478AF73}"/>
                    </a:ext>
                  </a:extLst>
                </p:cNvPr>
                <p:cNvGrpSpPr/>
                <p:nvPr/>
              </p:nvGrpSpPr>
              <p:grpSpPr>
                <a:xfrm>
                  <a:off x="4322470" y="2397597"/>
                  <a:ext cx="614808" cy="753316"/>
                  <a:chOff x="4320308" y="2016421"/>
                  <a:chExt cx="614808" cy="753316"/>
                </a:xfrm>
              </p:grpSpPr>
              <p:pic>
                <p:nvPicPr>
                  <p:cNvPr id="1341" name="Picture 1340">
                    <a:extLst>
                      <a:ext uri="{FF2B5EF4-FFF2-40B4-BE49-F238E27FC236}">
                        <a16:creationId xmlns:a16="http://schemas.microsoft.com/office/drawing/2014/main" id="{1BDDC85C-E24E-8847-8E86-8F7CEA0E41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4587332" y="2259799"/>
                    <a:ext cx="347784" cy="509938"/>
                  </a:xfrm>
                  <a:custGeom>
                    <a:avLst/>
                    <a:gdLst>
                      <a:gd name="connsiteX0" fmla="*/ 0 w 152400"/>
                      <a:gd name="connsiteY0" fmla="*/ 0 h 223456"/>
                      <a:gd name="connsiteX1" fmla="*/ 152400 w 152400"/>
                      <a:gd name="connsiteY1" fmla="*/ 0 h 223456"/>
                      <a:gd name="connsiteX2" fmla="*/ 152400 w 152400"/>
                      <a:gd name="connsiteY2" fmla="*/ 223457 h 223456"/>
                      <a:gd name="connsiteX3" fmla="*/ 0 w 152400"/>
                      <a:gd name="connsiteY3" fmla="*/ 223457 h 223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223456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223457"/>
                        </a:lnTo>
                        <a:lnTo>
                          <a:pt x="0" y="223457"/>
                        </a:lnTo>
                        <a:close/>
                      </a:path>
                    </a:pathLst>
                  </a:custGeom>
                </p:spPr>
              </p:pic>
              <p:pic>
                <p:nvPicPr>
                  <p:cNvPr id="1342" name="Graphic 1341" descr="Hamburger Menu Icon outline">
                    <a:extLst>
                      <a:ext uri="{FF2B5EF4-FFF2-40B4-BE49-F238E27FC236}">
                        <a16:creationId xmlns:a16="http://schemas.microsoft.com/office/drawing/2014/main" id="{13EC0865-281E-A3F0-ED02-CC99C0A5F4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3">
                    <a:extLst>
                      <a:ext uri="{96DAC541-7B7A-43D3-8B79-37D633B846F1}">
                        <asvg:svgBlip xmlns:asvg="http://schemas.microsoft.com/office/drawing/2016/SVG/main" r:embed="rId2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20308" y="2016421"/>
                    <a:ext cx="510536" cy="665008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1333" name="Arrow: Up-Down 1332">
              <a:extLst>
                <a:ext uri="{FF2B5EF4-FFF2-40B4-BE49-F238E27FC236}">
                  <a16:creationId xmlns:a16="http://schemas.microsoft.com/office/drawing/2014/main" id="{2ACDB962-DCC4-555B-A711-2FE74F9FAE08}"/>
                </a:ext>
              </a:extLst>
            </p:cNvPr>
            <p:cNvSpPr/>
            <p:nvPr/>
          </p:nvSpPr>
          <p:spPr>
            <a:xfrm>
              <a:off x="5996895" y="2458671"/>
              <a:ext cx="467361" cy="640604"/>
            </a:xfrm>
            <a:prstGeom prst="up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4" name="Arrow: Up-Down 1333">
              <a:extLst>
                <a:ext uri="{FF2B5EF4-FFF2-40B4-BE49-F238E27FC236}">
                  <a16:creationId xmlns:a16="http://schemas.microsoft.com/office/drawing/2014/main" id="{567C8DBB-A37E-D2CE-2205-C4A881C25F44}"/>
                </a:ext>
              </a:extLst>
            </p:cNvPr>
            <p:cNvSpPr/>
            <p:nvPr/>
          </p:nvSpPr>
          <p:spPr>
            <a:xfrm rot="5400000">
              <a:off x="7111414" y="1488699"/>
              <a:ext cx="467361" cy="1138985"/>
            </a:xfrm>
            <a:prstGeom prst="up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GB" dirty="0"/>
            </a:p>
          </p:txBody>
        </p:sp>
        <p:sp>
          <p:nvSpPr>
            <p:cNvPr id="1335" name="Arrow: Up-Down 1334">
              <a:extLst>
                <a:ext uri="{FF2B5EF4-FFF2-40B4-BE49-F238E27FC236}">
                  <a16:creationId xmlns:a16="http://schemas.microsoft.com/office/drawing/2014/main" id="{42E6C113-F923-0EBF-773A-878EB9B1BBD0}"/>
                </a:ext>
              </a:extLst>
            </p:cNvPr>
            <p:cNvSpPr/>
            <p:nvPr/>
          </p:nvSpPr>
          <p:spPr>
            <a:xfrm rot="5400000">
              <a:off x="4948945" y="1489391"/>
              <a:ext cx="467361" cy="1137600"/>
            </a:xfrm>
            <a:prstGeom prst="up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43" name="Rectangle 1342">
            <a:extLst>
              <a:ext uri="{FF2B5EF4-FFF2-40B4-BE49-F238E27FC236}">
                <a16:creationId xmlns:a16="http://schemas.microsoft.com/office/drawing/2014/main" id="{92127B92-5384-01FA-F273-64DD9B9E3CC1}"/>
              </a:ext>
            </a:extLst>
          </p:cNvPr>
          <p:cNvSpPr/>
          <p:nvPr/>
        </p:nvSpPr>
        <p:spPr>
          <a:xfrm>
            <a:off x="9000000" y="1584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496AF1DF-74A6-D896-A243-582AB122547B}"/>
              </a:ext>
            </a:extLst>
          </p:cNvPr>
          <p:cNvSpPr/>
          <p:nvPr/>
        </p:nvSpPr>
        <p:spPr>
          <a:xfrm>
            <a:off x="9000000" y="205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9C75A329-5848-0ABB-4A6E-B1FB71A25ABE}"/>
              </a:ext>
            </a:extLst>
          </p:cNvPr>
          <p:cNvSpPr/>
          <p:nvPr/>
        </p:nvSpPr>
        <p:spPr>
          <a:xfrm>
            <a:off x="9000000" y="252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F25A5D05-2BA4-E796-EA79-448102308CF3}"/>
              </a:ext>
            </a:extLst>
          </p:cNvPr>
          <p:cNvSpPr/>
          <p:nvPr/>
        </p:nvSpPr>
        <p:spPr>
          <a:xfrm>
            <a:off x="9000000" y="298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778AB0C2-BA56-D4FA-A765-056942104A80}"/>
              </a:ext>
            </a:extLst>
          </p:cNvPr>
          <p:cNvSpPr/>
          <p:nvPr/>
        </p:nvSpPr>
        <p:spPr>
          <a:xfrm>
            <a:off x="9000000" y="345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F0941D8D-EADA-6456-C100-D7CB92DBE7F3}"/>
              </a:ext>
            </a:extLst>
          </p:cNvPr>
          <p:cNvSpPr/>
          <p:nvPr/>
        </p:nvSpPr>
        <p:spPr>
          <a:xfrm>
            <a:off x="9000000" y="3924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6D9E8DED-1971-47A8-AAA9-675ACAF7E25F}"/>
              </a:ext>
            </a:extLst>
          </p:cNvPr>
          <p:cNvSpPr/>
          <p:nvPr/>
        </p:nvSpPr>
        <p:spPr>
          <a:xfrm>
            <a:off x="9000000" y="439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3AA6F4F9-84C4-89B0-A060-19AC91B7705F}"/>
              </a:ext>
            </a:extLst>
          </p:cNvPr>
          <p:cNvSpPr/>
          <p:nvPr/>
        </p:nvSpPr>
        <p:spPr>
          <a:xfrm>
            <a:off x="9000000" y="486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2B35C5E0-2C88-0B9A-6A6C-156BFE1DF03F}"/>
              </a:ext>
            </a:extLst>
          </p:cNvPr>
          <p:cNvSpPr/>
          <p:nvPr/>
        </p:nvSpPr>
        <p:spPr>
          <a:xfrm>
            <a:off x="9000000" y="532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B380A58-E4A2-2594-5C8C-562FE1EEE4D7}"/>
              </a:ext>
            </a:extLst>
          </p:cNvPr>
          <p:cNvSpPr/>
          <p:nvPr/>
        </p:nvSpPr>
        <p:spPr>
          <a:xfrm>
            <a:off x="9000000" y="579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944F9E45-E5CB-68B2-E727-E1A3628AF67B}"/>
              </a:ext>
            </a:extLst>
          </p:cNvPr>
          <p:cNvSpPr txBox="1"/>
          <p:nvPr/>
        </p:nvSpPr>
        <p:spPr>
          <a:xfrm>
            <a:off x="9250680" y="6202517"/>
            <a:ext cx="2698197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r>
              <a:rPr lang="en-GB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eID – electronic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2509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75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" grpId="0" animBg="1"/>
      <p:bldP spid="134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244626"/>
              </p:ext>
            </p:extLst>
          </p:nvPr>
        </p:nvGraphicFramePr>
        <p:xfrm>
          <a:off x="428200" y="1109280"/>
          <a:ext cx="11288459" cy="51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80108747"/>
                    </a:ext>
                  </a:extLst>
                </a:gridCol>
                <a:gridCol w="1718100">
                  <a:extLst>
                    <a:ext uri="{9D8B030D-6E8A-4147-A177-3AD203B41FA5}">
                      <a16:colId xmlns:a16="http://schemas.microsoft.com/office/drawing/2014/main" val="3936821659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894623054"/>
                    </a:ext>
                  </a:extLst>
                </a:gridCol>
                <a:gridCol w="1650639">
                  <a:extLst>
                    <a:ext uri="{9D8B030D-6E8A-4147-A177-3AD203B41FA5}">
                      <a16:colId xmlns:a16="http://schemas.microsoft.com/office/drawing/2014/main" val="15005002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rgbClr val="38638E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38638E"/>
                          </a:solidFill>
                        </a:rPr>
                        <a:t>Verification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Verification artefacts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Artefact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Primary threats to artefacts (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STRIDE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9505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Authenticity of entities, PID and attestations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Used to protect trusted lists of participants in the wallet ecosystem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(eg providers, wallets and relying parties)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Spoofing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Authenticity of wallet</a:t>
                      </a:r>
                    </a:p>
                    <a:p>
                      <a:r>
                        <a:rPr lang="en-GB" sz="1200" dirty="0"/>
                        <a:t>and wallet 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wallet to providers</a:t>
                      </a:r>
                    </a:p>
                    <a:p>
                      <a:r>
                        <a:rPr lang="en-GB" sz="1200" dirty="0"/>
                        <a:t>(prior to holder authentication)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 wallet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</a:t>
                      </a:r>
                    </a:p>
                    <a:p>
                      <a:r>
                        <a:rPr lang="en-GB" sz="1200" dirty="0"/>
                        <a:t>electronic identification (eID)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Ownership of 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identity of natural / legal personal etc to be established</a:t>
                      </a:r>
                    </a:p>
                    <a:p>
                      <a:r>
                        <a:rPr lang="en-GB" sz="1200" dirty="0"/>
                        <a:t>Also used as eID means for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access token at issuance</a:t>
                      </a:r>
                    </a:p>
                    <a:p>
                      <a:r>
                        <a:rPr lang="en-GB" sz="1200" dirty="0"/>
                        <a:t>Use of access tokens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Ownership of attestations of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selective disclosure of personal information and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credential at issuance</a:t>
                      </a:r>
                    </a:p>
                    <a:p>
                      <a:r>
                        <a:rPr lang="en-GB" sz="1200" dirty="0"/>
                        <a:t>Use of credential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Wallet attestation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sign attestations relating to security of the wallet app itself, the keys materials used by the wallet and/or the host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as part of the attestation process</a:t>
                      </a:r>
                    </a:p>
                    <a:p>
                      <a:r>
                        <a:rPr lang="en-GB" sz="1200" dirty="0"/>
                        <a:t>Likely requires health / posture related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</a:t>
            </a:r>
            <a:r>
              <a:rPr lang="da-DK" b="1" dirty="0" err="1"/>
              <a:t>mechanisms</a:t>
            </a:r>
            <a:r>
              <a:rPr lang="da-DK" b="1" dirty="0"/>
              <a:t> (1)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B10D2F-1643-1527-5488-AFF294485234}"/>
              </a:ext>
            </a:extLst>
          </p:cNvPr>
          <p:cNvGrpSpPr/>
          <p:nvPr/>
        </p:nvGrpSpPr>
        <p:grpSpPr>
          <a:xfrm>
            <a:off x="3958560" y="1707482"/>
            <a:ext cx="843194" cy="4468494"/>
            <a:chOff x="10908000" y="1730342"/>
            <a:chExt cx="843194" cy="4468494"/>
          </a:xfrm>
        </p:grpSpPr>
        <p:grpSp>
          <p:nvGrpSpPr>
            <p:cNvPr id="1250" name="Group 1249">
              <a:extLst>
                <a:ext uri="{FF2B5EF4-FFF2-40B4-BE49-F238E27FC236}">
                  <a16:creationId xmlns:a16="http://schemas.microsoft.com/office/drawing/2014/main" id="{BF301479-C9B8-7F84-4228-4C1D8879B821}"/>
                </a:ext>
              </a:extLst>
            </p:cNvPr>
            <p:cNvGrpSpPr/>
            <p:nvPr/>
          </p:nvGrpSpPr>
          <p:grpSpPr>
            <a:xfrm>
              <a:off x="11415536" y="4431950"/>
              <a:ext cx="335658" cy="379187"/>
              <a:chOff x="10749568" y="5635101"/>
              <a:chExt cx="350430" cy="395875"/>
            </a:xfrm>
          </p:grpSpPr>
          <p:pic>
            <p:nvPicPr>
              <p:cNvPr id="1251" name="Graphic 1250" descr="Paper with solid fill">
                <a:extLst>
                  <a:ext uri="{FF2B5EF4-FFF2-40B4-BE49-F238E27FC236}">
                    <a16:creationId xmlns:a16="http://schemas.microsoft.com/office/drawing/2014/main" id="{6DE08AE5-1823-3377-24F6-B7E7021D0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BA3DFEF7-D6CF-5C4D-1F7F-7E191F31EFE3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</a:t>
                </a:r>
              </a:p>
            </p:txBody>
          </p:sp>
          <p:grpSp>
            <p:nvGrpSpPr>
              <p:cNvPr id="1253" name="Group 1252">
                <a:extLst>
                  <a:ext uri="{FF2B5EF4-FFF2-40B4-BE49-F238E27FC236}">
                    <a16:creationId xmlns:a16="http://schemas.microsoft.com/office/drawing/2014/main" id="{A4827675-6BF2-AD8C-C704-8799149C1B73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300A4163-90C8-B71E-4EF9-8D178F60E018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D04AB439-6273-12A7-1A7B-70B339DC3E06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CCBD6E00-CA16-D3DB-7CC0-FC42797C0A19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22C10D-3DE9-C770-1EA4-272140962240}"/>
                </a:ext>
              </a:extLst>
            </p:cNvPr>
            <p:cNvGrpSpPr/>
            <p:nvPr/>
          </p:nvGrpSpPr>
          <p:grpSpPr>
            <a:xfrm>
              <a:off x="11355529" y="1730342"/>
              <a:ext cx="378237" cy="307002"/>
              <a:chOff x="9821290" y="4547726"/>
              <a:chExt cx="378237" cy="307002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530F6E7-6D85-D5DE-387C-13320C3F5801}"/>
                  </a:ext>
                </a:extLst>
              </p:cNvPr>
              <p:cNvSpPr/>
              <p:nvPr/>
            </p:nvSpPr>
            <p:spPr>
              <a:xfrm>
                <a:off x="9821290" y="4547726"/>
                <a:ext cx="378237" cy="221456"/>
              </a:xfrm>
              <a:custGeom>
                <a:avLst/>
                <a:gdLst>
                  <a:gd name="connsiteX0" fmla="*/ 349472 w 378237"/>
                  <a:gd name="connsiteY0" fmla="*/ 0 h 221456"/>
                  <a:gd name="connsiteX1" fmla="*/ 378238 w 378237"/>
                  <a:gd name="connsiteY1" fmla="*/ 28765 h 221456"/>
                  <a:gd name="connsiteX2" fmla="*/ 378238 w 378237"/>
                  <a:gd name="connsiteY2" fmla="*/ 192691 h 221456"/>
                  <a:gd name="connsiteX3" fmla="*/ 349472 w 378237"/>
                  <a:gd name="connsiteY3" fmla="*/ 221456 h 221456"/>
                  <a:gd name="connsiteX4" fmla="*/ 28766 w 378237"/>
                  <a:gd name="connsiteY4" fmla="*/ 221456 h 221456"/>
                  <a:gd name="connsiteX5" fmla="*/ 0 w 378237"/>
                  <a:gd name="connsiteY5" fmla="*/ 192691 h 221456"/>
                  <a:gd name="connsiteX6" fmla="*/ 0 w 378237"/>
                  <a:gd name="connsiteY6" fmla="*/ 28765 h 221456"/>
                  <a:gd name="connsiteX7" fmla="*/ 28766 w 378237"/>
                  <a:gd name="connsiteY7" fmla="*/ 0 h 22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237" h="221456">
                    <a:moveTo>
                      <a:pt x="349472" y="0"/>
                    </a:moveTo>
                    <a:cubicBezTo>
                      <a:pt x="365359" y="0"/>
                      <a:pt x="378238" y="12879"/>
                      <a:pt x="378238" y="28765"/>
                    </a:cubicBezTo>
                    <a:lnTo>
                      <a:pt x="378238" y="192691"/>
                    </a:lnTo>
                    <a:cubicBezTo>
                      <a:pt x="378238" y="208577"/>
                      <a:pt x="365359" y="221456"/>
                      <a:pt x="349472" y="221456"/>
                    </a:cubicBezTo>
                    <a:lnTo>
                      <a:pt x="28766" y="221456"/>
                    </a:lnTo>
                    <a:cubicBezTo>
                      <a:pt x="12879" y="221456"/>
                      <a:pt x="0" y="208577"/>
                      <a:pt x="0" y="192691"/>
                    </a:cubicBezTo>
                    <a:lnTo>
                      <a:pt x="0" y="28765"/>
                    </a:lnTo>
                    <a:cubicBezTo>
                      <a:pt x="0" y="12879"/>
                      <a:pt x="12879" y="0"/>
                      <a:pt x="28766" y="0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34E5A80-CAB0-A59A-9BAB-AE5DFDC3EE41}"/>
                  </a:ext>
                </a:extLst>
              </p:cNvPr>
              <p:cNvSpPr/>
              <p:nvPr/>
            </p:nvSpPr>
            <p:spPr>
              <a:xfrm>
                <a:off x="9842189" y="4569328"/>
                <a:ext cx="349272" cy="285400"/>
              </a:xfrm>
              <a:custGeom>
                <a:avLst/>
                <a:gdLst>
                  <a:gd name="connsiteX0" fmla="*/ 0 w 433170"/>
                  <a:gd name="connsiteY0" fmla="*/ 49729 h 353957"/>
                  <a:gd name="connsiteX1" fmla="*/ 51625 w 433170"/>
                  <a:gd name="connsiteY1" fmla="*/ 9 h 353957"/>
                  <a:gd name="connsiteX2" fmla="*/ 335852 w 433170"/>
                  <a:gd name="connsiteY2" fmla="*/ 9 h 353957"/>
                  <a:gd name="connsiteX3" fmla="*/ 369094 w 433170"/>
                  <a:gd name="connsiteY3" fmla="*/ 27822 h 353957"/>
                  <a:gd name="connsiteX4" fmla="*/ 369094 w 433170"/>
                  <a:gd name="connsiteY4" fmla="*/ 42205 h 353957"/>
                  <a:gd name="connsiteX5" fmla="*/ 348520 w 433170"/>
                  <a:gd name="connsiteY5" fmla="*/ 35156 h 353957"/>
                  <a:gd name="connsiteX6" fmla="*/ 334518 w 433170"/>
                  <a:gd name="connsiteY6" fmla="*/ 19821 h 353957"/>
                  <a:gd name="connsiteX7" fmla="*/ 62579 w 433170"/>
                  <a:gd name="connsiteY7" fmla="*/ 19821 h 353957"/>
                  <a:gd name="connsiteX8" fmla="*/ 62579 w 433170"/>
                  <a:gd name="connsiteY8" fmla="*/ 60683 h 353957"/>
                  <a:gd name="connsiteX9" fmla="*/ 20574 w 433170"/>
                  <a:gd name="connsiteY9" fmla="*/ 60683 h 353957"/>
                  <a:gd name="connsiteX10" fmla="*/ 20574 w 433170"/>
                  <a:gd name="connsiteY10" fmla="*/ 208797 h 353957"/>
                  <a:gd name="connsiteX11" fmla="*/ 31528 w 433170"/>
                  <a:gd name="connsiteY11" fmla="*/ 220227 h 353957"/>
                  <a:gd name="connsiteX12" fmla="*/ 180784 w 433170"/>
                  <a:gd name="connsiteY12" fmla="*/ 220227 h 353957"/>
                  <a:gd name="connsiteX13" fmla="*/ 192691 w 433170"/>
                  <a:gd name="connsiteY13" fmla="*/ 239658 h 353957"/>
                  <a:gd name="connsiteX14" fmla="*/ 29813 w 433170"/>
                  <a:gd name="connsiteY14" fmla="*/ 239658 h 353957"/>
                  <a:gd name="connsiteX15" fmla="*/ 0 w 433170"/>
                  <a:gd name="connsiteY15" fmla="*/ 210035 h 353957"/>
                  <a:gd name="connsiteX16" fmla="*/ 201359 w 433170"/>
                  <a:gd name="connsiteY16" fmla="*/ 325288 h 353957"/>
                  <a:gd name="connsiteX17" fmla="*/ 239935 w 433170"/>
                  <a:gd name="connsiteY17" fmla="*/ 261946 h 353957"/>
                  <a:gd name="connsiteX18" fmla="*/ 192405 w 433170"/>
                  <a:gd name="connsiteY18" fmla="*/ 126787 h 353957"/>
                  <a:gd name="connsiteX19" fmla="*/ 313754 w 433170"/>
                  <a:gd name="connsiteY19" fmla="*/ 44871 h 353957"/>
                  <a:gd name="connsiteX20" fmla="*/ 429292 w 433170"/>
                  <a:gd name="connsiteY20" fmla="*/ 134311 h 353957"/>
                  <a:gd name="connsiteX21" fmla="*/ 372618 w 433170"/>
                  <a:gd name="connsiteY21" fmla="*/ 266232 h 353957"/>
                  <a:gd name="connsiteX22" fmla="*/ 415957 w 433170"/>
                  <a:gd name="connsiteY22" fmla="*/ 329097 h 353957"/>
                  <a:gd name="connsiteX23" fmla="*/ 368618 w 433170"/>
                  <a:gd name="connsiteY23" fmla="*/ 316810 h 353957"/>
                  <a:gd name="connsiteX24" fmla="*/ 355092 w 433170"/>
                  <a:gd name="connsiteY24" fmla="*/ 353577 h 353957"/>
                  <a:gd name="connsiteX25" fmla="*/ 304324 w 433170"/>
                  <a:gd name="connsiteY25" fmla="*/ 288140 h 353957"/>
                  <a:gd name="connsiteX26" fmla="*/ 265748 w 433170"/>
                  <a:gd name="connsiteY26" fmla="*/ 353958 h 353957"/>
                  <a:gd name="connsiteX27" fmla="*/ 248221 w 433170"/>
                  <a:gd name="connsiteY27" fmla="*/ 314334 h 353957"/>
                  <a:gd name="connsiteX28" fmla="*/ 201835 w 433170"/>
                  <a:gd name="connsiteY28" fmla="*/ 164982 h 353957"/>
                  <a:gd name="connsiteX29" fmla="*/ 309943 w 433170"/>
                  <a:gd name="connsiteY29" fmla="*/ 265375 h 353957"/>
                  <a:gd name="connsiteX30" fmla="*/ 416814 w 433170"/>
                  <a:gd name="connsiteY30" fmla="*/ 164982 h 353957"/>
                  <a:gd name="connsiteX31" fmla="*/ 311753 w 433170"/>
                  <a:gd name="connsiteY31" fmla="*/ 62397 h 353957"/>
                  <a:gd name="connsiteX32" fmla="*/ 201835 w 433170"/>
                  <a:gd name="connsiteY32" fmla="*/ 164982 h 353957"/>
                  <a:gd name="connsiteX33" fmla="*/ 228124 w 433170"/>
                  <a:gd name="connsiteY33" fmla="*/ 164982 h 353957"/>
                  <a:gd name="connsiteX34" fmla="*/ 252032 w 433170"/>
                  <a:gd name="connsiteY34" fmla="*/ 109165 h 353957"/>
                  <a:gd name="connsiteX35" fmla="*/ 309943 w 433170"/>
                  <a:gd name="connsiteY35" fmla="*/ 86496 h 353957"/>
                  <a:gd name="connsiteX36" fmla="*/ 367093 w 433170"/>
                  <a:gd name="connsiteY36" fmla="*/ 109641 h 353957"/>
                  <a:gd name="connsiteX37" fmla="*/ 390525 w 433170"/>
                  <a:gd name="connsiteY37" fmla="*/ 164982 h 353957"/>
                  <a:gd name="connsiteX38" fmla="*/ 309943 w 433170"/>
                  <a:gd name="connsiteY38" fmla="*/ 241277 h 353957"/>
                  <a:gd name="connsiteX39" fmla="*/ 228124 w 433170"/>
                  <a:gd name="connsiteY39" fmla="*/ 164982 h 353957"/>
                  <a:gd name="connsiteX40" fmla="*/ 246031 w 433170"/>
                  <a:gd name="connsiteY40" fmla="*/ 164982 h 353957"/>
                  <a:gd name="connsiteX41" fmla="*/ 309943 w 433170"/>
                  <a:gd name="connsiteY41" fmla="*/ 224894 h 353957"/>
                  <a:gd name="connsiteX42" fmla="*/ 372999 w 433170"/>
                  <a:gd name="connsiteY42" fmla="*/ 164982 h 353957"/>
                  <a:gd name="connsiteX43" fmla="*/ 309943 w 433170"/>
                  <a:gd name="connsiteY43" fmla="*/ 103355 h 353957"/>
                  <a:gd name="connsiteX44" fmla="*/ 246031 w 433170"/>
                  <a:gd name="connsiteY44" fmla="*/ 164982 h 353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33170" h="353957">
                    <a:moveTo>
                      <a:pt x="0" y="49729"/>
                    </a:moveTo>
                    <a:lnTo>
                      <a:pt x="51625" y="9"/>
                    </a:lnTo>
                    <a:lnTo>
                      <a:pt x="335852" y="9"/>
                    </a:lnTo>
                    <a:cubicBezTo>
                      <a:pt x="352711" y="-372"/>
                      <a:pt x="367093" y="11629"/>
                      <a:pt x="369094" y="27822"/>
                    </a:cubicBezTo>
                    <a:lnTo>
                      <a:pt x="369094" y="42205"/>
                    </a:lnTo>
                    <a:lnTo>
                      <a:pt x="348520" y="35156"/>
                    </a:lnTo>
                    <a:cubicBezTo>
                      <a:pt x="348901" y="27250"/>
                      <a:pt x="342709" y="20488"/>
                      <a:pt x="334518" y="19821"/>
                    </a:cubicBezTo>
                    <a:lnTo>
                      <a:pt x="62579" y="19821"/>
                    </a:lnTo>
                    <a:lnTo>
                      <a:pt x="62579" y="60683"/>
                    </a:lnTo>
                    <a:lnTo>
                      <a:pt x="20574" y="60683"/>
                    </a:lnTo>
                    <a:lnTo>
                      <a:pt x="20574" y="208797"/>
                    </a:lnTo>
                    <a:cubicBezTo>
                      <a:pt x="21145" y="214607"/>
                      <a:pt x="25622" y="219274"/>
                      <a:pt x="31528" y="220227"/>
                    </a:cubicBezTo>
                    <a:lnTo>
                      <a:pt x="180784" y="220227"/>
                    </a:lnTo>
                    <a:lnTo>
                      <a:pt x="192691" y="239658"/>
                    </a:lnTo>
                    <a:lnTo>
                      <a:pt x="29813" y="239658"/>
                    </a:lnTo>
                    <a:cubicBezTo>
                      <a:pt x="14001" y="237467"/>
                      <a:pt x="1810" y="225275"/>
                      <a:pt x="0" y="210035"/>
                    </a:cubicBezTo>
                    <a:close/>
                    <a:moveTo>
                      <a:pt x="201359" y="325288"/>
                    </a:moveTo>
                    <a:lnTo>
                      <a:pt x="239935" y="261946"/>
                    </a:lnTo>
                    <a:cubicBezTo>
                      <a:pt x="194691" y="232133"/>
                      <a:pt x="175260" y="176983"/>
                      <a:pt x="192405" y="126787"/>
                    </a:cubicBezTo>
                    <a:cubicBezTo>
                      <a:pt x="209455" y="76495"/>
                      <a:pt x="258889" y="43157"/>
                      <a:pt x="313754" y="44871"/>
                    </a:cubicBezTo>
                    <a:cubicBezTo>
                      <a:pt x="368618" y="46681"/>
                      <a:pt x="415671" y="83067"/>
                      <a:pt x="429292" y="134311"/>
                    </a:cubicBezTo>
                    <a:cubicBezTo>
                      <a:pt x="442913" y="185556"/>
                      <a:pt x="419862" y="239277"/>
                      <a:pt x="372618" y="266232"/>
                    </a:cubicBezTo>
                    <a:lnTo>
                      <a:pt x="415957" y="329097"/>
                    </a:lnTo>
                    <a:lnTo>
                      <a:pt x="368618" y="316810"/>
                    </a:lnTo>
                    <a:lnTo>
                      <a:pt x="355092" y="353577"/>
                    </a:lnTo>
                    <a:lnTo>
                      <a:pt x="304324" y="288140"/>
                    </a:lnTo>
                    <a:lnTo>
                      <a:pt x="265748" y="353958"/>
                    </a:lnTo>
                    <a:lnTo>
                      <a:pt x="248221" y="314334"/>
                    </a:lnTo>
                    <a:close/>
                    <a:moveTo>
                      <a:pt x="201835" y="164982"/>
                    </a:moveTo>
                    <a:cubicBezTo>
                      <a:pt x="204597" y="220703"/>
                      <a:pt x="252032" y="264708"/>
                      <a:pt x="309943" y="265375"/>
                    </a:cubicBezTo>
                    <a:cubicBezTo>
                      <a:pt x="367379" y="264042"/>
                      <a:pt x="414051" y="220227"/>
                      <a:pt x="416814" y="164982"/>
                    </a:cubicBezTo>
                    <a:cubicBezTo>
                      <a:pt x="415290" y="109451"/>
                      <a:pt x="369284" y="64588"/>
                      <a:pt x="311753" y="62397"/>
                    </a:cubicBezTo>
                    <a:cubicBezTo>
                      <a:pt x="252317" y="62112"/>
                      <a:pt x="203549" y="107641"/>
                      <a:pt x="201835" y="164982"/>
                    </a:cubicBezTo>
                    <a:close/>
                    <a:moveTo>
                      <a:pt x="228124" y="164982"/>
                    </a:moveTo>
                    <a:cubicBezTo>
                      <a:pt x="228029" y="144027"/>
                      <a:pt x="236601" y="123929"/>
                      <a:pt x="252032" y="109165"/>
                    </a:cubicBezTo>
                    <a:cubicBezTo>
                      <a:pt x="267367" y="94402"/>
                      <a:pt x="288322" y="86210"/>
                      <a:pt x="309943" y="86496"/>
                    </a:cubicBezTo>
                    <a:cubicBezTo>
                      <a:pt x="331470" y="86591"/>
                      <a:pt x="352044" y="94878"/>
                      <a:pt x="367093" y="109641"/>
                    </a:cubicBezTo>
                    <a:cubicBezTo>
                      <a:pt x="382238" y="124310"/>
                      <a:pt x="390620" y="144217"/>
                      <a:pt x="390525" y="164982"/>
                    </a:cubicBezTo>
                    <a:cubicBezTo>
                      <a:pt x="389573" y="207178"/>
                      <a:pt x="353854" y="241087"/>
                      <a:pt x="309943" y="241277"/>
                    </a:cubicBezTo>
                    <a:cubicBezTo>
                      <a:pt x="265557" y="241753"/>
                      <a:pt x="229076" y="207749"/>
                      <a:pt x="228124" y="164982"/>
                    </a:cubicBezTo>
                    <a:close/>
                    <a:moveTo>
                      <a:pt x="246031" y="164982"/>
                    </a:moveTo>
                    <a:cubicBezTo>
                      <a:pt x="247841" y="197938"/>
                      <a:pt x="275749" y="224037"/>
                      <a:pt x="309943" y="224894"/>
                    </a:cubicBezTo>
                    <a:cubicBezTo>
                      <a:pt x="343948" y="223561"/>
                      <a:pt x="371284" y="197653"/>
                      <a:pt x="372999" y="164982"/>
                    </a:cubicBezTo>
                    <a:cubicBezTo>
                      <a:pt x="372142" y="131644"/>
                      <a:pt x="344519" y="104688"/>
                      <a:pt x="309943" y="103355"/>
                    </a:cubicBezTo>
                    <a:cubicBezTo>
                      <a:pt x="275082" y="104212"/>
                      <a:pt x="246983" y="131263"/>
                      <a:pt x="246031" y="1649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A6405E-C2EC-06B4-B2FB-F43CC0FB2906}"/>
                </a:ext>
              </a:extLst>
            </p:cNvPr>
            <p:cNvGrpSpPr/>
            <p:nvPr/>
          </p:nvGrpSpPr>
          <p:grpSpPr>
            <a:xfrm>
              <a:off x="10908000" y="2660812"/>
              <a:ext cx="825766" cy="321228"/>
              <a:chOff x="4793047" y="6345339"/>
              <a:chExt cx="825766" cy="321228"/>
            </a:xfrm>
          </p:grpSpPr>
          <p:grpSp>
            <p:nvGrpSpPr>
              <p:cNvPr id="1088" name="Group 1087">
                <a:extLst>
                  <a:ext uri="{FF2B5EF4-FFF2-40B4-BE49-F238E27FC236}">
                    <a16:creationId xmlns:a16="http://schemas.microsoft.com/office/drawing/2014/main" id="{B85DC469-A8F9-28D5-A3BE-3652E1E6F7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6811" y="6447367"/>
                <a:ext cx="252002" cy="126000"/>
                <a:chOff x="7568353" y="933450"/>
                <a:chExt cx="171450" cy="85725"/>
              </a:xfrm>
              <a:noFill/>
            </p:grpSpPr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8B3799A-1546-2069-978D-AF718E0C996A}"/>
                    </a:ext>
                  </a:extLst>
                </p:cNvPr>
                <p:cNvSpPr/>
                <p:nvPr/>
              </p:nvSpPr>
              <p:spPr>
                <a:xfrm>
                  <a:off x="7568353" y="933450"/>
                  <a:ext cx="171450" cy="85725"/>
                </a:xfrm>
                <a:custGeom>
                  <a:avLst/>
                  <a:gdLst>
                    <a:gd name="connsiteX0" fmla="*/ 0 w 171450"/>
                    <a:gd name="connsiteY0" fmla="*/ 42863 h 85725"/>
                    <a:gd name="connsiteX1" fmla="*/ 85725 w 171450"/>
                    <a:gd name="connsiteY1" fmla="*/ 0 h 85725"/>
                    <a:gd name="connsiteX2" fmla="*/ 171450 w 171450"/>
                    <a:gd name="connsiteY2" fmla="*/ 42863 h 85725"/>
                    <a:gd name="connsiteX3" fmla="*/ 85725 w 171450"/>
                    <a:gd name="connsiteY3" fmla="*/ 85725 h 85725"/>
                    <a:gd name="connsiteX4" fmla="*/ 0 w 171450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85725">
                      <a:moveTo>
                        <a:pt x="0" y="42863"/>
                      </a:moveTo>
                      <a:cubicBezTo>
                        <a:pt x="21146" y="15716"/>
                        <a:pt x="52578" y="0"/>
                        <a:pt x="85725" y="0"/>
                      </a:cubicBezTo>
                      <a:cubicBezTo>
                        <a:pt x="118872" y="0"/>
                        <a:pt x="150304" y="15716"/>
                        <a:pt x="171450" y="42863"/>
                      </a:cubicBezTo>
                      <a:cubicBezTo>
                        <a:pt x="150304" y="70009"/>
                        <a:pt x="118872" y="85725"/>
                        <a:pt x="85725" y="85725"/>
                      </a:cubicBezTo>
                      <a:cubicBezTo>
                        <a:pt x="52578" y="85725"/>
                        <a:pt x="21146" y="70009"/>
                        <a:pt x="0" y="42863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D57D338E-7421-5102-40AA-296D566FD827}"/>
                    </a:ext>
                  </a:extLst>
                </p:cNvPr>
                <p:cNvSpPr/>
                <p:nvPr/>
              </p:nvSpPr>
              <p:spPr>
                <a:xfrm>
                  <a:off x="7623224" y="943432"/>
                  <a:ext cx="61722" cy="65759"/>
                </a:xfrm>
                <a:custGeom>
                  <a:avLst/>
                  <a:gdLst>
                    <a:gd name="connsiteX0" fmla="*/ 61722 w 61722"/>
                    <a:gd name="connsiteY0" fmla="*/ 32880 h 65759"/>
                    <a:gd name="connsiteX1" fmla="*/ 30861 w 61722"/>
                    <a:gd name="connsiteY1" fmla="*/ 65760 h 65759"/>
                    <a:gd name="connsiteX2" fmla="*/ 0 w 61722"/>
                    <a:gd name="connsiteY2" fmla="*/ 32880 h 65759"/>
                    <a:gd name="connsiteX3" fmla="*/ 30861 w 61722"/>
                    <a:gd name="connsiteY3" fmla="*/ 0 h 65759"/>
                    <a:gd name="connsiteX4" fmla="*/ 61722 w 61722"/>
                    <a:gd name="connsiteY4" fmla="*/ 32880 h 6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22" h="65759">
                      <a:moveTo>
                        <a:pt x="61722" y="32880"/>
                      </a:moveTo>
                      <a:cubicBezTo>
                        <a:pt x="61722" y="51039"/>
                        <a:pt x="47905" y="65760"/>
                        <a:pt x="30861" y="65760"/>
                      </a:cubicBezTo>
                      <a:cubicBezTo>
                        <a:pt x="13817" y="65760"/>
                        <a:pt x="0" y="51039"/>
                        <a:pt x="0" y="32880"/>
                      </a:cubicBezTo>
                      <a:cubicBezTo>
                        <a:pt x="0" y="14721"/>
                        <a:pt x="13817" y="0"/>
                        <a:pt x="30861" y="0"/>
                      </a:cubicBezTo>
                      <a:cubicBezTo>
                        <a:pt x="47905" y="0"/>
                        <a:pt x="61722" y="14721"/>
                        <a:pt x="61722" y="3288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01F41FF7-5F31-F7BC-9293-DC27910C73ED}"/>
                    </a:ext>
                  </a:extLst>
                </p:cNvPr>
                <p:cNvSpPr/>
                <p:nvPr/>
              </p:nvSpPr>
              <p:spPr>
                <a:xfrm>
                  <a:off x="7633498" y="954392"/>
                  <a:ext cx="41147" cy="43839"/>
                </a:xfrm>
                <a:custGeom>
                  <a:avLst/>
                  <a:gdLst>
                    <a:gd name="connsiteX0" fmla="*/ 41148 w 41147"/>
                    <a:gd name="connsiteY0" fmla="*/ 21920 h 43839"/>
                    <a:gd name="connsiteX1" fmla="*/ 20574 w 41147"/>
                    <a:gd name="connsiteY1" fmla="*/ 43840 h 43839"/>
                    <a:gd name="connsiteX2" fmla="*/ 0 w 41147"/>
                    <a:gd name="connsiteY2" fmla="*/ 21920 h 43839"/>
                    <a:gd name="connsiteX3" fmla="*/ 20574 w 41147"/>
                    <a:gd name="connsiteY3" fmla="*/ 0 h 43839"/>
                    <a:gd name="connsiteX4" fmla="*/ 41148 w 41147"/>
                    <a:gd name="connsiteY4" fmla="*/ 21920 h 43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147" h="43839">
                      <a:moveTo>
                        <a:pt x="41148" y="21920"/>
                      </a:moveTo>
                      <a:cubicBezTo>
                        <a:pt x="41148" y="34026"/>
                        <a:pt x="31937" y="43840"/>
                        <a:pt x="20574" y="43840"/>
                      </a:cubicBezTo>
                      <a:cubicBezTo>
                        <a:pt x="9211" y="43840"/>
                        <a:pt x="0" y="34026"/>
                        <a:pt x="0" y="21920"/>
                      </a:cubicBezTo>
                      <a:cubicBezTo>
                        <a:pt x="0" y="9814"/>
                        <a:pt x="9211" y="0"/>
                        <a:pt x="20574" y="0"/>
                      </a:cubicBezTo>
                      <a:cubicBezTo>
                        <a:pt x="31937" y="0"/>
                        <a:pt x="41148" y="9814"/>
                        <a:pt x="41148" y="2192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6C1F45C1-5C9D-21D8-7823-3CF674D8DE3C}"/>
                  </a:ext>
                </a:extLst>
              </p:cNvPr>
              <p:cNvSpPr txBox="1"/>
              <p:nvPr/>
            </p:nvSpPr>
            <p:spPr>
              <a:xfrm>
                <a:off x="5046881" y="6373299"/>
                <a:ext cx="319663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12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PIN</a:t>
                </a:r>
              </a:p>
            </p:txBody>
          </p:sp>
          <p:pic>
            <p:nvPicPr>
              <p:cNvPr id="1091" name="Graphic 1090" descr="Fingerprint with solid fill">
                <a:extLst>
                  <a:ext uri="{FF2B5EF4-FFF2-40B4-BE49-F238E27FC236}">
                    <a16:creationId xmlns:a16="http://schemas.microsoft.com/office/drawing/2014/main" id="{E118BE61-D657-B2F4-8A38-D01CA4A7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93047" y="6345339"/>
                <a:ext cx="321228" cy="321228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5FA13B-B01B-1ED4-B813-349DAE68C887}"/>
                </a:ext>
              </a:extLst>
            </p:cNvPr>
            <p:cNvGrpSpPr/>
            <p:nvPr/>
          </p:nvGrpSpPr>
          <p:grpSpPr>
            <a:xfrm>
              <a:off x="10921137" y="3071595"/>
              <a:ext cx="812629" cy="446278"/>
              <a:chOff x="10785943" y="5489706"/>
              <a:chExt cx="812629" cy="446278"/>
            </a:xfrm>
          </p:grpSpPr>
          <p:pic>
            <p:nvPicPr>
              <p:cNvPr id="1086" name="Graphic 1085" descr="Key outline">
                <a:extLst>
                  <a:ext uri="{FF2B5EF4-FFF2-40B4-BE49-F238E27FC236}">
                    <a16:creationId xmlns:a16="http://schemas.microsoft.com/office/drawing/2014/main" id="{F5E4DB74-1918-43F0-FD88-856A83D5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2250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CA330D6-AB94-B63B-CC15-BA9962E8F13B}"/>
                  </a:ext>
                </a:extLst>
              </p:cNvPr>
              <p:cNvSpPr txBox="1"/>
              <p:nvPr/>
            </p:nvSpPr>
            <p:spPr>
              <a:xfrm>
                <a:off x="10785943" y="5489706"/>
                <a:ext cx="81262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Holder AuthN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68D439-81A3-76E1-D098-2BB3332D2603}"/>
                </a:ext>
              </a:extLst>
            </p:cNvPr>
            <p:cNvGrpSpPr/>
            <p:nvPr/>
          </p:nvGrpSpPr>
          <p:grpSpPr>
            <a:xfrm>
              <a:off x="11229228" y="4024013"/>
              <a:ext cx="504538" cy="465328"/>
              <a:chOff x="11062681" y="5489706"/>
              <a:chExt cx="504538" cy="465328"/>
            </a:xfrm>
          </p:grpSpPr>
          <p:pic>
            <p:nvPicPr>
              <p:cNvPr id="1084" name="Graphic 1083" descr="Key outline">
                <a:extLst>
                  <a:ext uri="{FF2B5EF4-FFF2-40B4-BE49-F238E27FC236}">
                    <a16:creationId xmlns:a16="http://schemas.microsoft.com/office/drawing/2014/main" id="{57EC3A94-B2EB-03BF-AD5B-991D3172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191147" y="557896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2F27E9DA-9085-9A90-89E2-09F35C9E6AD0}"/>
                  </a:ext>
                </a:extLst>
              </p:cNvPr>
              <p:cNvSpPr txBox="1"/>
              <p:nvPr/>
            </p:nvSpPr>
            <p:spPr>
              <a:xfrm>
                <a:off x="11062681" y="5489706"/>
                <a:ext cx="504538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4A95ED7-C19C-9E67-CB34-0E094BF2952F}"/>
                </a:ext>
              </a:extLst>
            </p:cNvPr>
            <p:cNvGrpSpPr/>
            <p:nvPr/>
          </p:nvGrpSpPr>
          <p:grpSpPr>
            <a:xfrm>
              <a:off x="11398108" y="3508468"/>
              <a:ext cx="335658" cy="379187"/>
              <a:chOff x="10749568" y="5635101"/>
              <a:chExt cx="350430" cy="395875"/>
            </a:xfrm>
          </p:grpSpPr>
          <p:pic>
            <p:nvPicPr>
              <p:cNvPr id="1065" name="Graphic 1064" descr="Paper with solid fill">
                <a:extLst>
                  <a:ext uri="{FF2B5EF4-FFF2-40B4-BE49-F238E27FC236}">
                    <a16:creationId xmlns:a16="http://schemas.microsoft.com/office/drawing/2014/main" id="{EE051050-C0EE-B6F3-0BE6-4F30EFD10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2BA5A9C9-033B-FF42-844C-816C260033F4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</a:t>
                </a: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DCABB208-7CEE-F8C8-0134-3813F2F134DB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4D2A03AD-DB65-5AC0-D3F6-2F209597C85D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2F724A4D-1F20-606B-458D-144EC4E1ED18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773AAB28-D303-D618-FD04-35ECEAEF1303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0EC42A-D70E-E771-E9D8-4EE5AD18A265}"/>
                </a:ext>
              </a:extLst>
            </p:cNvPr>
            <p:cNvGrpSpPr/>
            <p:nvPr/>
          </p:nvGrpSpPr>
          <p:grpSpPr>
            <a:xfrm>
              <a:off x="11001060" y="4965629"/>
              <a:ext cx="732706" cy="446278"/>
              <a:chOff x="319523" y="5081988"/>
              <a:chExt cx="732706" cy="446278"/>
            </a:xfrm>
          </p:grpSpPr>
          <p:pic>
            <p:nvPicPr>
              <p:cNvPr id="1059" name="Graphic 1058" descr="Key outline">
                <a:extLst>
                  <a:ext uri="{FF2B5EF4-FFF2-40B4-BE49-F238E27FC236}">
                    <a16:creationId xmlns:a16="http://schemas.microsoft.com/office/drawing/2014/main" id="{3FB0D03E-834C-953A-992B-184589B95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676157" y="5152194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85684796-2CF6-BB1E-FE23-69E2FE682D46}"/>
                  </a:ext>
                </a:extLst>
              </p:cNvPr>
              <p:cNvSpPr txBox="1"/>
              <p:nvPr/>
            </p:nvSpPr>
            <p:spPr>
              <a:xfrm>
                <a:off x="319523" y="5081988"/>
                <a:ext cx="732706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BFC1F4-CF04-28DD-437A-622A49380A3E}"/>
                </a:ext>
              </a:extLst>
            </p:cNvPr>
            <p:cNvGrpSpPr/>
            <p:nvPr/>
          </p:nvGrpSpPr>
          <p:grpSpPr>
            <a:xfrm>
              <a:off x="11112277" y="2137307"/>
              <a:ext cx="621489" cy="446278"/>
              <a:chOff x="10966769" y="5489706"/>
              <a:chExt cx="621489" cy="446278"/>
            </a:xfrm>
          </p:grpSpPr>
          <p:pic>
            <p:nvPicPr>
              <p:cNvPr id="1056" name="Graphic 1055" descr="Key outline">
                <a:extLst>
                  <a:ext uri="{FF2B5EF4-FFF2-40B4-BE49-F238E27FC236}">
                    <a16:creationId xmlns:a16="http://schemas.microsoft.com/office/drawing/2014/main" id="{3AD38416-1CFA-B47A-695A-83462A69F5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12186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86BDF1E3-5DF2-D8AB-DB86-207AAB9305CA}"/>
                  </a:ext>
                </a:extLst>
              </p:cNvPr>
              <p:cNvSpPr txBox="1"/>
              <p:nvPr/>
            </p:nvSpPr>
            <p:spPr>
              <a:xfrm>
                <a:off x="10966769" y="5489706"/>
                <a:ext cx="62148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Wallet AuthN</a:t>
                </a:r>
              </a:p>
            </p:txBody>
          </p:sp>
        </p:grpSp>
        <p:pic>
          <p:nvPicPr>
            <p:cNvPr id="1041" name="Graphic 1040" descr="Lock with solid fill">
              <a:extLst>
                <a:ext uri="{FF2B5EF4-FFF2-40B4-BE49-F238E27FC236}">
                  <a16:creationId xmlns:a16="http://schemas.microsoft.com/office/drawing/2014/main" id="{4855DBF7-FCC6-5867-6066-D3E6DA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358678" y="5823748"/>
              <a:ext cx="375088" cy="375088"/>
            </a:xfrm>
            <a:prstGeom prst="rect">
              <a:avLst/>
            </a:prstGeom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36C8A6D7-7166-B536-9A6A-DC357A1368A4}"/>
                </a:ext>
              </a:extLst>
            </p:cNvPr>
            <p:cNvGrpSpPr/>
            <p:nvPr/>
          </p:nvGrpSpPr>
          <p:grpSpPr>
            <a:xfrm>
              <a:off x="11086549" y="5379154"/>
              <a:ext cx="647217" cy="446278"/>
              <a:chOff x="11005275" y="5489706"/>
              <a:chExt cx="647217" cy="446278"/>
            </a:xfrm>
          </p:grpSpPr>
          <p:pic>
            <p:nvPicPr>
              <p:cNvPr id="1053" name="Graphic 1052" descr="Key outline">
                <a:extLst>
                  <a:ext uri="{FF2B5EF4-FFF2-40B4-BE49-F238E27FC236}">
                    <a16:creationId xmlns:a16="http://schemas.microsoft.com/office/drawing/2014/main" id="{2AE2040E-B166-C3F7-466A-F67AF7F6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7642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AACAD7F3-D016-2131-7DC4-F297F6CCE5FB}"/>
                  </a:ext>
                </a:extLst>
              </p:cNvPr>
              <p:cNvSpPr txBox="1"/>
              <p:nvPr/>
            </p:nvSpPr>
            <p:spPr>
              <a:xfrm>
                <a:off x="11005275" y="5489706"/>
                <a:ext cx="647217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Attestation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3611880" y="6347892"/>
            <a:ext cx="826079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pPr algn="r"/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STRIDE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–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poofing,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ampering,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epudiation,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nformation Disclosure,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enial of Service,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levation of Privilege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BF0EE-6359-3759-3356-BB46C1047E2E}"/>
              </a:ext>
            </a:extLst>
          </p:cNvPr>
          <p:cNvSpPr/>
          <p:nvPr/>
        </p:nvSpPr>
        <p:spPr>
          <a:xfrm>
            <a:off x="360000" y="1548000"/>
            <a:ext cx="1152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4295F-2E17-3233-0748-C3393BEB7CBB}"/>
              </a:ext>
            </a:extLst>
          </p:cNvPr>
          <p:cNvSpPr/>
          <p:nvPr/>
        </p:nvSpPr>
        <p:spPr>
          <a:xfrm>
            <a:off x="360000" y="2016000"/>
            <a:ext cx="11520000" cy="14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437E1-86CD-9A5C-8D1D-B45979044C7C}"/>
              </a:ext>
            </a:extLst>
          </p:cNvPr>
          <p:cNvSpPr/>
          <p:nvPr/>
        </p:nvSpPr>
        <p:spPr>
          <a:xfrm>
            <a:off x="360000" y="3420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C82FA-0A12-C846-ABF4-9271E7F859CD}"/>
              </a:ext>
            </a:extLst>
          </p:cNvPr>
          <p:cNvSpPr/>
          <p:nvPr/>
        </p:nvSpPr>
        <p:spPr>
          <a:xfrm>
            <a:off x="360000" y="4356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2ED6-BB8B-82A8-F668-DBC34B2E962A}"/>
              </a:ext>
            </a:extLst>
          </p:cNvPr>
          <p:cNvSpPr/>
          <p:nvPr/>
        </p:nvSpPr>
        <p:spPr>
          <a:xfrm>
            <a:off x="360000" y="5292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45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12270"/>
              </p:ext>
            </p:extLst>
          </p:nvPr>
        </p:nvGraphicFramePr>
        <p:xfrm>
          <a:off x="1188000" y="119700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holder identity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person identification data (PID) from wallet from authentic source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PID belongs to wallet holder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attestations of attributes from wallet from authentic source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attestations of attributes belong to wallet holder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grpSp>
        <p:nvGrpSpPr>
          <p:cNvPr id="72" name="Group 71">
            <a:extLst>
              <a:ext uri="{FF2B5EF4-FFF2-40B4-BE49-F238E27FC236}">
                <a16:creationId xmlns:a16="http://schemas.microsoft.com/office/drawing/2014/main" id="{05FC447E-1B02-E124-58F5-876D070D35F6}"/>
              </a:ext>
            </a:extLst>
          </p:cNvPr>
          <p:cNvGrpSpPr/>
          <p:nvPr/>
        </p:nvGrpSpPr>
        <p:grpSpPr>
          <a:xfrm>
            <a:off x="1152000" y="1688701"/>
            <a:ext cx="9360000" cy="3435082"/>
            <a:chOff x="1152000" y="1538573"/>
            <a:chExt cx="9360000" cy="343508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DE77366-F0A6-7F87-21EE-EC1DE96205DB}"/>
                </a:ext>
              </a:extLst>
            </p:cNvPr>
            <p:cNvSpPr/>
            <p:nvPr/>
          </p:nvSpPr>
          <p:spPr>
            <a:xfrm>
              <a:off x="1152000" y="1538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1949B9A-1B3A-7997-6CCC-0C670C8E3A6C}"/>
                </a:ext>
              </a:extLst>
            </p:cNvPr>
            <p:cNvSpPr/>
            <p:nvPr/>
          </p:nvSpPr>
          <p:spPr>
            <a:xfrm>
              <a:off x="1152000" y="4706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0C2CB92E-4A7D-CDC4-8129-4A35D84805A7}"/>
                </a:ext>
              </a:extLst>
            </p:cNvPr>
            <p:cNvSpPr/>
            <p:nvPr/>
          </p:nvSpPr>
          <p:spPr>
            <a:xfrm>
              <a:off x="1152000" y="2317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– checklist (2)</a:t>
            </a:r>
            <a:endParaRPr lang="en-FR" b="1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FEFA52-BD99-C25C-BCBD-83584834306C}"/>
              </a:ext>
            </a:extLst>
          </p:cNvPr>
          <p:cNvGrpSpPr/>
          <p:nvPr/>
        </p:nvGrpSpPr>
        <p:grpSpPr>
          <a:xfrm>
            <a:off x="1152000" y="5252701"/>
            <a:ext cx="9360000" cy="1059082"/>
            <a:chOff x="1152000" y="5102573"/>
            <a:chExt cx="9360000" cy="105908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03D7348-87E1-3405-0471-AFE9A785D428}"/>
                </a:ext>
              </a:extLst>
            </p:cNvPr>
            <p:cNvSpPr/>
            <p:nvPr/>
          </p:nvSpPr>
          <p:spPr>
            <a:xfrm>
              <a:off x="1152000" y="5102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5F8EB4E9-FE6E-A9D0-0690-AB7351A1E235}"/>
                </a:ext>
              </a:extLst>
            </p:cNvPr>
            <p:cNvSpPr/>
            <p:nvPr/>
          </p:nvSpPr>
          <p:spPr>
            <a:xfrm>
              <a:off x="1152000" y="5894573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C4BA49-3CEC-E947-F51F-0B63BB11C68B}"/>
              </a:ext>
            </a:extLst>
          </p:cNvPr>
          <p:cNvGrpSpPr/>
          <p:nvPr/>
        </p:nvGrpSpPr>
        <p:grpSpPr>
          <a:xfrm>
            <a:off x="10080000" y="5226128"/>
            <a:ext cx="311790" cy="1103790"/>
            <a:chOff x="10080000" y="5076000"/>
            <a:chExt cx="311790" cy="1103790"/>
          </a:xfrm>
        </p:grpSpPr>
        <p:pic>
          <p:nvPicPr>
            <p:cNvPr id="45" name="Graphic 44" descr="Checkmark with solid fill">
              <a:extLst>
                <a:ext uri="{FF2B5EF4-FFF2-40B4-BE49-F238E27FC236}">
                  <a16:creationId xmlns:a16="http://schemas.microsoft.com/office/drawing/2014/main" id="{9FAF14E3-132B-A1E7-8B57-A61CEBA89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076000"/>
              <a:ext cx="311790" cy="311790"/>
            </a:xfrm>
            <a:prstGeom prst="rect">
              <a:avLst/>
            </a:prstGeom>
          </p:spPr>
        </p:pic>
        <p:pic>
          <p:nvPicPr>
            <p:cNvPr id="51" name="Graphic 50" descr="Checkmark with solid fill">
              <a:extLst>
                <a:ext uri="{FF2B5EF4-FFF2-40B4-BE49-F238E27FC236}">
                  <a16:creationId xmlns:a16="http://schemas.microsoft.com/office/drawing/2014/main" id="{EBE2520D-683E-C15A-3581-35654A0E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868000"/>
              <a:ext cx="311790" cy="31179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5A4B9-9A3C-A8BA-0A32-491339128154}"/>
              </a:ext>
            </a:extLst>
          </p:cNvPr>
          <p:cNvGrpSpPr/>
          <p:nvPr/>
        </p:nvGrpSpPr>
        <p:grpSpPr>
          <a:xfrm>
            <a:off x="10080000" y="1662128"/>
            <a:ext cx="311790" cy="3479790"/>
            <a:chOff x="10080000" y="1512000"/>
            <a:chExt cx="311790" cy="3479790"/>
          </a:xfrm>
        </p:grpSpPr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A11CF4AD-94AE-9164-2C02-4BD2E49E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1512000"/>
              <a:ext cx="311790" cy="311790"/>
            </a:xfrm>
            <a:prstGeom prst="rect">
              <a:avLst/>
            </a:prstGeom>
          </p:spPr>
        </p:pic>
        <p:pic>
          <p:nvPicPr>
            <p:cNvPr id="42" name="Graphic 41" descr="Checkmark with solid fill">
              <a:extLst>
                <a:ext uri="{FF2B5EF4-FFF2-40B4-BE49-F238E27FC236}">
                  <a16:creationId xmlns:a16="http://schemas.microsoft.com/office/drawing/2014/main" id="{4E86F70E-404C-EC9D-1382-627EA169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4680000"/>
              <a:ext cx="311790" cy="311790"/>
            </a:xfrm>
            <a:prstGeom prst="rect">
              <a:avLst/>
            </a:prstGeom>
          </p:spPr>
        </p:pic>
        <p:pic>
          <p:nvPicPr>
            <p:cNvPr id="71" name="Graphic 70" descr="Checkmark with solid fill">
              <a:extLst>
                <a:ext uri="{FF2B5EF4-FFF2-40B4-BE49-F238E27FC236}">
                  <a16:creationId xmlns:a16="http://schemas.microsoft.com/office/drawing/2014/main" id="{027C99EA-6068-0B80-2FA7-11154FFC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290714"/>
              <a:ext cx="311790" cy="311790"/>
            </a:xfrm>
            <a:prstGeom prst="rect">
              <a:avLst/>
            </a:prstGeom>
          </p:spPr>
        </p:pic>
      </p:grp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9C30B5D-41E5-E184-E09A-F22FCEEBD05D}"/>
              </a:ext>
            </a:extLst>
          </p:cNvPr>
          <p:cNvSpPr/>
          <p:nvPr/>
        </p:nvSpPr>
        <p:spPr>
          <a:xfrm>
            <a:off x="1152000" y="2863415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F743BA-78D1-DF23-BC7F-2F1CAB72CB2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91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E8BC3166-CD52-FE59-5736-E5B06904E4FF}"/>
              </a:ext>
            </a:extLst>
          </p:cNvPr>
          <p:cNvSpPr/>
          <p:nvPr/>
        </p:nvSpPr>
        <p:spPr>
          <a:xfrm>
            <a:off x="2349319" y="6295122"/>
            <a:ext cx="4525787" cy="456858"/>
          </a:xfrm>
          <a:prstGeom prst="roundRect">
            <a:avLst/>
          </a:prstGeom>
          <a:noFill/>
          <a:ln>
            <a:solidFill>
              <a:srgbClr val="023F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688789"/>
              </p:ext>
            </p:extLst>
          </p:nvPr>
        </p:nvGraphicFramePr>
        <p:xfrm>
          <a:off x="9180000" y="1231200"/>
          <a:ext cx="2550461" cy="505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461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Wallet verification artefacts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60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  <a:p>
                      <a:r>
                        <a:rPr lang="en-GB" sz="900" dirty="0"/>
                        <a:t>(not an artefact </a:t>
                      </a:r>
                      <a:r>
                        <a:rPr lang="en-GB" sz="900" i="1" dirty="0"/>
                        <a:t>per se</a:t>
                      </a:r>
                      <a:r>
                        <a:rPr lang="en-GB" sz="9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grpSp>
        <p:nvGrpSpPr>
          <p:cNvPr id="1250" name="Group 1249">
            <a:extLst>
              <a:ext uri="{FF2B5EF4-FFF2-40B4-BE49-F238E27FC236}">
                <a16:creationId xmlns:a16="http://schemas.microsoft.com/office/drawing/2014/main" id="{BF301479-C9B8-7F84-4228-4C1D8879B821}"/>
              </a:ext>
            </a:extLst>
          </p:cNvPr>
          <p:cNvGrpSpPr/>
          <p:nvPr/>
        </p:nvGrpSpPr>
        <p:grpSpPr>
          <a:xfrm>
            <a:off x="11415536" y="4431950"/>
            <a:ext cx="335658" cy="379187"/>
            <a:chOff x="10749568" y="5635101"/>
            <a:chExt cx="350430" cy="395875"/>
          </a:xfrm>
        </p:grpSpPr>
        <p:pic>
          <p:nvPicPr>
            <p:cNvPr id="1251" name="Graphic 1250" descr="Paper with solid fill">
              <a:extLst>
                <a:ext uri="{FF2B5EF4-FFF2-40B4-BE49-F238E27FC236}">
                  <a16:creationId xmlns:a16="http://schemas.microsoft.com/office/drawing/2014/main" id="{6DE08AE5-1823-3377-24F6-B7E7021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BA3DFEF7-D6CF-5C4D-1F7F-7E191F31EFE3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53" name="Group 1252">
              <a:extLst>
                <a:ext uri="{FF2B5EF4-FFF2-40B4-BE49-F238E27FC236}">
                  <a16:creationId xmlns:a16="http://schemas.microsoft.com/office/drawing/2014/main" id="{A4827675-6BF2-AD8C-C704-8799149C1B73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300A4163-90C8-B71E-4EF9-8D178F60E018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D04AB439-6273-12A7-1A7B-70B339DC3E06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CCBD6E00-CA16-D3DB-7CC0-FC42797C0A19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>
            <a:normAutofit fontScale="90000"/>
          </a:bodyPr>
          <a:lstStyle/>
          <a:p>
            <a:r>
              <a:rPr lang="da-DK" b="1" dirty="0"/>
              <a:t>2. </a:t>
            </a:r>
            <a:r>
              <a:rPr lang="en-GB" b="1" dirty="0"/>
              <a:t>Authenticity of wallet and wallet holder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22C10D-3DE9-C770-1EA4-272140962240}"/>
              </a:ext>
            </a:extLst>
          </p:cNvPr>
          <p:cNvGrpSpPr/>
          <p:nvPr/>
        </p:nvGrpSpPr>
        <p:grpSpPr>
          <a:xfrm>
            <a:off x="11355529" y="1730342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530F6E7-6D85-D5DE-387C-13320C3F5801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934E5A80-CAB0-A59A-9BAB-AE5DFDC3EE41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A6405E-C2EC-06B4-B2FB-F43CC0FB2906}"/>
              </a:ext>
            </a:extLst>
          </p:cNvPr>
          <p:cNvGrpSpPr/>
          <p:nvPr/>
        </p:nvGrpSpPr>
        <p:grpSpPr>
          <a:xfrm>
            <a:off x="10908000" y="2660812"/>
            <a:ext cx="825766" cy="321228"/>
            <a:chOff x="4793047" y="6345339"/>
            <a:chExt cx="825766" cy="321228"/>
          </a:xfrm>
        </p:grpSpPr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85DC469-A8F9-28D5-A3BE-3652E1E6F7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98B3799A-1546-2069-978D-AF718E0C996A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D57D338E-7421-5102-40AA-296D566FD82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01F41FF7-5F31-F7BC-9293-DC27910C73ED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1F45C1-5C9D-21D8-7823-3CF674D8DE3C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091" name="Graphic 1090" descr="Fingerprint with solid fill">
              <a:extLst>
                <a:ext uri="{FF2B5EF4-FFF2-40B4-BE49-F238E27FC236}">
                  <a16:creationId xmlns:a16="http://schemas.microsoft.com/office/drawing/2014/main" id="{E118BE61-D657-B2F4-8A38-D01CA4A75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5FA13B-B01B-1ED4-B813-349DAE68C887}"/>
              </a:ext>
            </a:extLst>
          </p:cNvPr>
          <p:cNvGrpSpPr/>
          <p:nvPr/>
        </p:nvGrpSpPr>
        <p:grpSpPr>
          <a:xfrm>
            <a:off x="10921137" y="3071595"/>
            <a:ext cx="812629" cy="446278"/>
            <a:chOff x="10785943" y="5489706"/>
            <a:chExt cx="812629" cy="446278"/>
          </a:xfrm>
        </p:grpSpPr>
        <p:pic>
          <p:nvPicPr>
            <p:cNvPr id="1086" name="Graphic 1085" descr="Key outline">
              <a:extLst>
                <a:ext uri="{FF2B5EF4-FFF2-40B4-BE49-F238E27FC236}">
                  <a16:creationId xmlns:a16="http://schemas.microsoft.com/office/drawing/2014/main" id="{F5E4DB74-1918-43F0-FD88-856A83D50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2CA330D6-AB94-B63B-CC15-BA9962E8F13B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8D439-81A3-76E1-D098-2BB3332D2603}"/>
              </a:ext>
            </a:extLst>
          </p:cNvPr>
          <p:cNvGrpSpPr/>
          <p:nvPr/>
        </p:nvGrpSpPr>
        <p:grpSpPr>
          <a:xfrm>
            <a:off x="11229228" y="4024013"/>
            <a:ext cx="504538" cy="465328"/>
            <a:chOff x="11062681" y="5489706"/>
            <a:chExt cx="504538" cy="465328"/>
          </a:xfrm>
        </p:grpSpPr>
        <p:pic>
          <p:nvPicPr>
            <p:cNvPr id="1084" name="Graphic 1083" descr="Key outline">
              <a:extLst>
                <a:ext uri="{FF2B5EF4-FFF2-40B4-BE49-F238E27FC236}">
                  <a16:creationId xmlns:a16="http://schemas.microsoft.com/office/drawing/2014/main" id="{57EC3A94-B2EB-03BF-AD5B-991D3172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F27E9DA-9085-9A90-89E2-09F35C9E6AD0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5ED7-C19C-9E67-CB34-0E094BF2952F}"/>
              </a:ext>
            </a:extLst>
          </p:cNvPr>
          <p:cNvGrpSpPr/>
          <p:nvPr/>
        </p:nvGrpSpPr>
        <p:grpSpPr>
          <a:xfrm>
            <a:off x="11398108" y="3508468"/>
            <a:ext cx="335658" cy="379187"/>
            <a:chOff x="10749568" y="5635101"/>
            <a:chExt cx="350430" cy="395875"/>
          </a:xfrm>
        </p:grpSpPr>
        <p:pic>
          <p:nvPicPr>
            <p:cNvPr id="1065" name="Graphic 1064" descr="Paper with solid fill">
              <a:extLst>
                <a:ext uri="{FF2B5EF4-FFF2-40B4-BE49-F238E27FC236}">
                  <a16:creationId xmlns:a16="http://schemas.microsoft.com/office/drawing/2014/main" id="{EE051050-C0EE-B6F3-0BE6-4F30EFD1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2BA5A9C9-033B-FF42-844C-816C260033F4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DCABB208-7CEE-F8C8-0134-3813F2F134DB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4D2A03AD-DB65-5AC0-D3F6-2F209597C85D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F724A4D-1F20-606B-458D-144EC4E1ED18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773AAB28-D303-D618-FD04-35ECEAEF1303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0EC42A-D70E-E771-E9D8-4EE5AD18A265}"/>
              </a:ext>
            </a:extLst>
          </p:cNvPr>
          <p:cNvGrpSpPr/>
          <p:nvPr/>
        </p:nvGrpSpPr>
        <p:grpSpPr>
          <a:xfrm>
            <a:off x="11001060" y="4965629"/>
            <a:ext cx="732706" cy="446278"/>
            <a:chOff x="319523" y="5081988"/>
            <a:chExt cx="732706" cy="446278"/>
          </a:xfrm>
        </p:grpSpPr>
        <p:pic>
          <p:nvPicPr>
            <p:cNvPr id="1059" name="Graphic 1058" descr="Key outline">
              <a:extLst>
                <a:ext uri="{FF2B5EF4-FFF2-40B4-BE49-F238E27FC236}">
                  <a16:creationId xmlns:a16="http://schemas.microsoft.com/office/drawing/2014/main" id="{3FB0D03E-834C-953A-992B-184589B9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85684796-2CF6-BB1E-FE23-69E2FE682D46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BFC1F4-CF04-28DD-437A-622A49380A3E}"/>
              </a:ext>
            </a:extLst>
          </p:cNvPr>
          <p:cNvGrpSpPr/>
          <p:nvPr/>
        </p:nvGrpSpPr>
        <p:grpSpPr>
          <a:xfrm>
            <a:off x="11112277" y="2137307"/>
            <a:ext cx="621489" cy="446278"/>
            <a:chOff x="10966769" y="5489706"/>
            <a:chExt cx="621489" cy="446278"/>
          </a:xfrm>
        </p:grpSpPr>
        <p:pic>
          <p:nvPicPr>
            <p:cNvPr id="1056" name="Graphic 1055" descr="Key outline">
              <a:extLst>
                <a:ext uri="{FF2B5EF4-FFF2-40B4-BE49-F238E27FC236}">
                  <a16:creationId xmlns:a16="http://schemas.microsoft.com/office/drawing/2014/main" id="{3AD38416-1CFA-B47A-695A-83462A6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6BDF1E3-5DF2-D8AB-DB86-207AAB9305CA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pic>
        <p:nvPicPr>
          <p:cNvPr id="1041" name="Graphic 1040" descr="Lock with solid fill">
            <a:extLst>
              <a:ext uri="{FF2B5EF4-FFF2-40B4-BE49-F238E27FC236}">
                <a16:creationId xmlns:a16="http://schemas.microsoft.com/office/drawing/2014/main" id="{4855DBF7-FCC6-5867-6066-D3E6DA461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8678" y="5823748"/>
            <a:ext cx="375088" cy="375088"/>
          </a:xfrm>
          <a:prstGeom prst="rect">
            <a:avLst/>
          </a:prstGeom>
        </p:spPr>
      </p:pic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36C8A6D7-7166-B536-9A6A-DC357A1368A4}"/>
              </a:ext>
            </a:extLst>
          </p:cNvPr>
          <p:cNvGrpSpPr/>
          <p:nvPr/>
        </p:nvGrpSpPr>
        <p:grpSpPr>
          <a:xfrm>
            <a:off x="11086549" y="5379154"/>
            <a:ext cx="647217" cy="446278"/>
            <a:chOff x="11005275" y="5489706"/>
            <a:chExt cx="647217" cy="446278"/>
          </a:xfrm>
        </p:grpSpPr>
        <p:pic>
          <p:nvPicPr>
            <p:cNvPr id="1053" name="Graphic 1052" descr="Key outline">
              <a:extLst>
                <a:ext uri="{FF2B5EF4-FFF2-40B4-BE49-F238E27FC236}">
                  <a16:creationId xmlns:a16="http://schemas.microsoft.com/office/drawing/2014/main" id="{2AE2040E-B166-C3F7-466A-F67AF7F6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ACAD7F3-D016-2131-7DC4-F297F6CCE5FB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9613038" y="6264072"/>
            <a:ext cx="233583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- Person Identification</a:t>
            </a:r>
          </a:p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eID – electronic Identification</a:t>
            </a:r>
          </a:p>
        </p:txBody>
      </p: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3D41A1B-8A0B-4105-7D11-AE8CE958B483}"/>
              </a:ext>
            </a:extLst>
          </p:cNvPr>
          <p:cNvGrpSpPr/>
          <p:nvPr/>
        </p:nvGrpSpPr>
        <p:grpSpPr>
          <a:xfrm>
            <a:off x="2408540" y="6346980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A991336-27AF-1C9E-672B-7602D46F8B72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C5DBE48-0DC7-CD75-6ACD-72B2A4D4F5F9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0BAC618C-0309-DD5F-20CE-1EC3EFDAAA5C}"/>
              </a:ext>
            </a:extLst>
          </p:cNvPr>
          <p:cNvGrpSpPr/>
          <p:nvPr/>
        </p:nvGrpSpPr>
        <p:grpSpPr>
          <a:xfrm>
            <a:off x="3410433" y="6342992"/>
            <a:ext cx="825766" cy="321228"/>
            <a:chOff x="4793047" y="6345339"/>
            <a:chExt cx="825766" cy="321228"/>
          </a:xfrm>
        </p:grpSpPr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54F91D9C-6E2D-797F-B03B-C4F214769B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A9BC5E99-33E4-BD6D-A736-20DA88E8FFC2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60E3A951-CBC8-BD8C-65BF-A3B322E99AE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BAF89C8-934D-1CEF-469B-5825D9026369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64" name="TextBox 1163">
              <a:extLst>
                <a:ext uri="{FF2B5EF4-FFF2-40B4-BE49-F238E27FC236}">
                  <a16:creationId xmlns:a16="http://schemas.microsoft.com/office/drawing/2014/main" id="{E2EF7223-3CC0-3C4F-2BA2-740121142F79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166" name="Graphic 1165" descr="Fingerprint with solid fill">
              <a:extLst>
                <a:ext uri="{FF2B5EF4-FFF2-40B4-BE49-F238E27FC236}">
                  <a16:creationId xmlns:a16="http://schemas.microsoft.com/office/drawing/2014/main" id="{2BAACEB2-3D3F-1B5E-1D4A-07B96D3D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287C44B8-8013-13E7-0237-1CB5D81CABDF}"/>
              </a:ext>
            </a:extLst>
          </p:cNvPr>
          <p:cNvGrpSpPr/>
          <p:nvPr/>
        </p:nvGrpSpPr>
        <p:grpSpPr>
          <a:xfrm>
            <a:off x="4031271" y="6301837"/>
            <a:ext cx="812629" cy="446278"/>
            <a:chOff x="10785943" y="5489706"/>
            <a:chExt cx="812629" cy="446278"/>
          </a:xfrm>
        </p:grpSpPr>
        <p:pic>
          <p:nvPicPr>
            <p:cNvPr id="1150" name="Graphic 1149" descr="Key outline">
              <a:extLst>
                <a:ext uri="{FF2B5EF4-FFF2-40B4-BE49-F238E27FC236}">
                  <a16:creationId xmlns:a16="http://schemas.microsoft.com/office/drawing/2014/main" id="{F6628352-B3C8-FC2E-7E95-FE55751D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162" name="TextBox 1161">
              <a:extLst>
                <a:ext uri="{FF2B5EF4-FFF2-40B4-BE49-F238E27FC236}">
                  <a16:creationId xmlns:a16="http://schemas.microsoft.com/office/drawing/2014/main" id="{6A316019-27D4-9CBE-A0BB-5A5A4D71ED34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6634574E-4173-3056-A20B-4F41A3B77D1F}"/>
              </a:ext>
            </a:extLst>
          </p:cNvPr>
          <p:cNvGrpSpPr/>
          <p:nvPr/>
        </p:nvGrpSpPr>
        <p:grpSpPr>
          <a:xfrm>
            <a:off x="2791461" y="6301837"/>
            <a:ext cx="621489" cy="446278"/>
            <a:chOff x="10966769" y="5489706"/>
            <a:chExt cx="621489" cy="446278"/>
          </a:xfrm>
        </p:grpSpPr>
        <p:pic>
          <p:nvPicPr>
            <p:cNvPr id="1121" name="Graphic 1120" descr="Key outline">
              <a:extLst>
                <a:ext uri="{FF2B5EF4-FFF2-40B4-BE49-F238E27FC236}">
                  <a16:creationId xmlns:a16="http://schemas.microsoft.com/office/drawing/2014/main" id="{6F8CEEC9-E20D-4F57-EB7E-C021E891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B04FDB9E-6890-06A6-93F4-135E5F3E9759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30CD4698-A412-4031-DCCB-82884F7F592F}"/>
              </a:ext>
            </a:extLst>
          </p:cNvPr>
          <p:cNvGrpSpPr/>
          <p:nvPr/>
        </p:nvGrpSpPr>
        <p:grpSpPr>
          <a:xfrm>
            <a:off x="3523127" y="2965685"/>
            <a:ext cx="2066555" cy="3505638"/>
            <a:chOff x="5226042" y="1981755"/>
            <a:chExt cx="2066555" cy="3505638"/>
          </a:xfrm>
        </p:grpSpPr>
        <p:pic>
          <p:nvPicPr>
            <p:cNvPr id="1266" name="Picture 4">
              <a:extLst>
                <a:ext uri="{FF2B5EF4-FFF2-40B4-BE49-F238E27FC236}">
                  <a16:creationId xmlns:a16="http://schemas.microsoft.com/office/drawing/2014/main" id="{9232071C-8A81-2394-F1F6-D2AD0AA43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E339985-D11F-A654-E8B6-D5DEE66BC906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A5815DC1-29FC-8414-731A-02399714E0D5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45A06C72-CB7E-CEA5-54DD-8CABBD8BFB39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EB37CF48-53DF-B97C-A3CA-632E8D879614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D899ECC5-64E7-CC20-6461-236DBB7229A3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44C208CA-43DC-3968-79F8-A284FC4340BE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96BA2D4C-F226-FB7F-A71E-AD51D2151FA8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DE678340-5AE3-7008-27A5-E673A462EA27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sp>
        <p:nvSpPr>
          <p:cNvPr id="1275" name="Rectangle: Rounded Corners 1274">
            <a:extLst>
              <a:ext uri="{FF2B5EF4-FFF2-40B4-BE49-F238E27FC236}">
                <a16:creationId xmlns:a16="http://schemas.microsoft.com/office/drawing/2014/main" id="{4B4E8C7F-2E98-FA69-7606-29487B118563}"/>
              </a:ext>
            </a:extLst>
          </p:cNvPr>
          <p:cNvSpPr/>
          <p:nvPr/>
        </p:nvSpPr>
        <p:spPr>
          <a:xfrm>
            <a:off x="380989" y="1231200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FC3C7082-793C-4C19-39FB-8FC1B0192250}"/>
              </a:ext>
            </a:extLst>
          </p:cNvPr>
          <p:cNvGrpSpPr/>
          <p:nvPr/>
        </p:nvGrpSpPr>
        <p:grpSpPr>
          <a:xfrm>
            <a:off x="1364613" y="1561685"/>
            <a:ext cx="1609851" cy="2457230"/>
            <a:chOff x="2632447" y="1552472"/>
            <a:chExt cx="1609851" cy="2457230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88E1EF6-D084-AAA2-1A0F-9A72A7F54B3D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D306510D-0E47-6DAA-72F6-0BF71753ED9E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1316" name="Graphic 1315" descr="Building outline">
                  <a:extLst>
                    <a:ext uri="{FF2B5EF4-FFF2-40B4-BE49-F238E27FC236}">
                      <a16:creationId xmlns:a16="http://schemas.microsoft.com/office/drawing/2014/main" id="{3F62976D-B533-1A38-7152-908CCC2FA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1B9BC0BF-E80E-CE71-A27E-7C420157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318" name="Freeform: Shape 1317">
                    <a:extLst>
                      <a:ext uri="{FF2B5EF4-FFF2-40B4-BE49-F238E27FC236}">
                        <a16:creationId xmlns:a16="http://schemas.microsoft.com/office/drawing/2014/main" id="{7177F420-EF27-BC8B-67B6-604CC0E09055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19" name="Freeform: Shape 1318">
                    <a:extLst>
                      <a:ext uri="{FF2B5EF4-FFF2-40B4-BE49-F238E27FC236}">
                        <a16:creationId xmlns:a16="http://schemas.microsoft.com/office/drawing/2014/main" id="{441E3236-0FEE-912D-9D94-2470ED60E0F8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20" name="Freeform: Shape 1319">
                    <a:extLst>
                      <a:ext uri="{FF2B5EF4-FFF2-40B4-BE49-F238E27FC236}">
                        <a16:creationId xmlns:a16="http://schemas.microsoft.com/office/drawing/2014/main" id="{8BB90196-2C49-FDA8-395A-9737A9B14FB1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1" name="Freeform: Shape 1320">
                    <a:extLst>
                      <a:ext uri="{FF2B5EF4-FFF2-40B4-BE49-F238E27FC236}">
                        <a16:creationId xmlns:a16="http://schemas.microsoft.com/office/drawing/2014/main" id="{640D48BE-586F-5404-87E9-4E51FA2E024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2" name="Freeform: Shape 1321">
                    <a:extLst>
                      <a:ext uri="{FF2B5EF4-FFF2-40B4-BE49-F238E27FC236}">
                        <a16:creationId xmlns:a16="http://schemas.microsoft.com/office/drawing/2014/main" id="{1F584DC0-2716-2BEE-3FE6-FF6B48944454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323" name="Graphic 1322" descr="Car outline">
                    <a:extLst>
                      <a:ext uri="{FF2B5EF4-FFF2-40B4-BE49-F238E27FC236}">
                        <a16:creationId xmlns:a16="http://schemas.microsoft.com/office/drawing/2014/main" id="{2CAA0850-7B1A-7483-8460-8D7291399B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5" name="TextBox 1314">
                <a:extLst>
                  <a:ext uri="{FF2B5EF4-FFF2-40B4-BE49-F238E27FC236}">
                    <a16:creationId xmlns:a16="http://schemas.microsoft.com/office/drawing/2014/main" id="{7C3DBCBF-AAE3-EB73-DD7E-6AEDA6D37AA3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36CD085-449F-0B95-6870-0CE481F046EB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303" name="Group 1302">
                <a:extLst>
                  <a:ext uri="{FF2B5EF4-FFF2-40B4-BE49-F238E27FC236}">
                    <a16:creationId xmlns:a16="http://schemas.microsoft.com/office/drawing/2014/main" id="{8AD33532-56D7-7F27-F0C2-E22D6EDAD245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305" name="Group 1304">
                  <a:extLst>
                    <a:ext uri="{FF2B5EF4-FFF2-40B4-BE49-F238E27FC236}">
                      <a16:creationId xmlns:a16="http://schemas.microsoft.com/office/drawing/2014/main" id="{559EE3D2-521A-F681-9704-387554181D46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312" name="Graphic 1311" descr="Court outline">
                    <a:extLst>
                      <a:ext uri="{FF2B5EF4-FFF2-40B4-BE49-F238E27FC236}">
                        <a16:creationId xmlns:a16="http://schemas.microsoft.com/office/drawing/2014/main" id="{0039B551-EDA1-358F-560C-4018206CC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313" name="Graphic 1312" descr="Flag outline">
                    <a:extLst>
                      <a:ext uri="{FF2B5EF4-FFF2-40B4-BE49-F238E27FC236}">
                        <a16:creationId xmlns:a16="http://schemas.microsoft.com/office/drawing/2014/main" id="{5E773B77-911A-EDFC-34C0-EE2C8C32E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6" name="Group 1305">
                  <a:extLst>
                    <a:ext uri="{FF2B5EF4-FFF2-40B4-BE49-F238E27FC236}">
                      <a16:creationId xmlns:a16="http://schemas.microsoft.com/office/drawing/2014/main" id="{8F364186-59B7-D820-1A6D-60F0EF4E6236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6A181503-9D35-C5AB-482C-EF53870F9499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308" name="Group 1307">
                    <a:extLst>
                      <a:ext uri="{FF2B5EF4-FFF2-40B4-BE49-F238E27FC236}">
                        <a16:creationId xmlns:a16="http://schemas.microsoft.com/office/drawing/2014/main" id="{431E5F1F-7D06-7B5C-2ADF-D0E58F0682D5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B685A665-483B-A3E8-6575-5C64FE7FF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E4D48EA3-851F-79F7-02C4-0419E0D81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EFE9A8CF-1968-678F-8DCC-EE85D9A53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304" name="TextBox 1303">
                <a:extLst>
                  <a:ext uri="{FF2B5EF4-FFF2-40B4-BE49-F238E27FC236}">
                    <a16:creationId xmlns:a16="http://schemas.microsoft.com/office/drawing/2014/main" id="{0980EDB6-FD2E-BBA8-3388-54CA3CADAFB9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3C0DEA22-EF73-6A33-E477-1BA620DFB867}"/>
              </a:ext>
            </a:extLst>
          </p:cNvPr>
          <p:cNvGrpSpPr/>
          <p:nvPr/>
        </p:nvGrpSpPr>
        <p:grpSpPr>
          <a:xfrm>
            <a:off x="6386032" y="1622388"/>
            <a:ext cx="1071245" cy="1075241"/>
            <a:chOff x="9578715" y="3292356"/>
            <a:chExt cx="914400" cy="1084207"/>
          </a:xfrm>
        </p:grpSpPr>
        <p:pic>
          <p:nvPicPr>
            <p:cNvPr id="1328" name="Graphic 1327" descr="Police female outline">
              <a:extLst>
                <a:ext uri="{FF2B5EF4-FFF2-40B4-BE49-F238E27FC236}">
                  <a16:creationId xmlns:a16="http://schemas.microsoft.com/office/drawing/2014/main" id="{54F53E6E-EC63-764C-5CAF-8DF3A2F5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915B95-7947-413A-1692-6EDD35E00472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1330" name="Rectangle: Rounded Corners 1329">
            <a:extLst>
              <a:ext uri="{FF2B5EF4-FFF2-40B4-BE49-F238E27FC236}">
                <a16:creationId xmlns:a16="http://schemas.microsoft.com/office/drawing/2014/main" id="{5F89B6B6-EA25-8FBB-E4D0-39DC3BBF0648}"/>
              </a:ext>
            </a:extLst>
          </p:cNvPr>
          <p:cNvSpPr/>
          <p:nvPr/>
        </p:nvSpPr>
        <p:spPr>
          <a:xfrm>
            <a:off x="5328000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sp>
        <p:nvSpPr>
          <p:cNvPr id="1344" name="Rectangle 1343">
            <a:extLst>
              <a:ext uri="{FF2B5EF4-FFF2-40B4-BE49-F238E27FC236}">
                <a16:creationId xmlns:a16="http://schemas.microsoft.com/office/drawing/2014/main" id="{496AF1DF-74A6-D896-A243-582AB122547B}"/>
              </a:ext>
            </a:extLst>
          </p:cNvPr>
          <p:cNvSpPr/>
          <p:nvPr/>
        </p:nvSpPr>
        <p:spPr>
          <a:xfrm>
            <a:off x="9000000" y="205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5" name="Rectangle 1344">
            <a:extLst>
              <a:ext uri="{FF2B5EF4-FFF2-40B4-BE49-F238E27FC236}">
                <a16:creationId xmlns:a16="http://schemas.microsoft.com/office/drawing/2014/main" id="{9C75A329-5848-0ABB-4A6E-B1FB71A25ABE}"/>
              </a:ext>
            </a:extLst>
          </p:cNvPr>
          <p:cNvSpPr/>
          <p:nvPr/>
        </p:nvSpPr>
        <p:spPr>
          <a:xfrm>
            <a:off x="9000000" y="252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6" name="Rectangle 1345">
            <a:extLst>
              <a:ext uri="{FF2B5EF4-FFF2-40B4-BE49-F238E27FC236}">
                <a16:creationId xmlns:a16="http://schemas.microsoft.com/office/drawing/2014/main" id="{F25A5D05-2BA4-E796-EA79-448102308CF3}"/>
              </a:ext>
            </a:extLst>
          </p:cNvPr>
          <p:cNvSpPr/>
          <p:nvPr/>
        </p:nvSpPr>
        <p:spPr>
          <a:xfrm>
            <a:off x="9000000" y="298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778AB0C2-BA56-D4FA-A765-056942104A80}"/>
              </a:ext>
            </a:extLst>
          </p:cNvPr>
          <p:cNvSpPr/>
          <p:nvPr/>
        </p:nvSpPr>
        <p:spPr>
          <a:xfrm>
            <a:off x="9000000" y="345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F0941D8D-EADA-6456-C100-D7CB92DBE7F3}"/>
              </a:ext>
            </a:extLst>
          </p:cNvPr>
          <p:cNvSpPr/>
          <p:nvPr/>
        </p:nvSpPr>
        <p:spPr>
          <a:xfrm>
            <a:off x="9000000" y="3924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6D9E8DED-1971-47A8-AAA9-675ACAF7E25F}"/>
              </a:ext>
            </a:extLst>
          </p:cNvPr>
          <p:cNvSpPr/>
          <p:nvPr/>
        </p:nvSpPr>
        <p:spPr>
          <a:xfrm>
            <a:off x="9000000" y="439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3AA6F4F9-84C4-89B0-A060-19AC91B7705F}"/>
              </a:ext>
            </a:extLst>
          </p:cNvPr>
          <p:cNvSpPr/>
          <p:nvPr/>
        </p:nvSpPr>
        <p:spPr>
          <a:xfrm>
            <a:off x="9000000" y="486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2B35C5E0-2C88-0B9A-6A6C-156BFE1DF03F}"/>
              </a:ext>
            </a:extLst>
          </p:cNvPr>
          <p:cNvSpPr/>
          <p:nvPr/>
        </p:nvSpPr>
        <p:spPr>
          <a:xfrm>
            <a:off x="9000000" y="532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B380A58-E4A2-2594-5C8C-562FE1EEE4D7}"/>
              </a:ext>
            </a:extLst>
          </p:cNvPr>
          <p:cNvSpPr/>
          <p:nvPr/>
        </p:nvSpPr>
        <p:spPr>
          <a:xfrm>
            <a:off x="9000000" y="579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7E2D5A-2007-9B43-E673-2A59C3A234EE}"/>
              </a:ext>
            </a:extLst>
          </p:cNvPr>
          <p:cNvGrpSpPr/>
          <p:nvPr/>
        </p:nvGrpSpPr>
        <p:grpSpPr>
          <a:xfrm>
            <a:off x="1050032" y="1625641"/>
            <a:ext cx="4621722" cy="2240393"/>
            <a:chOff x="1050032" y="1625641"/>
            <a:chExt cx="4621722" cy="22403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825F13-24D6-5E33-74B7-DBCAB935C52D}"/>
                </a:ext>
              </a:extLst>
            </p:cNvPr>
            <p:cNvSpPr txBox="1"/>
            <p:nvPr/>
          </p:nvSpPr>
          <p:spPr>
            <a:xfrm>
              <a:off x="3147242" y="1625641"/>
              <a:ext cx="2524512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a) Authenticate wallet &amp; holder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15E04A60-F3FD-28A2-13AA-766CDA4A5614}"/>
                </a:ext>
              </a:extLst>
            </p:cNvPr>
            <p:cNvSpPr/>
            <p:nvPr/>
          </p:nvSpPr>
          <p:spPr>
            <a:xfrm>
              <a:off x="1050032" y="2019867"/>
              <a:ext cx="3641434" cy="1846167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6230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4" grpId="0" animBg="1"/>
      <p:bldP spid="1345" grpId="0" animBg="1"/>
      <p:bldP spid="13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71612"/>
              </p:ext>
            </p:extLst>
          </p:nvPr>
        </p:nvGraphicFramePr>
        <p:xfrm>
          <a:off x="428200" y="1109280"/>
          <a:ext cx="11288459" cy="51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80108747"/>
                    </a:ext>
                  </a:extLst>
                </a:gridCol>
                <a:gridCol w="1718100">
                  <a:extLst>
                    <a:ext uri="{9D8B030D-6E8A-4147-A177-3AD203B41FA5}">
                      <a16:colId xmlns:a16="http://schemas.microsoft.com/office/drawing/2014/main" val="3936821659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894623054"/>
                    </a:ext>
                  </a:extLst>
                </a:gridCol>
                <a:gridCol w="1650639">
                  <a:extLst>
                    <a:ext uri="{9D8B030D-6E8A-4147-A177-3AD203B41FA5}">
                      <a16:colId xmlns:a16="http://schemas.microsoft.com/office/drawing/2014/main" val="15005002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rgbClr val="38638E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38638E"/>
                          </a:solidFill>
                        </a:rPr>
                        <a:t>Verification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Verification artefacts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Artefact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Primary threats to artefacts (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STRIDE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9505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Authenticity of entities, PID and attestations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Used to protect trusted lists of participants in the wallet ecosystem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(eg providers, wallets and relying parties)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Spoofing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Authenticity of wallet</a:t>
                      </a:r>
                    </a:p>
                    <a:p>
                      <a:r>
                        <a:rPr lang="en-GB" sz="1200" dirty="0"/>
                        <a:t>and wallet 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wallet to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 wallet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</a:t>
                      </a:r>
                    </a:p>
                    <a:p>
                      <a:r>
                        <a:rPr lang="en-GB" sz="1200" dirty="0"/>
                        <a:t>electronic identification (eID)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Ownership of 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identity of natural / legal personal etc to be established</a:t>
                      </a:r>
                    </a:p>
                    <a:p>
                      <a:r>
                        <a:rPr lang="en-GB" sz="1200" dirty="0"/>
                        <a:t>Also used as eID means for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access token at issuance</a:t>
                      </a:r>
                    </a:p>
                    <a:p>
                      <a:r>
                        <a:rPr lang="en-GB" sz="1200" dirty="0"/>
                        <a:t>Use of access tokens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Ownership of attestations of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selective disclosure of personal information and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credential at issuance</a:t>
                      </a:r>
                    </a:p>
                    <a:p>
                      <a:r>
                        <a:rPr lang="en-GB" sz="1200" dirty="0"/>
                        <a:t>Use of credential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Wallet attestation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sign attestations relating to security of the wallet app itself, the keys materials used by the wallet and/or the host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as part of the attestation process</a:t>
                      </a:r>
                    </a:p>
                    <a:p>
                      <a:r>
                        <a:rPr lang="en-GB" sz="1200" dirty="0"/>
                        <a:t>Likely requires health / posture related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</a:t>
            </a:r>
            <a:r>
              <a:rPr lang="da-DK" b="1" dirty="0" err="1"/>
              <a:t>mechanisms</a:t>
            </a:r>
            <a:r>
              <a:rPr lang="da-DK" b="1" dirty="0"/>
              <a:t> (2)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B10D2F-1643-1527-5488-AFF294485234}"/>
              </a:ext>
            </a:extLst>
          </p:cNvPr>
          <p:cNvGrpSpPr/>
          <p:nvPr/>
        </p:nvGrpSpPr>
        <p:grpSpPr>
          <a:xfrm>
            <a:off x="3958560" y="1707482"/>
            <a:ext cx="843194" cy="4468494"/>
            <a:chOff x="10908000" y="1730342"/>
            <a:chExt cx="843194" cy="4468494"/>
          </a:xfrm>
        </p:grpSpPr>
        <p:grpSp>
          <p:nvGrpSpPr>
            <p:cNvPr id="1250" name="Group 1249">
              <a:extLst>
                <a:ext uri="{FF2B5EF4-FFF2-40B4-BE49-F238E27FC236}">
                  <a16:creationId xmlns:a16="http://schemas.microsoft.com/office/drawing/2014/main" id="{BF301479-C9B8-7F84-4228-4C1D8879B821}"/>
                </a:ext>
              </a:extLst>
            </p:cNvPr>
            <p:cNvGrpSpPr/>
            <p:nvPr/>
          </p:nvGrpSpPr>
          <p:grpSpPr>
            <a:xfrm>
              <a:off x="11415536" y="4431950"/>
              <a:ext cx="335658" cy="379187"/>
              <a:chOff x="10749568" y="5635101"/>
              <a:chExt cx="350430" cy="395875"/>
            </a:xfrm>
          </p:grpSpPr>
          <p:pic>
            <p:nvPicPr>
              <p:cNvPr id="1251" name="Graphic 1250" descr="Paper with solid fill">
                <a:extLst>
                  <a:ext uri="{FF2B5EF4-FFF2-40B4-BE49-F238E27FC236}">
                    <a16:creationId xmlns:a16="http://schemas.microsoft.com/office/drawing/2014/main" id="{6DE08AE5-1823-3377-24F6-B7E7021D0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BA3DFEF7-D6CF-5C4D-1F7F-7E191F31EFE3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</a:t>
                </a:r>
              </a:p>
            </p:txBody>
          </p:sp>
          <p:grpSp>
            <p:nvGrpSpPr>
              <p:cNvPr id="1253" name="Group 1252">
                <a:extLst>
                  <a:ext uri="{FF2B5EF4-FFF2-40B4-BE49-F238E27FC236}">
                    <a16:creationId xmlns:a16="http://schemas.microsoft.com/office/drawing/2014/main" id="{A4827675-6BF2-AD8C-C704-8799149C1B73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300A4163-90C8-B71E-4EF9-8D178F60E018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D04AB439-6273-12A7-1A7B-70B339DC3E06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CCBD6E00-CA16-D3DB-7CC0-FC42797C0A19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22C10D-3DE9-C770-1EA4-272140962240}"/>
                </a:ext>
              </a:extLst>
            </p:cNvPr>
            <p:cNvGrpSpPr/>
            <p:nvPr/>
          </p:nvGrpSpPr>
          <p:grpSpPr>
            <a:xfrm>
              <a:off x="11355529" y="1730342"/>
              <a:ext cx="378237" cy="307002"/>
              <a:chOff x="9821290" y="4547726"/>
              <a:chExt cx="378237" cy="307002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530F6E7-6D85-D5DE-387C-13320C3F5801}"/>
                  </a:ext>
                </a:extLst>
              </p:cNvPr>
              <p:cNvSpPr/>
              <p:nvPr/>
            </p:nvSpPr>
            <p:spPr>
              <a:xfrm>
                <a:off x="9821290" y="4547726"/>
                <a:ext cx="378237" cy="221456"/>
              </a:xfrm>
              <a:custGeom>
                <a:avLst/>
                <a:gdLst>
                  <a:gd name="connsiteX0" fmla="*/ 349472 w 378237"/>
                  <a:gd name="connsiteY0" fmla="*/ 0 h 221456"/>
                  <a:gd name="connsiteX1" fmla="*/ 378238 w 378237"/>
                  <a:gd name="connsiteY1" fmla="*/ 28765 h 221456"/>
                  <a:gd name="connsiteX2" fmla="*/ 378238 w 378237"/>
                  <a:gd name="connsiteY2" fmla="*/ 192691 h 221456"/>
                  <a:gd name="connsiteX3" fmla="*/ 349472 w 378237"/>
                  <a:gd name="connsiteY3" fmla="*/ 221456 h 221456"/>
                  <a:gd name="connsiteX4" fmla="*/ 28766 w 378237"/>
                  <a:gd name="connsiteY4" fmla="*/ 221456 h 221456"/>
                  <a:gd name="connsiteX5" fmla="*/ 0 w 378237"/>
                  <a:gd name="connsiteY5" fmla="*/ 192691 h 221456"/>
                  <a:gd name="connsiteX6" fmla="*/ 0 w 378237"/>
                  <a:gd name="connsiteY6" fmla="*/ 28765 h 221456"/>
                  <a:gd name="connsiteX7" fmla="*/ 28766 w 378237"/>
                  <a:gd name="connsiteY7" fmla="*/ 0 h 22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237" h="221456">
                    <a:moveTo>
                      <a:pt x="349472" y="0"/>
                    </a:moveTo>
                    <a:cubicBezTo>
                      <a:pt x="365359" y="0"/>
                      <a:pt x="378238" y="12879"/>
                      <a:pt x="378238" y="28765"/>
                    </a:cubicBezTo>
                    <a:lnTo>
                      <a:pt x="378238" y="192691"/>
                    </a:lnTo>
                    <a:cubicBezTo>
                      <a:pt x="378238" y="208577"/>
                      <a:pt x="365359" y="221456"/>
                      <a:pt x="349472" y="221456"/>
                    </a:cubicBezTo>
                    <a:lnTo>
                      <a:pt x="28766" y="221456"/>
                    </a:lnTo>
                    <a:cubicBezTo>
                      <a:pt x="12879" y="221456"/>
                      <a:pt x="0" y="208577"/>
                      <a:pt x="0" y="192691"/>
                    </a:cubicBezTo>
                    <a:lnTo>
                      <a:pt x="0" y="28765"/>
                    </a:lnTo>
                    <a:cubicBezTo>
                      <a:pt x="0" y="12879"/>
                      <a:pt x="12879" y="0"/>
                      <a:pt x="28766" y="0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34E5A80-CAB0-A59A-9BAB-AE5DFDC3EE41}"/>
                  </a:ext>
                </a:extLst>
              </p:cNvPr>
              <p:cNvSpPr/>
              <p:nvPr/>
            </p:nvSpPr>
            <p:spPr>
              <a:xfrm>
                <a:off x="9842189" y="4569328"/>
                <a:ext cx="349272" cy="285400"/>
              </a:xfrm>
              <a:custGeom>
                <a:avLst/>
                <a:gdLst>
                  <a:gd name="connsiteX0" fmla="*/ 0 w 433170"/>
                  <a:gd name="connsiteY0" fmla="*/ 49729 h 353957"/>
                  <a:gd name="connsiteX1" fmla="*/ 51625 w 433170"/>
                  <a:gd name="connsiteY1" fmla="*/ 9 h 353957"/>
                  <a:gd name="connsiteX2" fmla="*/ 335852 w 433170"/>
                  <a:gd name="connsiteY2" fmla="*/ 9 h 353957"/>
                  <a:gd name="connsiteX3" fmla="*/ 369094 w 433170"/>
                  <a:gd name="connsiteY3" fmla="*/ 27822 h 353957"/>
                  <a:gd name="connsiteX4" fmla="*/ 369094 w 433170"/>
                  <a:gd name="connsiteY4" fmla="*/ 42205 h 353957"/>
                  <a:gd name="connsiteX5" fmla="*/ 348520 w 433170"/>
                  <a:gd name="connsiteY5" fmla="*/ 35156 h 353957"/>
                  <a:gd name="connsiteX6" fmla="*/ 334518 w 433170"/>
                  <a:gd name="connsiteY6" fmla="*/ 19821 h 353957"/>
                  <a:gd name="connsiteX7" fmla="*/ 62579 w 433170"/>
                  <a:gd name="connsiteY7" fmla="*/ 19821 h 353957"/>
                  <a:gd name="connsiteX8" fmla="*/ 62579 w 433170"/>
                  <a:gd name="connsiteY8" fmla="*/ 60683 h 353957"/>
                  <a:gd name="connsiteX9" fmla="*/ 20574 w 433170"/>
                  <a:gd name="connsiteY9" fmla="*/ 60683 h 353957"/>
                  <a:gd name="connsiteX10" fmla="*/ 20574 w 433170"/>
                  <a:gd name="connsiteY10" fmla="*/ 208797 h 353957"/>
                  <a:gd name="connsiteX11" fmla="*/ 31528 w 433170"/>
                  <a:gd name="connsiteY11" fmla="*/ 220227 h 353957"/>
                  <a:gd name="connsiteX12" fmla="*/ 180784 w 433170"/>
                  <a:gd name="connsiteY12" fmla="*/ 220227 h 353957"/>
                  <a:gd name="connsiteX13" fmla="*/ 192691 w 433170"/>
                  <a:gd name="connsiteY13" fmla="*/ 239658 h 353957"/>
                  <a:gd name="connsiteX14" fmla="*/ 29813 w 433170"/>
                  <a:gd name="connsiteY14" fmla="*/ 239658 h 353957"/>
                  <a:gd name="connsiteX15" fmla="*/ 0 w 433170"/>
                  <a:gd name="connsiteY15" fmla="*/ 210035 h 353957"/>
                  <a:gd name="connsiteX16" fmla="*/ 201359 w 433170"/>
                  <a:gd name="connsiteY16" fmla="*/ 325288 h 353957"/>
                  <a:gd name="connsiteX17" fmla="*/ 239935 w 433170"/>
                  <a:gd name="connsiteY17" fmla="*/ 261946 h 353957"/>
                  <a:gd name="connsiteX18" fmla="*/ 192405 w 433170"/>
                  <a:gd name="connsiteY18" fmla="*/ 126787 h 353957"/>
                  <a:gd name="connsiteX19" fmla="*/ 313754 w 433170"/>
                  <a:gd name="connsiteY19" fmla="*/ 44871 h 353957"/>
                  <a:gd name="connsiteX20" fmla="*/ 429292 w 433170"/>
                  <a:gd name="connsiteY20" fmla="*/ 134311 h 353957"/>
                  <a:gd name="connsiteX21" fmla="*/ 372618 w 433170"/>
                  <a:gd name="connsiteY21" fmla="*/ 266232 h 353957"/>
                  <a:gd name="connsiteX22" fmla="*/ 415957 w 433170"/>
                  <a:gd name="connsiteY22" fmla="*/ 329097 h 353957"/>
                  <a:gd name="connsiteX23" fmla="*/ 368618 w 433170"/>
                  <a:gd name="connsiteY23" fmla="*/ 316810 h 353957"/>
                  <a:gd name="connsiteX24" fmla="*/ 355092 w 433170"/>
                  <a:gd name="connsiteY24" fmla="*/ 353577 h 353957"/>
                  <a:gd name="connsiteX25" fmla="*/ 304324 w 433170"/>
                  <a:gd name="connsiteY25" fmla="*/ 288140 h 353957"/>
                  <a:gd name="connsiteX26" fmla="*/ 265748 w 433170"/>
                  <a:gd name="connsiteY26" fmla="*/ 353958 h 353957"/>
                  <a:gd name="connsiteX27" fmla="*/ 248221 w 433170"/>
                  <a:gd name="connsiteY27" fmla="*/ 314334 h 353957"/>
                  <a:gd name="connsiteX28" fmla="*/ 201835 w 433170"/>
                  <a:gd name="connsiteY28" fmla="*/ 164982 h 353957"/>
                  <a:gd name="connsiteX29" fmla="*/ 309943 w 433170"/>
                  <a:gd name="connsiteY29" fmla="*/ 265375 h 353957"/>
                  <a:gd name="connsiteX30" fmla="*/ 416814 w 433170"/>
                  <a:gd name="connsiteY30" fmla="*/ 164982 h 353957"/>
                  <a:gd name="connsiteX31" fmla="*/ 311753 w 433170"/>
                  <a:gd name="connsiteY31" fmla="*/ 62397 h 353957"/>
                  <a:gd name="connsiteX32" fmla="*/ 201835 w 433170"/>
                  <a:gd name="connsiteY32" fmla="*/ 164982 h 353957"/>
                  <a:gd name="connsiteX33" fmla="*/ 228124 w 433170"/>
                  <a:gd name="connsiteY33" fmla="*/ 164982 h 353957"/>
                  <a:gd name="connsiteX34" fmla="*/ 252032 w 433170"/>
                  <a:gd name="connsiteY34" fmla="*/ 109165 h 353957"/>
                  <a:gd name="connsiteX35" fmla="*/ 309943 w 433170"/>
                  <a:gd name="connsiteY35" fmla="*/ 86496 h 353957"/>
                  <a:gd name="connsiteX36" fmla="*/ 367093 w 433170"/>
                  <a:gd name="connsiteY36" fmla="*/ 109641 h 353957"/>
                  <a:gd name="connsiteX37" fmla="*/ 390525 w 433170"/>
                  <a:gd name="connsiteY37" fmla="*/ 164982 h 353957"/>
                  <a:gd name="connsiteX38" fmla="*/ 309943 w 433170"/>
                  <a:gd name="connsiteY38" fmla="*/ 241277 h 353957"/>
                  <a:gd name="connsiteX39" fmla="*/ 228124 w 433170"/>
                  <a:gd name="connsiteY39" fmla="*/ 164982 h 353957"/>
                  <a:gd name="connsiteX40" fmla="*/ 246031 w 433170"/>
                  <a:gd name="connsiteY40" fmla="*/ 164982 h 353957"/>
                  <a:gd name="connsiteX41" fmla="*/ 309943 w 433170"/>
                  <a:gd name="connsiteY41" fmla="*/ 224894 h 353957"/>
                  <a:gd name="connsiteX42" fmla="*/ 372999 w 433170"/>
                  <a:gd name="connsiteY42" fmla="*/ 164982 h 353957"/>
                  <a:gd name="connsiteX43" fmla="*/ 309943 w 433170"/>
                  <a:gd name="connsiteY43" fmla="*/ 103355 h 353957"/>
                  <a:gd name="connsiteX44" fmla="*/ 246031 w 433170"/>
                  <a:gd name="connsiteY44" fmla="*/ 164982 h 353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33170" h="353957">
                    <a:moveTo>
                      <a:pt x="0" y="49729"/>
                    </a:moveTo>
                    <a:lnTo>
                      <a:pt x="51625" y="9"/>
                    </a:lnTo>
                    <a:lnTo>
                      <a:pt x="335852" y="9"/>
                    </a:lnTo>
                    <a:cubicBezTo>
                      <a:pt x="352711" y="-372"/>
                      <a:pt x="367093" y="11629"/>
                      <a:pt x="369094" y="27822"/>
                    </a:cubicBezTo>
                    <a:lnTo>
                      <a:pt x="369094" y="42205"/>
                    </a:lnTo>
                    <a:lnTo>
                      <a:pt x="348520" y="35156"/>
                    </a:lnTo>
                    <a:cubicBezTo>
                      <a:pt x="348901" y="27250"/>
                      <a:pt x="342709" y="20488"/>
                      <a:pt x="334518" y="19821"/>
                    </a:cubicBezTo>
                    <a:lnTo>
                      <a:pt x="62579" y="19821"/>
                    </a:lnTo>
                    <a:lnTo>
                      <a:pt x="62579" y="60683"/>
                    </a:lnTo>
                    <a:lnTo>
                      <a:pt x="20574" y="60683"/>
                    </a:lnTo>
                    <a:lnTo>
                      <a:pt x="20574" y="208797"/>
                    </a:lnTo>
                    <a:cubicBezTo>
                      <a:pt x="21145" y="214607"/>
                      <a:pt x="25622" y="219274"/>
                      <a:pt x="31528" y="220227"/>
                    </a:cubicBezTo>
                    <a:lnTo>
                      <a:pt x="180784" y="220227"/>
                    </a:lnTo>
                    <a:lnTo>
                      <a:pt x="192691" y="239658"/>
                    </a:lnTo>
                    <a:lnTo>
                      <a:pt x="29813" y="239658"/>
                    </a:lnTo>
                    <a:cubicBezTo>
                      <a:pt x="14001" y="237467"/>
                      <a:pt x="1810" y="225275"/>
                      <a:pt x="0" y="210035"/>
                    </a:cubicBezTo>
                    <a:close/>
                    <a:moveTo>
                      <a:pt x="201359" y="325288"/>
                    </a:moveTo>
                    <a:lnTo>
                      <a:pt x="239935" y="261946"/>
                    </a:lnTo>
                    <a:cubicBezTo>
                      <a:pt x="194691" y="232133"/>
                      <a:pt x="175260" y="176983"/>
                      <a:pt x="192405" y="126787"/>
                    </a:cubicBezTo>
                    <a:cubicBezTo>
                      <a:pt x="209455" y="76495"/>
                      <a:pt x="258889" y="43157"/>
                      <a:pt x="313754" y="44871"/>
                    </a:cubicBezTo>
                    <a:cubicBezTo>
                      <a:pt x="368618" y="46681"/>
                      <a:pt x="415671" y="83067"/>
                      <a:pt x="429292" y="134311"/>
                    </a:cubicBezTo>
                    <a:cubicBezTo>
                      <a:pt x="442913" y="185556"/>
                      <a:pt x="419862" y="239277"/>
                      <a:pt x="372618" y="266232"/>
                    </a:cubicBezTo>
                    <a:lnTo>
                      <a:pt x="415957" y="329097"/>
                    </a:lnTo>
                    <a:lnTo>
                      <a:pt x="368618" y="316810"/>
                    </a:lnTo>
                    <a:lnTo>
                      <a:pt x="355092" y="353577"/>
                    </a:lnTo>
                    <a:lnTo>
                      <a:pt x="304324" y="288140"/>
                    </a:lnTo>
                    <a:lnTo>
                      <a:pt x="265748" y="353958"/>
                    </a:lnTo>
                    <a:lnTo>
                      <a:pt x="248221" y="314334"/>
                    </a:lnTo>
                    <a:close/>
                    <a:moveTo>
                      <a:pt x="201835" y="164982"/>
                    </a:moveTo>
                    <a:cubicBezTo>
                      <a:pt x="204597" y="220703"/>
                      <a:pt x="252032" y="264708"/>
                      <a:pt x="309943" y="265375"/>
                    </a:cubicBezTo>
                    <a:cubicBezTo>
                      <a:pt x="367379" y="264042"/>
                      <a:pt x="414051" y="220227"/>
                      <a:pt x="416814" y="164982"/>
                    </a:cubicBezTo>
                    <a:cubicBezTo>
                      <a:pt x="415290" y="109451"/>
                      <a:pt x="369284" y="64588"/>
                      <a:pt x="311753" y="62397"/>
                    </a:cubicBezTo>
                    <a:cubicBezTo>
                      <a:pt x="252317" y="62112"/>
                      <a:pt x="203549" y="107641"/>
                      <a:pt x="201835" y="164982"/>
                    </a:cubicBezTo>
                    <a:close/>
                    <a:moveTo>
                      <a:pt x="228124" y="164982"/>
                    </a:moveTo>
                    <a:cubicBezTo>
                      <a:pt x="228029" y="144027"/>
                      <a:pt x="236601" y="123929"/>
                      <a:pt x="252032" y="109165"/>
                    </a:cubicBezTo>
                    <a:cubicBezTo>
                      <a:pt x="267367" y="94402"/>
                      <a:pt x="288322" y="86210"/>
                      <a:pt x="309943" y="86496"/>
                    </a:cubicBezTo>
                    <a:cubicBezTo>
                      <a:pt x="331470" y="86591"/>
                      <a:pt x="352044" y="94878"/>
                      <a:pt x="367093" y="109641"/>
                    </a:cubicBezTo>
                    <a:cubicBezTo>
                      <a:pt x="382238" y="124310"/>
                      <a:pt x="390620" y="144217"/>
                      <a:pt x="390525" y="164982"/>
                    </a:cubicBezTo>
                    <a:cubicBezTo>
                      <a:pt x="389573" y="207178"/>
                      <a:pt x="353854" y="241087"/>
                      <a:pt x="309943" y="241277"/>
                    </a:cubicBezTo>
                    <a:cubicBezTo>
                      <a:pt x="265557" y="241753"/>
                      <a:pt x="229076" y="207749"/>
                      <a:pt x="228124" y="164982"/>
                    </a:cubicBezTo>
                    <a:close/>
                    <a:moveTo>
                      <a:pt x="246031" y="164982"/>
                    </a:moveTo>
                    <a:cubicBezTo>
                      <a:pt x="247841" y="197938"/>
                      <a:pt x="275749" y="224037"/>
                      <a:pt x="309943" y="224894"/>
                    </a:cubicBezTo>
                    <a:cubicBezTo>
                      <a:pt x="343948" y="223561"/>
                      <a:pt x="371284" y="197653"/>
                      <a:pt x="372999" y="164982"/>
                    </a:cubicBezTo>
                    <a:cubicBezTo>
                      <a:pt x="372142" y="131644"/>
                      <a:pt x="344519" y="104688"/>
                      <a:pt x="309943" y="103355"/>
                    </a:cubicBezTo>
                    <a:cubicBezTo>
                      <a:pt x="275082" y="104212"/>
                      <a:pt x="246983" y="131263"/>
                      <a:pt x="246031" y="1649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A6405E-C2EC-06B4-B2FB-F43CC0FB2906}"/>
                </a:ext>
              </a:extLst>
            </p:cNvPr>
            <p:cNvGrpSpPr/>
            <p:nvPr/>
          </p:nvGrpSpPr>
          <p:grpSpPr>
            <a:xfrm>
              <a:off x="10908000" y="2660812"/>
              <a:ext cx="825766" cy="321228"/>
              <a:chOff x="4793047" y="6345339"/>
              <a:chExt cx="825766" cy="321228"/>
            </a:xfrm>
          </p:grpSpPr>
          <p:grpSp>
            <p:nvGrpSpPr>
              <p:cNvPr id="1088" name="Group 1087">
                <a:extLst>
                  <a:ext uri="{FF2B5EF4-FFF2-40B4-BE49-F238E27FC236}">
                    <a16:creationId xmlns:a16="http://schemas.microsoft.com/office/drawing/2014/main" id="{B85DC469-A8F9-28D5-A3BE-3652E1E6F7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6811" y="6447367"/>
                <a:ext cx="252002" cy="126000"/>
                <a:chOff x="7568353" y="933450"/>
                <a:chExt cx="171450" cy="85725"/>
              </a:xfrm>
              <a:noFill/>
            </p:grpSpPr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8B3799A-1546-2069-978D-AF718E0C996A}"/>
                    </a:ext>
                  </a:extLst>
                </p:cNvPr>
                <p:cNvSpPr/>
                <p:nvPr/>
              </p:nvSpPr>
              <p:spPr>
                <a:xfrm>
                  <a:off x="7568353" y="933450"/>
                  <a:ext cx="171450" cy="85725"/>
                </a:xfrm>
                <a:custGeom>
                  <a:avLst/>
                  <a:gdLst>
                    <a:gd name="connsiteX0" fmla="*/ 0 w 171450"/>
                    <a:gd name="connsiteY0" fmla="*/ 42863 h 85725"/>
                    <a:gd name="connsiteX1" fmla="*/ 85725 w 171450"/>
                    <a:gd name="connsiteY1" fmla="*/ 0 h 85725"/>
                    <a:gd name="connsiteX2" fmla="*/ 171450 w 171450"/>
                    <a:gd name="connsiteY2" fmla="*/ 42863 h 85725"/>
                    <a:gd name="connsiteX3" fmla="*/ 85725 w 171450"/>
                    <a:gd name="connsiteY3" fmla="*/ 85725 h 85725"/>
                    <a:gd name="connsiteX4" fmla="*/ 0 w 171450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85725">
                      <a:moveTo>
                        <a:pt x="0" y="42863"/>
                      </a:moveTo>
                      <a:cubicBezTo>
                        <a:pt x="21146" y="15716"/>
                        <a:pt x="52578" y="0"/>
                        <a:pt x="85725" y="0"/>
                      </a:cubicBezTo>
                      <a:cubicBezTo>
                        <a:pt x="118872" y="0"/>
                        <a:pt x="150304" y="15716"/>
                        <a:pt x="171450" y="42863"/>
                      </a:cubicBezTo>
                      <a:cubicBezTo>
                        <a:pt x="150304" y="70009"/>
                        <a:pt x="118872" y="85725"/>
                        <a:pt x="85725" y="85725"/>
                      </a:cubicBezTo>
                      <a:cubicBezTo>
                        <a:pt x="52578" y="85725"/>
                        <a:pt x="21146" y="70009"/>
                        <a:pt x="0" y="42863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D57D338E-7421-5102-40AA-296D566FD827}"/>
                    </a:ext>
                  </a:extLst>
                </p:cNvPr>
                <p:cNvSpPr/>
                <p:nvPr/>
              </p:nvSpPr>
              <p:spPr>
                <a:xfrm>
                  <a:off x="7623224" y="943432"/>
                  <a:ext cx="61722" cy="65759"/>
                </a:xfrm>
                <a:custGeom>
                  <a:avLst/>
                  <a:gdLst>
                    <a:gd name="connsiteX0" fmla="*/ 61722 w 61722"/>
                    <a:gd name="connsiteY0" fmla="*/ 32880 h 65759"/>
                    <a:gd name="connsiteX1" fmla="*/ 30861 w 61722"/>
                    <a:gd name="connsiteY1" fmla="*/ 65760 h 65759"/>
                    <a:gd name="connsiteX2" fmla="*/ 0 w 61722"/>
                    <a:gd name="connsiteY2" fmla="*/ 32880 h 65759"/>
                    <a:gd name="connsiteX3" fmla="*/ 30861 w 61722"/>
                    <a:gd name="connsiteY3" fmla="*/ 0 h 65759"/>
                    <a:gd name="connsiteX4" fmla="*/ 61722 w 61722"/>
                    <a:gd name="connsiteY4" fmla="*/ 32880 h 6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22" h="65759">
                      <a:moveTo>
                        <a:pt x="61722" y="32880"/>
                      </a:moveTo>
                      <a:cubicBezTo>
                        <a:pt x="61722" y="51039"/>
                        <a:pt x="47905" y="65760"/>
                        <a:pt x="30861" y="65760"/>
                      </a:cubicBezTo>
                      <a:cubicBezTo>
                        <a:pt x="13817" y="65760"/>
                        <a:pt x="0" y="51039"/>
                        <a:pt x="0" y="32880"/>
                      </a:cubicBezTo>
                      <a:cubicBezTo>
                        <a:pt x="0" y="14721"/>
                        <a:pt x="13817" y="0"/>
                        <a:pt x="30861" y="0"/>
                      </a:cubicBezTo>
                      <a:cubicBezTo>
                        <a:pt x="47905" y="0"/>
                        <a:pt x="61722" y="14721"/>
                        <a:pt x="61722" y="3288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01F41FF7-5F31-F7BC-9293-DC27910C73ED}"/>
                    </a:ext>
                  </a:extLst>
                </p:cNvPr>
                <p:cNvSpPr/>
                <p:nvPr/>
              </p:nvSpPr>
              <p:spPr>
                <a:xfrm>
                  <a:off x="7633498" y="954392"/>
                  <a:ext cx="41147" cy="43839"/>
                </a:xfrm>
                <a:custGeom>
                  <a:avLst/>
                  <a:gdLst>
                    <a:gd name="connsiteX0" fmla="*/ 41148 w 41147"/>
                    <a:gd name="connsiteY0" fmla="*/ 21920 h 43839"/>
                    <a:gd name="connsiteX1" fmla="*/ 20574 w 41147"/>
                    <a:gd name="connsiteY1" fmla="*/ 43840 h 43839"/>
                    <a:gd name="connsiteX2" fmla="*/ 0 w 41147"/>
                    <a:gd name="connsiteY2" fmla="*/ 21920 h 43839"/>
                    <a:gd name="connsiteX3" fmla="*/ 20574 w 41147"/>
                    <a:gd name="connsiteY3" fmla="*/ 0 h 43839"/>
                    <a:gd name="connsiteX4" fmla="*/ 41148 w 41147"/>
                    <a:gd name="connsiteY4" fmla="*/ 21920 h 43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147" h="43839">
                      <a:moveTo>
                        <a:pt x="41148" y="21920"/>
                      </a:moveTo>
                      <a:cubicBezTo>
                        <a:pt x="41148" y="34026"/>
                        <a:pt x="31937" y="43840"/>
                        <a:pt x="20574" y="43840"/>
                      </a:cubicBezTo>
                      <a:cubicBezTo>
                        <a:pt x="9211" y="43840"/>
                        <a:pt x="0" y="34026"/>
                        <a:pt x="0" y="21920"/>
                      </a:cubicBezTo>
                      <a:cubicBezTo>
                        <a:pt x="0" y="9814"/>
                        <a:pt x="9211" y="0"/>
                        <a:pt x="20574" y="0"/>
                      </a:cubicBezTo>
                      <a:cubicBezTo>
                        <a:pt x="31937" y="0"/>
                        <a:pt x="41148" y="9814"/>
                        <a:pt x="41148" y="2192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6C1F45C1-5C9D-21D8-7823-3CF674D8DE3C}"/>
                  </a:ext>
                </a:extLst>
              </p:cNvPr>
              <p:cNvSpPr txBox="1"/>
              <p:nvPr/>
            </p:nvSpPr>
            <p:spPr>
              <a:xfrm>
                <a:off x="5046881" y="6373299"/>
                <a:ext cx="319663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12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PIN</a:t>
                </a:r>
              </a:p>
            </p:txBody>
          </p:sp>
          <p:pic>
            <p:nvPicPr>
              <p:cNvPr id="1091" name="Graphic 1090" descr="Fingerprint with solid fill">
                <a:extLst>
                  <a:ext uri="{FF2B5EF4-FFF2-40B4-BE49-F238E27FC236}">
                    <a16:creationId xmlns:a16="http://schemas.microsoft.com/office/drawing/2014/main" id="{E118BE61-D657-B2F4-8A38-D01CA4A7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93047" y="6345339"/>
                <a:ext cx="321228" cy="321228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5FA13B-B01B-1ED4-B813-349DAE68C887}"/>
                </a:ext>
              </a:extLst>
            </p:cNvPr>
            <p:cNvGrpSpPr/>
            <p:nvPr/>
          </p:nvGrpSpPr>
          <p:grpSpPr>
            <a:xfrm>
              <a:off x="10921137" y="3071595"/>
              <a:ext cx="812629" cy="446278"/>
              <a:chOff x="10785943" y="5489706"/>
              <a:chExt cx="812629" cy="446278"/>
            </a:xfrm>
          </p:grpSpPr>
          <p:pic>
            <p:nvPicPr>
              <p:cNvPr id="1086" name="Graphic 1085" descr="Key outline">
                <a:extLst>
                  <a:ext uri="{FF2B5EF4-FFF2-40B4-BE49-F238E27FC236}">
                    <a16:creationId xmlns:a16="http://schemas.microsoft.com/office/drawing/2014/main" id="{F5E4DB74-1918-43F0-FD88-856A83D5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2250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CA330D6-AB94-B63B-CC15-BA9962E8F13B}"/>
                  </a:ext>
                </a:extLst>
              </p:cNvPr>
              <p:cNvSpPr txBox="1"/>
              <p:nvPr/>
            </p:nvSpPr>
            <p:spPr>
              <a:xfrm>
                <a:off x="10785943" y="5489706"/>
                <a:ext cx="81262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Holder AuthN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68D439-81A3-76E1-D098-2BB3332D2603}"/>
                </a:ext>
              </a:extLst>
            </p:cNvPr>
            <p:cNvGrpSpPr/>
            <p:nvPr/>
          </p:nvGrpSpPr>
          <p:grpSpPr>
            <a:xfrm>
              <a:off x="11229228" y="4024013"/>
              <a:ext cx="504538" cy="465328"/>
              <a:chOff x="11062681" y="5489706"/>
              <a:chExt cx="504538" cy="465328"/>
            </a:xfrm>
          </p:grpSpPr>
          <p:pic>
            <p:nvPicPr>
              <p:cNvPr id="1084" name="Graphic 1083" descr="Key outline">
                <a:extLst>
                  <a:ext uri="{FF2B5EF4-FFF2-40B4-BE49-F238E27FC236}">
                    <a16:creationId xmlns:a16="http://schemas.microsoft.com/office/drawing/2014/main" id="{57EC3A94-B2EB-03BF-AD5B-991D3172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191147" y="557896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2F27E9DA-9085-9A90-89E2-09F35C9E6AD0}"/>
                  </a:ext>
                </a:extLst>
              </p:cNvPr>
              <p:cNvSpPr txBox="1"/>
              <p:nvPr/>
            </p:nvSpPr>
            <p:spPr>
              <a:xfrm>
                <a:off x="11062681" y="5489706"/>
                <a:ext cx="504538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4A95ED7-C19C-9E67-CB34-0E094BF2952F}"/>
                </a:ext>
              </a:extLst>
            </p:cNvPr>
            <p:cNvGrpSpPr/>
            <p:nvPr/>
          </p:nvGrpSpPr>
          <p:grpSpPr>
            <a:xfrm>
              <a:off x="11398108" y="3508468"/>
              <a:ext cx="335658" cy="379187"/>
              <a:chOff x="10749568" y="5635101"/>
              <a:chExt cx="350430" cy="395875"/>
            </a:xfrm>
          </p:grpSpPr>
          <p:pic>
            <p:nvPicPr>
              <p:cNvPr id="1065" name="Graphic 1064" descr="Paper with solid fill">
                <a:extLst>
                  <a:ext uri="{FF2B5EF4-FFF2-40B4-BE49-F238E27FC236}">
                    <a16:creationId xmlns:a16="http://schemas.microsoft.com/office/drawing/2014/main" id="{EE051050-C0EE-B6F3-0BE6-4F30EFD10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2BA5A9C9-033B-FF42-844C-816C260033F4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</a:t>
                </a: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DCABB208-7CEE-F8C8-0134-3813F2F134DB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4D2A03AD-DB65-5AC0-D3F6-2F209597C85D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2F724A4D-1F20-606B-458D-144EC4E1ED18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773AAB28-D303-D618-FD04-35ECEAEF1303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0EC42A-D70E-E771-E9D8-4EE5AD18A265}"/>
                </a:ext>
              </a:extLst>
            </p:cNvPr>
            <p:cNvGrpSpPr/>
            <p:nvPr/>
          </p:nvGrpSpPr>
          <p:grpSpPr>
            <a:xfrm>
              <a:off x="11001060" y="4965629"/>
              <a:ext cx="732706" cy="446278"/>
              <a:chOff x="319523" y="5081988"/>
              <a:chExt cx="732706" cy="446278"/>
            </a:xfrm>
          </p:grpSpPr>
          <p:pic>
            <p:nvPicPr>
              <p:cNvPr id="1059" name="Graphic 1058" descr="Key outline">
                <a:extLst>
                  <a:ext uri="{FF2B5EF4-FFF2-40B4-BE49-F238E27FC236}">
                    <a16:creationId xmlns:a16="http://schemas.microsoft.com/office/drawing/2014/main" id="{3FB0D03E-834C-953A-992B-184589B95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676157" y="5152194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85684796-2CF6-BB1E-FE23-69E2FE682D46}"/>
                  </a:ext>
                </a:extLst>
              </p:cNvPr>
              <p:cNvSpPr txBox="1"/>
              <p:nvPr/>
            </p:nvSpPr>
            <p:spPr>
              <a:xfrm>
                <a:off x="319523" y="5081988"/>
                <a:ext cx="732706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BFC1F4-CF04-28DD-437A-622A49380A3E}"/>
                </a:ext>
              </a:extLst>
            </p:cNvPr>
            <p:cNvGrpSpPr/>
            <p:nvPr/>
          </p:nvGrpSpPr>
          <p:grpSpPr>
            <a:xfrm>
              <a:off x="11112277" y="2137307"/>
              <a:ext cx="621489" cy="446278"/>
              <a:chOff x="10966769" y="5489706"/>
              <a:chExt cx="621489" cy="446278"/>
            </a:xfrm>
          </p:grpSpPr>
          <p:pic>
            <p:nvPicPr>
              <p:cNvPr id="1056" name="Graphic 1055" descr="Key outline">
                <a:extLst>
                  <a:ext uri="{FF2B5EF4-FFF2-40B4-BE49-F238E27FC236}">
                    <a16:creationId xmlns:a16="http://schemas.microsoft.com/office/drawing/2014/main" id="{3AD38416-1CFA-B47A-695A-83462A69F5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12186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86BDF1E3-5DF2-D8AB-DB86-207AAB9305CA}"/>
                  </a:ext>
                </a:extLst>
              </p:cNvPr>
              <p:cNvSpPr txBox="1"/>
              <p:nvPr/>
            </p:nvSpPr>
            <p:spPr>
              <a:xfrm>
                <a:off x="10966769" y="5489706"/>
                <a:ext cx="62148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Wallet AuthN</a:t>
                </a:r>
              </a:p>
            </p:txBody>
          </p:sp>
        </p:grpSp>
        <p:pic>
          <p:nvPicPr>
            <p:cNvPr id="1041" name="Graphic 1040" descr="Lock with solid fill">
              <a:extLst>
                <a:ext uri="{FF2B5EF4-FFF2-40B4-BE49-F238E27FC236}">
                  <a16:creationId xmlns:a16="http://schemas.microsoft.com/office/drawing/2014/main" id="{4855DBF7-FCC6-5867-6066-D3E6DA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358678" y="5823748"/>
              <a:ext cx="375088" cy="375088"/>
            </a:xfrm>
            <a:prstGeom prst="rect">
              <a:avLst/>
            </a:prstGeom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36C8A6D7-7166-B536-9A6A-DC357A1368A4}"/>
                </a:ext>
              </a:extLst>
            </p:cNvPr>
            <p:cNvGrpSpPr/>
            <p:nvPr/>
          </p:nvGrpSpPr>
          <p:grpSpPr>
            <a:xfrm>
              <a:off x="11086549" y="5379154"/>
              <a:ext cx="647217" cy="446278"/>
              <a:chOff x="11005275" y="5489706"/>
              <a:chExt cx="647217" cy="446278"/>
            </a:xfrm>
          </p:grpSpPr>
          <p:pic>
            <p:nvPicPr>
              <p:cNvPr id="1053" name="Graphic 1052" descr="Key outline">
                <a:extLst>
                  <a:ext uri="{FF2B5EF4-FFF2-40B4-BE49-F238E27FC236}">
                    <a16:creationId xmlns:a16="http://schemas.microsoft.com/office/drawing/2014/main" id="{2AE2040E-B166-C3F7-466A-F67AF7F6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7642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AACAD7F3-D016-2131-7DC4-F297F6CCE5FB}"/>
                  </a:ext>
                </a:extLst>
              </p:cNvPr>
              <p:cNvSpPr txBox="1"/>
              <p:nvPr/>
            </p:nvSpPr>
            <p:spPr>
              <a:xfrm>
                <a:off x="11005275" y="5489706"/>
                <a:ext cx="647217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Attestation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3611880" y="6347892"/>
            <a:ext cx="826079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pPr algn="r"/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STRIDE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–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poofing,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ampering,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epudiation,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nformation Disclosure,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enial of Service,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levation of Privilege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4295F-2E17-3233-0748-C3393BEB7CBB}"/>
              </a:ext>
            </a:extLst>
          </p:cNvPr>
          <p:cNvSpPr/>
          <p:nvPr/>
        </p:nvSpPr>
        <p:spPr>
          <a:xfrm>
            <a:off x="360000" y="2016000"/>
            <a:ext cx="11520000" cy="14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437E1-86CD-9A5C-8D1D-B45979044C7C}"/>
              </a:ext>
            </a:extLst>
          </p:cNvPr>
          <p:cNvSpPr/>
          <p:nvPr/>
        </p:nvSpPr>
        <p:spPr>
          <a:xfrm>
            <a:off x="360000" y="3420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C82FA-0A12-C846-ABF4-9271E7F859CD}"/>
              </a:ext>
            </a:extLst>
          </p:cNvPr>
          <p:cNvSpPr/>
          <p:nvPr/>
        </p:nvSpPr>
        <p:spPr>
          <a:xfrm>
            <a:off x="360000" y="4356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2ED6-BB8B-82A8-F668-DBC34B2E962A}"/>
              </a:ext>
            </a:extLst>
          </p:cNvPr>
          <p:cNvSpPr/>
          <p:nvPr/>
        </p:nvSpPr>
        <p:spPr>
          <a:xfrm>
            <a:off x="360000" y="5292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2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/>
        </p:nvGraphicFramePr>
        <p:xfrm>
          <a:off x="1188000" y="119700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tx1"/>
                          </a:solidFill>
                          <a:effectLst/>
                          <a:latin typeface="-apple-system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holder identity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wallet is authentic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person identification data (PID) from wallet from authentic source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PID belongs to wallet holder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attestations of attributes from wallet from authentic source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-apple-system"/>
                        </a:rPr>
                        <a:t>attestations of attributes belong to wallet holder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– checklist (3)</a:t>
            </a:r>
            <a:endParaRPr lang="en-FR" b="1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C4BA49-3CEC-E947-F51F-0B63BB11C68B}"/>
              </a:ext>
            </a:extLst>
          </p:cNvPr>
          <p:cNvGrpSpPr/>
          <p:nvPr/>
        </p:nvGrpSpPr>
        <p:grpSpPr>
          <a:xfrm>
            <a:off x="10080000" y="5226128"/>
            <a:ext cx="311790" cy="1103790"/>
            <a:chOff x="10080000" y="5076000"/>
            <a:chExt cx="311790" cy="1103790"/>
          </a:xfrm>
        </p:grpSpPr>
        <p:pic>
          <p:nvPicPr>
            <p:cNvPr id="45" name="Graphic 44" descr="Checkmark with solid fill">
              <a:extLst>
                <a:ext uri="{FF2B5EF4-FFF2-40B4-BE49-F238E27FC236}">
                  <a16:creationId xmlns:a16="http://schemas.microsoft.com/office/drawing/2014/main" id="{9FAF14E3-132B-A1E7-8B57-A61CEBA89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076000"/>
              <a:ext cx="311790" cy="311790"/>
            </a:xfrm>
            <a:prstGeom prst="rect">
              <a:avLst/>
            </a:prstGeom>
          </p:spPr>
        </p:pic>
        <p:pic>
          <p:nvPicPr>
            <p:cNvPr id="51" name="Graphic 50" descr="Checkmark with solid fill">
              <a:extLst>
                <a:ext uri="{FF2B5EF4-FFF2-40B4-BE49-F238E27FC236}">
                  <a16:creationId xmlns:a16="http://schemas.microsoft.com/office/drawing/2014/main" id="{EBE2520D-683E-C15A-3581-35654A0E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868000"/>
              <a:ext cx="311790" cy="31179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5A4B9-9A3C-A8BA-0A32-491339128154}"/>
              </a:ext>
            </a:extLst>
          </p:cNvPr>
          <p:cNvGrpSpPr/>
          <p:nvPr/>
        </p:nvGrpSpPr>
        <p:grpSpPr>
          <a:xfrm>
            <a:off x="10080000" y="1662128"/>
            <a:ext cx="311790" cy="3479790"/>
            <a:chOff x="10080000" y="1512000"/>
            <a:chExt cx="311790" cy="3479790"/>
          </a:xfrm>
        </p:grpSpPr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A11CF4AD-94AE-9164-2C02-4BD2E49E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1512000"/>
              <a:ext cx="311790" cy="311790"/>
            </a:xfrm>
            <a:prstGeom prst="rect">
              <a:avLst/>
            </a:prstGeom>
          </p:spPr>
        </p:pic>
        <p:pic>
          <p:nvPicPr>
            <p:cNvPr id="42" name="Graphic 41" descr="Checkmark with solid fill">
              <a:extLst>
                <a:ext uri="{FF2B5EF4-FFF2-40B4-BE49-F238E27FC236}">
                  <a16:creationId xmlns:a16="http://schemas.microsoft.com/office/drawing/2014/main" id="{4E86F70E-404C-EC9D-1382-627EA169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4680000"/>
              <a:ext cx="311790" cy="311790"/>
            </a:xfrm>
            <a:prstGeom prst="rect">
              <a:avLst/>
            </a:prstGeom>
          </p:spPr>
        </p:pic>
        <p:pic>
          <p:nvPicPr>
            <p:cNvPr id="71" name="Graphic 70" descr="Checkmark with solid fill">
              <a:extLst>
                <a:ext uri="{FF2B5EF4-FFF2-40B4-BE49-F238E27FC236}">
                  <a16:creationId xmlns:a16="http://schemas.microsoft.com/office/drawing/2014/main" id="{027C99EA-6068-0B80-2FA7-11154FFC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290714"/>
              <a:ext cx="311790" cy="311790"/>
            </a:xfrm>
            <a:prstGeom prst="rect">
              <a:avLst/>
            </a:prstGeom>
          </p:spPr>
        </p:pic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6F9EB4A-3A29-9294-E326-20604CFA375A}"/>
              </a:ext>
            </a:extLst>
          </p:cNvPr>
          <p:cNvSpPr/>
          <p:nvPr/>
        </p:nvSpPr>
        <p:spPr>
          <a:xfrm>
            <a:off x="1152000" y="5648701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9C30B5D-41E5-E184-E09A-F22FCEEBD05D}"/>
              </a:ext>
            </a:extLst>
          </p:cNvPr>
          <p:cNvSpPr/>
          <p:nvPr/>
        </p:nvSpPr>
        <p:spPr>
          <a:xfrm>
            <a:off x="1152000" y="2863415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F743BA-78D1-DF23-BC7F-2F1CAB72CB2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A762D648-7E44-190A-9CAF-D45B7670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0000" y="2846298"/>
            <a:ext cx="311790" cy="31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E8BC3166-CD52-FE59-5736-E5B06904E4FF}"/>
              </a:ext>
            </a:extLst>
          </p:cNvPr>
          <p:cNvSpPr/>
          <p:nvPr/>
        </p:nvSpPr>
        <p:spPr>
          <a:xfrm>
            <a:off x="2349319" y="6295122"/>
            <a:ext cx="4525787" cy="456858"/>
          </a:xfrm>
          <a:prstGeom prst="roundRect">
            <a:avLst/>
          </a:prstGeom>
          <a:noFill/>
          <a:ln>
            <a:solidFill>
              <a:srgbClr val="023F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/>
        </p:nvGraphicFramePr>
        <p:xfrm>
          <a:off x="9180000" y="1231200"/>
          <a:ext cx="2550461" cy="505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461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Wallet verification artefacts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60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</a:t>
                      </a:r>
                      <a:br>
                        <a:rPr lang="en-GB" sz="1200" dirty="0">
                          <a:solidFill>
                            <a:srgbClr val="38638E"/>
                          </a:solidFill>
                        </a:rPr>
                      </a:b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certificates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  <a:p>
                      <a:r>
                        <a:rPr lang="en-GB" sz="900" dirty="0"/>
                        <a:t>(not an artefact </a:t>
                      </a:r>
                      <a:r>
                        <a:rPr lang="en-GB" sz="900" i="1" dirty="0"/>
                        <a:t>per se</a:t>
                      </a:r>
                      <a:r>
                        <a:rPr lang="en-GB" sz="9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grpSp>
        <p:nvGrpSpPr>
          <p:cNvPr id="1250" name="Group 1249">
            <a:extLst>
              <a:ext uri="{FF2B5EF4-FFF2-40B4-BE49-F238E27FC236}">
                <a16:creationId xmlns:a16="http://schemas.microsoft.com/office/drawing/2014/main" id="{BF301479-C9B8-7F84-4228-4C1D8879B821}"/>
              </a:ext>
            </a:extLst>
          </p:cNvPr>
          <p:cNvGrpSpPr/>
          <p:nvPr/>
        </p:nvGrpSpPr>
        <p:grpSpPr>
          <a:xfrm>
            <a:off x="11415536" y="4431950"/>
            <a:ext cx="335658" cy="379187"/>
            <a:chOff x="10749568" y="5635101"/>
            <a:chExt cx="350430" cy="395875"/>
          </a:xfrm>
        </p:grpSpPr>
        <p:pic>
          <p:nvPicPr>
            <p:cNvPr id="1251" name="Graphic 1250" descr="Paper with solid fill">
              <a:extLst>
                <a:ext uri="{FF2B5EF4-FFF2-40B4-BE49-F238E27FC236}">
                  <a16:creationId xmlns:a16="http://schemas.microsoft.com/office/drawing/2014/main" id="{6DE08AE5-1823-3377-24F6-B7E7021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BA3DFEF7-D6CF-5C4D-1F7F-7E191F31EFE3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53" name="Group 1252">
              <a:extLst>
                <a:ext uri="{FF2B5EF4-FFF2-40B4-BE49-F238E27FC236}">
                  <a16:creationId xmlns:a16="http://schemas.microsoft.com/office/drawing/2014/main" id="{A4827675-6BF2-AD8C-C704-8799149C1B73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300A4163-90C8-B71E-4EF9-8D178F60E018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D04AB439-6273-12A7-1A7B-70B339DC3E06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CCBD6E00-CA16-D3DB-7CC0-FC42797C0A19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>
            <a:normAutofit fontScale="90000"/>
          </a:bodyPr>
          <a:lstStyle/>
          <a:p>
            <a:r>
              <a:rPr lang="da-DK" b="1" dirty="0"/>
              <a:t>3. </a:t>
            </a:r>
            <a:r>
              <a:rPr lang="da-DK" b="1" dirty="0" err="1"/>
              <a:t>Ownership</a:t>
            </a:r>
            <a:r>
              <a:rPr lang="da-DK" b="1" dirty="0"/>
              <a:t> of person </a:t>
            </a:r>
            <a:r>
              <a:rPr lang="da-DK" b="1" dirty="0" err="1"/>
              <a:t>identification</a:t>
            </a:r>
            <a:r>
              <a:rPr lang="da-DK" b="1" dirty="0"/>
              <a:t> data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22C10D-3DE9-C770-1EA4-272140962240}"/>
              </a:ext>
            </a:extLst>
          </p:cNvPr>
          <p:cNvGrpSpPr/>
          <p:nvPr/>
        </p:nvGrpSpPr>
        <p:grpSpPr>
          <a:xfrm>
            <a:off x="11355529" y="1730342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530F6E7-6D85-D5DE-387C-13320C3F5801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934E5A80-CAB0-A59A-9BAB-AE5DFDC3EE41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A6405E-C2EC-06B4-B2FB-F43CC0FB2906}"/>
              </a:ext>
            </a:extLst>
          </p:cNvPr>
          <p:cNvGrpSpPr/>
          <p:nvPr/>
        </p:nvGrpSpPr>
        <p:grpSpPr>
          <a:xfrm>
            <a:off x="10908000" y="2660812"/>
            <a:ext cx="825766" cy="321228"/>
            <a:chOff x="4793047" y="6345339"/>
            <a:chExt cx="825766" cy="321228"/>
          </a:xfrm>
        </p:grpSpPr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85DC469-A8F9-28D5-A3BE-3652E1E6F7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98B3799A-1546-2069-978D-AF718E0C996A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D57D338E-7421-5102-40AA-296D566FD82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01F41FF7-5F31-F7BC-9293-DC27910C73ED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1F45C1-5C9D-21D8-7823-3CF674D8DE3C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091" name="Graphic 1090" descr="Fingerprint with solid fill">
              <a:extLst>
                <a:ext uri="{FF2B5EF4-FFF2-40B4-BE49-F238E27FC236}">
                  <a16:creationId xmlns:a16="http://schemas.microsoft.com/office/drawing/2014/main" id="{E118BE61-D657-B2F4-8A38-D01CA4A75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5FA13B-B01B-1ED4-B813-349DAE68C887}"/>
              </a:ext>
            </a:extLst>
          </p:cNvPr>
          <p:cNvGrpSpPr/>
          <p:nvPr/>
        </p:nvGrpSpPr>
        <p:grpSpPr>
          <a:xfrm>
            <a:off x="10921137" y="3071595"/>
            <a:ext cx="812629" cy="446278"/>
            <a:chOff x="10785943" y="5489706"/>
            <a:chExt cx="812629" cy="446278"/>
          </a:xfrm>
        </p:grpSpPr>
        <p:pic>
          <p:nvPicPr>
            <p:cNvPr id="1086" name="Graphic 1085" descr="Key outline">
              <a:extLst>
                <a:ext uri="{FF2B5EF4-FFF2-40B4-BE49-F238E27FC236}">
                  <a16:creationId xmlns:a16="http://schemas.microsoft.com/office/drawing/2014/main" id="{F5E4DB74-1918-43F0-FD88-856A83D50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2CA330D6-AB94-B63B-CC15-BA9962E8F13B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8D439-81A3-76E1-D098-2BB3332D2603}"/>
              </a:ext>
            </a:extLst>
          </p:cNvPr>
          <p:cNvGrpSpPr/>
          <p:nvPr/>
        </p:nvGrpSpPr>
        <p:grpSpPr>
          <a:xfrm>
            <a:off x="11229228" y="4024013"/>
            <a:ext cx="504538" cy="465328"/>
            <a:chOff x="11062681" y="5489706"/>
            <a:chExt cx="504538" cy="465328"/>
          </a:xfrm>
        </p:grpSpPr>
        <p:pic>
          <p:nvPicPr>
            <p:cNvPr id="1084" name="Graphic 1083" descr="Key outline">
              <a:extLst>
                <a:ext uri="{FF2B5EF4-FFF2-40B4-BE49-F238E27FC236}">
                  <a16:creationId xmlns:a16="http://schemas.microsoft.com/office/drawing/2014/main" id="{57EC3A94-B2EB-03BF-AD5B-991D3172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F27E9DA-9085-9A90-89E2-09F35C9E6AD0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5ED7-C19C-9E67-CB34-0E094BF2952F}"/>
              </a:ext>
            </a:extLst>
          </p:cNvPr>
          <p:cNvGrpSpPr/>
          <p:nvPr/>
        </p:nvGrpSpPr>
        <p:grpSpPr>
          <a:xfrm>
            <a:off x="11398108" y="3508468"/>
            <a:ext cx="335658" cy="379187"/>
            <a:chOff x="10749568" y="5635101"/>
            <a:chExt cx="350430" cy="395875"/>
          </a:xfrm>
        </p:grpSpPr>
        <p:pic>
          <p:nvPicPr>
            <p:cNvPr id="1065" name="Graphic 1064" descr="Paper with solid fill">
              <a:extLst>
                <a:ext uri="{FF2B5EF4-FFF2-40B4-BE49-F238E27FC236}">
                  <a16:creationId xmlns:a16="http://schemas.microsoft.com/office/drawing/2014/main" id="{EE051050-C0EE-B6F3-0BE6-4F30EFD1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2BA5A9C9-033B-FF42-844C-816C260033F4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DCABB208-7CEE-F8C8-0134-3813F2F134DB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4D2A03AD-DB65-5AC0-D3F6-2F209597C85D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F724A4D-1F20-606B-458D-144EC4E1ED18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773AAB28-D303-D618-FD04-35ECEAEF1303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0EC42A-D70E-E771-E9D8-4EE5AD18A265}"/>
              </a:ext>
            </a:extLst>
          </p:cNvPr>
          <p:cNvGrpSpPr/>
          <p:nvPr/>
        </p:nvGrpSpPr>
        <p:grpSpPr>
          <a:xfrm>
            <a:off x="11001060" y="4965629"/>
            <a:ext cx="732706" cy="446278"/>
            <a:chOff x="319523" y="5081988"/>
            <a:chExt cx="732706" cy="446278"/>
          </a:xfrm>
        </p:grpSpPr>
        <p:pic>
          <p:nvPicPr>
            <p:cNvPr id="1059" name="Graphic 1058" descr="Key outline">
              <a:extLst>
                <a:ext uri="{FF2B5EF4-FFF2-40B4-BE49-F238E27FC236}">
                  <a16:creationId xmlns:a16="http://schemas.microsoft.com/office/drawing/2014/main" id="{3FB0D03E-834C-953A-992B-184589B9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85684796-2CF6-BB1E-FE23-69E2FE682D46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BFC1F4-CF04-28DD-437A-622A49380A3E}"/>
              </a:ext>
            </a:extLst>
          </p:cNvPr>
          <p:cNvGrpSpPr/>
          <p:nvPr/>
        </p:nvGrpSpPr>
        <p:grpSpPr>
          <a:xfrm>
            <a:off x="11112277" y="2137307"/>
            <a:ext cx="621489" cy="446278"/>
            <a:chOff x="10966769" y="5489706"/>
            <a:chExt cx="621489" cy="446278"/>
          </a:xfrm>
        </p:grpSpPr>
        <p:pic>
          <p:nvPicPr>
            <p:cNvPr id="1056" name="Graphic 1055" descr="Key outline">
              <a:extLst>
                <a:ext uri="{FF2B5EF4-FFF2-40B4-BE49-F238E27FC236}">
                  <a16:creationId xmlns:a16="http://schemas.microsoft.com/office/drawing/2014/main" id="{3AD38416-1CFA-B47A-695A-83462A6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6BDF1E3-5DF2-D8AB-DB86-207AAB9305CA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pic>
        <p:nvPicPr>
          <p:cNvPr id="1041" name="Graphic 1040" descr="Lock with solid fill">
            <a:extLst>
              <a:ext uri="{FF2B5EF4-FFF2-40B4-BE49-F238E27FC236}">
                <a16:creationId xmlns:a16="http://schemas.microsoft.com/office/drawing/2014/main" id="{4855DBF7-FCC6-5867-6066-D3E6DA461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8678" y="5823748"/>
            <a:ext cx="375088" cy="375088"/>
          </a:xfrm>
          <a:prstGeom prst="rect">
            <a:avLst/>
          </a:prstGeom>
        </p:spPr>
      </p:pic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36C8A6D7-7166-B536-9A6A-DC357A1368A4}"/>
              </a:ext>
            </a:extLst>
          </p:cNvPr>
          <p:cNvGrpSpPr/>
          <p:nvPr/>
        </p:nvGrpSpPr>
        <p:grpSpPr>
          <a:xfrm>
            <a:off x="11086549" y="5379154"/>
            <a:ext cx="647217" cy="446278"/>
            <a:chOff x="11005275" y="5489706"/>
            <a:chExt cx="647217" cy="446278"/>
          </a:xfrm>
        </p:grpSpPr>
        <p:pic>
          <p:nvPicPr>
            <p:cNvPr id="1053" name="Graphic 1052" descr="Key outline">
              <a:extLst>
                <a:ext uri="{FF2B5EF4-FFF2-40B4-BE49-F238E27FC236}">
                  <a16:creationId xmlns:a16="http://schemas.microsoft.com/office/drawing/2014/main" id="{2AE2040E-B166-C3F7-466A-F67AF7F6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ACAD7F3-D016-2131-7DC4-F297F6CCE5FB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9613038" y="6264072"/>
            <a:ext cx="233583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- Person Identification</a:t>
            </a:r>
          </a:p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eID – electronic Identification</a:t>
            </a:r>
          </a:p>
        </p:txBody>
      </p: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3D41A1B-8A0B-4105-7D11-AE8CE958B483}"/>
              </a:ext>
            </a:extLst>
          </p:cNvPr>
          <p:cNvGrpSpPr/>
          <p:nvPr/>
        </p:nvGrpSpPr>
        <p:grpSpPr>
          <a:xfrm>
            <a:off x="2408540" y="6346980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A991336-27AF-1C9E-672B-7602D46F8B72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C5DBE48-0DC7-CD75-6ACD-72B2A4D4F5F9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0BAC618C-0309-DD5F-20CE-1EC3EFDAAA5C}"/>
              </a:ext>
            </a:extLst>
          </p:cNvPr>
          <p:cNvGrpSpPr/>
          <p:nvPr/>
        </p:nvGrpSpPr>
        <p:grpSpPr>
          <a:xfrm>
            <a:off x="3410433" y="6342992"/>
            <a:ext cx="825766" cy="321228"/>
            <a:chOff x="4793047" y="6345339"/>
            <a:chExt cx="825766" cy="321228"/>
          </a:xfrm>
        </p:grpSpPr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54F91D9C-6E2D-797F-B03B-C4F214769B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A9BC5E99-33E4-BD6D-A736-20DA88E8FFC2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60E3A951-CBC8-BD8C-65BF-A3B322E99AE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BAF89C8-934D-1CEF-469B-5825D9026369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64" name="TextBox 1163">
              <a:extLst>
                <a:ext uri="{FF2B5EF4-FFF2-40B4-BE49-F238E27FC236}">
                  <a16:creationId xmlns:a16="http://schemas.microsoft.com/office/drawing/2014/main" id="{E2EF7223-3CC0-3C4F-2BA2-740121142F79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166" name="Graphic 1165" descr="Fingerprint with solid fill">
              <a:extLst>
                <a:ext uri="{FF2B5EF4-FFF2-40B4-BE49-F238E27FC236}">
                  <a16:creationId xmlns:a16="http://schemas.microsoft.com/office/drawing/2014/main" id="{2BAACEB2-3D3F-1B5E-1D4A-07B96D3D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287C44B8-8013-13E7-0237-1CB5D81CABDF}"/>
              </a:ext>
            </a:extLst>
          </p:cNvPr>
          <p:cNvGrpSpPr/>
          <p:nvPr/>
        </p:nvGrpSpPr>
        <p:grpSpPr>
          <a:xfrm>
            <a:off x="4031271" y="6301837"/>
            <a:ext cx="812629" cy="446278"/>
            <a:chOff x="10785943" y="5489706"/>
            <a:chExt cx="812629" cy="446278"/>
          </a:xfrm>
        </p:grpSpPr>
        <p:pic>
          <p:nvPicPr>
            <p:cNvPr id="1150" name="Graphic 1149" descr="Key outline">
              <a:extLst>
                <a:ext uri="{FF2B5EF4-FFF2-40B4-BE49-F238E27FC236}">
                  <a16:creationId xmlns:a16="http://schemas.microsoft.com/office/drawing/2014/main" id="{F6628352-B3C8-FC2E-7E95-FE55751D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162" name="TextBox 1161">
              <a:extLst>
                <a:ext uri="{FF2B5EF4-FFF2-40B4-BE49-F238E27FC236}">
                  <a16:creationId xmlns:a16="http://schemas.microsoft.com/office/drawing/2014/main" id="{6A316019-27D4-9CBE-A0BB-5A5A4D71ED34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4593910B-187E-3D04-B95F-4B66FA9C875D}"/>
              </a:ext>
            </a:extLst>
          </p:cNvPr>
          <p:cNvGrpSpPr/>
          <p:nvPr/>
        </p:nvGrpSpPr>
        <p:grpSpPr>
          <a:xfrm>
            <a:off x="5055155" y="6301837"/>
            <a:ext cx="504538" cy="465328"/>
            <a:chOff x="11062681" y="5489706"/>
            <a:chExt cx="504538" cy="465328"/>
          </a:xfrm>
        </p:grpSpPr>
        <p:pic>
          <p:nvPicPr>
            <p:cNvPr id="1139" name="Graphic 1138" descr="Key outline">
              <a:extLst>
                <a:ext uri="{FF2B5EF4-FFF2-40B4-BE49-F238E27FC236}">
                  <a16:creationId xmlns:a16="http://schemas.microsoft.com/office/drawing/2014/main" id="{C6D2812B-7915-3F99-B567-771527B25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32409A05-029E-D526-D77B-A1E0366BDF49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09157289-DD44-D059-FA1E-F2E4AC177E21}"/>
              </a:ext>
            </a:extLst>
          </p:cNvPr>
          <p:cNvGrpSpPr/>
          <p:nvPr/>
        </p:nvGrpSpPr>
        <p:grpSpPr>
          <a:xfrm>
            <a:off x="4850531" y="6310888"/>
            <a:ext cx="335658" cy="379187"/>
            <a:chOff x="10749568" y="5635101"/>
            <a:chExt cx="350430" cy="395875"/>
          </a:xfrm>
        </p:grpSpPr>
        <p:pic>
          <p:nvPicPr>
            <p:cNvPr id="1125" name="Graphic 1124" descr="Paper with solid fill">
              <a:extLst>
                <a:ext uri="{FF2B5EF4-FFF2-40B4-BE49-F238E27FC236}">
                  <a16:creationId xmlns:a16="http://schemas.microsoft.com/office/drawing/2014/main" id="{AE823193-9334-84B6-C5F3-8BAAE7DAD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126" name="TextBox 1125">
              <a:extLst>
                <a:ext uri="{FF2B5EF4-FFF2-40B4-BE49-F238E27FC236}">
                  <a16:creationId xmlns:a16="http://schemas.microsoft.com/office/drawing/2014/main" id="{E80D27BE-E72F-AAFF-606F-4D2B75E12FCC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3B5EC020-3F79-F2A4-F062-138BAE225E15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256BBCF8-FF2A-5663-94A0-74D36FA2D0D4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208FA0AC-D30B-93A7-1B3F-8CB33BA230BA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821C628-9965-1573-CAAD-C4E50DACD20F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6634574E-4173-3056-A20B-4F41A3B77D1F}"/>
              </a:ext>
            </a:extLst>
          </p:cNvPr>
          <p:cNvGrpSpPr/>
          <p:nvPr/>
        </p:nvGrpSpPr>
        <p:grpSpPr>
          <a:xfrm>
            <a:off x="2791461" y="6301837"/>
            <a:ext cx="621489" cy="446278"/>
            <a:chOff x="10966769" y="5489706"/>
            <a:chExt cx="621489" cy="446278"/>
          </a:xfrm>
        </p:grpSpPr>
        <p:pic>
          <p:nvPicPr>
            <p:cNvPr id="1121" name="Graphic 1120" descr="Key outline">
              <a:extLst>
                <a:ext uri="{FF2B5EF4-FFF2-40B4-BE49-F238E27FC236}">
                  <a16:creationId xmlns:a16="http://schemas.microsoft.com/office/drawing/2014/main" id="{6F8CEEC9-E20D-4F57-EB7E-C021E891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B04FDB9E-6890-06A6-93F4-135E5F3E9759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30CD4698-A412-4031-DCCB-82884F7F592F}"/>
              </a:ext>
            </a:extLst>
          </p:cNvPr>
          <p:cNvGrpSpPr/>
          <p:nvPr/>
        </p:nvGrpSpPr>
        <p:grpSpPr>
          <a:xfrm>
            <a:off x="3523127" y="2965685"/>
            <a:ext cx="2066555" cy="3505638"/>
            <a:chOff x="5226042" y="1981755"/>
            <a:chExt cx="2066555" cy="3505638"/>
          </a:xfrm>
        </p:grpSpPr>
        <p:pic>
          <p:nvPicPr>
            <p:cNvPr id="1266" name="Picture 4">
              <a:extLst>
                <a:ext uri="{FF2B5EF4-FFF2-40B4-BE49-F238E27FC236}">
                  <a16:creationId xmlns:a16="http://schemas.microsoft.com/office/drawing/2014/main" id="{9232071C-8A81-2394-F1F6-D2AD0AA43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E339985-D11F-A654-E8B6-D5DEE66BC906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A5815DC1-29FC-8414-731A-02399714E0D5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45A06C72-CB7E-CEA5-54DD-8CABBD8BFB39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EB37CF48-53DF-B97C-A3CA-632E8D879614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D899ECC5-64E7-CC20-6461-236DBB7229A3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44C208CA-43DC-3968-79F8-A284FC4340BE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96BA2D4C-F226-FB7F-A71E-AD51D2151FA8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DE678340-5AE3-7008-27A5-E673A462EA27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sp>
        <p:nvSpPr>
          <p:cNvPr id="1275" name="Rectangle: Rounded Corners 1274">
            <a:extLst>
              <a:ext uri="{FF2B5EF4-FFF2-40B4-BE49-F238E27FC236}">
                <a16:creationId xmlns:a16="http://schemas.microsoft.com/office/drawing/2014/main" id="{4B4E8C7F-2E98-FA69-7606-29487B118563}"/>
              </a:ext>
            </a:extLst>
          </p:cNvPr>
          <p:cNvSpPr/>
          <p:nvPr/>
        </p:nvSpPr>
        <p:spPr>
          <a:xfrm>
            <a:off x="380989" y="1231200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FC3C7082-793C-4C19-39FB-8FC1B0192250}"/>
              </a:ext>
            </a:extLst>
          </p:cNvPr>
          <p:cNvGrpSpPr/>
          <p:nvPr/>
        </p:nvGrpSpPr>
        <p:grpSpPr>
          <a:xfrm>
            <a:off x="1364613" y="1561685"/>
            <a:ext cx="1609851" cy="2457230"/>
            <a:chOff x="2632447" y="1552472"/>
            <a:chExt cx="1609851" cy="2457230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88E1EF6-D084-AAA2-1A0F-9A72A7F54B3D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D306510D-0E47-6DAA-72F6-0BF71753ED9E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1316" name="Graphic 1315" descr="Building outline">
                  <a:extLst>
                    <a:ext uri="{FF2B5EF4-FFF2-40B4-BE49-F238E27FC236}">
                      <a16:creationId xmlns:a16="http://schemas.microsoft.com/office/drawing/2014/main" id="{3F62976D-B533-1A38-7152-908CCC2FA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1B9BC0BF-E80E-CE71-A27E-7C420157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318" name="Freeform: Shape 1317">
                    <a:extLst>
                      <a:ext uri="{FF2B5EF4-FFF2-40B4-BE49-F238E27FC236}">
                        <a16:creationId xmlns:a16="http://schemas.microsoft.com/office/drawing/2014/main" id="{7177F420-EF27-BC8B-67B6-604CC0E09055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19" name="Freeform: Shape 1318">
                    <a:extLst>
                      <a:ext uri="{FF2B5EF4-FFF2-40B4-BE49-F238E27FC236}">
                        <a16:creationId xmlns:a16="http://schemas.microsoft.com/office/drawing/2014/main" id="{441E3236-0FEE-912D-9D94-2470ED60E0F8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20" name="Freeform: Shape 1319">
                    <a:extLst>
                      <a:ext uri="{FF2B5EF4-FFF2-40B4-BE49-F238E27FC236}">
                        <a16:creationId xmlns:a16="http://schemas.microsoft.com/office/drawing/2014/main" id="{8BB90196-2C49-FDA8-395A-9737A9B14FB1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1" name="Freeform: Shape 1320">
                    <a:extLst>
                      <a:ext uri="{FF2B5EF4-FFF2-40B4-BE49-F238E27FC236}">
                        <a16:creationId xmlns:a16="http://schemas.microsoft.com/office/drawing/2014/main" id="{640D48BE-586F-5404-87E9-4E51FA2E024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2" name="Freeform: Shape 1321">
                    <a:extLst>
                      <a:ext uri="{FF2B5EF4-FFF2-40B4-BE49-F238E27FC236}">
                        <a16:creationId xmlns:a16="http://schemas.microsoft.com/office/drawing/2014/main" id="{1F584DC0-2716-2BEE-3FE6-FF6B48944454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323" name="Graphic 1322" descr="Car outline">
                    <a:extLst>
                      <a:ext uri="{FF2B5EF4-FFF2-40B4-BE49-F238E27FC236}">
                        <a16:creationId xmlns:a16="http://schemas.microsoft.com/office/drawing/2014/main" id="{2CAA0850-7B1A-7483-8460-8D7291399B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5" name="TextBox 1314">
                <a:extLst>
                  <a:ext uri="{FF2B5EF4-FFF2-40B4-BE49-F238E27FC236}">
                    <a16:creationId xmlns:a16="http://schemas.microsoft.com/office/drawing/2014/main" id="{7C3DBCBF-AAE3-EB73-DD7E-6AEDA6D37AA3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36CD085-449F-0B95-6870-0CE481F046EB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303" name="Group 1302">
                <a:extLst>
                  <a:ext uri="{FF2B5EF4-FFF2-40B4-BE49-F238E27FC236}">
                    <a16:creationId xmlns:a16="http://schemas.microsoft.com/office/drawing/2014/main" id="{8AD33532-56D7-7F27-F0C2-E22D6EDAD245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305" name="Group 1304">
                  <a:extLst>
                    <a:ext uri="{FF2B5EF4-FFF2-40B4-BE49-F238E27FC236}">
                      <a16:creationId xmlns:a16="http://schemas.microsoft.com/office/drawing/2014/main" id="{559EE3D2-521A-F681-9704-387554181D46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312" name="Graphic 1311" descr="Court outline">
                    <a:extLst>
                      <a:ext uri="{FF2B5EF4-FFF2-40B4-BE49-F238E27FC236}">
                        <a16:creationId xmlns:a16="http://schemas.microsoft.com/office/drawing/2014/main" id="{0039B551-EDA1-358F-560C-4018206CC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313" name="Graphic 1312" descr="Flag outline">
                    <a:extLst>
                      <a:ext uri="{FF2B5EF4-FFF2-40B4-BE49-F238E27FC236}">
                        <a16:creationId xmlns:a16="http://schemas.microsoft.com/office/drawing/2014/main" id="{5E773B77-911A-EDFC-34C0-EE2C8C32E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6" name="Group 1305">
                  <a:extLst>
                    <a:ext uri="{FF2B5EF4-FFF2-40B4-BE49-F238E27FC236}">
                      <a16:creationId xmlns:a16="http://schemas.microsoft.com/office/drawing/2014/main" id="{8F364186-59B7-D820-1A6D-60F0EF4E6236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6A181503-9D35-C5AB-482C-EF53870F9499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308" name="Group 1307">
                    <a:extLst>
                      <a:ext uri="{FF2B5EF4-FFF2-40B4-BE49-F238E27FC236}">
                        <a16:creationId xmlns:a16="http://schemas.microsoft.com/office/drawing/2014/main" id="{431E5F1F-7D06-7B5C-2ADF-D0E58F0682D5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B685A665-483B-A3E8-6575-5C64FE7FF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E4D48EA3-851F-79F7-02C4-0419E0D81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EFE9A8CF-1968-678F-8DCC-EE85D9A53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304" name="TextBox 1303">
                <a:extLst>
                  <a:ext uri="{FF2B5EF4-FFF2-40B4-BE49-F238E27FC236}">
                    <a16:creationId xmlns:a16="http://schemas.microsoft.com/office/drawing/2014/main" id="{0980EDB6-FD2E-BBA8-3388-54CA3CADAFB9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3C0DEA22-EF73-6A33-E477-1BA620DFB867}"/>
              </a:ext>
            </a:extLst>
          </p:cNvPr>
          <p:cNvGrpSpPr/>
          <p:nvPr/>
        </p:nvGrpSpPr>
        <p:grpSpPr>
          <a:xfrm>
            <a:off x="6386032" y="1622388"/>
            <a:ext cx="1071245" cy="1075241"/>
            <a:chOff x="9578715" y="3292356"/>
            <a:chExt cx="914400" cy="1084207"/>
          </a:xfrm>
        </p:grpSpPr>
        <p:pic>
          <p:nvPicPr>
            <p:cNvPr id="1328" name="Graphic 1327" descr="Police female outline">
              <a:extLst>
                <a:ext uri="{FF2B5EF4-FFF2-40B4-BE49-F238E27FC236}">
                  <a16:creationId xmlns:a16="http://schemas.microsoft.com/office/drawing/2014/main" id="{54F53E6E-EC63-764C-5CAF-8DF3A2F5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915B95-7947-413A-1692-6EDD35E00472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1330" name="Rectangle: Rounded Corners 1329">
            <a:extLst>
              <a:ext uri="{FF2B5EF4-FFF2-40B4-BE49-F238E27FC236}">
                <a16:creationId xmlns:a16="http://schemas.microsoft.com/office/drawing/2014/main" id="{5F89B6B6-EA25-8FBB-E4D0-39DC3BBF0648}"/>
              </a:ext>
            </a:extLst>
          </p:cNvPr>
          <p:cNvSpPr/>
          <p:nvPr/>
        </p:nvSpPr>
        <p:spPr>
          <a:xfrm>
            <a:off x="5328000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sp>
        <p:nvSpPr>
          <p:cNvPr id="1347" name="Rectangle 1346">
            <a:extLst>
              <a:ext uri="{FF2B5EF4-FFF2-40B4-BE49-F238E27FC236}">
                <a16:creationId xmlns:a16="http://schemas.microsoft.com/office/drawing/2014/main" id="{778AB0C2-BA56-D4FA-A765-056942104A80}"/>
              </a:ext>
            </a:extLst>
          </p:cNvPr>
          <p:cNvSpPr/>
          <p:nvPr/>
        </p:nvSpPr>
        <p:spPr>
          <a:xfrm>
            <a:off x="9000000" y="345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8" name="Rectangle 1347">
            <a:extLst>
              <a:ext uri="{FF2B5EF4-FFF2-40B4-BE49-F238E27FC236}">
                <a16:creationId xmlns:a16="http://schemas.microsoft.com/office/drawing/2014/main" id="{F0941D8D-EADA-6456-C100-D7CB92DBE7F3}"/>
              </a:ext>
            </a:extLst>
          </p:cNvPr>
          <p:cNvSpPr/>
          <p:nvPr/>
        </p:nvSpPr>
        <p:spPr>
          <a:xfrm>
            <a:off x="9000000" y="3924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6D9E8DED-1971-47A8-AAA9-675ACAF7E25F}"/>
              </a:ext>
            </a:extLst>
          </p:cNvPr>
          <p:cNvSpPr/>
          <p:nvPr/>
        </p:nvSpPr>
        <p:spPr>
          <a:xfrm>
            <a:off x="9000000" y="439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3AA6F4F9-84C4-89B0-A060-19AC91B7705F}"/>
              </a:ext>
            </a:extLst>
          </p:cNvPr>
          <p:cNvSpPr/>
          <p:nvPr/>
        </p:nvSpPr>
        <p:spPr>
          <a:xfrm>
            <a:off x="9000000" y="486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2B35C5E0-2C88-0B9A-6A6C-156BFE1DF03F}"/>
              </a:ext>
            </a:extLst>
          </p:cNvPr>
          <p:cNvSpPr/>
          <p:nvPr/>
        </p:nvSpPr>
        <p:spPr>
          <a:xfrm>
            <a:off x="9000000" y="532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B380A58-E4A2-2594-5C8C-562FE1EEE4D7}"/>
              </a:ext>
            </a:extLst>
          </p:cNvPr>
          <p:cNvSpPr/>
          <p:nvPr/>
        </p:nvSpPr>
        <p:spPr>
          <a:xfrm>
            <a:off x="9000000" y="579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7E2D5A-2007-9B43-E673-2A59C3A234EE}"/>
              </a:ext>
            </a:extLst>
          </p:cNvPr>
          <p:cNvGrpSpPr/>
          <p:nvPr/>
        </p:nvGrpSpPr>
        <p:grpSpPr>
          <a:xfrm>
            <a:off x="1050032" y="1625641"/>
            <a:ext cx="4621722" cy="2240393"/>
            <a:chOff x="1050032" y="1625641"/>
            <a:chExt cx="4621722" cy="22403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825F13-24D6-5E33-74B7-DBCAB935C52D}"/>
                </a:ext>
              </a:extLst>
            </p:cNvPr>
            <p:cNvSpPr txBox="1"/>
            <p:nvPr/>
          </p:nvSpPr>
          <p:spPr>
            <a:xfrm>
              <a:off x="3147242" y="1625641"/>
              <a:ext cx="2524512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a) Authenticate wallet &amp; holder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15E04A60-F3FD-28A2-13AA-766CDA4A5614}"/>
                </a:ext>
              </a:extLst>
            </p:cNvPr>
            <p:cNvSpPr/>
            <p:nvPr/>
          </p:nvSpPr>
          <p:spPr>
            <a:xfrm>
              <a:off x="1050032" y="2019867"/>
              <a:ext cx="3641434" cy="1846167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EFC51C-D76A-B5A4-C0AA-0ECDFFD7BC0D}"/>
              </a:ext>
            </a:extLst>
          </p:cNvPr>
          <p:cNvGrpSpPr/>
          <p:nvPr/>
        </p:nvGrpSpPr>
        <p:grpSpPr>
          <a:xfrm>
            <a:off x="1294611" y="2323749"/>
            <a:ext cx="3115496" cy="1160235"/>
            <a:chOff x="1294611" y="2323749"/>
            <a:chExt cx="3115496" cy="11602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67ED7-59B3-17FE-6B18-7A9B7831D49B}"/>
                </a:ext>
              </a:extLst>
            </p:cNvPr>
            <p:cNvSpPr txBox="1"/>
            <p:nvPr/>
          </p:nvSpPr>
          <p:spPr>
            <a:xfrm>
              <a:off x="2725200" y="2598103"/>
              <a:ext cx="1056835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b) Obtain PID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F1E43228-1528-C57C-E192-68A3043D3BB5}"/>
                </a:ext>
              </a:extLst>
            </p:cNvPr>
            <p:cNvSpPr/>
            <p:nvPr/>
          </p:nvSpPr>
          <p:spPr>
            <a:xfrm>
              <a:off x="1294611" y="2323749"/>
              <a:ext cx="3115496" cy="1160235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01587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" grpId="0" animBg="1"/>
      <p:bldP spid="13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070832"/>
              </p:ext>
            </p:extLst>
          </p:nvPr>
        </p:nvGraphicFramePr>
        <p:xfrm>
          <a:off x="428200" y="1109280"/>
          <a:ext cx="11288459" cy="51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80108747"/>
                    </a:ext>
                  </a:extLst>
                </a:gridCol>
                <a:gridCol w="1718100">
                  <a:extLst>
                    <a:ext uri="{9D8B030D-6E8A-4147-A177-3AD203B41FA5}">
                      <a16:colId xmlns:a16="http://schemas.microsoft.com/office/drawing/2014/main" val="3936821659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894623054"/>
                    </a:ext>
                  </a:extLst>
                </a:gridCol>
                <a:gridCol w="1650639">
                  <a:extLst>
                    <a:ext uri="{9D8B030D-6E8A-4147-A177-3AD203B41FA5}">
                      <a16:colId xmlns:a16="http://schemas.microsoft.com/office/drawing/2014/main" val="15005002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rgbClr val="38638E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38638E"/>
                          </a:solidFill>
                        </a:rPr>
                        <a:t>Verification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Verification artefacts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Artefact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Primary threats to artefacts (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STRIDE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9505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Authenticity of entities, PID and attestations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Used to protect trusted lists of participants in the wallet ecosystem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(eg providers, wallets and relying parties)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Spoofing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Authenticity of wallet</a:t>
                      </a:r>
                    </a:p>
                    <a:p>
                      <a:r>
                        <a:rPr lang="en-GB" sz="1200" dirty="0"/>
                        <a:t>and wallet 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wallet to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 wallet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</a:t>
                      </a:r>
                    </a:p>
                    <a:p>
                      <a:r>
                        <a:rPr lang="en-GB" sz="1200" dirty="0"/>
                        <a:t>electronic identification (eID)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Ownership of 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identity of natural / legal personal etc to be established</a:t>
                      </a:r>
                    </a:p>
                    <a:p>
                      <a:r>
                        <a:rPr lang="en-GB" sz="1200" dirty="0"/>
                        <a:t>Also used as eID means for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access token at issuance</a:t>
                      </a:r>
                    </a:p>
                    <a:p>
                      <a:r>
                        <a:rPr lang="en-GB" sz="1200" dirty="0"/>
                        <a:t>Use of access tokens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Ownership of attestations of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selective disclosure of personal information and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credential at issuance</a:t>
                      </a:r>
                    </a:p>
                    <a:p>
                      <a:r>
                        <a:rPr lang="en-GB" sz="1200" dirty="0"/>
                        <a:t>Use of credential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Wallet attestation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sign attestations relating to security of the wallet app itself, the keys materials used by the wallet and/or the host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as part of the attestation process</a:t>
                      </a:r>
                    </a:p>
                    <a:p>
                      <a:r>
                        <a:rPr lang="en-GB" sz="1200" dirty="0"/>
                        <a:t>Likely requires health / posture related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</a:t>
            </a:r>
            <a:r>
              <a:rPr lang="da-DK" b="1" dirty="0" err="1"/>
              <a:t>mechanisms</a:t>
            </a:r>
            <a:r>
              <a:rPr lang="da-DK" b="1" dirty="0"/>
              <a:t> (3)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B10D2F-1643-1527-5488-AFF294485234}"/>
              </a:ext>
            </a:extLst>
          </p:cNvPr>
          <p:cNvGrpSpPr/>
          <p:nvPr/>
        </p:nvGrpSpPr>
        <p:grpSpPr>
          <a:xfrm>
            <a:off x="3958560" y="1707482"/>
            <a:ext cx="843194" cy="4468494"/>
            <a:chOff x="10908000" y="1730342"/>
            <a:chExt cx="843194" cy="4468494"/>
          </a:xfrm>
        </p:grpSpPr>
        <p:grpSp>
          <p:nvGrpSpPr>
            <p:cNvPr id="1250" name="Group 1249">
              <a:extLst>
                <a:ext uri="{FF2B5EF4-FFF2-40B4-BE49-F238E27FC236}">
                  <a16:creationId xmlns:a16="http://schemas.microsoft.com/office/drawing/2014/main" id="{BF301479-C9B8-7F84-4228-4C1D8879B821}"/>
                </a:ext>
              </a:extLst>
            </p:cNvPr>
            <p:cNvGrpSpPr/>
            <p:nvPr/>
          </p:nvGrpSpPr>
          <p:grpSpPr>
            <a:xfrm>
              <a:off x="11415536" y="4431950"/>
              <a:ext cx="335658" cy="379187"/>
              <a:chOff x="10749568" y="5635101"/>
              <a:chExt cx="350430" cy="395875"/>
            </a:xfrm>
          </p:grpSpPr>
          <p:pic>
            <p:nvPicPr>
              <p:cNvPr id="1251" name="Graphic 1250" descr="Paper with solid fill">
                <a:extLst>
                  <a:ext uri="{FF2B5EF4-FFF2-40B4-BE49-F238E27FC236}">
                    <a16:creationId xmlns:a16="http://schemas.microsoft.com/office/drawing/2014/main" id="{6DE08AE5-1823-3377-24F6-B7E7021D0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BA3DFEF7-D6CF-5C4D-1F7F-7E191F31EFE3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</a:t>
                </a:r>
              </a:p>
            </p:txBody>
          </p:sp>
          <p:grpSp>
            <p:nvGrpSpPr>
              <p:cNvPr id="1253" name="Group 1252">
                <a:extLst>
                  <a:ext uri="{FF2B5EF4-FFF2-40B4-BE49-F238E27FC236}">
                    <a16:creationId xmlns:a16="http://schemas.microsoft.com/office/drawing/2014/main" id="{A4827675-6BF2-AD8C-C704-8799149C1B73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300A4163-90C8-B71E-4EF9-8D178F60E018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D04AB439-6273-12A7-1A7B-70B339DC3E06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CCBD6E00-CA16-D3DB-7CC0-FC42797C0A19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22C10D-3DE9-C770-1EA4-272140962240}"/>
                </a:ext>
              </a:extLst>
            </p:cNvPr>
            <p:cNvGrpSpPr/>
            <p:nvPr/>
          </p:nvGrpSpPr>
          <p:grpSpPr>
            <a:xfrm>
              <a:off x="11355529" y="1730342"/>
              <a:ext cx="378237" cy="307002"/>
              <a:chOff x="9821290" y="4547726"/>
              <a:chExt cx="378237" cy="307002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530F6E7-6D85-D5DE-387C-13320C3F5801}"/>
                  </a:ext>
                </a:extLst>
              </p:cNvPr>
              <p:cNvSpPr/>
              <p:nvPr/>
            </p:nvSpPr>
            <p:spPr>
              <a:xfrm>
                <a:off x="9821290" y="4547726"/>
                <a:ext cx="378237" cy="221456"/>
              </a:xfrm>
              <a:custGeom>
                <a:avLst/>
                <a:gdLst>
                  <a:gd name="connsiteX0" fmla="*/ 349472 w 378237"/>
                  <a:gd name="connsiteY0" fmla="*/ 0 h 221456"/>
                  <a:gd name="connsiteX1" fmla="*/ 378238 w 378237"/>
                  <a:gd name="connsiteY1" fmla="*/ 28765 h 221456"/>
                  <a:gd name="connsiteX2" fmla="*/ 378238 w 378237"/>
                  <a:gd name="connsiteY2" fmla="*/ 192691 h 221456"/>
                  <a:gd name="connsiteX3" fmla="*/ 349472 w 378237"/>
                  <a:gd name="connsiteY3" fmla="*/ 221456 h 221456"/>
                  <a:gd name="connsiteX4" fmla="*/ 28766 w 378237"/>
                  <a:gd name="connsiteY4" fmla="*/ 221456 h 221456"/>
                  <a:gd name="connsiteX5" fmla="*/ 0 w 378237"/>
                  <a:gd name="connsiteY5" fmla="*/ 192691 h 221456"/>
                  <a:gd name="connsiteX6" fmla="*/ 0 w 378237"/>
                  <a:gd name="connsiteY6" fmla="*/ 28765 h 221456"/>
                  <a:gd name="connsiteX7" fmla="*/ 28766 w 378237"/>
                  <a:gd name="connsiteY7" fmla="*/ 0 h 22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237" h="221456">
                    <a:moveTo>
                      <a:pt x="349472" y="0"/>
                    </a:moveTo>
                    <a:cubicBezTo>
                      <a:pt x="365359" y="0"/>
                      <a:pt x="378238" y="12879"/>
                      <a:pt x="378238" y="28765"/>
                    </a:cubicBezTo>
                    <a:lnTo>
                      <a:pt x="378238" y="192691"/>
                    </a:lnTo>
                    <a:cubicBezTo>
                      <a:pt x="378238" y="208577"/>
                      <a:pt x="365359" y="221456"/>
                      <a:pt x="349472" y="221456"/>
                    </a:cubicBezTo>
                    <a:lnTo>
                      <a:pt x="28766" y="221456"/>
                    </a:lnTo>
                    <a:cubicBezTo>
                      <a:pt x="12879" y="221456"/>
                      <a:pt x="0" y="208577"/>
                      <a:pt x="0" y="192691"/>
                    </a:cubicBezTo>
                    <a:lnTo>
                      <a:pt x="0" y="28765"/>
                    </a:lnTo>
                    <a:cubicBezTo>
                      <a:pt x="0" y="12879"/>
                      <a:pt x="12879" y="0"/>
                      <a:pt x="28766" y="0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34E5A80-CAB0-A59A-9BAB-AE5DFDC3EE41}"/>
                  </a:ext>
                </a:extLst>
              </p:cNvPr>
              <p:cNvSpPr/>
              <p:nvPr/>
            </p:nvSpPr>
            <p:spPr>
              <a:xfrm>
                <a:off x="9842189" y="4569328"/>
                <a:ext cx="349272" cy="285400"/>
              </a:xfrm>
              <a:custGeom>
                <a:avLst/>
                <a:gdLst>
                  <a:gd name="connsiteX0" fmla="*/ 0 w 433170"/>
                  <a:gd name="connsiteY0" fmla="*/ 49729 h 353957"/>
                  <a:gd name="connsiteX1" fmla="*/ 51625 w 433170"/>
                  <a:gd name="connsiteY1" fmla="*/ 9 h 353957"/>
                  <a:gd name="connsiteX2" fmla="*/ 335852 w 433170"/>
                  <a:gd name="connsiteY2" fmla="*/ 9 h 353957"/>
                  <a:gd name="connsiteX3" fmla="*/ 369094 w 433170"/>
                  <a:gd name="connsiteY3" fmla="*/ 27822 h 353957"/>
                  <a:gd name="connsiteX4" fmla="*/ 369094 w 433170"/>
                  <a:gd name="connsiteY4" fmla="*/ 42205 h 353957"/>
                  <a:gd name="connsiteX5" fmla="*/ 348520 w 433170"/>
                  <a:gd name="connsiteY5" fmla="*/ 35156 h 353957"/>
                  <a:gd name="connsiteX6" fmla="*/ 334518 w 433170"/>
                  <a:gd name="connsiteY6" fmla="*/ 19821 h 353957"/>
                  <a:gd name="connsiteX7" fmla="*/ 62579 w 433170"/>
                  <a:gd name="connsiteY7" fmla="*/ 19821 h 353957"/>
                  <a:gd name="connsiteX8" fmla="*/ 62579 w 433170"/>
                  <a:gd name="connsiteY8" fmla="*/ 60683 h 353957"/>
                  <a:gd name="connsiteX9" fmla="*/ 20574 w 433170"/>
                  <a:gd name="connsiteY9" fmla="*/ 60683 h 353957"/>
                  <a:gd name="connsiteX10" fmla="*/ 20574 w 433170"/>
                  <a:gd name="connsiteY10" fmla="*/ 208797 h 353957"/>
                  <a:gd name="connsiteX11" fmla="*/ 31528 w 433170"/>
                  <a:gd name="connsiteY11" fmla="*/ 220227 h 353957"/>
                  <a:gd name="connsiteX12" fmla="*/ 180784 w 433170"/>
                  <a:gd name="connsiteY12" fmla="*/ 220227 h 353957"/>
                  <a:gd name="connsiteX13" fmla="*/ 192691 w 433170"/>
                  <a:gd name="connsiteY13" fmla="*/ 239658 h 353957"/>
                  <a:gd name="connsiteX14" fmla="*/ 29813 w 433170"/>
                  <a:gd name="connsiteY14" fmla="*/ 239658 h 353957"/>
                  <a:gd name="connsiteX15" fmla="*/ 0 w 433170"/>
                  <a:gd name="connsiteY15" fmla="*/ 210035 h 353957"/>
                  <a:gd name="connsiteX16" fmla="*/ 201359 w 433170"/>
                  <a:gd name="connsiteY16" fmla="*/ 325288 h 353957"/>
                  <a:gd name="connsiteX17" fmla="*/ 239935 w 433170"/>
                  <a:gd name="connsiteY17" fmla="*/ 261946 h 353957"/>
                  <a:gd name="connsiteX18" fmla="*/ 192405 w 433170"/>
                  <a:gd name="connsiteY18" fmla="*/ 126787 h 353957"/>
                  <a:gd name="connsiteX19" fmla="*/ 313754 w 433170"/>
                  <a:gd name="connsiteY19" fmla="*/ 44871 h 353957"/>
                  <a:gd name="connsiteX20" fmla="*/ 429292 w 433170"/>
                  <a:gd name="connsiteY20" fmla="*/ 134311 h 353957"/>
                  <a:gd name="connsiteX21" fmla="*/ 372618 w 433170"/>
                  <a:gd name="connsiteY21" fmla="*/ 266232 h 353957"/>
                  <a:gd name="connsiteX22" fmla="*/ 415957 w 433170"/>
                  <a:gd name="connsiteY22" fmla="*/ 329097 h 353957"/>
                  <a:gd name="connsiteX23" fmla="*/ 368618 w 433170"/>
                  <a:gd name="connsiteY23" fmla="*/ 316810 h 353957"/>
                  <a:gd name="connsiteX24" fmla="*/ 355092 w 433170"/>
                  <a:gd name="connsiteY24" fmla="*/ 353577 h 353957"/>
                  <a:gd name="connsiteX25" fmla="*/ 304324 w 433170"/>
                  <a:gd name="connsiteY25" fmla="*/ 288140 h 353957"/>
                  <a:gd name="connsiteX26" fmla="*/ 265748 w 433170"/>
                  <a:gd name="connsiteY26" fmla="*/ 353958 h 353957"/>
                  <a:gd name="connsiteX27" fmla="*/ 248221 w 433170"/>
                  <a:gd name="connsiteY27" fmla="*/ 314334 h 353957"/>
                  <a:gd name="connsiteX28" fmla="*/ 201835 w 433170"/>
                  <a:gd name="connsiteY28" fmla="*/ 164982 h 353957"/>
                  <a:gd name="connsiteX29" fmla="*/ 309943 w 433170"/>
                  <a:gd name="connsiteY29" fmla="*/ 265375 h 353957"/>
                  <a:gd name="connsiteX30" fmla="*/ 416814 w 433170"/>
                  <a:gd name="connsiteY30" fmla="*/ 164982 h 353957"/>
                  <a:gd name="connsiteX31" fmla="*/ 311753 w 433170"/>
                  <a:gd name="connsiteY31" fmla="*/ 62397 h 353957"/>
                  <a:gd name="connsiteX32" fmla="*/ 201835 w 433170"/>
                  <a:gd name="connsiteY32" fmla="*/ 164982 h 353957"/>
                  <a:gd name="connsiteX33" fmla="*/ 228124 w 433170"/>
                  <a:gd name="connsiteY33" fmla="*/ 164982 h 353957"/>
                  <a:gd name="connsiteX34" fmla="*/ 252032 w 433170"/>
                  <a:gd name="connsiteY34" fmla="*/ 109165 h 353957"/>
                  <a:gd name="connsiteX35" fmla="*/ 309943 w 433170"/>
                  <a:gd name="connsiteY35" fmla="*/ 86496 h 353957"/>
                  <a:gd name="connsiteX36" fmla="*/ 367093 w 433170"/>
                  <a:gd name="connsiteY36" fmla="*/ 109641 h 353957"/>
                  <a:gd name="connsiteX37" fmla="*/ 390525 w 433170"/>
                  <a:gd name="connsiteY37" fmla="*/ 164982 h 353957"/>
                  <a:gd name="connsiteX38" fmla="*/ 309943 w 433170"/>
                  <a:gd name="connsiteY38" fmla="*/ 241277 h 353957"/>
                  <a:gd name="connsiteX39" fmla="*/ 228124 w 433170"/>
                  <a:gd name="connsiteY39" fmla="*/ 164982 h 353957"/>
                  <a:gd name="connsiteX40" fmla="*/ 246031 w 433170"/>
                  <a:gd name="connsiteY40" fmla="*/ 164982 h 353957"/>
                  <a:gd name="connsiteX41" fmla="*/ 309943 w 433170"/>
                  <a:gd name="connsiteY41" fmla="*/ 224894 h 353957"/>
                  <a:gd name="connsiteX42" fmla="*/ 372999 w 433170"/>
                  <a:gd name="connsiteY42" fmla="*/ 164982 h 353957"/>
                  <a:gd name="connsiteX43" fmla="*/ 309943 w 433170"/>
                  <a:gd name="connsiteY43" fmla="*/ 103355 h 353957"/>
                  <a:gd name="connsiteX44" fmla="*/ 246031 w 433170"/>
                  <a:gd name="connsiteY44" fmla="*/ 164982 h 353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33170" h="353957">
                    <a:moveTo>
                      <a:pt x="0" y="49729"/>
                    </a:moveTo>
                    <a:lnTo>
                      <a:pt x="51625" y="9"/>
                    </a:lnTo>
                    <a:lnTo>
                      <a:pt x="335852" y="9"/>
                    </a:lnTo>
                    <a:cubicBezTo>
                      <a:pt x="352711" y="-372"/>
                      <a:pt x="367093" y="11629"/>
                      <a:pt x="369094" y="27822"/>
                    </a:cubicBezTo>
                    <a:lnTo>
                      <a:pt x="369094" y="42205"/>
                    </a:lnTo>
                    <a:lnTo>
                      <a:pt x="348520" y="35156"/>
                    </a:lnTo>
                    <a:cubicBezTo>
                      <a:pt x="348901" y="27250"/>
                      <a:pt x="342709" y="20488"/>
                      <a:pt x="334518" y="19821"/>
                    </a:cubicBezTo>
                    <a:lnTo>
                      <a:pt x="62579" y="19821"/>
                    </a:lnTo>
                    <a:lnTo>
                      <a:pt x="62579" y="60683"/>
                    </a:lnTo>
                    <a:lnTo>
                      <a:pt x="20574" y="60683"/>
                    </a:lnTo>
                    <a:lnTo>
                      <a:pt x="20574" y="208797"/>
                    </a:lnTo>
                    <a:cubicBezTo>
                      <a:pt x="21145" y="214607"/>
                      <a:pt x="25622" y="219274"/>
                      <a:pt x="31528" y="220227"/>
                    </a:cubicBezTo>
                    <a:lnTo>
                      <a:pt x="180784" y="220227"/>
                    </a:lnTo>
                    <a:lnTo>
                      <a:pt x="192691" y="239658"/>
                    </a:lnTo>
                    <a:lnTo>
                      <a:pt x="29813" y="239658"/>
                    </a:lnTo>
                    <a:cubicBezTo>
                      <a:pt x="14001" y="237467"/>
                      <a:pt x="1810" y="225275"/>
                      <a:pt x="0" y="210035"/>
                    </a:cubicBezTo>
                    <a:close/>
                    <a:moveTo>
                      <a:pt x="201359" y="325288"/>
                    </a:moveTo>
                    <a:lnTo>
                      <a:pt x="239935" y="261946"/>
                    </a:lnTo>
                    <a:cubicBezTo>
                      <a:pt x="194691" y="232133"/>
                      <a:pt x="175260" y="176983"/>
                      <a:pt x="192405" y="126787"/>
                    </a:cubicBezTo>
                    <a:cubicBezTo>
                      <a:pt x="209455" y="76495"/>
                      <a:pt x="258889" y="43157"/>
                      <a:pt x="313754" y="44871"/>
                    </a:cubicBezTo>
                    <a:cubicBezTo>
                      <a:pt x="368618" y="46681"/>
                      <a:pt x="415671" y="83067"/>
                      <a:pt x="429292" y="134311"/>
                    </a:cubicBezTo>
                    <a:cubicBezTo>
                      <a:pt x="442913" y="185556"/>
                      <a:pt x="419862" y="239277"/>
                      <a:pt x="372618" y="266232"/>
                    </a:cubicBezTo>
                    <a:lnTo>
                      <a:pt x="415957" y="329097"/>
                    </a:lnTo>
                    <a:lnTo>
                      <a:pt x="368618" y="316810"/>
                    </a:lnTo>
                    <a:lnTo>
                      <a:pt x="355092" y="353577"/>
                    </a:lnTo>
                    <a:lnTo>
                      <a:pt x="304324" y="288140"/>
                    </a:lnTo>
                    <a:lnTo>
                      <a:pt x="265748" y="353958"/>
                    </a:lnTo>
                    <a:lnTo>
                      <a:pt x="248221" y="314334"/>
                    </a:lnTo>
                    <a:close/>
                    <a:moveTo>
                      <a:pt x="201835" y="164982"/>
                    </a:moveTo>
                    <a:cubicBezTo>
                      <a:pt x="204597" y="220703"/>
                      <a:pt x="252032" y="264708"/>
                      <a:pt x="309943" y="265375"/>
                    </a:cubicBezTo>
                    <a:cubicBezTo>
                      <a:pt x="367379" y="264042"/>
                      <a:pt x="414051" y="220227"/>
                      <a:pt x="416814" y="164982"/>
                    </a:cubicBezTo>
                    <a:cubicBezTo>
                      <a:pt x="415290" y="109451"/>
                      <a:pt x="369284" y="64588"/>
                      <a:pt x="311753" y="62397"/>
                    </a:cubicBezTo>
                    <a:cubicBezTo>
                      <a:pt x="252317" y="62112"/>
                      <a:pt x="203549" y="107641"/>
                      <a:pt x="201835" y="164982"/>
                    </a:cubicBezTo>
                    <a:close/>
                    <a:moveTo>
                      <a:pt x="228124" y="164982"/>
                    </a:moveTo>
                    <a:cubicBezTo>
                      <a:pt x="228029" y="144027"/>
                      <a:pt x="236601" y="123929"/>
                      <a:pt x="252032" y="109165"/>
                    </a:cubicBezTo>
                    <a:cubicBezTo>
                      <a:pt x="267367" y="94402"/>
                      <a:pt x="288322" y="86210"/>
                      <a:pt x="309943" y="86496"/>
                    </a:cubicBezTo>
                    <a:cubicBezTo>
                      <a:pt x="331470" y="86591"/>
                      <a:pt x="352044" y="94878"/>
                      <a:pt x="367093" y="109641"/>
                    </a:cubicBezTo>
                    <a:cubicBezTo>
                      <a:pt x="382238" y="124310"/>
                      <a:pt x="390620" y="144217"/>
                      <a:pt x="390525" y="164982"/>
                    </a:cubicBezTo>
                    <a:cubicBezTo>
                      <a:pt x="389573" y="207178"/>
                      <a:pt x="353854" y="241087"/>
                      <a:pt x="309943" y="241277"/>
                    </a:cubicBezTo>
                    <a:cubicBezTo>
                      <a:pt x="265557" y="241753"/>
                      <a:pt x="229076" y="207749"/>
                      <a:pt x="228124" y="164982"/>
                    </a:cubicBezTo>
                    <a:close/>
                    <a:moveTo>
                      <a:pt x="246031" y="164982"/>
                    </a:moveTo>
                    <a:cubicBezTo>
                      <a:pt x="247841" y="197938"/>
                      <a:pt x="275749" y="224037"/>
                      <a:pt x="309943" y="224894"/>
                    </a:cubicBezTo>
                    <a:cubicBezTo>
                      <a:pt x="343948" y="223561"/>
                      <a:pt x="371284" y="197653"/>
                      <a:pt x="372999" y="164982"/>
                    </a:cubicBezTo>
                    <a:cubicBezTo>
                      <a:pt x="372142" y="131644"/>
                      <a:pt x="344519" y="104688"/>
                      <a:pt x="309943" y="103355"/>
                    </a:cubicBezTo>
                    <a:cubicBezTo>
                      <a:pt x="275082" y="104212"/>
                      <a:pt x="246983" y="131263"/>
                      <a:pt x="246031" y="1649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A6405E-C2EC-06B4-B2FB-F43CC0FB2906}"/>
                </a:ext>
              </a:extLst>
            </p:cNvPr>
            <p:cNvGrpSpPr/>
            <p:nvPr/>
          </p:nvGrpSpPr>
          <p:grpSpPr>
            <a:xfrm>
              <a:off x="10908000" y="2660812"/>
              <a:ext cx="825766" cy="321228"/>
              <a:chOff x="4793047" y="6345339"/>
              <a:chExt cx="825766" cy="321228"/>
            </a:xfrm>
          </p:grpSpPr>
          <p:grpSp>
            <p:nvGrpSpPr>
              <p:cNvPr id="1088" name="Group 1087">
                <a:extLst>
                  <a:ext uri="{FF2B5EF4-FFF2-40B4-BE49-F238E27FC236}">
                    <a16:creationId xmlns:a16="http://schemas.microsoft.com/office/drawing/2014/main" id="{B85DC469-A8F9-28D5-A3BE-3652E1E6F7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6811" y="6447367"/>
                <a:ext cx="252002" cy="126000"/>
                <a:chOff x="7568353" y="933450"/>
                <a:chExt cx="171450" cy="85725"/>
              </a:xfrm>
              <a:noFill/>
            </p:grpSpPr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8B3799A-1546-2069-978D-AF718E0C996A}"/>
                    </a:ext>
                  </a:extLst>
                </p:cNvPr>
                <p:cNvSpPr/>
                <p:nvPr/>
              </p:nvSpPr>
              <p:spPr>
                <a:xfrm>
                  <a:off x="7568353" y="933450"/>
                  <a:ext cx="171450" cy="85725"/>
                </a:xfrm>
                <a:custGeom>
                  <a:avLst/>
                  <a:gdLst>
                    <a:gd name="connsiteX0" fmla="*/ 0 w 171450"/>
                    <a:gd name="connsiteY0" fmla="*/ 42863 h 85725"/>
                    <a:gd name="connsiteX1" fmla="*/ 85725 w 171450"/>
                    <a:gd name="connsiteY1" fmla="*/ 0 h 85725"/>
                    <a:gd name="connsiteX2" fmla="*/ 171450 w 171450"/>
                    <a:gd name="connsiteY2" fmla="*/ 42863 h 85725"/>
                    <a:gd name="connsiteX3" fmla="*/ 85725 w 171450"/>
                    <a:gd name="connsiteY3" fmla="*/ 85725 h 85725"/>
                    <a:gd name="connsiteX4" fmla="*/ 0 w 171450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85725">
                      <a:moveTo>
                        <a:pt x="0" y="42863"/>
                      </a:moveTo>
                      <a:cubicBezTo>
                        <a:pt x="21146" y="15716"/>
                        <a:pt x="52578" y="0"/>
                        <a:pt x="85725" y="0"/>
                      </a:cubicBezTo>
                      <a:cubicBezTo>
                        <a:pt x="118872" y="0"/>
                        <a:pt x="150304" y="15716"/>
                        <a:pt x="171450" y="42863"/>
                      </a:cubicBezTo>
                      <a:cubicBezTo>
                        <a:pt x="150304" y="70009"/>
                        <a:pt x="118872" y="85725"/>
                        <a:pt x="85725" y="85725"/>
                      </a:cubicBezTo>
                      <a:cubicBezTo>
                        <a:pt x="52578" y="85725"/>
                        <a:pt x="21146" y="70009"/>
                        <a:pt x="0" y="42863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D57D338E-7421-5102-40AA-296D566FD827}"/>
                    </a:ext>
                  </a:extLst>
                </p:cNvPr>
                <p:cNvSpPr/>
                <p:nvPr/>
              </p:nvSpPr>
              <p:spPr>
                <a:xfrm>
                  <a:off x="7623224" y="943432"/>
                  <a:ext cx="61722" cy="65759"/>
                </a:xfrm>
                <a:custGeom>
                  <a:avLst/>
                  <a:gdLst>
                    <a:gd name="connsiteX0" fmla="*/ 61722 w 61722"/>
                    <a:gd name="connsiteY0" fmla="*/ 32880 h 65759"/>
                    <a:gd name="connsiteX1" fmla="*/ 30861 w 61722"/>
                    <a:gd name="connsiteY1" fmla="*/ 65760 h 65759"/>
                    <a:gd name="connsiteX2" fmla="*/ 0 w 61722"/>
                    <a:gd name="connsiteY2" fmla="*/ 32880 h 65759"/>
                    <a:gd name="connsiteX3" fmla="*/ 30861 w 61722"/>
                    <a:gd name="connsiteY3" fmla="*/ 0 h 65759"/>
                    <a:gd name="connsiteX4" fmla="*/ 61722 w 61722"/>
                    <a:gd name="connsiteY4" fmla="*/ 32880 h 6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22" h="65759">
                      <a:moveTo>
                        <a:pt x="61722" y="32880"/>
                      </a:moveTo>
                      <a:cubicBezTo>
                        <a:pt x="61722" y="51039"/>
                        <a:pt x="47905" y="65760"/>
                        <a:pt x="30861" y="65760"/>
                      </a:cubicBezTo>
                      <a:cubicBezTo>
                        <a:pt x="13817" y="65760"/>
                        <a:pt x="0" y="51039"/>
                        <a:pt x="0" y="32880"/>
                      </a:cubicBezTo>
                      <a:cubicBezTo>
                        <a:pt x="0" y="14721"/>
                        <a:pt x="13817" y="0"/>
                        <a:pt x="30861" y="0"/>
                      </a:cubicBezTo>
                      <a:cubicBezTo>
                        <a:pt x="47905" y="0"/>
                        <a:pt x="61722" y="14721"/>
                        <a:pt x="61722" y="3288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01F41FF7-5F31-F7BC-9293-DC27910C73ED}"/>
                    </a:ext>
                  </a:extLst>
                </p:cNvPr>
                <p:cNvSpPr/>
                <p:nvPr/>
              </p:nvSpPr>
              <p:spPr>
                <a:xfrm>
                  <a:off x="7633498" y="954392"/>
                  <a:ext cx="41147" cy="43839"/>
                </a:xfrm>
                <a:custGeom>
                  <a:avLst/>
                  <a:gdLst>
                    <a:gd name="connsiteX0" fmla="*/ 41148 w 41147"/>
                    <a:gd name="connsiteY0" fmla="*/ 21920 h 43839"/>
                    <a:gd name="connsiteX1" fmla="*/ 20574 w 41147"/>
                    <a:gd name="connsiteY1" fmla="*/ 43840 h 43839"/>
                    <a:gd name="connsiteX2" fmla="*/ 0 w 41147"/>
                    <a:gd name="connsiteY2" fmla="*/ 21920 h 43839"/>
                    <a:gd name="connsiteX3" fmla="*/ 20574 w 41147"/>
                    <a:gd name="connsiteY3" fmla="*/ 0 h 43839"/>
                    <a:gd name="connsiteX4" fmla="*/ 41148 w 41147"/>
                    <a:gd name="connsiteY4" fmla="*/ 21920 h 43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147" h="43839">
                      <a:moveTo>
                        <a:pt x="41148" y="21920"/>
                      </a:moveTo>
                      <a:cubicBezTo>
                        <a:pt x="41148" y="34026"/>
                        <a:pt x="31937" y="43840"/>
                        <a:pt x="20574" y="43840"/>
                      </a:cubicBezTo>
                      <a:cubicBezTo>
                        <a:pt x="9211" y="43840"/>
                        <a:pt x="0" y="34026"/>
                        <a:pt x="0" y="21920"/>
                      </a:cubicBezTo>
                      <a:cubicBezTo>
                        <a:pt x="0" y="9814"/>
                        <a:pt x="9211" y="0"/>
                        <a:pt x="20574" y="0"/>
                      </a:cubicBezTo>
                      <a:cubicBezTo>
                        <a:pt x="31937" y="0"/>
                        <a:pt x="41148" y="9814"/>
                        <a:pt x="41148" y="2192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6C1F45C1-5C9D-21D8-7823-3CF674D8DE3C}"/>
                  </a:ext>
                </a:extLst>
              </p:cNvPr>
              <p:cNvSpPr txBox="1"/>
              <p:nvPr/>
            </p:nvSpPr>
            <p:spPr>
              <a:xfrm>
                <a:off x="5046881" y="6373299"/>
                <a:ext cx="319663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12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PIN</a:t>
                </a:r>
              </a:p>
            </p:txBody>
          </p:sp>
          <p:pic>
            <p:nvPicPr>
              <p:cNvPr id="1091" name="Graphic 1090" descr="Fingerprint with solid fill">
                <a:extLst>
                  <a:ext uri="{FF2B5EF4-FFF2-40B4-BE49-F238E27FC236}">
                    <a16:creationId xmlns:a16="http://schemas.microsoft.com/office/drawing/2014/main" id="{E118BE61-D657-B2F4-8A38-D01CA4A7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93047" y="6345339"/>
                <a:ext cx="321228" cy="321228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5FA13B-B01B-1ED4-B813-349DAE68C887}"/>
                </a:ext>
              </a:extLst>
            </p:cNvPr>
            <p:cNvGrpSpPr/>
            <p:nvPr/>
          </p:nvGrpSpPr>
          <p:grpSpPr>
            <a:xfrm>
              <a:off x="10921137" y="3071595"/>
              <a:ext cx="812629" cy="446278"/>
              <a:chOff x="10785943" y="5489706"/>
              <a:chExt cx="812629" cy="446278"/>
            </a:xfrm>
          </p:grpSpPr>
          <p:pic>
            <p:nvPicPr>
              <p:cNvPr id="1086" name="Graphic 1085" descr="Key outline">
                <a:extLst>
                  <a:ext uri="{FF2B5EF4-FFF2-40B4-BE49-F238E27FC236}">
                    <a16:creationId xmlns:a16="http://schemas.microsoft.com/office/drawing/2014/main" id="{F5E4DB74-1918-43F0-FD88-856A83D5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2250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CA330D6-AB94-B63B-CC15-BA9962E8F13B}"/>
                  </a:ext>
                </a:extLst>
              </p:cNvPr>
              <p:cNvSpPr txBox="1"/>
              <p:nvPr/>
            </p:nvSpPr>
            <p:spPr>
              <a:xfrm>
                <a:off x="10785943" y="5489706"/>
                <a:ext cx="81262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Holder AuthN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68D439-81A3-76E1-D098-2BB3332D2603}"/>
                </a:ext>
              </a:extLst>
            </p:cNvPr>
            <p:cNvGrpSpPr/>
            <p:nvPr/>
          </p:nvGrpSpPr>
          <p:grpSpPr>
            <a:xfrm>
              <a:off x="11229228" y="4024013"/>
              <a:ext cx="504538" cy="465328"/>
              <a:chOff x="11062681" y="5489706"/>
              <a:chExt cx="504538" cy="465328"/>
            </a:xfrm>
          </p:grpSpPr>
          <p:pic>
            <p:nvPicPr>
              <p:cNvPr id="1084" name="Graphic 1083" descr="Key outline">
                <a:extLst>
                  <a:ext uri="{FF2B5EF4-FFF2-40B4-BE49-F238E27FC236}">
                    <a16:creationId xmlns:a16="http://schemas.microsoft.com/office/drawing/2014/main" id="{57EC3A94-B2EB-03BF-AD5B-991D3172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191147" y="557896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2F27E9DA-9085-9A90-89E2-09F35C9E6AD0}"/>
                  </a:ext>
                </a:extLst>
              </p:cNvPr>
              <p:cNvSpPr txBox="1"/>
              <p:nvPr/>
            </p:nvSpPr>
            <p:spPr>
              <a:xfrm>
                <a:off x="11062681" y="5489706"/>
                <a:ext cx="504538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4A95ED7-C19C-9E67-CB34-0E094BF2952F}"/>
                </a:ext>
              </a:extLst>
            </p:cNvPr>
            <p:cNvGrpSpPr/>
            <p:nvPr/>
          </p:nvGrpSpPr>
          <p:grpSpPr>
            <a:xfrm>
              <a:off x="11398108" y="3508468"/>
              <a:ext cx="335658" cy="379187"/>
              <a:chOff x="10749568" y="5635101"/>
              <a:chExt cx="350430" cy="395875"/>
            </a:xfrm>
          </p:grpSpPr>
          <p:pic>
            <p:nvPicPr>
              <p:cNvPr id="1065" name="Graphic 1064" descr="Paper with solid fill">
                <a:extLst>
                  <a:ext uri="{FF2B5EF4-FFF2-40B4-BE49-F238E27FC236}">
                    <a16:creationId xmlns:a16="http://schemas.microsoft.com/office/drawing/2014/main" id="{EE051050-C0EE-B6F3-0BE6-4F30EFD10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2BA5A9C9-033B-FF42-844C-816C260033F4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</a:t>
                </a: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DCABB208-7CEE-F8C8-0134-3813F2F134DB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4D2A03AD-DB65-5AC0-D3F6-2F209597C85D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2F724A4D-1F20-606B-458D-144EC4E1ED18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773AAB28-D303-D618-FD04-35ECEAEF1303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0EC42A-D70E-E771-E9D8-4EE5AD18A265}"/>
                </a:ext>
              </a:extLst>
            </p:cNvPr>
            <p:cNvGrpSpPr/>
            <p:nvPr/>
          </p:nvGrpSpPr>
          <p:grpSpPr>
            <a:xfrm>
              <a:off x="11001060" y="4965629"/>
              <a:ext cx="732706" cy="446278"/>
              <a:chOff x="319523" y="5081988"/>
              <a:chExt cx="732706" cy="446278"/>
            </a:xfrm>
          </p:grpSpPr>
          <p:pic>
            <p:nvPicPr>
              <p:cNvPr id="1059" name="Graphic 1058" descr="Key outline">
                <a:extLst>
                  <a:ext uri="{FF2B5EF4-FFF2-40B4-BE49-F238E27FC236}">
                    <a16:creationId xmlns:a16="http://schemas.microsoft.com/office/drawing/2014/main" id="{3FB0D03E-834C-953A-992B-184589B95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676157" y="5152194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85684796-2CF6-BB1E-FE23-69E2FE682D46}"/>
                  </a:ext>
                </a:extLst>
              </p:cNvPr>
              <p:cNvSpPr txBox="1"/>
              <p:nvPr/>
            </p:nvSpPr>
            <p:spPr>
              <a:xfrm>
                <a:off x="319523" y="5081988"/>
                <a:ext cx="732706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BFC1F4-CF04-28DD-437A-622A49380A3E}"/>
                </a:ext>
              </a:extLst>
            </p:cNvPr>
            <p:cNvGrpSpPr/>
            <p:nvPr/>
          </p:nvGrpSpPr>
          <p:grpSpPr>
            <a:xfrm>
              <a:off x="11112277" y="2137307"/>
              <a:ext cx="621489" cy="446278"/>
              <a:chOff x="10966769" y="5489706"/>
              <a:chExt cx="621489" cy="446278"/>
            </a:xfrm>
          </p:grpSpPr>
          <p:pic>
            <p:nvPicPr>
              <p:cNvPr id="1056" name="Graphic 1055" descr="Key outline">
                <a:extLst>
                  <a:ext uri="{FF2B5EF4-FFF2-40B4-BE49-F238E27FC236}">
                    <a16:creationId xmlns:a16="http://schemas.microsoft.com/office/drawing/2014/main" id="{3AD38416-1CFA-B47A-695A-83462A69F5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12186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86BDF1E3-5DF2-D8AB-DB86-207AAB9305CA}"/>
                  </a:ext>
                </a:extLst>
              </p:cNvPr>
              <p:cNvSpPr txBox="1"/>
              <p:nvPr/>
            </p:nvSpPr>
            <p:spPr>
              <a:xfrm>
                <a:off x="10966769" y="5489706"/>
                <a:ext cx="62148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Wallet AuthN</a:t>
                </a:r>
              </a:p>
            </p:txBody>
          </p:sp>
        </p:grpSp>
        <p:pic>
          <p:nvPicPr>
            <p:cNvPr id="1041" name="Graphic 1040" descr="Lock with solid fill">
              <a:extLst>
                <a:ext uri="{FF2B5EF4-FFF2-40B4-BE49-F238E27FC236}">
                  <a16:creationId xmlns:a16="http://schemas.microsoft.com/office/drawing/2014/main" id="{4855DBF7-FCC6-5867-6066-D3E6DA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358678" y="5823748"/>
              <a:ext cx="375088" cy="375088"/>
            </a:xfrm>
            <a:prstGeom prst="rect">
              <a:avLst/>
            </a:prstGeom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36C8A6D7-7166-B536-9A6A-DC357A1368A4}"/>
                </a:ext>
              </a:extLst>
            </p:cNvPr>
            <p:cNvGrpSpPr/>
            <p:nvPr/>
          </p:nvGrpSpPr>
          <p:grpSpPr>
            <a:xfrm>
              <a:off x="11086549" y="5379154"/>
              <a:ext cx="647217" cy="446278"/>
              <a:chOff x="11005275" y="5489706"/>
              <a:chExt cx="647217" cy="446278"/>
            </a:xfrm>
          </p:grpSpPr>
          <p:pic>
            <p:nvPicPr>
              <p:cNvPr id="1053" name="Graphic 1052" descr="Key outline">
                <a:extLst>
                  <a:ext uri="{FF2B5EF4-FFF2-40B4-BE49-F238E27FC236}">
                    <a16:creationId xmlns:a16="http://schemas.microsoft.com/office/drawing/2014/main" id="{2AE2040E-B166-C3F7-466A-F67AF7F6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7642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AACAD7F3-D016-2131-7DC4-F297F6CCE5FB}"/>
                  </a:ext>
                </a:extLst>
              </p:cNvPr>
              <p:cNvSpPr txBox="1"/>
              <p:nvPr/>
            </p:nvSpPr>
            <p:spPr>
              <a:xfrm>
                <a:off x="11005275" y="5489706"/>
                <a:ext cx="647217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Attestation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3611880" y="6347892"/>
            <a:ext cx="826079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pPr algn="r"/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STRIDE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–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poofing,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ampering,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epudiation,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nformation Disclosure,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enial of Service,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levation of Privilege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437E1-86CD-9A5C-8D1D-B45979044C7C}"/>
              </a:ext>
            </a:extLst>
          </p:cNvPr>
          <p:cNvSpPr/>
          <p:nvPr/>
        </p:nvSpPr>
        <p:spPr>
          <a:xfrm>
            <a:off x="360000" y="3420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C82FA-0A12-C846-ABF4-9271E7F859CD}"/>
              </a:ext>
            </a:extLst>
          </p:cNvPr>
          <p:cNvSpPr/>
          <p:nvPr/>
        </p:nvSpPr>
        <p:spPr>
          <a:xfrm>
            <a:off x="360000" y="4356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2ED6-BB8B-82A8-F668-DBC34B2E962A}"/>
              </a:ext>
            </a:extLst>
          </p:cNvPr>
          <p:cNvSpPr/>
          <p:nvPr/>
        </p:nvSpPr>
        <p:spPr>
          <a:xfrm>
            <a:off x="360000" y="5292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29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976796"/>
              </p:ext>
            </p:extLst>
          </p:nvPr>
        </p:nvGraphicFramePr>
        <p:xfrm>
          <a:off x="1188000" y="119775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holder identity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person identification data (PID)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PID belongs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belong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– checklist (4)</a:t>
            </a:r>
            <a:endParaRPr lang="en-FR" b="1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C4BA49-3CEC-E947-F51F-0B63BB11C68B}"/>
              </a:ext>
            </a:extLst>
          </p:cNvPr>
          <p:cNvGrpSpPr/>
          <p:nvPr/>
        </p:nvGrpSpPr>
        <p:grpSpPr>
          <a:xfrm>
            <a:off x="10080000" y="5185184"/>
            <a:ext cx="311790" cy="1103790"/>
            <a:chOff x="10080000" y="5076000"/>
            <a:chExt cx="311790" cy="1103790"/>
          </a:xfrm>
        </p:grpSpPr>
        <p:pic>
          <p:nvPicPr>
            <p:cNvPr id="45" name="Graphic 44" descr="Checkmark with solid fill">
              <a:extLst>
                <a:ext uri="{FF2B5EF4-FFF2-40B4-BE49-F238E27FC236}">
                  <a16:creationId xmlns:a16="http://schemas.microsoft.com/office/drawing/2014/main" id="{9FAF14E3-132B-A1E7-8B57-A61CEBA89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076000"/>
              <a:ext cx="311790" cy="311790"/>
            </a:xfrm>
            <a:prstGeom prst="rect">
              <a:avLst/>
            </a:prstGeom>
          </p:spPr>
        </p:pic>
        <p:pic>
          <p:nvPicPr>
            <p:cNvPr id="51" name="Graphic 50" descr="Checkmark with solid fill">
              <a:extLst>
                <a:ext uri="{FF2B5EF4-FFF2-40B4-BE49-F238E27FC236}">
                  <a16:creationId xmlns:a16="http://schemas.microsoft.com/office/drawing/2014/main" id="{EBE2520D-683E-C15A-3581-35654A0E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868000"/>
              <a:ext cx="311790" cy="311790"/>
            </a:xfrm>
            <a:prstGeom prst="rect">
              <a:avLst/>
            </a:prstGeom>
          </p:spPr>
        </p:pic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C93D303-E67F-0033-480D-DF9A8FC9C9F5}"/>
              </a:ext>
            </a:extLst>
          </p:cNvPr>
          <p:cNvSpPr/>
          <p:nvPr/>
        </p:nvSpPr>
        <p:spPr>
          <a:xfrm>
            <a:off x="1152000" y="6386109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5A4B9-9A3C-A8BA-0A32-491339128154}"/>
              </a:ext>
            </a:extLst>
          </p:cNvPr>
          <p:cNvGrpSpPr/>
          <p:nvPr/>
        </p:nvGrpSpPr>
        <p:grpSpPr>
          <a:xfrm>
            <a:off x="10080000" y="1621184"/>
            <a:ext cx="311790" cy="3479790"/>
            <a:chOff x="10080000" y="1512000"/>
            <a:chExt cx="311790" cy="3479790"/>
          </a:xfrm>
        </p:grpSpPr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A11CF4AD-94AE-9164-2C02-4BD2E49E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1512000"/>
              <a:ext cx="311790" cy="311790"/>
            </a:xfrm>
            <a:prstGeom prst="rect">
              <a:avLst/>
            </a:prstGeom>
          </p:spPr>
        </p:pic>
        <p:pic>
          <p:nvPicPr>
            <p:cNvPr id="42" name="Graphic 41" descr="Checkmark with solid fill">
              <a:extLst>
                <a:ext uri="{FF2B5EF4-FFF2-40B4-BE49-F238E27FC236}">
                  <a16:creationId xmlns:a16="http://schemas.microsoft.com/office/drawing/2014/main" id="{4E86F70E-404C-EC9D-1382-627EA169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4680000"/>
              <a:ext cx="311790" cy="311790"/>
            </a:xfrm>
            <a:prstGeom prst="rect">
              <a:avLst/>
            </a:prstGeom>
          </p:spPr>
        </p:pic>
        <p:pic>
          <p:nvPicPr>
            <p:cNvPr id="71" name="Graphic 70" descr="Checkmark with solid fill">
              <a:extLst>
                <a:ext uri="{FF2B5EF4-FFF2-40B4-BE49-F238E27FC236}">
                  <a16:creationId xmlns:a16="http://schemas.microsoft.com/office/drawing/2014/main" id="{027C99EA-6068-0B80-2FA7-11154FFC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290714"/>
              <a:ext cx="311790" cy="311790"/>
            </a:xfrm>
            <a:prstGeom prst="rect">
              <a:avLst/>
            </a:prstGeom>
          </p:spPr>
        </p:pic>
      </p:grp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6F9EB4A-3A29-9294-E326-20604CFA375A}"/>
              </a:ext>
            </a:extLst>
          </p:cNvPr>
          <p:cNvSpPr/>
          <p:nvPr/>
        </p:nvSpPr>
        <p:spPr>
          <a:xfrm>
            <a:off x="1152000" y="5607757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8" name="Graphic 47" descr="Checkmark with solid fill">
            <a:extLst>
              <a:ext uri="{FF2B5EF4-FFF2-40B4-BE49-F238E27FC236}">
                <a16:creationId xmlns:a16="http://schemas.microsoft.com/office/drawing/2014/main" id="{2A5D8AB9-5D5E-6800-941B-73DD107D4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0000" y="5581184"/>
            <a:ext cx="311790" cy="311790"/>
          </a:xfrm>
          <a:prstGeom prst="rect">
            <a:avLst/>
          </a:prstGeom>
        </p:spPr>
      </p:pic>
      <p:pic>
        <p:nvPicPr>
          <p:cNvPr id="69" name="Graphic 68" descr="Checkmark with solid fill">
            <a:extLst>
              <a:ext uri="{FF2B5EF4-FFF2-40B4-BE49-F238E27FC236}">
                <a16:creationId xmlns:a16="http://schemas.microsoft.com/office/drawing/2014/main" id="{79C10FBD-3463-47BA-35D4-7549988F0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0000" y="2795898"/>
            <a:ext cx="311790" cy="3117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F2948A-F366-A59B-25CA-4F9F29152B14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86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E8BC3166-CD52-FE59-5736-E5B06904E4FF}"/>
              </a:ext>
            </a:extLst>
          </p:cNvPr>
          <p:cNvSpPr/>
          <p:nvPr/>
        </p:nvSpPr>
        <p:spPr>
          <a:xfrm>
            <a:off x="2349319" y="6295122"/>
            <a:ext cx="4525787" cy="456858"/>
          </a:xfrm>
          <a:prstGeom prst="roundRect">
            <a:avLst/>
          </a:prstGeom>
          <a:noFill/>
          <a:ln>
            <a:solidFill>
              <a:srgbClr val="023F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/>
        </p:nvGraphicFramePr>
        <p:xfrm>
          <a:off x="9180000" y="1231200"/>
          <a:ext cx="2550461" cy="505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461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Wallet verification artefacts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60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</a:t>
                      </a:r>
                      <a:br>
                        <a:rPr lang="en-GB" sz="1200" dirty="0">
                          <a:solidFill>
                            <a:srgbClr val="38638E"/>
                          </a:solidFill>
                        </a:rPr>
                      </a:b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certificates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  <a:p>
                      <a:r>
                        <a:rPr lang="en-GB" sz="900" dirty="0"/>
                        <a:t>(not an artefact </a:t>
                      </a:r>
                      <a:r>
                        <a:rPr lang="en-GB" sz="900" i="1" dirty="0"/>
                        <a:t>per se</a:t>
                      </a:r>
                      <a:r>
                        <a:rPr lang="en-GB" sz="9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grpSp>
        <p:nvGrpSpPr>
          <p:cNvPr id="1250" name="Group 1249">
            <a:extLst>
              <a:ext uri="{FF2B5EF4-FFF2-40B4-BE49-F238E27FC236}">
                <a16:creationId xmlns:a16="http://schemas.microsoft.com/office/drawing/2014/main" id="{BF301479-C9B8-7F84-4228-4C1D8879B821}"/>
              </a:ext>
            </a:extLst>
          </p:cNvPr>
          <p:cNvGrpSpPr/>
          <p:nvPr/>
        </p:nvGrpSpPr>
        <p:grpSpPr>
          <a:xfrm>
            <a:off x="11415536" y="4431950"/>
            <a:ext cx="335658" cy="379187"/>
            <a:chOff x="10749568" y="5635101"/>
            <a:chExt cx="350430" cy="395875"/>
          </a:xfrm>
        </p:grpSpPr>
        <p:pic>
          <p:nvPicPr>
            <p:cNvPr id="1251" name="Graphic 1250" descr="Paper with solid fill">
              <a:extLst>
                <a:ext uri="{FF2B5EF4-FFF2-40B4-BE49-F238E27FC236}">
                  <a16:creationId xmlns:a16="http://schemas.microsoft.com/office/drawing/2014/main" id="{6DE08AE5-1823-3377-24F6-B7E7021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BA3DFEF7-D6CF-5C4D-1F7F-7E191F31EFE3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53" name="Group 1252">
              <a:extLst>
                <a:ext uri="{FF2B5EF4-FFF2-40B4-BE49-F238E27FC236}">
                  <a16:creationId xmlns:a16="http://schemas.microsoft.com/office/drawing/2014/main" id="{A4827675-6BF2-AD8C-C704-8799149C1B73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300A4163-90C8-B71E-4EF9-8D178F60E018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D04AB439-6273-12A7-1A7B-70B339DC3E06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CCBD6E00-CA16-D3DB-7CC0-FC42797C0A19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4. </a:t>
            </a:r>
            <a:r>
              <a:rPr lang="da-DK" b="1" dirty="0" err="1"/>
              <a:t>Ownership</a:t>
            </a:r>
            <a:r>
              <a:rPr lang="da-DK" b="1" dirty="0"/>
              <a:t> of attestations of </a:t>
            </a:r>
            <a:r>
              <a:rPr lang="da-DK" b="1" dirty="0" err="1"/>
              <a:t>attributes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22C10D-3DE9-C770-1EA4-272140962240}"/>
              </a:ext>
            </a:extLst>
          </p:cNvPr>
          <p:cNvGrpSpPr/>
          <p:nvPr/>
        </p:nvGrpSpPr>
        <p:grpSpPr>
          <a:xfrm>
            <a:off x="11355529" y="1730342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530F6E7-6D85-D5DE-387C-13320C3F5801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934E5A80-CAB0-A59A-9BAB-AE5DFDC3EE41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A6405E-C2EC-06B4-B2FB-F43CC0FB2906}"/>
              </a:ext>
            </a:extLst>
          </p:cNvPr>
          <p:cNvGrpSpPr/>
          <p:nvPr/>
        </p:nvGrpSpPr>
        <p:grpSpPr>
          <a:xfrm>
            <a:off x="10908000" y="2660812"/>
            <a:ext cx="825766" cy="321228"/>
            <a:chOff x="4793047" y="6345339"/>
            <a:chExt cx="825766" cy="321228"/>
          </a:xfrm>
        </p:grpSpPr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85DC469-A8F9-28D5-A3BE-3652E1E6F7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98B3799A-1546-2069-978D-AF718E0C996A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D57D338E-7421-5102-40AA-296D566FD82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01F41FF7-5F31-F7BC-9293-DC27910C73ED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1F45C1-5C9D-21D8-7823-3CF674D8DE3C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091" name="Graphic 1090" descr="Fingerprint with solid fill">
              <a:extLst>
                <a:ext uri="{FF2B5EF4-FFF2-40B4-BE49-F238E27FC236}">
                  <a16:creationId xmlns:a16="http://schemas.microsoft.com/office/drawing/2014/main" id="{E118BE61-D657-B2F4-8A38-D01CA4A75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5FA13B-B01B-1ED4-B813-349DAE68C887}"/>
              </a:ext>
            </a:extLst>
          </p:cNvPr>
          <p:cNvGrpSpPr/>
          <p:nvPr/>
        </p:nvGrpSpPr>
        <p:grpSpPr>
          <a:xfrm>
            <a:off x="10921137" y="3071595"/>
            <a:ext cx="812629" cy="446278"/>
            <a:chOff x="10785943" y="5489706"/>
            <a:chExt cx="812629" cy="446278"/>
          </a:xfrm>
        </p:grpSpPr>
        <p:pic>
          <p:nvPicPr>
            <p:cNvPr id="1086" name="Graphic 1085" descr="Key outline">
              <a:extLst>
                <a:ext uri="{FF2B5EF4-FFF2-40B4-BE49-F238E27FC236}">
                  <a16:creationId xmlns:a16="http://schemas.microsoft.com/office/drawing/2014/main" id="{F5E4DB74-1918-43F0-FD88-856A83D50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2CA330D6-AB94-B63B-CC15-BA9962E8F13B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8D439-81A3-76E1-D098-2BB3332D2603}"/>
              </a:ext>
            </a:extLst>
          </p:cNvPr>
          <p:cNvGrpSpPr/>
          <p:nvPr/>
        </p:nvGrpSpPr>
        <p:grpSpPr>
          <a:xfrm>
            <a:off x="11229228" y="4024013"/>
            <a:ext cx="504538" cy="465328"/>
            <a:chOff x="11062681" y="5489706"/>
            <a:chExt cx="504538" cy="465328"/>
          </a:xfrm>
        </p:grpSpPr>
        <p:pic>
          <p:nvPicPr>
            <p:cNvPr id="1084" name="Graphic 1083" descr="Key outline">
              <a:extLst>
                <a:ext uri="{FF2B5EF4-FFF2-40B4-BE49-F238E27FC236}">
                  <a16:creationId xmlns:a16="http://schemas.microsoft.com/office/drawing/2014/main" id="{57EC3A94-B2EB-03BF-AD5B-991D3172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F27E9DA-9085-9A90-89E2-09F35C9E6AD0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5ED7-C19C-9E67-CB34-0E094BF2952F}"/>
              </a:ext>
            </a:extLst>
          </p:cNvPr>
          <p:cNvGrpSpPr/>
          <p:nvPr/>
        </p:nvGrpSpPr>
        <p:grpSpPr>
          <a:xfrm>
            <a:off x="11398108" y="3508468"/>
            <a:ext cx="335658" cy="379187"/>
            <a:chOff x="10749568" y="5635101"/>
            <a:chExt cx="350430" cy="395875"/>
          </a:xfrm>
        </p:grpSpPr>
        <p:pic>
          <p:nvPicPr>
            <p:cNvPr id="1065" name="Graphic 1064" descr="Paper with solid fill">
              <a:extLst>
                <a:ext uri="{FF2B5EF4-FFF2-40B4-BE49-F238E27FC236}">
                  <a16:creationId xmlns:a16="http://schemas.microsoft.com/office/drawing/2014/main" id="{EE051050-C0EE-B6F3-0BE6-4F30EFD1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2BA5A9C9-033B-FF42-844C-816C260033F4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DCABB208-7CEE-F8C8-0134-3813F2F134DB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4D2A03AD-DB65-5AC0-D3F6-2F209597C85D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F724A4D-1F20-606B-458D-144EC4E1ED18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773AAB28-D303-D618-FD04-35ECEAEF1303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0EC42A-D70E-E771-E9D8-4EE5AD18A265}"/>
              </a:ext>
            </a:extLst>
          </p:cNvPr>
          <p:cNvGrpSpPr/>
          <p:nvPr/>
        </p:nvGrpSpPr>
        <p:grpSpPr>
          <a:xfrm>
            <a:off x="11001060" y="4965629"/>
            <a:ext cx="732706" cy="446278"/>
            <a:chOff x="319523" y="5081988"/>
            <a:chExt cx="732706" cy="446278"/>
          </a:xfrm>
        </p:grpSpPr>
        <p:pic>
          <p:nvPicPr>
            <p:cNvPr id="1059" name="Graphic 1058" descr="Key outline">
              <a:extLst>
                <a:ext uri="{FF2B5EF4-FFF2-40B4-BE49-F238E27FC236}">
                  <a16:creationId xmlns:a16="http://schemas.microsoft.com/office/drawing/2014/main" id="{3FB0D03E-834C-953A-992B-184589B9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85684796-2CF6-BB1E-FE23-69E2FE682D46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BFC1F4-CF04-28DD-437A-622A49380A3E}"/>
              </a:ext>
            </a:extLst>
          </p:cNvPr>
          <p:cNvGrpSpPr/>
          <p:nvPr/>
        </p:nvGrpSpPr>
        <p:grpSpPr>
          <a:xfrm>
            <a:off x="11112277" y="2137307"/>
            <a:ext cx="621489" cy="446278"/>
            <a:chOff x="10966769" y="5489706"/>
            <a:chExt cx="621489" cy="446278"/>
          </a:xfrm>
        </p:grpSpPr>
        <p:pic>
          <p:nvPicPr>
            <p:cNvPr id="1056" name="Graphic 1055" descr="Key outline">
              <a:extLst>
                <a:ext uri="{FF2B5EF4-FFF2-40B4-BE49-F238E27FC236}">
                  <a16:creationId xmlns:a16="http://schemas.microsoft.com/office/drawing/2014/main" id="{3AD38416-1CFA-B47A-695A-83462A6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6BDF1E3-5DF2-D8AB-DB86-207AAB9305CA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pic>
        <p:nvPicPr>
          <p:cNvPr id="1041" name="Graphic 1040" descr="Lock with solid fill">
            <a:extLst>
              <a:ext uri="{FF2B5EF4-FFF2-40B4-BE49-F238E27FC236}">
                <a16:creationId xmlns:a16="http://schemas.microsoft.com/office/drawing/2014/main" id="{4855DBF7-FCC6-5867-6066-D3E6DA461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8678" y="5823748"/>
            <a:ext cx="375088" cy="375088"/>
          </a:xfrm>
          <a:prstGeom prst="rect">
            <a:avLst/>
          </a:prstGeom>
        </p:spPr>
      </p:pic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36C8A6D7-7166-B536-9A6A-DC357A1368A4}"/>
              </a:ext>
            </a:extLst>
          </p:cNvPr>
          <p:cNvGrpSpPr/>
          <p:nvPr/>
        </p:nvGrpSpPr>
        <p:grpSpPr>
          <a:xfrm>
            <a:off x="11086549" y="5379154"/>
            <a:ext cx="647217" cy="446278"/>
            <a:chOff x="11005275" y="5489706"/>
            <a:chExt cx="647217" cy="446278"/>
          </a:xfrm>
        </p:grpSpPr>
        <p:pic>
          <p:nvPicPr>
            <p:cNvPr id="1053" name="Graphic 1052" descr="Key outline">
              <a:extLst>
                <a:ext uri="{FF2B5EF4-FFF2-40B4-BE49-F238E27FC236}">
                  <a16:creationId xmlns:a16="http://schemas.microsoft.com/office/drawing/2014/main" id="{2AE2040E-B166-C3F7-466A-F67AF7F6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ACAD7F3-D016-2131-7DC4-F297F6CCE5FB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9613038" y="6264072"/>
            <a:ext cx="233583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- Person Identification</a:t>
            </a:r>
          </a:p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eID – electronic Identification</a:t>
            </a:r>
          </a:p>
        </p:txBody>
      </p: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3D41A1B-8A0B-4105-7D11-AE8CE958B483}"/>
              </a:ext>
            </a:extLst>
          </p:cNvPr>
          <p:cNvGrpSpPr/>
          <p:nvPr/>
        </p:nvGrpSpPr>
        <p:grpSpPr>
          <a:xfrm>
            <a:off x="2408540" y="6346980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A991336-27AF-1C9E-672B-7602D46F8B72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C5DBE48-0DC7-CD75-6ACD-72B2A4D4F5F9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0BAC618C-0309-DD5F-20CE-1EC3EFDAAA5C}"/>
              </a:ext>
            </a:extLst>
          </p:cNvPr>
          <p:cNvGrpSpPr/>
          <p:nvPr/>
        </p:nvGrpSpPr>
        <p:grpSpPr>
          <a:xfrm>
            <a:off x="3410433" y="6342992"/>
            <a:ext cx="825766" cy="321228"/>
            <a:chOff x="4793047" y="6345339"/>
            <a:chExt cx="825766" cy="321228"/>
          </a:xfrm>
        </p:grpSpPr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54F91D9C-6E2D-797F-B03B-C4F214769B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A9BC5E99-33E4-BD6D-A736-20DA88E8FFC2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60E3A951-CBC8-BD8C-65BF-A3B322E99AE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BAF89C8-934D-1CEF-469B-5825D9026369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64" name="TextBox 1163">
              <a:extLst>
                <a:ext uri="{FF2B5EF4-FFF2-40B4-BE49-F238E27FC236}">
                  <a16:creationId xmlns:a16="http://schemas.microsoft.com/office/drawing/2014/main" id="{E2EF7223-3CC0-3C4F-2BA2-740121142F79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166" name="Graphic 1165" descr="Fingerprint with solid fill">
              <a:extLst>
                <a:ext uri="{FF2B5EF4-FFF2-40B4-BE49-F238E27FC236}">
                  <a16:creationId xmlns:a16="http://schemas.microsoft.com/office/drawing/2014/main" id="{2BAACEB2-3D3F-1B5E-1D4A-07B96D3D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287C44B8-8013-13E7-0237-1CB5D81CABDF}"/>
              </a:ext>
            </a:extLst>
          </p:cNvPr>
          <p:cNvGrpSpPr/>
          <p:nvPr/>
        </p:nvGrpSpPr>
        <p:grpSpPr>
          <a:xfrm>
            <a:off x="4031271" y="6301837"/>
            <a:ext cx="812629" cy="446278"/>
            <a:chOff x="10785943" y="5489706"/>
            <a:chExt cx="812629" cy="446278"/>
          </a:xfrm>
        </p:grpSpPr>
        <p:pic>
          <p:nvPicPr>
            <p:cNvPr id="1150" name="Graphic 1149" descr="Key outline">
              <a:extLst>
                <a:ext uri="{FF2B5EF4-FFF2-40B4-BE49-F238E27FC236}">
                  <a16:creationId xmlns:a16="http://schemas.microsoft.com/office/drawing/2014/main" id="{F6628352-B3C8-FC2E-7E95-FE55751D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162" name="TextBox 1161">
              <a:extLst>
                <a:ext uri="{FF2B5EF4-FFF2-40B4-BE49-F238E27FC236}">
                  <a16:creationId xmlns:a16="http://schemas.microsoft.com/office/drawing/2014/main" id="{6A316019-27D4-9CBE-A0BB-5A5A4D71ED34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4593910B-187E-3D04-B95F-4B66FA9C875D}"/>
              </a:ext>
            </a:extLst>
          </p:cNvPr>
          <p:cNvGrpSpPr/>
          <p:nvPr/>
        </p:nvGrpSpPr>
        <p:grpSpPr>
          <a:xfrm>
            <a:off x="5055155" y="6301837"/>
            <a:ext cx="504538" cy="465328"/>
            <a:chOff x="11062681" y="5489706"/>
            <a:chExt cx="504538" cy="465328"/>
          </a:xfrm>
        </p:grpSpPr>
        <p:pic>
          <p:nvPicPr>
            <p:cNvPr id="1139" name="Graphic 1138" descr="Key outline">
              <a:extLst>
                <a:ext uri="{FF2B5EF4-FFF2-40B4-BE49-F238E27FC236}">
                  <a16:creationId xmlns:a16="http://schemas.microsoft.com/office/drawing/2014/main" id="{C6D2812B-7915-3F99-B567-771527B25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32409A05-029E-D526-D77B-A1E0366BDF49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09157289-DD44-D059-FA1E-F2E4AC177E21}"/>
              </a:ext>
            </a:extLst>
          </p:cNvPr>
          <p:cNvGrpSpPr/>
          <p:nvPr/>
        </p:nvGrpSpPr>
        <p:grpSpPr>
          <a:xfrm>
            <a:off x="4850531" y="6310888"/>
            <a:ext cx="335658" cy="379187"/>
            <a:chOff x="10749568" y="5635101"/>
            <a:chExt cx="350430" cy="395875"/>
          </a:xfrm>
        </p:grpSpPr>
        <p:pic>
          <p:nvPicPr>
            <p:cNvPr id="1125" name="Graphic 1124" descr="Paper with solid fill">
              <a:extLst>
                <a:ext uri="{FF2B5EF4-FFF2-40B4-BE49-F238E27FC236}">
                  <a16:creationId xmlns:a16="http://schemas.microsoft.com/office/drawing/2014/main" id="{AE823193-9334-84B6-C5F3-8BAAE7DAD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126" name="TextBox 1125">
              <a:extLst>
                <a:ext uri="{FF2B5EF4-FFF2-40B4-BE49-F238E27FC236}">
                  <a16:creationId xmlns:a16="http://schemas.microsoft.com/office/drawing/2014/main" id="{E80D27BE-E72F-AAFF-606F-4D2B75E12FCC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3B5EC020-3F79-F2A4-F062-138BAE225E15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256BBCF8-FF2A-5663-94A0-74D36FA2D0D4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208FA0AC-D30B-93A7-1B3F-8CB33BA230BA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821C628-9965-1573-CAAD-C4E50DACD20F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CEB482B7-D3E1-F513-FE41-F47F1A87DC72}"/>
              </a:ext>
            </a:extLst>
          </p:cNvPr>
          <p:cNvGrpSpPr/>
          <p:nvPr/>
        </p:nvGrpSpPr>
        <p:grpSpPr>
          <a:xfrm>
            <a:off x="5539840" y="6301837"/>
            <a:ext cx="732706" cy="446278"/>
            <a:chOff x="319523" y="5081988"/>
            <a:chExt cx="732706" cy="446278"/>
          </a:xfrm>
        </p:grpSpPr>
        <p:pic>
          <p:nvPicPr>
            <p:cNvPr id="1123" name="Graphic 1122" descr="Key outline">
              <a:extLst>
                <a:ext uri="{FF2B5EF4-FFF2-40B4-BE49-F238E27FC236}">
                  <a16:creationId xmlns:a16="http://schemas.microsoft.com/office/drawing/2014/main" id="{66D1BC84-105C-F3D7-7D07-7E2EDD9AB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124" name="TextBox 1123">
              <a:extLst>
                <a:ext uri="{FF2B5EF4-FFF2-40B4-BE49-F238E27FC236}">
                  <a16:creationId xmlns:a16="http://schemas.microsoft.com/office/drawing/2014/main" id="{A12C5FBB-8F2A-F403-FEEF-5FF13592910B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6634574E-4173-3056-A20B-4F41A3B77D1F}"/>
              </a:ext>
            </a:extLst>
          </p:cNvPr>
          <p:cNvGrpSpPr/>
          <p:nvPr/>
        </p:nvGrpSpPr>
        <p:grpSpPr>
          <a:xfrm>
            <a:off x="2791461" y="6301837"/>
            <a:ext cx="621489" cy="446278"/>
            <a:chOff x="10966769" y="5489706"/>
            <a:chExt cx="621489" cy="446278"/>
          </a:xfrm>
        </p:grpSpPr>
        <p:pic>
          <p:nvPicPr>
            <p:cNvPr id="1121" name="Graphic 1120" descr="Key outline">
              <a:extLst>
                <a:ext uri="{FF2B5EF4-FFF2-40B4-BE49-F238E27FC236}">
                  <a16:creationId xmlns:a16="http://schemas.microsoft.com/office/drawing/2014/main" id="{6F8CEEC9-E20D-4F57-EB7E-C021E891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B04FDB9E-6890-06A6-93F4-135E5F3E9759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grpSp>
        <p:nvGrpSpPr>
          <p:cNvPr id="1257" name="Group 1256">
            <a:extLst>
              <a:ext uri="{FF2B5EF4-FFF2-40B4-BE49-F238E27FC236}">
                <a16:creationId xmlns:a16="http://schemas.microsoft.com/office/drawing/2014/main" id="{B277828D-7545-1C54-F4EC-C037A53A7285}"/>
              </a:ext>
            </a:extLst>
          </p:cNvPr>
          <p:cNvGrpSpPr/>
          <p:nvPr/>
        </p:nvGrpSpPr>
        <p:grpSpPr>
          <a:xfrm>
            <a:off x="5556942" y="6310888"/>
            <a:ext cx="335658" cy="379187"/>
            <a:chOff x="10749568" y="5635101"/>
            <a:chExt cx="350430" cy="395875"/>
          </a:xfrm>
        </p:grpSpPr>
        <p:pic>
          <p:nvPicPr>
            <p:cNvPr id="1258" name="Graphic 1257" descr="Paper with solid fill">
              <a:extLst>
                <a:ext uri="{FF2B5EF4-FFF2-40B4-BE49-F238E27FC236}">
                  <a16:creationId xmlns:a16="http://schemas.microsoft.com/office/drawing/2014/main" id="{CDC96972-471F-374A-8224-BB1CAEFAB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9" name="TextBox 1258">
              <a:extLst>
                <a:ext uri="{FF2B5EF4-FFF2-40B4-BE49-F238E27FC236}">
                  <a16:creationId xmlns:a16="http://schemas.microsoft.com/office/drawing/2014/main" id="{82810784-162C-23F6-5C87-B38AA9E7BD3C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60" name="Group 1259">
              <a:extLst>
                <a:ext uri="{FF2B5EF4-FFF2-40B4-BE49-F238E27FC236}">
                  <a16:creationId xmlns:a16="http://schemas.microsoft.com/office/drawing/2014/main" id="{2D87D143-9629-A141-19C8-CA947FC674F6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9AD91260-06D5-05B5-1560-A623A0FCC22A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090A6DDA-27D4-9E77-633D-03D70D5F8DF3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C4CCEE06-F06F-F765-BA4A-F227BC44223A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30CD4698-A412-4031-DCCB-82884F7F592F}"/>
              </a:ext>
            </a:extLst>
          </p:cNvPr>
          <p:cNvGrpSpPr/>
          <p:nvPr/>
        </p:nvGrpSpPr>
        <p:grpSpPr>
          <a:xfrm>
            <a:off x="3523127" y="2965685"/>
            <a:ext cx="2066555" cy="3505638"/>
            <a:chOff x="5226042" y="1981755"/>
            <a:chExt cx="2066555" cy="3505638"/>
          </a:xfrm>
        </p:grpSpPr>
        <p:pic>
          <p:nvPicPr>
            <p:cNvPr id="1266" name="Picture 4">
              <a:extLst>
                <a:ext uri="{FF2B5EF4-FFF2-40B4-BE49-F238E27FC236}">
                  <a16:creationId xmlns:a16="http://schemas.microsoft.com/office/drawing/2014/main" id="{9232071C-8A81-2394-F1F6-D2AD0AA43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E339985-D11F-A654-E8B6-D5DEE66BC906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A5815DC1-29FC-8414-731A-02399714E0D5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45A06C72-CB7E-CEA5-54DD-8CABBD8BFB39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EB37CF48-53DF-B97C-A3CA-632E8D879614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D899ECC5-64E7-CC20-6461-236DBB7229A3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44C208CA-43DC-3968-79F8-A284FC4340BE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96BA2D4C-F226-FB7F-A71E-AD51D2151FA8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DE678340-5AE3-7008-27A5-E673A462EA27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sp>
        <p:nvSpPr>
          <p:cNvPr id="1275" name="Rectangle: Rounded Corners 1274">
            <a:extLst>
              <a:ext uri="{FF2B5EF4-FFF2-40B4-BE49-F238E27FC236}">
                <a16:creationId xmlns:a16="http://schemas.microsoft.com/office/drawing/2014/main" id="{4B4E8C7F-2E98-FA69-7606-29487B118563}"/>
              </a:ext>
            </a:extLst>
          </p:cNvPr>
          <p:cNvSpPr/>
          <p:nvPr/>
        </p:nvSpPr>
        <p:spPr>
          <a:xfrm>
            <a:off x="380989" y="1231200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FC3C7082-793C-4C19-39FB-8FC1B0192250}"/>
              </a:ext>
            </a:extLst>
          </p:cNvPr>
          <p:cNvGrpSpPr/>
          <p:nvPr/>
        </p:nvGrpSpPr>
        <p:grpSpPr>
          <a:xfrm>
            <a:off x="1364613" y="1561685"/>
            <a:ext cx="1609851" cy="2457230"/>
            <a:chOff x="2632447" y="1552472"/>
            <a:chExt cx="1609851" cy="2457230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88E1EF6-D084-AAA2-1A0F-9A72A7F54B3D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D306510D-0E47-6DAA-72F6-0BF71753ED9E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1316" name="Graphic 1315" descr="Building outline">
                  <a:extLst>
                    <a:ext uri="{FF2B5EF4-FFF2-40B4-BE49-F238E27FC236}">
                      <a16:creationId xmlns:a16="http://schemas.microsoft.com/office/drawing/2014/main" id="{3F62976D-B533-1A38-7152-908CCC2FA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1B9BC0BF-E80E-CE71-A27E-7C420157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318" name="Freeform: Shape 1317">
                    <a:extLst>
                      <a:ext uri="{FF2B5EF4-FFF2-40B4-BE49-F238E27FC236}">
                        <a16:creationId xmlns:a16="http://schemas.microsoft.com/office/drawing/2014/main" id="{7177F420-EF27-BC8B-67B6-604CC0E09055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19" name="Freeform: Shape 1318">
                    <a:extLst>
                      <a:ext uri="{FF2B5EF4-FFF2-40B4-BE49-F238E27FC236}">
                        <a16:creationId xmlns:a16="http://schemas.microsoft.com/office/drawing/2014/main" id="{441E3236-0FEE-912D-9D94-2470ED60E0F8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20" name="Freeform: Shape 1319">
                    <a:extLst>
                      <a:ext uri="{FF2B5EF4-FFF2-40B4-BE49-F238E27FC236}">
                        <a16:creationId xmlns:a16="http://schemas.microsoft.com/office/drawing/2014/main" id="{8BB90196-2C49-FDA8-395A-9737A9B14FB1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1" name="Freeform: Shape 1320">
                    <a:extLst>
                      <a:ext uri="{FF2B5EF4-FFF2-40B4-BE49-F238E27FC236}">
                        <a16:creationId xmlns:a16="http://schemas.microsoft.com/office/drawing/2014/main" id="{640D48BE-586F-5404-87E9-4E51FA2E024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2" name="Freeform: Shape 1321">
                    <a:extLst>
                      <a:ext uri="{FF2B5EF4-FFF2-40B4-BE49-F238E27FC236}">
                        <a16:creationId xmlns:a16="http://schemas.microsoft.com/office/drawing/2014/main" id="{1F584DC0-2716-2BEE-3FE6-FF6B48944454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323" name="Graphic 1322" descr="Car outline">
                    <a:extLst>
                      <a:ext uri="{FF2B5EF4-FFF2-40B4-BE49-F238E27FC236}">
                        <a16:creationId xmlns:a16="http://schemas.microsoft.com/office/drawing/2014/main" id="{2CAA0850-7B1A-7483-8460-8D7291399B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5" name="TextBox 1314">
                <a:extLst>
                  <a:ext uri="{FF2B5EF4-FFF2-40B4-BE49-F238E27FC236}">
                    <a16:creationId xmlns:a16="http://schemas.microsoft.com/office/drawing/2014/main" id="{7C3DBCBF-AAE3-EB73-DD7E-6AEDA6D37AA3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36CD085-449F-0B95-6870-0CE481F046EB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303" name="Group 1302">
                <a:extLst>
                  <a:ext uri="{FF2B5EF4-FFF2-40B4-BE49-F238E27FC236}">
                    <a16:creationId xmlns:a16="http://schemas.microsoft.com/office/drawing/2014/main" id="{8AD33532-56D7-7F27-F0C2-E22D6EDAD245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305" name="Group 1304">
                  <a:extLst>
                    <a:ext uri="{FF2B5EF4-FFF2-40B4-BE49-F238E27FC236}">
                      <a16:creationId xmlns:a16="http://schemas.microsoft.com/office/drawing/2014/main" id="{559EE3D2-521A-F681-9704-387554181D46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312" name="Graphic 1311" descr="Court outline">
                    <a:extLst>
                      <a:ext uri="{FF2B5EF4-FFF2-40B4-BE49-F238E27FC236}">
                        <a16:creationId xmlns:a16="http://schemas.microsoft.com/office/drawing/2014/main" id="{0039B551-EDA1-358F-560C-4018206CC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313" name="Graphic 1312" descr="Flag outline">
                    <a:extLst>
                      <a:ext uri="{FF2B5EF4-FFF2-40B4-BE49-F238E27FC236}">
                        <a16:creationId xmlns:a16="http://schemas.microsoft.com/office/drawing/2014/main" id="{5E773B77-911A-EDFC-34C0-EE2C8C32E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6" name="Group 1305">
                  <a:extLst>
                    <a:ext uri="{FF2B5EF4-FFF2-40B4-BE49-F238E27FC236}">
                      <a16:creationId xmlns:a16="http://schemas.microsoft.com/office/drawing/2014/main" id="{8F364186-59B7-D820-1A6D-60F0EF4E6236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6A181503-9D35-C5AB-482C-EF53870F9499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308" name="Group 1307">
                    <a:extLst>
                      <a:ext uri="{FF2B5EF4-FFF2-40B4-BE49-F238E27FC236}">
                        <a16:creationId xmlns:a16="http://schemas.microsoft.com/office/drawing/2014/main" id="{431E5F1F-7D06-7B5C-2ADF-D0E58F0682D5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B685A665-483B-A3E8-6575-5C64FE7FF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E4D48EA3-851F-79F7-02C4-0419E0D81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EFE9A8CF-1968-678F-8DCC-EE85D9A53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304" name="TextBox 1303">
                <a:extLst>
                  <a:ext uri="{FF2B5EF4-FFF2-40B4-BE49-F238E27FC236}">
                    <a16:creationId xmlns:a16="http://schemas.microsoft.com/office/drawing/2014/main" id="{0980EDB6-FD2E-BBA8-3388-54CA3CADAFB9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3C0DEA22-EF73-6A33-E477-1BA620DFB867}"/>
              </a:ext>
            </a:extLst>
          </p:cNvPr>
          <p:cNvGrpSpPr/>
          <p:nvPr/>
        </p:nvGrpSpPr>
        <p:grpSpPr>
          <a:xfrm>
            <a:off x="6386032" y="1622388"/>
            <a:ext cx="1071245" cy="1075241"/>
            <a:chOff x="9578715" y="3292356"/>
            <a:chExt cx="914400" cy="1084207"/>
          </a:xfrm>
        </p:grpSpPr>
        <p:pic>
          <p:nvPicPr>
            <p:cNvPr id="1328" name="Graphic 1327" descr="Police female outline">
              <a:extLst>
                <a:ext uri="{FF2B5EF4-FFF2-40B4-BE49-F238E27FC236}">
                  <a16:creationId xmlns:a16="http://schemas.microsoft.com/office/drawing/2014/main" id="{54F53E6E-EC63-764C-5CAF-8DF3A2F5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915B95-7947-413A-1692-6EDD35E00472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1330" name="Rectangle: Rounded Corners 1329">
            <a:extLst>
              <a:ext uri="{FF2B5EF4-FFF2-40B4-BE49-F238E27FC236}">
                <a16:creationId xmlns:a16="http://schemas.microsoft.com/office/drawing/2014/main" id="{5F89B6B6-EA25-8FBB-E4D0-39DC3BBF0648}"/>
              </a:ext>
            </a:extLst>
          </p:cNvPr>
          <p:cNvSpPr/>
          <p:nvPr/>
        </p:nvSpPr>
        <p:spPr>
          <a:xfrm>
            <a:off x="5328000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sp>
        <p:nvSpPr>
          <p:cNvPr id="1349" name="Rectangle 1348">
            <a:extLst>
              <a:ext uri="{FF2B5EF4-FFF2-40B4-BE49-F238E27FC236}">
                <a16:creationId xmlns:a16="http://schemas.microsoft.com/office/drawing/2014/main" id="{6D9E8DED-1971-47A8-AAA9-675ACAF7E25F}"/>
              </a:ext>
            </a:extLst>
          </p:cNvPr>
          <p:cNvSpPr/>
          <p:nvPr/>
        </p:nvSpPr>
        <p:spPr>
          <a:xfrm>
            <a:off x="9000000" y="4392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0" name="Rectangle 1349">
            <a:extLst>
              <a:ext uri="{FF2B5EF4-FFF2-40B4-BE49-F238E27FC236}">
                <a16:creationId xmlns:a16="http://schemas.microsoft.com/office/drawing/2014/main" id="{3AA6F4F9-84C4-89B0-A060-19AC91B7705F}"/>
              </a:ext>
            </a:extLst>
          </p:cNvPr>
          <p:cNvSpPr/>
          <p:nvPr/>
        </p:nvSpPr>
        <p:spPr>
          <a:xfrm>
            <a:off x="9000000" y="4860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2B35C5E0-2C88-0B9A-6A6C-156BFE1DF03F}"/>
              </a:ext>
            </a:extLst>
          </p:cNvPr>
          <p:cNvSpPr/>
          <p:nvPr/>
        </p:nvSpPr>
        <p:spPr>
          <a:xfrm>
            <a:off x="9000000" y="532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B380A58-E4A2-2594-5C8C-562FE1EEE4D7}"/>
              </a:ext>
            </a:extLst>
          </p:cNvPr>
          <p:cNvSpPr/>
          <p:nvPr/>
        </p:nvSpPr>
        <p:spPr>
          <a:xfrm>
            <a:off x="9000000" y="579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B7E2D5A-2007-9B43-E673-2A59C3A234EE}"/>
              </a:ext>
            </a:extLst>
          </p:cNvPr>
          <p:cNvGrpSpPr/>
          <p:nvPr/>
        </p:nvGrpSpPr>
        <p:grpSpPr>
          <a:xfrm>
            <a:off x="1050032" y="1625641"/>
            <a:ext cx="4621722" cy="2240393"/>
            <a:chOff x="1050032" y="1625641"/>
            <a:chExt cx="4621722" cy="22403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825F13-24D6-5E33-74B7-DBCAB935C52D}"/>
                </a:ext>
              </a:extLst>
            </p:cNvPr>
            <p:cNvSpPr txBox="1"/>
            <p:nvPr/>
          </p:nvSpPr>
          <p:spPr>
            <a:xfrm>
              <a:off x="3147242" y="1625641"/>
              <a:ext cx="2524512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a) Authenticate wallet &amp; holder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15E04A60-F3FD-28A2-13AA-766CDA4A5614}"/>
                </a:ext>
              </a:extLst>
            </p:cNvPr>
            <p:cNvSpPr/>
            <p:nvPr/>
          </p:nvSpPr>
          <p:spPr>
            <a:xfrm>
              <a:off x="1050032" y="2019867"/>
              <a:ext cx="3641434" cy="1846167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EFC51C-D76A-B5A4-C0AA-0ECDFFD7BC0D}"/>
              </a:ext>
            </a:extLst>
          </p:cNvPr>
          <p:cNvGrpSpPr/>
          <p:nvPr/>
        </p:nvGrpSpPr>
        <p:grpSpPr>
          <a:xfrm>
            <a:off x="1294611" y="2323749"/>
            <a:ext cx="3115496" cy="1160235"/>
            <a:chOff x="1294611" y="2323749"/>
            <a:chExt cx="3115496" cy="11602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67ED7-59B3-17FE-6B18-7A9B7831D49B}"/>
                </a:ext>
              </a:extLst>
            </p:cNvPr>
            <p:cNvSpPr txBox="1"/>
            <p:nvPr/>
          </p:nvSpPr>
          <p:spPr>
            <a:xfrm>
              <a:off x="2725200" y="2598103"/>
              <a:ext cx="1056835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b) Obtain PID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F1E43228-1528-C57C-E192-68A3043D3BB5}"/>
                </a:ext>
              </a:extLst>
            </p:cNvPr>
            <p:cNvSpPr/>
            <p:nvPr/>
          </p:nvSpPr>
          <p:spPr>
            <a:xfrm>
              <a:off x="1294611" y="2323749"/>
              <a:ext cx="3115496" cy="1160235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1FDFF-B62E-E61B-6ADE-8357419529D2}"/>
              </a:ext>
            </a:extLst>
          </p:cNvPr>
          <p:cNvGrpSpPr/>
          <p:nvPr/>
        </p:nvGrpSpPr>
        <p:grpSpPr>
          <a:xfrm>
            <a:off x="1080000" y="3400049"/>
            <a:ext cx="3446048" cy="1587171"/>
            <a:chOff x="1080000" y="3400049"/>
            <a:chExt cx="3446048" cy="1587171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9546A42-C497-CBBA-5D13-C474C396182A}"/>
                </a:ext>
              </a:extLst>
            </p:cNvPr>
            <p:cNvSpPr/>
            <p:nvPr/>
          </p:nvSpPr>
          <p:spPr>
            <a:xfrm>
              <a:off x="2421847" y="3400049"/>
              <a:ext cx="2104201" cy="1175502"/>
            </a:xfrm>
            <a:prstGeom prst="arc">
              <a:avLst>
                <a:gd name="adj1" fmla="val 4720044"/>
                <a:gd name="adj2" fmla="val 10968779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C42314-343F-CEE3-DDF8-D1C89317ECA2}"/>
                </a:ext>
              </a:extLst>
            </p:cNvPr>
            <p:cNvSpPr txBox="1"/>
            <p:nvPr/>
          </p:nvSpPr>
          <p:spPr>
            <a:xfrm>
              <a:off x="1080000" y="4464000"/>
              <a:ext cx="2597670" cy="52322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en-GB" sz="1400" dirty="0"/>
                <a:t>c) Use PID (eID means)</a:t>
              </a:r>
              <a:br>
                <a:rPr lang="en-GB" sz="1400" dirty="0"/>
              </a:br>
              <a:r>
                <a:rPr lang="en-GB" sz="1400" dirty="0"/>
                <a:t>to obtain attestations of attributes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2F3644-D497-4BB9-C0BE-43C0262806CF}"/>
              </a:ext>
            </a:extLst>
          </p:cNvPr>
          <p:cNvGrpSpPr/>
          <p:nvPr/>
        </p:nvGrpSpPr>
        <p:grpSpPr>
          <a:xfrm>
            <a:off x="4492948" y="1122874"/>
            <a:ext cx="4035590" cy="3556179"/>
            <a:chOff x="4492948" y="1122874"/>
            <a:chExt cx="4035590" cy="355617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999477AE-7F8F-73FA-4862-162E5037B5D6}"/>
                </a:ext>
              </a:extLst>
            </p:cNvPr>
            <p:cNvSpPr/>
            <p:nvPr/>
          </p:nvSpPr>
          <p:spPr>
            <a:xfrm>
              <a:off x="4492948" y="1122874"/>
              <a:ext cx="2382158" cy="3391501"/>
            </a:xfrm>
            <a:prstGeom prst="arc">
              <a:avLst>
                <a:gd name="adj1" fmla="val 21515035"/>
                <a:gd name="adj2" fmla="val 5676142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B6E2E7-936D-8E53-7E75-BEBFE44A825B}"/>
                </a:ext>
              </a:extLst>
            </p:cNvPr>
            <p:cNvSpPr txBox="1"/>
            <p:nvPr/>
          </p:nvSpPr>
          <p:spPr>
            <a:xfrm>
              <a:off x="6683262" y="3940389"/>
              <a:ext cx="1845276" cy="73866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en-GB" sz="1400" dirty="0"/>
                <a:t>d) Present</a:t>
              </a:r>
            </a:p>
            <a:p>
              <a:r>
                <a:rPr lang="en-GB" sz="1400" dirty="0"/>
                <a:t>attestation of attributes</a:t>
              </a:r>
            </a:p>
            <a:p>
              <a:r>
                <a:rPr lang="en-GB" sz="1400" dirty="0"/>
                <a:t>to relying party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0AA8039-2787-0A03-3F03-5ED82E2838FA}"/>
              </a:ext>
            </a:extLst>
          </p:cNvPr>
          <p:cNvSpPr/>
          <p:nvPr/>
        </p:nvSpPr>
        <p:spPr>
          <a:xfrm>
            <a:off x="3806476" y="4341714"/>
            <a:ext cx="1481197" cy="25200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Driving Licence</a:t>
            </a:r>
          </a:p>
        </p:txBody>
      </p:sp>
    </p:spTree>
    <p:extLst>
      <p:ext uri="{BB962C8B-B14F-4D97-AF65-F5344CB8AC3E}">
        <p14:creationId xmlns:p14="http://schemas.microsoft.com/office/powerpoint/2010/main" val="294298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9" grpId="0" animBg="1"/>
      <p:bldP spid="1350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197607"/>
              </p:ext>
            </p:extLst>
          </p:nvPr>
        </p:nvGraphicFramePr>
        <p:xfrm>
          <a:off x="428200" y="1109280"/>
          <a:ext cx="11288459" cy="51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80108747"/>
                    </a:ext>
                  </a:extLst>
                </a:gridCol>
                <a:gridCol w="1718100">
                  <a:extLst>
                    <a:ext uri="{9D8B030D-6E8A-4147-A177-3AD203B41FA5}">
                      <a16:colId xmlns:a16="http://schemas.microsoft.com/office/drawing/2014/main" val="3936821659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894623054"/>
                    </a:ext>
                  </a:extLst>
                </a:gridCol>
                <a:gridCol w="1650639">
                  <a:extLst>
                    <a:ext uri="{9D8B030D-6E8A-4147-A177-3AD203B41FA5}">
                      <a16:colId xmlns:a16="http://schemas.microsoft.com/office/drawing/2014/main" val="15005002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rgbClr val="38638E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38638E"/>
                          </a:solidFill>
                        </a:rPr>
                        <a:t>Verification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Verification artefacts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Artefact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Primary threats to artefacts (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STRIDE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9505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Authenticity of entities, PID and attestations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Used to protect trusted lists of participants in the wallet ecosystem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(eg providers, wallets and relying parties)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Spoofing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Authenticity of wallet</a:t>
                      </a:r>
                    </a:p>
                    <a:p>
                      <a:r>
                        <a:rPr lang="en-GB" sz="1200" dirty="0"/>
                        <a:t>and wallet 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wallet to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 wallet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</a:t>
                      </a:r>
                    </a:p>
                    <a:p>
                      <a:r>
                        <a:rPr lang="en-GB" sz="1200" dirty="0"/>
                        <a:t>electronic identification (eID)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Ownership of 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identity of natural / legal personal etc to be established</a:t>
                      </a:r>
                    </a:p>
                    <a:p>
                      <a:r>
                        <a:rPr lang="en-GB" sz="1200" dirty="0"/>
                        <a:t>Also used as eID means for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access token at issuance</a:t>
                      </a:r>
                    </a:p>
                    <a:p>
                      <a:r>
                        <a:rPr lang="en-GB" sz="1200" dirty="0"/>
                        <a:t>Use of access tokens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Ownership of attestations of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selective disclosure of personal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credential at issuance</a:t>
                      </a:r>
                    </a:p>
                    <a:p>
                      <a:r>
                        <a:rPr lang="en-GB" sz="1200" dirty="0"/>
                        <a:t>Use of credential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Wallet attestation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sign attestations relating to security of the wallet app itself, the keys materials used by the wallet and/or the host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as part of the attestation process</a:t>
                      </a:r>
                    </a:p>
                    <a:p>
                      <a:r>
                        <a:rPr lang="en-GB" sz="1200" dirty="0"/>
                        <a:t>Likely requires health / posture related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</a:t>
            </a:r>
            <a:r>
              <a:rPr lang="da-DK" b="1" dirty="0" err="1"/>
              <a:t>mechanisms</a:t>
            </a:r>
            <a:r>
              <a:rPr lang="da-DK" b="1" dirty="0"/>
              <a:t> (4)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B10D2F-1643-1527-5488-AFF294485234}"/>
              </a:ext>
            </a:extLst>
          </p:cNvPr>
          <p:cNvGrpSpPr/>
          <p:nvPr/>
        </p:nvGrpSpPr>
        <p:grpSpPr>
          <a:xfrm>
            <a:off x="3958560" y="1707482"/>
            <a:ext cx="843194" cy="4468494"/>
            <a:chOff x="10908000" y="1730342"/>
            <a:chExt cx="843194" cy="4468494"/>
          </a:xfrm>
        </p:grpSpPr>
        <p:grpSp>
          <p:nvGrpSpPr>
            <p:cNvPr id="1250" name="Group 1249">
              <a:extLst>
                <a:ext uri="{FF2B5EF4-FFF2-40B4-BE49-F238E27FC236}">
                  <a16:creationId xmlns:a16="http://schemas.microsoft.com/office/drawing/2014/main" id="{BF301479-C9B8-7F84-4228-4C1D8879B821}"/>
                </a:ext>
              </a:extLst>
            </p:cNvPr>
            <p:cNvGrpSpPr/>
            <p:nvPr/>
          </p:nvGrpSpPr>
          <p:grpSpPr>
            <a:xfrm>
              <a:off x="11415536" y="4431950"/>
              <a:ext cx="335658" cy="379187"/>
              <a:chOff x="10749568" y="5635101"/>
              <a:chExt cx="350430" cy="395875"/>
            </a:xfrm>
          </p:grpSpPr>
          <p:pic>
            <p:nvPicPr>
              <p:cNvPr id="1251" name="Graphic 1250" descr="Paper with solid fill">
                <a:extLst>
                  <a:ext uri="{FF2B5EF4-FFF2-40B4-BE49-F238E27FC236}">
                    <a16:creationId xmlns:a16="http://schemas.microsoft.com/office/drawing/2014/main" id="{6DE08AE5-1823-3377-24F6-B7E7021D0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BA3DFEF7-D6CF-5C4D-1F7F-7E191F31EFE3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</a:t>
                </a:r>
              </a:p>
            </p:txBody>
          </p:sp>
          <p:grpSp>
            <p:nvGrpSpPr>
              <p:cNvPr id="1253" name="Group 1252">
                <a:extLst>
                  <a:ext uri="{FF2B5EF4-FFF2-40B4-BE49-F238E27FC236}">
                    <a16:creationId xmlns:a16="http://schemas.microsoft.com/office/drawing/2014/main" id="{A4827675-6BF2-AD8C-C704-8799149C1B73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300A4163-90C8-B71E-4EF9-8D178F60E018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D04AB439-6273-12A7-1A7B-70B339DC3E06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CCBD6E00-CA16-D3DB-7CC0-FC42797C0A19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22C10D-3DE9-C770-1EA4-272140962240}"/>
                </a:ext>
              </a:extLst>
            </p:cNvPr>
            <p:cNvGrpSpPr/>
            <p:nvPr/>
          </p:nvGrpSpPr>
          <p:grpSpPr>
            <a:xfrm>
              <a:off x="11355529" y="1730342"/>
              <a:ext cx="378237" cy="307002"/>
              <a:chOff x="9821290" y="4547726"/>
              <a:chExt cx="378237" cy="307002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530F6E7-6D85-D5DE-387C-13320C3F5801}"/>
                  </a:ext>
                </a:extLst>
              </p:cNvPr>
              <p:cNvSpPr/>
              <p:nvPr/>
            </p:nvSpPr>
            <p:spPr>
              <a:xfrm>
                <a:off x="9821290" y="4547726"/>
                <a:ext cx="378237" cy="221456"/>
              </a:xfrm>
              <a:custGeom>
                <a:avLst/>
                <a:gdLst>
                  <a:gd name="connsiteX0" fmla="*/ 349472 w 378237"/>
                  <a:gd name="connsiteY0" fmla="*/ 0 h 221456"/>
                  <a:gd name="connsiteX1" fmla="*/ 378238 w 378237"/>
                  <a:gd name="connsiteY1" fmla="*/ 28765 h 221456"/>
                  <a:gd name="connsiteX2" fmla="*/ 378238 w 378237"/>
                  <a:gd name="connsiteY2" fmla="*/ 192691 h 221456"/>
                  <a:gd name="connsiteX3" fmla="*/ 349472 w 378237"/>
                  <a:gd name="connsiteY3" fmla="*/ 221456 h 221456"/>
                  <a:gd name="connsiteX4" fmla="*/ 28766 w 378237"/>
                  <a:gd name="connsiteY4" fmla="*/ 221456 h 221456"/>
                  <a:gd name="connsiteX5" fmla="*/ 0 w 378237"/>
                  <a:gd name="connsiteY5" fmla="*/ 192691 h 221456"/>
                  <a:gd name="connsiteX6" fmla="*/ 0 w 378237"/>
                  <a:gd name="connsiteY6" fmla="*/ 28765 h 221456"/>
                  <a:gd name="connsiteX7" fmla="*/ 28766 w 378237"/>
                  <a:gd name="connsiteY7" fmla="*/ 0 h 22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237" h="221456">
                    <a:moveTo>
                      <a:pt x="349472" y="0"/>
                    </a:moveTo>
                    <a:cubicBezTo>
                      <a:pt x="365359" y="0"/>
                      <a:pt x="378238" y="12879"/>
                      <a:pt x="378238" y="28765"/>
                    </a:cubicBezTo>
                    <a:lnTo>
                      <a:pt x="378238" y="192691"/>
                    </a:lnTo>
                    <a:cubicBezTo>
                      <a:pt x="378238" y="208577"/>
                      <a:pt x="365359" y="221456"/>
                      <a:pt x="349472" y="221456"/>
                    </a:cubicBezTo>
                    <a:lnTo>
                      <a:pt x="28766" y="221456"/>
                    </a:lnTo>
                    <a:cubicBezTo>
                      <a:pt x="12879" y="221456"/>
                      <a:pt x="0" y="208577"/>
                      <a:pt x="0" y="192691"/>
                    </a:cubicBezTo>
                    <a:lnTo>
                      <a:pt x="0" y="28765"/>
                    </a:lnTo>
                    <a:cubicBezTo>
                      <a:pt x="0" y="12879"/>
                      <a:pt x="12879" y="0"/>
                      <a:pt x="28766" y="0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34E5A80-CAB0-A59A-9BAB-AE5DFDC3EE41}"/>
                  </a:ext>
                </a:extLst>
              </p:cNvPr>
              <p:cNvSpPr/>
              <p:nvPr/>
            </p:nvSpPr>
            <p:spPr>
              <a:xfrm>
                <a:off x="9842189" y="4569328"/>
                <a:ext cx="349272" cy="285400"/>
              </a:xfrm>
              <a:custGeom>
                <a:avLst/>
                <a:gdLst>
                  <a:gd name="connsiteX0" fmla="*/ 0 w 433170"/>
                  <a:gd name="connsiteY0" fmla="*/ 49729 h 353957"/>
                  <a:gd name="connsiteX1" fmla="*/ 51625 w 433170"/>
                  <a:gd name="connsiteY1" fmla="*/ 9 h 353957"/>
                  <a:gd name="connsiteX2" fmla="*/ 335852 w 433170"/>
                  <a:gd name="connsiteY2" fmla="*/ 9 h 353957"/>
                  <a:gd name="connsiteX3" fmla="*/ 369094 w 433170"/>
                  <a:gd name="connsiteY3" fmla="*/ 27822 h 353957"/>
                  <a:gd name="connsiteX4" fmla="*/ 369094 w 433170"/>
                  <a:gd name="connsiteY4" fmla="*/ 42205 h 353957"/>
                  <a:gd name="connsiteX5" fmla="*/ 348520 w 433170"/>
                  <a:gd name="connsiteY5" fmla="*/ 35156 h 353957"/>
                  <a:gd name="connsiteX6" fmla="*/ 334518 w 433170"/>
                  <a:gd name="connsiteY6" fmla="*/ 19821 h 353957"/>
                  <a:gd name="connsiteX7" fmla="*/ 62579 w 433170"/>
                  <a:gd name="connsiteY7" fmla="*/ 19821 h 353957"/>
                  <a:gd name="connsiteX8" fmla="*/ 62579 w 433170"/>
                  <a:gd name="connsiteY8" fmla="*/ 60683 h 353957"/>
                  <a:gd name="connsiteX9" fmla="*/ 20574 w 433170"/>
                  <a:gd name="connsiteY9" fmla="*/ 60683 h 353957"/>
                  <a:gd name="connsiteX10" fmla="*/ 20574 w 433170"/>
                  <a:gd name="connsiteY10" fmla="*/ 208797 h 353957"/>
                  <a:gd name="connsiteX11" fmla="*/ 31528 w 433170"/>
                  <a:gd name="connsiteY11" fmla="*/ 220227 h 353957"/>
                  <a:gd name="connsiteX12" fmla="*/ 180784 w 433170"/>
                  <a:gd name="connsiteY12" fmla="*/ 220227 h 353957"/>
                  <a:gd name="connsiteX13" fmla="*/ 192691 w 433170"/>
                  <a:gd name="connsiteY13" fmla="*/ 239658 h 353957"/>
                  <a:gd name="connsiteX14" fmla="*/ 29813 w 433170"/>
                  <a:gd name="connsiteY14" fmla="*/ 239658 h 353957"/>
                  <a:gd name="connsiteX15" fmla="*/ 0 w 433170"/>
                  <a:gd name="connsiteY15" fmla="*/ 210035 h 353957"/>
                  <a:gd name="connsiteX16" fmla="*/ 201359 w 433170"/>
                  <a:gd name="connsiteY16" fmla="*/ 325288 h 353957"/>
                  <a:gd name="connsiteX17" fmla="*/ 239935 w 433170"/>
                  <a:gd name="connsiteY17" fmla="*/ 261946 h 353957"/>
                  <a:gd name="connsiteX18" fmla="*/ 192405 w 433170"/>
                  <a:gd name="connsiteY18" fmla="*/ 126787 h 353957"/>
                  <a:gd name="connsiteX19" fmla="*/ 313754 w 433170"/>
                  <a:gd name="connsiteY19" fmla="*/ 44871 h 353957"/>
                  <a:gd name="connsiteX20" fmla="*/ 429292 w 433170"/>
                  <a:gd name="connsiteY20" fmla="*/ 134311 h 353957"/>
                  <a:gd name="connsiteX21" fmla="*/ 372618 w 433170"/>
                  <a:gd name="connsiteY21" fmla="*/ 266232 h 353957"/>
                  <a:gd name="connsiteX22" fmla="*/ 415957 w 433170"/>
                  <a:gd name="connsiteY22" fmla="*/ 329097 h 353957"/>
                  <a:gd name="connsiteX23" fmla="*/ 368618 w 433170"/>
                  <a:gd name="connsiteY23" fmla="*/ 316810 h 353957"/>
                  <a:gd name="connsiteX24" fmla="*/ 355092 w 433170"/>
                  <a:gd name="connsiteY24" fmla="*/ 353577 h 353957"/>
                  <a:gd name="connsiteX25" fmla="*/ 304324 w 433170"/>
                  <a:gd name="connsiteY25" fmla="*/ 288140 h 353957"/>
                  <a:gd name="connsiteX26" fmla="*/ 265748 w 433170"/>
                  <a:gd name="connsiteY26" fmla="*/ 353958 h 353957"/>
                  <a:gd name="connsiteX27" fmla="*/ 248221 w 433170"/>
                  <a:gd name="connsiteY27" fmla="*/ 314334 h 353957"/>
                  <a:gd name="connsiteX28" fmla="*/ 201835 w 433170"/>
                  <a:gd name="connsiteY28" fmla="*/ 164982 h 353957"/>
                  <a:gd name="connsiteX29" fmla="*/ 309943 w 433170"/>
                  <a:gd name="connsiteY29" fmla="*/ 265375 h 353957"/>
                  <a:gd name="connsiteX30" fmla="*/ 416814 w 433170"/>
                  <a:gd name="connsiteY30" fmla="*/ 164982 h 353957"/>
                  <a:gd name="connsiteX31" fmla="*/ 311753 w 433170"/>
                  <a:gd name="connsiteY31" fmla="*/ 62397 h 353957"/>
                  <a:gd name="connsiteX32" fmla="*/ 201835 w 433170"/>
                  <a:gd name="connsiteY32" fmla="*/ 164982 h 353957"/>
                  <a:gd name="connsiteX33" fmla="*/ 228124 w 433170"/>
                  <a:gd name="connsiteY33" fmla="*/ 164982 h 353957"/>
                  <a:gd name="connsiteX34" fmla="*/ 252032 w 433170"/>
                  <a:gd name="connsiteY34" fmla="*/ 109165 h 353957"/>
                  <a:gd name="connsiteX35" fmla="*/ 309943 w 433170"/>
                  <a:gd name="connsiteY35" fmla="*/ 86496 h 353957"/>
                  <a:gd name="connsiteX36" fmla="*/ 367093 w 433170"/>
                  <a:gd name="connsiteY36" fmla="*/ 109641 h 353957"/>
                  <a:gd name="connsiteX37" fmla="*/ 390525 w 433170"/>
                  <a:gd name="connsiteY37" fmla="*/ 164982 h 353957"/>
                  <a:gd name="connsiteX38" fmla="*/ 309943 w 433170"/>
                  <a:gd name="connsiteY38" fmla="*/ 241277 h 353957"/>
                  <a:gd name="connsiteX39" fmla="*/ 228124 w 433170"/>
                  <a:gd name="connsiteY39" fmla="*/ 164982 h 353957"/>
                  <a:gd name="connsiteX40" fmla="*/ 246031 w 433170"/>
                  <a:gd name="connsiteY40" fmla="*/ 164982 h 353957"/>
                  <a:gd name="connsiteX41" fmla="*/ 309943 w 433170"/>
                  <a:gd name="connsiteY41" fmla="*/ 224894 h 353957"/>
                  <a:gd name="connsiteX42" fmla="*/ 372999 w 433170"/>
                  <a:gd name="connsiteY42" fmla="*/ 164982 h 353957"/>
                  <a:gd name="connsiteX43" fmla="*/ 309943 w 433170"/>
                  <a:gd name="connsiteY43" fmla="*/ 103355 h 353957"/>
                  <a:gd name="connsiteX44" fmla="*/ 246031 w 433170"/>
                  <a:gd name="connsiteY44" fmla="*/ 164982 h 353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33170" h="353957">
                    <a:moveTo>
                      <a:pt x="0" y="49729"/>
                    </a:moveTo>
                    <a:lnTo>
                      <a:pt x="51625" y="9"/>
                    </a:lnTo>
                    <a:lnTo>
                      <a:pt x="335852" y="9"/>
                    </a:lnTo>
                    <a:cubicBezTo>
                      <a:pt x="352711" y="-372"/>
                      <a:pt x="367093" y="11629"/>
                      <a:pt x="369094" y="27822"/>
                    </a:cubicBezTo>
                    <a:lnTo>
                      <a:pt x="369094" y="42205"/>
                    </a:lnTo>
                    <a:lnTo>
                      <a:pt x="348520" y="35156"/>
                    </a:lnTo>
                    <a:cubicBezTo>
                      <a:pt x="348901" y="27250"/>
                      <a:pt x="342709" y="20488"/>
                      <a:pt x="334518" y="19821"/>
                    </a:cubicBezTo>
                    <a:lnTo>
                      <a:pt x="62579" y="19821"/>
                    </a:lnTo>
                    <a:lnTo>
                      <a:pt x="62579" y="60683"/>
                    </a:lnTo>
                    <a:lnTo>
                      <a:pt x="20574" y="60683"/>
                    </a:lnTo>
                    <a:lnTo>
                      <a:pt x="20574" y="208797"/>
                    </a:lnTo>
                    <a:cubicBezTo>
                      <a:pt x="21145" y="214607"/>
                      <a:pt x="25622" y="219274"/>
                      <a:pt x="31528" y="220227"/>
                    </a:cubicBezTo>
                    <a:lnTo>
                      <a:pt x="180784" y="220227"/>
                    </a:lnTo>
                    <a:lnTo>
                      <a:pt x="192691" y="239658"/>
                    </a:lnTo>
                    <a:lnTo>
                      <a:pt x="29813" y="239658"/>
                    </a:lnTo>
                    <a:cubicBezTo>
                      <a:pt x="14001" y="237467"/>
                      <a:pt x="1810" y="225275"/>
                      <a:pt x="0" y="210035"/>
                    </a:cubicBezTo>
                    <a:close/>
                    <a:moveTo>
                      <a:pt x="201359" y="325288"/>
                    </a:moveTo>
                    <a:lnTo>
                      <a:pt x="239935" y="261946"/>
                    </a:lnTo>
                    <a:cubicBezTo>
                      <a:pt x="194691" y="232133"/>
                      <a:pt x="175260" y="176983"/>
                      <a:pt x="192405" y="126787"/>
                    </a:cubicBezTo>
                    <a:cubicBezTo>
                      <a:pt x="209455" y="76495"/>
                      <a:pt x="258889" y="43157"/>
                      <a:pt x="313754" y="44871"/>
                    </a:cubicBezTo>
                    <a:cubicBezTo>
                      <a:pt x="368618" y="46681"/>
                      <a:pt x="415671" y="83067"/>
                      <a:pt x="429292" y="134311"/>
                    </a:cubicBezTo>
                    <a:cubicBezTo>
                      <a:pt x="442913" y="185556"/>
                      <a:pt x="419862" y="239277"/>
                      <a:pt x="372618" y="266232"/>
                    </a:cubicBezTo>
                    <a:lnTo>
                      <a:pt x="415957" y="329097"/>
                    </a:lnTo>
                    <a:lnTo>
                      <a:pt x="368618" y="316810"/>
                    </a:lnTo>
                    <a:lnTo>
                      <a:pt x="355092" y="353577"/>
                    </a:lnTo>
                    <a:lnTo>
                      <a:pt x="304324" y="288140"/>
                    </a:lnTo>
                    <a:lnTo>
                      <a:pt x="265748" y="353958"/>
                    </a:lnTo>
                    <a:lnTo>
                      <a:pt x="248221" y="314334"/>
                    </a:lnTo>
                    <a:close/>
                    <a:moveTo>
                      <a:pt x="201835" y="164982"/>
                    </a:moveTo>
                    <a:cubicBezTo>
                      <a:pt x="204597" y="220703"/>
                      <a:pt x="252032" y="264708"/>
                      <a:pt x="309943" y="265375"/>
                    </a:cubicBezTo>
                    <a:cubicBezTo>
                      <a:pt x="367379" y="264042"/>
                      <a:pt x="414051" y="220227"/>
                      <a:pt x="416814" y="164982"/>
                    </a:cubicBezTo>
                    <a:cubicBezTo>
                      <a:pt x="415290" y="109451"/>
                      <a:pt x="369284" y="64588"/>
                      <a:pt x="311753" y="62397"/>
                    </a:cubicBezTo>
                    <a:cubicBezTo>
                      <a:pt x="252317" y="62112"/>
                      <a:pt x="203549" y="107641"/>
                      <a:pt x="201835" y="164982"/>
                    </a:cubicBezTo>
                    <a:close/>
                    <a:moveTo>
                      <a:pt x="228124" y="164982"/>
                    </a:moveTo>
                    <a:cubicBezTo>
                      <a:pt x="228029" y="144027"/>
                      <a:pt x="236601" y="123929"/>
                      <a:pt x="252032" y="109165"/>
                    </a:cubicBezTo>
                    <a:cubicBezTo>
                      <a:pt x="267367" y="94402"/>
                      <a:pt x="288322" y="86210"/>
                      <a:pt x="309943" y="86496"/>
                    </a:cubicBezTo>
                    <a:cubicBezTo>
                      <a:pt x="331470" y="86591"/>
                      <a:pt x="352044" y="94878"/>
                      <a:pt x="367093" y="109641"/>
                    </a:cubicBezTo>
                    <a:cubicBezTo>
                      <a:pt x="382238" y="124310"/>
                      <a:pt x="390620" y="144217"/>
                      <a:pt x="390525" y="164982"/>
                    </a:cubicBezTo>
                    <a:cubicBezTo>
                      <a:pt x="389573" y="207178"/>
                      <a:pt x="353854" y="241087"/>
                      <a:pt x="309943" y="241277"/>
                    </a:cubicBezTo>
                    <a:cubicBezTo>
                      <a:pt x="265557" y="241753"/>
                      <a:pt x="229076" y="207749"/>
                      <a:pt x="228124" y="164982"/>
                    </a:cubicBezTo>
                    <a:close/>
                    <a:moveTo>
                      <a:pt x="246031" y="164982"/>
                    </a:moveTo>
                    <a:cubicBezTo>
                      <a:pt x="247841" y="197938"/>
                      <a:pt x="275749" y="224037"/>
                      <a:pt x="309943" y="224894"/>
                    </a:cubicBezTo>
                    <a:cubicBezTo>
                      <a:pt x="343948" y="223561"/>
                      <a:pt x="371284" y="197653"/>
                      <a:pt x="372999" y="164982"/>
                    </a:cubicBezTo>
                    <a:cubicBezTo>
                      <a:pt x="372142" y="131644"/>
                      <a:pt x="344519" y="104688"/>
                      <a:pt x="309943" y="103355"/>
                    </a:cubicBezTo>
                    <a:cubicBezTo>
                      <a:pt x="275082" y="104212"/>
                      <a:pt x="246983" y="131263"/>
                      <a:pt x="246031" y="1649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A6405E-C2EC-06B4-B2FB-F43CC0FB2906}"/>
                </a:ext>
              </a:extLst>
            </p:cNvPr>
            <p:cNvGrpSpPr/>
            <p:nvPr/>
          </p:nvGrpSpPr>
          <p:grpSpPr>
            <a:xfrm>
              <a:off x="10908000" y="2660812"/>
              <a:ext cx="825766" cy="321228"/>
              <a:chOff x="4793047" y="6345339"/>
              <a:chExt cx="825766" cy="321228"/>
            </a:xfrm>
          </p:grpSpPr>
          <p:grpSp>
            <p:nvGrpSpPr>
              <p:cNvPr id="1088" name="Group 1087">
                <a:extLst>
                  <a:ext uri="{FF2B5EF4-FFF2-40B4-BE49-F238E27FC236}">
                    <a16:creationId xmlns:a16="http://schemas.microsoft.com/office/drawing/2014/main" id="{B85DC469-A8F9-28D5-A3BE-3652E1E6F7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6811" y="6447367"/>
                <a:ext cx="252002" cy="126000"/>
                <a:chOff x="7568353" y="933450"/>
                <a:chExt cx="171450" cy="85725"/>
              </a:xfrm>
              <a:noFill/>
            </p:grpSpPr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8B3799A-1546-2069-978D-AF718E0C996A}"/>
                    </a:ext>
                  </a:extLst>
                </p:cNvPr>
                <p:cNvSpPr/>
                <p:nvPr/>
              </p:nvSpPr>
              <p:spPr>
                <a:xfrm>
                  <a:off x="7568353" y="933450"/>
                  <a:ext cx="171450" cy="85725"/>
                </a:xfrm>
                <a:custGeom>
                  <a:avLst/>
                  <a:gdLst>
                    <a:gd name="connsiteX0" fmla="*/ 0 w 171450"/>
                    <a:gd name="connsiteY0" fmla="*/ 42863 h 85725"/>
                    <a:gd name="connsiteX1" fmla="*/ 85725 w 171450"/>
                    <a:gd name="connsiteY1" fmla="*/ 0 h 85725"/>
                    <a:gd name="connsiteX2" fmla="*/ 171450 w 171450"/>
                    <a:gd name="connsiteY2" fmla="*/ 42863 h 85725"/>
                    <a:gd name="connsiteX3" fmla="*/ 85725 w 171450"/>
                    <a:gd name="connsiteY3" fmla="*/ 85725 h 85725"/>
                    <a:gd name="connsiteX4" fmla="*/ 0 w 171450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85725">
                      <a:moveTo>
                        <a:pt x="0" y="42863"/>
                      </a:moveTo>
                      <a:cubicBezTo>
                        <a:pt x="21146" y="15716"/>
                        <a:pt x="52578" y="0"/>
                        <a:pt x="85725" y="0"/>
                      </a:cubicBezTo>
                      <a:cubicBezTo>
                        <a:pt x="118872" y="0"/>
                        <a:pt x="150304" y="15716"/>
                        <a:pt x="171450" y="42863"/>
                      </a:cubicBezTo>
                      <a:cubicBezTo>
                        <a:pt x="150304" y="70009"/>
                        <a:pt x="118872" y="85725"/>
                        <a:pt x="85725" y="85725"/>
                      </a:cubicBezTo>
                      <a:cubicBezTo>
                        <a:pt x="52578" y="85725"/>
                        <a:pt x="21146" y="70009"/>
                        <a:pt x="0" y="42863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D57D338E-7421-5102-40AA-296D566FD827}"/>
                    </a:ext>
                  </a:extLst>
                </p:cNvPr>
                <p:cNvSpPr/>
                <p:nvPr/>
              </p:nvSpPr>
              <p:spPr>
                <a:xfrm>
                  <a:off x="7623224" y="943432"/>
                  <a:ext cx="61722" cy="65759"/>
                </a:xfrm>
                <a:custGeom>
                  <a:avLst/>
                  <a:gdLst>
                    <a:gd name="connsiteX0" fmla="*/ 61722 w 61722"/>
                    <a:gd name="connsiteY0" fmla="*/ 32880 h 65759"/>
                    <a:gd name="connsiteX1" fmla="*/ 30861 w 61722"/>
                    <a:gd name="connsiteY1" fmla="*/ 65760 h 65759"/>
                    <a:gd name="connsiteX2" fmla="*/ 0 w 61722"/>
                    <a:gd name="connsiteY2" fmla="*/ 32880 h 65759"/>
                    <a:gd name="connsiteX3" fmla="*/ 30861 w 61722"/>
                    <a:gd name="connsiteY3" fmla="*/ 0 h 65759"/>
                    <a:gd name="connsiteX4" fmla="*/ 61722 w 61722"/>
                    <a:gd name="connsiteY4" fmla="*/ 32880 h 6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22" h="65759">
                      <a:moveTo>
                        <a:pt x="61722" y="32880"/>
                      </a:moveTo>
                      <a:cubicBezTo>
                        <a:pt x="61722" y="51039"/>
                        <a:pt x="47905" y="65760"/>
                        <a:pt x="30861" y="65760"/>
                      </a:cubicBezTo>
                      <a:cubicBezTo>
                        <a:pt x="13817" y="65760"/>
                        <a:pt x="0" y="51039"/>
                        <a:pt x="0" y="32880"/>
                      </a:cubicBezTo>
                      <a:cubicBezTo>
                        <a:pt x="0" y="14721"/>
                        <a:pt x="13817" y="0"/>
                        <a:pt x="30861" y="0"/>
                      </a:cubicBezTo>
                      <a:cubicBezTo>
                        <a:pt x="47905" y="0"/>
                        <a:pt x="61722" y="14721"/>
                        <a:pt x="61722" y="3288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01F41FF7-5F31-F7BC-9293-DC27910C73ED}"/>
                    </a:ext>
                  </a:extLst>
                </p:cNvPr>
                <p:cNvSpPr/>
                <p:nvPr/>
              </p:nvSpPr>
              <p:spPr>
                <a:xfrm>
                  <a:off x="7633498" y="954392"/>
                  <a:ext cx="41147" cy="43839"/>
                </a:xfrm>
                <a:custGeom>
                  <a:avLst/>
                  <a:gdLst>
                    <a:gd name="connsiteX0" fmla="*/ 41148 w 41147"/>
                    <a:gd name="connsiteY0" fmla="*/ 21920 h 43839"/>
                    <a:gd name="connsiteX1" fmla="*/ 20574 w 41147"/>
                    <a:gd name="connsiteY1" fmla="*/ 43840 h 43839"/>
                    <a:gd name="connsiteX2" fmla="*/ 0 w 41147"/>
                    <a:gd name="connsiteY2" fmla="*/ 21920 h 43839"/>
                    <a:gd name="connsiteX3" fmla="*/ 20574 w 41147"/>
                    <a:gd name="connsiteY3" fmla="*/ 0 h 43839"/>
                    <a:gd name="connsiteX4" fmla="*/ 41148 w 41147"/>
                    <a:gd name="connsiteY4" fmla="*/ 21920 h 43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147" h="43839">
                      <a:moveTo>
                        <a:pt x="41148" y="21920"/>
                      </a:moveTo>
                      <a:cubicBezTo>
                        <a:pt x="41148" y="34026"/>
                        <a:pt x="31937" y="43840"/>
                        <a:pt x="20574" y="43840"/>
                      </a:cubicBezTo>
                      <a:cubicBezTo>
                        <a:pt x="9211" y="43840"/>
                        <a:pt x="0" y="34026"/>
                        <a:pt x="0" y="21920"/>
                      </a:cubicBezTo>
                      <a:cubicBezTo>
                        <a:pt x="0" y="9814"/>
                        <a:pt x="9211" y="0"/>
                        <a:pt x="20574" y="0"/>
                      </a:cubicBezTo>
                      <a:cubicBezTo>
                        <a:pt x="31937" y="0"/>
                        <a:pt x="41148" y="9814"/>
                        <a:pt x="41148" y="2192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6C1F45C1-5C9D-21D8-7823-3CF674D8DE3C}"/>
                  </a:ext>
                </a:extLst>
              </p:cNvPr>
              <p:cNvSpPr txBox="1"/>
              <p:nvPr/>
            </p:nvSpPr>
            <p:spPr>
              <a:xfrm>
                <a:off x="5046881" y="6373299"/>
                <a:ext cx="319663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12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PIN</a:t>
                </a:r>
              </a:p>
            </p:txBody>
          </p:sp>
          <p:pic>
            <p:nvPicPr>
              <p:cNvPr id="1091" name="Graphic 1090" descr="Fingerprint with solid fill">
                <a:extLst>
                  <a:ext uri="{FF2B5EF4-FFF2-40B4-BE49-F238E27FC236}">
                    <a16:creationId xmlns:a16="http://schemas.microsoft.com/office/drawing/2014/main" id="{E118BE61-D657-B2F4-8A38-D01CA4A7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93047" y="6345339"/>
                <a:ext cx="321228" cy="321228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5FA13B-B01B-1ED4-B813-349DAE68C887}"/>
                </a:ext>
              </a:extLst>
            </p:cNvPr>
            <p:cNvGrpSpPr/>
            <p:nvPr/>
          </p:nvGrpSpPr>
          <p:grpSpPr>
            <a:xfrm>
              <a:off x="10921137" y="3071595"/>
              <a:ext cx="812629" cy="446278"/>
              <a:chOff x="10785943" y="5489706"/>
              <a:chExt cx="812629" cy="446278"/>
            </a:xfrm>
          </p:grpSpPr>
          <p:pic>
            <p:nvPicPr>
              <p:cNvPr id="1086" name="Graphic 1085" descr="Key outline">
                <a:extLst>
                  <a:ext uri="{FF2B5EF4-FFF2-40B4-BE49-F238E27FC236}">
                    <a16:creationId xmlns:a16="http://schemas.microsoft.com/office/drawing/2014/main" id="{F5E4DB74-1918-43F0-FD88-856A83D5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2250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CA330D6-AB94-B63B-CC15-BA9962E8F13B}"/>
                  </a:ext>
                </a:extLst>
              </p:cNvPr>
              <p:cNvSpPr txBox="1"/>
              <p:nvPr/>
            </p:nvSpPr>
            <p:spPr>
              <a:xfrm>
                <a:off x="10785943" y="5489706"/>
                <a:ext cx="81262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Holder AuthN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68D439-81A3-76E1-D098-2BB3332D2603}"/>
                </a:ext>
              </a:extLst>
            </p:cNvPr>
            <p:cNvGrpSpPr/>
            <p:nvPr/>
          </p:nvGrpSpPr>
          <p:grpSpPr>
            <a:xfrm>
              <a:off x="11229228" y="4024013"/>
              <a:ext cx="504538" cy="465328"/>
              <a:chOff x="11062681" y="5489706"/>
              <a:chExt cx="504538" cy="465328"/>
            </a:xfrm>
          </p:grpSpPr>
          <p:pic>
            <p:nvPicPr>
              <p:cNvPr id="1084" name="Graphic 1083" descr="Key outline">
                <a:extLst>
                  <a:ext uri="{FF2B5EF4-FFF2-40B4-BE49-F238E27FC236}">
                    <a16:creationId xmlns:a16="http://schemas.microsoft.com/office/drawing/2014/main" id="{57EC3A94-B2EB-03BF-AD5B-991D3172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191147" y="557896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2F27E9DA-9085-9A90-89E2-09F35C9E6AD0}"/>
                  </a:ext>
                </a:extLst>
              </p:cNvPr>
              <p:cNvSpPr txBox="1"/>
              <p:nvPr/>
            </p:nvSpPr>
            <p:spPr>
              <a:xfrm>
                <a:off x="11062681" y="5489706"/>
                <a:ext cx="504538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4A95ED7-C19C-9E67-CB34-0E094BF2952F}"/>
                </a:ext>
              </a:extLst>
            </p:cNvPr>
            <p:cNvGrpSpPr/>
            <p:nvPr/>
          </p:nvGrpSpPr>
          <p:grpSpPr>
            <a:xfrm>
              <a:off x="11398108" y="3508468"/>
              <a:ext cx="335658" cy="379187"/>
              <a:chOff x="10749568" y="5635101"/>
              <a:chExt cx="350430" cy="395875"/>
            </a:xfrm>
          </p:grpSpPr>
          <p:pic>
            <p:nvPicPr>
              <p:cNvPr id="1065" name="Graphic 1064" descr="Paper with solid fill">
                <a:extLst>
                  <a:ext uri="{FF2B5EF4-FFF2-40B4-BE49-F238E27FC236}">
                    <a16:creationId xmlns:a16="http://schemas.microsoft.com/office/drawing/2014/main" id="{EE051050-C0EE-B6F3-0BE6-4F30EFD10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2BA5A9C9-033B-FF42-844C-816C260033F4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</a:t>
                </a: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DCABB208-7CEE-F8C8-0134-3813F2F134DB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4D2A03AD-DB65-5AC0-D3F6-2F209597C85D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2F724A4D-1F20-606B-458D-144EC4E1ED18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773AAB28-D303-D618-FD04-35ECEAEF1303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0EC42A-D70E-E771-E9D8-4EE5AD18A265}"/>
                </a:ext>
              </a:extLst>
            </p:cNvPr>
            <p:cNvGrpSpPr/>
            <p:nvPr/>
          </p:nvGrpSpPr>
          <p:grpSpPr>
            <a:xfrm>
              <a:off x="11001060" y="4965629"/>
              <a:ext cx="732706" cy="446278"/>
              <a:chOff x="319523" y="5081988"/>
              <a:chExt cx="732706" cy="446278"/>
            </a:xfrm>
          </p:grpSpPr>
          <p:pic>
            <p:nvPicPr>
              <p:cNvPr id="1059" name="Graphic 1058" descr="Key outline">
                <a:extLst>
                  <a:ext uri="{FF2B5EF4-FFF2-40B4-BE49-F238E27FC236}">
                    <a16:creationId xmlns:a16="http://schemas.microsoft.com/office/drawing/2014/main" id="{3FB0D03E-834C-953A-992B-184589B95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676157" y="5152194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85684796-2CF6-BB1E-FE23-69E2FE682D46}"/>
                  </a:ext>
                </a:extLst>
              </p:cNvPr>
              <p:cNvSpPr txBox="1"/>
              <p:nvPr/>
            </p:nvSpPr>
            <p:spPr>
              <a:xfrm>
                <a:off x="319523" y="5081988"/>
                <a:ext cx="732706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BFC1F4-CF04-28DD-437A-622A49380A3E}"/>
                </a:ext>
              </a:extLst>
            </p:cNvPr>
            <p:cNvGrpSpPr/>
            <p:nvPr/>
          </p:nvGrpSpPr>
          <p:grpSpPr>
            <a:xfrm>
              <a:off x="11112277" y="2137307"/>
              <a:ext cx="621489" cy="446278"/>
              <a:chOff x="10966769" y="5489706"/>
              <a:chExt cx="621489" cy="446278"/>
            </a:xfrm>
          </p:grpSpPr>
          <p:pic>
            <p:nvPicPr>
              <p:cNvPr id="1056" name="Graphic 1055" descr="Key outline">
                <a:extLst>
                  <a:ext uri="{FF2B5EF4-FFF2-40B4-BE49-F238E27FC236}">
                    <a16:creationId xmlns:a16="http://schemas.microsoft.com/office/drawing/2014/main" id="{3AD38416-1CFA-B47A-695A-83462A69F5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12186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86BDF1E3-5DF2-D8AB-DB86-207AAB9305CA}"/>
                  </a:ext>
                </a:extLst>
              </p:cNvPr>
              <p:cNvSpPr txBox="1"/>
              <p:nvPr/>
            </p:nvSpPr>
            <p:spPr>
              <a:xfrm>
                <a:off x="10966769" y="5489706"/>
                <a:ext cx="62148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Wallet AuthN</a:t>
                </a:r>
              </a:p>
            </p:txBody>
          </p:sp>
        </p:grpSp>
        <p:pic>
          <p:nvPicPr>
            <p:cNvPr id="1041" name="Graphic 1040" descr="Lock with solid fill">
              <a:extLst>
                <a:ext uri="{FF2B5EF4-FFF2-40B4-BE49-F238E27FC236}">
                  <a16:creationId xmlns:a16="http://schemas.microsoft.com/office/drawing/2014/main" id="{4855DBF7-FCC6-5867-6066-D3E6DA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358678" y="5823748"/>
              <a:ext cx="375088" cy="375088"/>
            </a:xfrm>
            <a:prstGeom prst="rect">
              <a:avLst/>
            </a:prstGeom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36C8A6D7-7166-B536-9A6A-DC357A1368A4}"/>
                </a:ext>
              </a:extLst>
            </p:cNvPr>
            <p:cNvGrpSpPr/>
            <p:nvPr/>
          </p:nvGrpSpPr>
          <p:grpSpPr>
            <a:xfrm>
              <a:off x="11086549" y="5379154"/>
              <a:ext cx="647217" cy="446278"/>
              <a:chOff x="11005275" y="5489706"/>
              <a:chExt cx="647217" cy="446278"/>
            </a:xfrm>
          </p:grpSpPr>
          <p:pic>
            <p:nvPicPr>
              <p:cNvPr id="1053" name="Graphic 1052" descr="Key outline">
                <a:extLst>
                  <a:ext uri="{FF2B5EF4-FFF2-40B4-BE49-F238E27FC236}">
                    <a16:creationId xmlns:a16="http://schemas.microsoft.com/office/drawing/2014/main" id="{2AE2040E-B166-C3F7-466A-F67AF7F6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7642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AACAD7F3-D016-2131-7DC4-F297F6CCE5FB}"/>
                  </a:ext>
                </a:extLst>
              </p:cNvPr>
              <p:cNvSpPr txBox="1"/>
              <p:nvPr/>
            </p:nvSpPr>
            <p:spPr>
              <a:xfrm>
                <a:off x="11005275" y="5489706"/>
                <a:ext cx="647217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Attestation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3611880" y="6347892"/>
            <a:ext cx="826079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pPr algn="r"/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STRIDE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–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poofing,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ampering,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epudiation,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nformation Disclosure,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enial of Service,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levation of Privilege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0C82FA-0A12-C846-ABF4-9271E7F859CD}"/>
              </a:ext>
            </a:extLst>
          </p:cNvPr>
          <p:cNvSpPr/>
          <p:nvPr/>
        </p:nvSpPr>
        <p:spPr>
          <a:xfrm>
            <a:off x="360000" y="4356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2ED6-BB8B-82A8-F668-DBC34B2E962A}"/>
              </a:ext>
            </a:extLst>
          </p:cNvPr>
          <p:cNvSpPr/>
          <p:nvPr/>
        </p:nvSpPr>
        <p:spPr>
          <a:xfrm>
            <a:off x="360000" y="5292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48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879702"/>
              </p:ext>
            </p:extLst>
          </p:nvPr>
        </p:nvGraphicFramePr>
        <p:xfrm>
          <a:off x="1188000" y="119700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holder identity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person identification data (PID)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PID belongs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belong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checklist (5)</a:t>
            </a:r>
            <a:endParaRPr lang="en-FR" b="1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C4BA49-3CEC-E947-F51F-0B63BB11C68B}"/>
              </a:ext>
            </a:extLst>
          </p:cNvPr>
          <p:cNvGrpSpPr/>
          <p:nvPr/>
        </p:nvGrpSpPr>
        <p:grpSpPr>
          <a:xfrm>
            <a:off x="10080000" y="5212480"/>
            <a:ext cx="311790" cy="1103790"/>
            <a:chOff x="10080000" y="5076000"/>
            <a:chExt cx="311790" cy="1103790"/>
          </a:xfrm>
        </p:grpSpPr>
        <p:pic>
          <p:nvPicPr>
            <p:cNvPr id="45" name="Graphic 44" descr="Checkmark with solid fill">
              <a:extLst>
                <a:ext uri="{FF2B5EF4-FFF2-40B4-BE49-F238E27FC236}">
                  <a16:creationId xmlns:a16="http://schemas.microsoft.com/office/drawing/2014/main" id="{9FAF14E3-132B-A1E7-8B57-A61CEBA89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076000"/>
              <a:ext cx="311790" cy="311790"/>
            </a:xfrm>
            <a:prstGeom prst="rect">
              <a:avLst/>
            </a:prstGeom>
          </p:spPr>
        </p:pic>
        <p:pic>
          <p:nvPicPr>
            <p:cNvPr id="51" name="Graphic 50" descr="Checkmark with solid fill">
              <a:extLst>
                <a:ext uri="{FF2B5EF4-FFF2-40B4-BE49-F238E27FC236}">
                  <a16:creationId xmlns:a16="http://schemas.microsoft.com/office/drawing/2014/main" id="{EBE2520D-683E-C15A-3581-35654A0E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868000"/>
              <a:ext cx="311790" cy="311790"/>
            </a:xfrm>
            <a:prstGeom prst="rect">
              <a:avLst/>
            </a:prstGeom>
          </p:spPr>
        </p:pic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C93D303-E67F-0033-480D-DF9A8FC9C9F5}"/>
              </a:ext>
            </a:extLst>
          </p:cNvPr>
          <p:cNvSpPr/>
          <p:nvPr/>
        </p:nvSpPr>
        <p:spPr>
          <a:xfrm>
            <a:off x="1152000" y="6427053"/>
            <a:ext cx="9360000" cy="267082"/>
          </a:xfrm>
          <a:prstGeom prst="roundRect">
            <a:avLst/>
          </a:prstGeom>
          <a:solidFill>
            <a:schemeClr val="accent5">
              <a:lumMod val="50000"/>
              <a:alpha val="25000"/>
            </a:schemeClr>
          </a:solidFill>
          <a:ln w="222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4" name="Graphic 53" descr="Checkmark with solid fill">
            <a:extLst>
              <a:ext uri="{FF2B5EF4-FFF2-40B4-BE49-F238E27FC236}">
                <a16:creationId xmlns:a16="http://schemas.microsoft.com/office/drawing/2014/main" id="{0262F490-C15B-D7E6-55F0-975B76CAD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0000" y="6400480"/>
            <a:ext cx="311790" cy="31179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5A4B9-9A3C-A8BA-0A32-491339128154}"/>
              </a:ext>
            </a:extLst>
          </p:cNvPr>
          <p:cNvGrpSpPr/>
          <p:nvPr/>
        </p:nvGrpSpPr>
        <p:grpSpPr>
          <a:xfrm>
            <a:off x="10080000" y="1648480"/>
            <a:ext cx="311790" cy="3479790"/>
            <a:chOff x="10080000" y="1512000"/>
            <a:chExt cx="311790" cy="3479790"/>
          </a:xfrm>
        </p:grpSpPr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A11CF4AD-94AE-9164-2C02-4BD2E49E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1512000"/>
              <a:ext cx="311790" cy="311790"/>
            </a:xfrm>
            <a:prstGeom prst="rect">
              <a:avLst/>
            </a:prstGeom>
          </p:spPr>
        </p:pic>
        <p:pic>
          <p:nvPicPr>
            <p:cNvPr id="42" name="Graphic 41" descr="Checkmark with solid fill">
              <a:extLst>
                <a:ext uri="{FF2B5EF4-FFF2-40B4-BE49-F238E27FC236}">
                  <a16:creationId xmlns:a16="http://schemas.microsoft.com/office/drawing/2014/main" id="{4E86F70E-404C-EC9D-1382-627EA169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4680000"/>
              <a:ext cx="311790" cy="311790"/>
            </a:xfrm>
            <a:prstGeom prst="rect">
              <a:avLst/>
            </a:prstGeom>
          </p:spPr>
        </p:pic>
        <p:pic>
          <p:nvPicPr>
            <p:cNvPr id="71" name="Graphic 70" descr="Checkmark with solid fill">
              <a:extLst>
                <a:ext uri="{FF2B5EF4-FFF2-40B4-BE49-F238E27FC236}">
                  <a16:creationId xmlns:a16="http://schemas.microsoft.com/office/drawing/2014/main" id="{027C99EA-6068-0B80-2FA7-11154FFC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290714"/>
              <a:ext cx="311790" cy="31179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9FE279-8485-4345-714B-31C4886BC3D4}"/>
              </a:ext>
            </a:extLst>
          </p:cNvPr>
          <p:cNvGrpSpPr/>
          <p:nvPr/>
        </p:nvGrpSpPr>
        <p:grpSpPr>
          <a:xfrm>
            <a:off x="10080000" y="2823194"/>
            <a:ext cx="311790" cy="3097076"/>
            <a:chOff x="10080000" y="2686714"/>
            <a:chExt cx="311790" cy="3097076"/>
          </a:xfrm>
        </p:grpSpPr>
        <p:pic>
          <p:nvPicPr>
            <p:cNvPr id="48" name="Graphic 47" descr="Checkmark with solid fill">
              <a:extLst>
                <a:ext uri="{FF2B5EF4-FFF2-40B4-BE49-F238E27FC236}">
                  <a16:creationId xmlns:a16="http://schemas.microsoft.com/office/drawing/2014/main" id="{2A5D8AB9-5D5E-6800-941B-73DD107D4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472000"/>
              <a:ext cx="311790" cy="311790"/>
            </a:xfrm>
            <a:prstGeom prst="rect">
              <a:avLst/>
            </a:prstGeom>
          </p:spPr>
        </p:pic>
        <p:pic>
          <p:nvPicPr>
            <p:cNvPr id="69" name="Graphic 68" descr="Checkmark with solid fill">
              <a:extLst>
                <a:ext uri="{FF2B5EF4-FFF2-40B4-BE49-F238E27FC236}">
                  <a16:creationId xmlns:a16="http://schemas.microsoft.com/office/drawing/2014/main" id="{79C10FBD-3463-47BA-35D4-7549988F0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686714"/>
              <a:ext cx="311790" cy="31179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E271A00-4489-EC07-C3FD-0A08835BC6EB}"/>
              </a:ext>
            </a:extLst>
          </p:cNvPr>
          <p:cNvGrpSpPr/>
          <p:nvPr/>
        </p:nvGrpSpPr>
        <p:grpSpPr>
          <a:xfrm>
            <a:off x="1152000" y="3245767"/>
            <a:ext cx="9360000" cy="1059082"/>
            <a:chOff x="1152000" y="3109287"/>
            <a:chExt cx="9360000" cy="1059082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FFE74C3-0295-3D06-6687-A1AA98772244}"/>
                </a:ext>
              </a:extLst>
            </p:cNvPr>
            <p:cNvSpPr/>
            <p:nvPr/>
          </p:nvSpPr>
          <p:spPr>
            <a:xfrm>
              <a:off x="1152000" y="3109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0D0CC60-9C7A-807F-D451-6774B39146C6}"/>
                </a:ext>
              </a:extLst>
            </p:cNvPr>
            <p:cNvSpPr/>
            <p:nvPr/>
          </p:nvSpPr>
          <p:spPr>
            <a:xfrm>
              <a:off x="1152000" y="3505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71338B4A-1BD6-734C-9B3E-84FE87767EE5}"/>
                </a:ext>
              </a:extLst>
            </p:cNvPr>
            <p:cNvSpPr/>
            <p:nvPr/>
          </p:nvSpPr>
          <p:spPr>
            <a:xfrm>
              <a:off x="1152000" y="3901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B76021-14A4-EE7B-AE80-CADD11634172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45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E8BC3166-CD52-FE59-5736-E5B06904E4FF}"/>
              </a:ext>
            </a:extLst>
          </p:cNvPr>
          <p:cNvSpPr/>
          <p:nvPr/>
        </p:nvSpPr>
        <p:spPr>
          <a:xfrm>
            <a:off x="2349319" y="6295122"/>
            <a:ext cx="4525787" cy="456858"/>
          </a:xfrm>
          <a:prstGeom prst="roundRect">
            <a:avLst/>
          </a:prstGeom>
          <a:noFill/>
          <a:ln>
            <a:solidFill>
              <a:srgbClr val="023F8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/>
        </p:nvGraphicFramePr>
        <p:xfrm>
          <a:off x="9180000" y="1231200"/>
          <a:ext cx="2550461" cy="505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0461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Wallet verification artefacts</a:t>
                      </a:r>
                    </a:p>
                  </a:txBody>
                  <a:tcP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560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</a:t>
                      </a:r>
                      <a:br>
                        <a:rPr lang="en-GB" sz="1200" dirty="0">
                          <a:solidFill>
                            <a:srgbClr val="38638E"/>
                          </a:solidFill>
                        </a:rPr>
                      </a:b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certificates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  <a:p>
                      <a:r>
                        <a:rPr lang="en-GB" sz="900" dirty="0"/>
                        <a:t>(not an artefact </a:t>
                      </a:r>
                      <a:r>
                        <a:rPr lang="en-GB" sz="900" i="1" dirty="0"/>
                        <a:t>per se</a:t>
                      </a:r>
                      <a:r>
                        <a:rPr lang="en-GB" sz="9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grpSp>
        <p:nvGrpSpPr>
          <p:cNvPr id="1250" name="Group 1249">
            <a:extLst>
              <a:ext uri="{FF2B5EF4-FFF2-40B4-BE49-F238E27FC236}">
                <a16:creationId xmlns:a16="http://schemas.microsoft.com/office/drawing/2014/main" id="{BF301479-C9B8-7F84-4228-4C1D8879B821}"/>
              </a:ext>
            </a:extLst>
          </p:cNvPr>
          <p:cNvGrpSpPr/>
          <p:nvPr/>
        </p:nvGrpSpPr>
        <p:grpSpPr>
          <a:xfrm>
            <a:off x="11415536" y="4431950"/>
            <a:ext cx="335658" cy="379187"/>
            <a:chOff x="10749568" y="5635101"/>
            <a:chExt cx="350430" cy="395875"/>
          </a:xfrm>
        </p:grpSpPr>
        <p:pic>
          <p:nvPicPr>
            <p:cNvPr id="1251" name="Graphic 1250" descr="Paper with solid fill">
              <a:extLst>
                <a:ext uri="{FF2B5EF4-FFF2-40B4-BE49-F238E27FC236}">
                  <a16:creationId xmlns:a16="http://schemas.microsoft.com/office/drawing/2014/main" id="{6DE08AE5-1823-3377-24F6-B7E7021D0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BA3DFEF7-D6CF-5C4D-1F7F-7E191F31EFE3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53" name="Group 1252">
              <a:extLst>
                <a:ext uri="{FF2B5EF4-FFF2-40B4-BE49-F238E27FC236}">
                  <a16:creationId xmlns:a16="http://schemas.microsoft.com/office/drawing/2014/main" id="{A4827675-6BF2-AD8C-C704-8799149C1B73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300A4163-90C8-B71E-4EF9-8D178F60E018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D04AB439-6273-12A7-1A7B-70B339DC3E06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CCBD6E00-CA16-D3DB-7CC0-FC42797C0A19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5. Wallet attestations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22C10D-3DE9-C770-1EA4-272140962240}"/>
              </a:ext>
            </a:extLst>
          </p:cNvPr>
          <p:cNvGrpSpPr/>
          <p:nvPr/>
        </p:nvGrpSpPr>
        <p:grpSpPr>
          <a:xfrm>
            <a:off x="11355529" y="1730342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530F6E7-6D85-D5DE-387C-13320C3F5801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934E5A80-CAB0-A59A-9BAB-AE5DFDC3EE41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A6405E-C2EC-06B4-B2FB-F43CC0FB2906}"/>
              </a:ext>
            </a:extLst>
          </p:cNvPr>
          <p:cNvGrpSpPr/>
          <p:nvPr/>
        </p:nvGrpSpPr>
        <p:grpSpPr>
          <a:xfrm>
            <a:off x="10908000" y="2660812"/>
            <a:ext cx="825766" cy="321228"/>
            <a:chOff x="4793047" y="6345339"/>
            <a:chExt cx="825766" cy="321228"/>
          </a:xfrm>
        </p:grpSpPr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B85DC469-A8F9-28D5-A3BE-3652E1E6F7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98B3799A-1546-2069-978D-AF718E0C996A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D57D338E-7421-5102-40AA-296D566FD82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01F41FF7-5F31-F7BC-9293-DC27910C73ED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089" name="TextBox 1088">
              <a:extLst>
                <a:ext uri="{FF2B5EF4-FFF2-40B4-BE49-F238E27FC236}">
                  <a16:creationId xmlns:a16="http://schemas.microsoft.com/office/drawing/2014/main" id="{6C1F45C1-5C9D-21D8-7823-3CF674D8DE3C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091" name="Graphic 1090" descr="Fingerprint with solid fill">
              <a:extLst>
                <a:ext uri="{FF2B5EF4-FFF2-40B4-BE49-F238E27FC236}">
                  <a16:creationId xmlns:a16="http://schemas.microsoft.com/office/drawing/2014/main" id="{E118BE61-D657-B2F4-8A38-D01CA4A75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5FA13B-B01B-1ED4-B813-349DAE68C887}"/>
              </a:ext>
            </a:extLst>
          </p:cNvPr>
          <p:cNvGrpSpPr/>
          <p:nvPr/>
        </p:nvGrpSpPr>
        <p:grpSpPr>
          <a:xfrm>
            <a:off x="10921137" y="3071595"/>
            <a:ext cx="812629" cy="446278"/>
            <a:chOff x="10785943" y="5489706"/>
            <a:chExt cx="812629" cy="446278"/>
          </a:xfrm>
        </p:grpSpPr>
        <p:pic>
          <p:nvPicPr>
            <p:cNvPr id="1086" name="Graphic 1085" descr="Key outline">
              <a:extLst>
                <a:ext uri="{FF2B5EF4-FFF2-40B4-BE49-F238E27FC236}">
                  <a16:creationId xmlns:a16="http://schemas.microsoft.com/office/drawing/2014/main" id="{F5E4DB74-1918-43F0-FD88-856A83D50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2CA330D6-AB94-B63B-CC15-BA9962E8F13B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8D439-81A3-76E1-D098-2BB3332D2603}"/>
              </a:ext>
            </a:extLst>
          </p:cNvPr>
          <p:cNvGrpSpPr/>
          <p:nvPr/>
        </p:nvGrpSpPr>
        <p:grpSpPr>
          <a:xfrm>
            <a:off x="11229228" y="4024013"/>
            <a:ext cx="504538" cy="465328"/>
            <a:chOff x="11062681" y="5489706"/>
            <a:chExt cx="504538" cy="465328"/>
          </a:xfrm>
        </p:grpSpPr>
        <p:pic>
          <p:nvPicPr>
            <p:cNvPr id="1084" name="Graphic 1083" descr="Key outline">
              <a:extLst>
                <a:ext uri="{FF2B5EF4-FFF2-40B4-BE49-F238E27FC236}">
                  <a16:creationId xmlns:a16="http://schemas.microsoft.com/office/drawing/2014/main" id="{57EC3A94-B2EB-03BF-AD5B-991D31727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2F27E9DA-9085-9A90-89E2-09F35C9E6AD0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A95ED7-C19C-9E67-CB34-0E094BF2952F}"/>
              </a:ext>
            </a:extLst>
          </p:cNvPr>
          <p:cNvGrpSpPr/>
          <p:nvPr/>
        </p:nvGrpSpPr>
        <p:grpSpPr>
          <a:xfrm>
            <a:off x="11398108" y="3508468"/>
            <a:ext cx="335658" cy="379187"/>
            <a:chOff x="10749568" y="5635101"/>
            <a:chExt cx="350430" cy="395875"/>
          </a:xfrm>
        </p:grpSpPr>
        <p:pic>
          <p:nvPicPr>
            <p:cNvPr id="1065" name="Graphic 1064" descr="Paper with solid fill">
              <a:extLst>
                <a:ext uri="{FF2B5EF4-FFF2-40B4-BE49-F238E27FC236}">
                  <a16:creationId xmlns:a16="http://schemas.microsoft.com/office/drawing/2014/main" id="{EE051050-C0EE-B6F3-0BE6-4F30EFD10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2BA5A9C9-033B-FF42-844C-816C260033F4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DCABB208-7CEE-F8C8-0134-3813F2F134DB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4D2A03AD-DB65-5AC0-D3F6-2F209597C85D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2F724A4D-1F20-606B-458D-144EC4E1ED18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773AAB28-D303-D618-FD04-35ECEAEF1303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80EC42A-D70E-E771-E9D8-4EE5AD18A265}"/>
              </a:ext>
            </a:extLst>
          </p:cNvPr>
          <p:cNvGrpSpPr/>
          <p:nvPr/>
        </p:nvGrpSpPr>
        <p:grpSpPr>
          <a:xfrm>
            <a:off x="11001060" y="4965629"/>
            <a:ext cx="732706" cy="446278"/>
            <a:chOff x="319523" y="5081988"/>
            <a:chExt cx="732706" cy="446278"/>
          </a:xfrm>
        </p:grpSpPr>
        <p:pic>
          <p:nvPicPr>
            <p:cNvPr id="1059" name="Graphic 1058" descr="Key outline">
              <a:extLst>
                <a:ext uri="{FF2B5EF4-FFF2-40B4-BE49-F238E27FC236}">
                  <a16:creationId xmlns:a16="http://schemas.microsoft.com/office/drawing/2014/main" id="{3FB0D03E-834C-953A-992B-184589B95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85684796-2CF6-BB1E-FE23-69E2FE682D46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5BFC1F4-CF04-28DD-437A-622A49380A3E}"/>
              </a:ext>
            </a:extLst>
          </p:cNvPr>
          <p:cNvGrpSpPr/>
          <p:nvPr/>
        </p:nvGrpSpPr>
        <p:grpSpPr>
          <a:xfrm>
            <a:off x="11112277" y="2137307"/>
            <a:ext cx="621489" cy="446278"/>
            <a:chOff x="10966769" y="5489706"/>
            <a:chExt cx="621489" cy="446278"/>
          </a:xfrm>
        </p:grpSpPr>
        <p:pic>
          <p:nvPicPr>
            <p:cNvPr id="1056" name="Graphic 1055" descr="Key outline">
              <a:extLst>
                <a:ext uri="{FF2B5EF4-FFF2-40B4-BE49-F238E27FC236}">
                  <a16:creationId xmlns:a16="http://schemas.microsoft.com/office/drawing/2014/main" id="{3AD38416-1CFA-B47A-695A-83462A69F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86BDF1E3-5DF2-D8AB-DB86-207AAB9305CA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pic>
        <p:nvPicPr>
          <p:cNvPr id="1041" name="Graphic 1040" descr="Lock with solid fill">
            <a:extLst>
              <a:ext uri="{FF2B5EF4-FFF2-40B4-BE49-F238E27FC236}">
                <a16:creationId xmlns:a16="http://schemas.microsoft.com/office/drawing/2014/main" id="{4855DBF7-FCC6-5867-6066-D3E6DA4610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58678" y="5823748"/>
            <a:ext cx="375088" cy="375088"/>
          </a:xfrm>
          <a:prstGeom prst="rect">
            <a:avLst/>
          </a:prstGeom>
        </p:spPr>
      </p:pic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36C8A6D7-7166-B536-9A6A-DC357A1368A4}"/>
              </a:ext>
            </a:extLst>
          </p:cNvPr>
          <p:cNvGrpSpPr/>
          <p:nvPr/>
        </p:nvGrpSpPr>
        <p:grpSpPr>
          <a:xfrm>
            <a:off x="11086549" y="5379154"/>
            <a:ext cx="647217" cy="446278"/>
            <a:chOff x="11005275" y="5489706"/>
            <a:chExt cx="647217" cy="446278"/>
          </a:xfrm>
        </p:grpSpPr>
        <p:pic>
          <p:nvPicPr>
            <p:cNvPr id="1053" name="Graphic 1052" descr="Key outline">
              <a:extLst>
                <a:ext uri="{FF2B5EF4-FFF2-40B4-BE49-F238E27FC236}">
                  <a16:creationId xmlns:a16="http://schemas.microsoft.com/office/drawing/2014/main" id="{2AE2040E-B166-C3F7-466A-F67AF7F6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AACAD7F3-D016-2131-7DC4-F297F6CCE5FB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9613038" y="6264072"/>
            <a:ext cx="233583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- Person Identification</a:t>
            </a:r>
          </a:p>
          <a:p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eID – electronic Identification</a:t>
            </a:r>
          </a:p>
        </p:txBody>
      </p: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53D41A1B-8A0B-4105-7D11-AE8CE958B483}"/>
              </a:ext>
            </a:extLst>
          </p:cNvPr>
          <p:cNvGrpSpPr/>
          <p:nvPr/>
        </p:nvGrpSpPr>
        <p:grpSpPr>
          <a:xfrm>
            <a:off x="2408540" y="6346980"/>
            <a:ext cx="378237" cy="307002"/>
            <a:chOff x="9821290" y="4547726"/>
            <a:chExt cx="378237" cy="307002"/>
          </a:xfrm>
          <a:solidFill>
            <a:schemeClr val="tx1"/>
          </a:solidFill>
        </p:grpSpPr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A991336-27AF-1C9E-672B-7602D46F8B72}"/>
                </a:ext>
              </a:extLst>
            </p:cNvPr>
            <p:cNvSpPr/>
            <p:nvPr/>
          </p:nvSpPr>
          <p:spPr>
            <a:xfrm>
              <a:off x="9821290" y="4547726"/>
              <a:ext cx="378237" cy="221456"/>
            </a:xfrm>
            <a:custGeom>
              <a:avLst/>
              <a:gdLst>
                <a:gd name="connsiteX0" fmla="*/ 349472 w 378237"/>
                <a:gd name="connsiteY0" fmla="*/ 0 h 221456"/>
                <a:gd name="connsiteX1" fmla="*/ 378238 w 378237"/>
                <a:gd name="connsiteY1" fmla="*/ 28765 h 221456"/>
                <a:gd name="connsiteX2" fmla="*/ 378238 w 378237"/>
                <a:gd name="connsiteY2" fmla="*/ 192691 h 221456"/>
                <a:gd name="connsiteX3" fmla="*/ 349472 w 378237"/>
                <a:gd name="connsiteY3" fmla="*/ 221456 h 221456"/>
                <a:gd name="connsiteX4" fmla="*/ 28766 w 378237"/>
                <a:gd name="connsiteY4" fmla="*/ 221456 h 221456"/>
                <a:gd name="connsiteX5" fmla="*/ 0 w 378237"/>
                <a:gd name="connsiteY5" fmla="*/ 192691 h 221456"/>
                <a:gd name="connsiteX6" fmla="*/ 0 w 378237"/>
                <a:gd name="connsiteY6" fmla="*/ 28765 h 221456"/>
                <a:gd name="connsiteX7" fmla="*/ 28766 w 378237"/>
                <a:gd name="connsiteY7" fmla="*/ 0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237" h="221456">
                  <a:moveTo>
                    <a:pt x="349472" y="0"/>
                  </a:moveTo>
                  <a:cubicBezTo>
                    <a:pt x="365359" y="0"/>
                    <a:pt x="378238" y="12879"/>
                    <a:pt x="378238" y="28765"/>
                  </a:cubicBezTo>
                  <a:lnTo>
                    <a:pt x="378238" y="192691"/>
                  </a:lnTo>
                  <a:cubicBezTo>
                    <a:pt x="378238" y="208577"/>
                    <a:pt x="365359" y="221456"/>
                    <a:pt x="349472" y="221456"/>
                  </a:cubicBezTo>
                  <a:lnTo>
                    <a:pt x="28766" y="221456"/>
                  </a:lnTo>
                  <a:cubicBezTo>
                    <a:pt x="12879" y="221456"/>
                    <a:pt x="0" y="208577"/>
                    <a:pt x="0" y="192691"/>
                  </a:cubicBezTo>
                  <a:lnTo>
                    <a:pt x="0" y="28765"/>
                  </a:lnTo>
                  <a:cubicBezTo>
                    <a:pt x="0" y="12879"/>
                    <a:pt x="12879" y="0"/>
                    <a:pt x="28766" y="0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C5DBE48-0DC7-CD75-6ACD-72B2A4D4F5F9}"/>
                </a:ext>
              </a:extLst>
            </p:cNvPr>
            <p:cNvSpPr/>
            <p:nvPr/>
          </p:nvSpPr>
          <p:spPr>
            <a:xfrm>
              <a:off x="9842189" y="4569328"/>
              <a:ext cx="349272" cy="285400"/>
            </a:xfrm>
            <a:custGeom>
              <a:avLst/>
              <a:gdLst>
                <a:gd name="connsiteX0" fmla="*/ 0 w 433170"/>
                <a:gd name="connsiteY0" fmla="*/ 49729 h 353957"/>
                <a:gd name="connsiteX1" fmla="*/ 51625 w 433170"/>
                <a:gd name="connsiteY1" fmla="*/ 9 h 353957"/>
                <a:gd name="connsiteX2" fmla="*/ 335852 w 433170"/>
                <a:gd name="connsiteY2" fmla="*/ 9 h 353957"/>
                <a:gd name="connsiteX3" fmla="*/ 369094 w 433170"/>
                <a:gd name="connsiteY3" fmla="*/ 27822 h 353957"/>
                <a:gd name="connsiteX4" fmla="*/ 369094 w 433170"/>
                <a:gd name="connsiteY4" fmla="*/ 42205 h 353957"/>
                <a:gd name="connsiteX5" fmla="*/ 348520 w 433170"/>
                <a:gd name="connsiteY5" fmla="*/ 35156 h 353957"/>
                <a:gd name="connsiteX6" fmla="*/ 334518 w 433170"/>
                <a:gd name="connsiteY6" fmla="*/ 19821 h 353957"/>
                <a:gd name="connsiteX7" fmla="*/ 62579 w 433170"/>
                <a:gd name="connsiteY7" fmla="*/ 19821 h 353957"/>
                <a:gd name="connsiteX8" fmla="*/ 62579 w 433170"/>
                <a:gd name="connsiteY8" fmla="*/ 60683 h 353957"/>
                <a:gd name="connsiteX9" fmla="*/ 20574 w 433170"/>
                <a:gd name="connsiteY9" fmla="*/ 60683 h 353957"/>
                <a:gd name="connsiteX10" fmla="*/ 20574 w 433170"/>
                <a:gd name="connsiteY10" fmla="*/ 208797 h 353957"/>
                <a:gd name="connsiteX11" fmla="*/ 31528 w 433170"/>
                <a:gd name="connsiteY11" fmla="*/ 220227 h 353957"/>
                <a:gd name="connsiteX12" fmla="*/ 180784 w 433170"/>
                <a:gd name="connsiteY12" fmla="*/ 220227 h 353957"/>
                <a:gd name="connsiteX13" fmla="*/ 192691 w 433170"/>
                <a:gd name="connsiteY13" fmla="*/ 239658 h 353957"/>
                <a:gd name="connsiteX14" fmla="*/ 29813 w 433170"/>
                <a:gd name="connsiteY14" fmla="*/ 239658 h 353957"/>
                <a:gd name="connsiteX15" fmla="*/ 0 w 433170"/>
                <a:gd name="connsiteY15" fmla="*/ 210035 h 353957"/>
                <a:gd name="connsiteX16" fmla="*/ 201359 w 433170"/>
                <a:gd name="connsiteY16" fmla="*/ 325288 h 353957"/>
                <a:gd name="connsiteX17" fmla="*/ 239935 w 433170"/>
                <a:gd name="connsiteY17" fmla="*/ 261946 h 353957"/>
                <a:gd name="connsiteX18" fmla="*/ 192405 w 433170"/>
                <a:gd name="connsiteY18" fmla="*/ 126787 h 353957"/>
                <a:gd name="connsiteX19" fmla="*/ 313754 w 433170"/>
                <a:gd name="connsiteY19" fmla="*/ 44871 h 353957"/>
                <a:gd name="connsiteX20" fmla="*/ 429292 w 433170"/>
                <a:gd name="connsiteY20" fmla="*/ 134311 h 353957"/>
                <a:gd name="connsiteX21" fmla="*/ 372618 w 433170"/>
                <a:gd name="connsiteY21" fmla="*/ 266232 h 353957"/>
                <a:gd name="connsiteX22" fmla="*/ 415957 w 433170"/>
                <a:gd name="connsiteY22" fmla="*/ 329097 h 353957"/>
                <a:gd name="connsiteX23" fmla="*/ 368618 w 433170"/>
                <a:gd name="connsiteY23" fmla="*/ 316810 h 353957"/>
                <a:gd name="connsiteX24" fmla="*/ 355092 w 433170"/>
                <a:gd name="connsiteY24" fmla="*/ 353577 h 353957"/>
                <a:gd name="connsiteX25" fmla="*/ 304324 w 433170"/>
                <a:gd name="connsiteY25" fmla="*/ 288140 h 353957"/>
                <a:gd name="connsiteX26" fmla="*/ 265748 w 433170"/>
                <a:gd name="connsiteY26" fmla="*/ 353958 h 353957"/>
                <a:gd name="connsiteX27" fmla="*/ 248221 w 433170"/>
                <a:gd name="connsiteY27" fmla="*/ 314334 h 353957"/>
                <a:gd name="connsiteX28" fmla="*/ 201835 w 433170"/>
                <a:gd name="connsiteY28" fmla="*/ 164982 h 353957"/>
                <a:gd name="connsiteX29" fmla="*/ 309943 w 433170"/>
                <a:gd name="connsiteY29" fmla="*/ 265375 h 353957"/>
                <a:gd name="connsiteX30" fmla="*/ 416814 w 433170"/>
                <a:gd name="connsiteY30" fmla="*/ 164982 h 353957"/>
                <a:gd name="connsiteX31" fmla="*/ 311753 w 433170"/>
                <a:gd name="connsiteY31" fmla="*/ 62397 h 353957"/>
                <a:gd name="connsiteX32" fmla="*/ 201835 w 433170"/>
                <a:gd name="connsiteY32" fmla="*/ 164982 h 353957"/>
                <a:gd name="connsiteX33" fmla="*/ 228124 w 433170"/>
                <a:gd name="connsiteY33" fmla="*/ 164982 h 353957"/>
                <a:gd name="connsiteX34" fmla="*/ 252032 w 433170"/>
                <a:gd name="connsiteY34" fmla="*/ 109165 h 353957"/>
                <a:gd name="connsiteX35" fmla="*/ 309943 w 433170"/>
                <a:gd name="connsiteY35" fmla="*/ 86496 h 353957"/>
                <a:gd name="connsiteX36" fmla="*/ 367093 w 433170"/>
                <a:gd name="connsiteY36" fmla="*/ 109641 h 353957"/>
                <a:gd name="connsiteX37" fmla="*/ 390525 w 433170"/>
                <a:gd name="connsiteY37" fmla="*/ 164982 h 353957"/>
                <a:gd name="connsiteX38" fmla="*/ 309943 w 433170"/>
                <a:gd name="connsiteY38" fmla="*/ 241277 h 353957"/>
                <a:gd name="connsiteX39" fmla="*/ 228124 w 433170"/>
                <a:gd name="connsiteY39" fmla="*/ 164982 h 353957"/>
                <a:gd name="connsiteX40" fmla="*/ 246031 w 433170"/>
                <a:gd name="connsiteY40" fmla="*/ 164982 h 353957"/>
                <a:gd name="connsiteX41" fmla="*/ 309943 w 433170"/>
                <a:gd name="connsiteY41" fmla="*/ 224894 h 353957"/>
                <a:gd name="connsiteX42" fmla="*/ 372999 w 433170"/>
                <a:gd name="connsiteY42" fmla="*/ 164982 h 353957"/>
                <a:gd name="connsiteX43" fmla="*/ 309943 w 433170"/>
                <a:gd name="connsiteY43" fmla="*/ 103355 h 353957"/>
                <a:gd name="connsiteX44" fmla="*/ 246031 w 433170"/>
                <a:gd name="connsiteY44" fmla="*/ 164982 h 35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33170" h="353957">
                  <a:moveTo>
                    <a:pt x="0" y="49729"/>
                  </a:moveTo>
                  <a:lnTo>
                    <a:pt x="51625" y="9"/>
                  </a:lnTo>
                  <a:lnTo>
                    <a:pt x="335852" y="9"/>
                  </a:lnTo>
                  <a:cubicBezTo>
                    <a:pt x="352711" y="-372"/>
                    <a:pt x="367093" y="11629"/>
                    <a:pt x="369094" y="27822"/>
                  </a:cubicBezTo>
                  <a:lnTo>
                    <a:pt x="369094" y="42205"/>
                  </a:lnTo>
                  <a:lnTo>
                    <a:pt x="348520" y="35156"/>
                  </a:lnTo>
                  <a:cubicBezTo>
                    <a:pt x="348901" y="27250"/>
                    <a:pt x="342709" y="20488"/>
                    <a:pt x="334518" y="19821"/>
                  </a:cubicBezTo>
                  <a:lnTo>
                    <a:pt x="62579" y="19821"/>
                  </a:lnTo>
                  <a:lnTo>
                    <a:pt x="62579" y="60683"/>
                  </a:lnTo>
                  <a:lnTo>
                    <a:pt x="20574" y="60683"/>
                  </a:lnTo>
                  <a:lnTo>
                    <a:pt x="20574" y="208797"/>
                  </a:lnTo>
                  <a:cubicBezTo>
                    <a:pt x="21145" y="214607"/>
                    <a:pt x="25622" y="219274"/>
                    <a:pt x="31528" y="220227"/>
                  </a:cubicBezTo>
                  <a:lnTo>
                    <a:pt x="180784" y="220227"/>
                  </a:lnTo>
                  <a:lnTo>
                    <a:pt x="192691" y="239658"/>
                  </a:lnTo>
                  <a:lnTo>
                    <a:pt x="29813" y="239658"/>
                  </a:lnTo>
                  <a:cubicBezTo>
                    <a:pt x="14001" y="237467"/>
                    <a:pt x="1810" y="225275"/>
                    <a:pt x="0" y="210035"/>
                  </a:cubicBezTo>
                  <a:close/>
                  <a:moveTo>
                    <a:pt x="201359" y="325288"/>
                  </a:moveTo>
                  <a:lnTo>
                    <a:pt x="239935" y="261946"/>
                  </a:lnTo>
                  <a:cubicBezTo>
                    <a:pt x="194691" y="232133"/>
                    <a:pt x="175260" y="176983"/>
                    <a:pt x="192405" y="126787"/>
                  </a:cubicBezTo>
                  <a:cubicBezTo>
                    <a:pt x="209455" y="76495"/>
                    <a:pt x="258889" y="43157"/>
                    <a:pt x="313754" y="44871"/>
                  </a:cubicBezTo>
                  <a:cubicBezTo>
                    <a:pt x="368618" y="46681"/>
                    <a:pt x="415671" y="83067"/>
                    <a:pt x="429292" y="134311"/>
                  </a:cubicBezTo>
                  <a:cubicBezTo>
                    <a:pt x="442913" y="185556"/>
                    <a:pt x="419862" y="239277"/>
                    <a:pt x="372618" y="266232"/>
                  </a:cubicBezTo>
                  <a:lnTo>
                    <a:pt x="415957" y="329097"/>
                  </a:lnTo>
                  <a:lnTo>
                    <a:pt x="368618" y="316810"/>
                  </a:lnTo>
                  <a:lnTo>
                    <a:pt x="355092" y="353577"/>
                  </a:lnTo>
                  <a:lnTo>
                    <a:pt x="304324" y="288140"/>
                  </a:lnTo>
                  <a:lnTo>
                    <a:pt x="265748" y="353958"/>
                  </a:lnTo>
                  <a:lnTo>
                    <a:pt x="248221" y="314334"/>
                  </a:lnTo>
                  <a:close/>
                  <a:moveTo>
                    <a:pt x="201835" y="164982"/>
                  </a:moveTo>
                  <a:cubicBezTo>
                    <a:pt x="204597" y="220703"/>
                    <a:pt x="252032" y="264708"/>
                    <a:pt x="309943" y="265375"/>
                  </a:cubicBezTo>
                  <a:cubicBezTo>
                    <a:pt x="367379" y="264042"/>
                    <a:pt x="414051" y="220227"/>
                    <a:pt x="416814" y="164982"/>
                  </a:cubicBezTo>
                  <a:cubicBezTo>
                    <a:pt x="415290" y="109451"/>
                    <a:pt x="369284" y="64588"/>
                    <a:pt x="311753" y="62397"/>
                  </a:cubicBezTo>
                  <a:cubicBezTo>
                    <a:pt x="252317" y="62112"/>
                    <a:pt x="203549" y="107641"/>
                    <a:pt x="201835" y="164982"/>
                  </a:cubicBezTo>
                  <a:close/>
                  <a:moveTo>
                    <a:pt x="228124" y="164982"/>
                  </a:moveTo>
                  <a:cubicBezTo>
                    <a:pt x="228029" y="144027"/>
                    <a:pt x="236601" y="123929"/>
                    <a:pt x="252032" y="109165"/>
                  </a:cubicBezTo>
                  <a:cubicBezTo>
                    <a:pt x="267367" y="94402"/>
                    <a:pt x="288322" y="86210"/>
                    <a:pt x="309943" y="86496"/>
                  </a:cubicBezTo>
                  <a:cubicBezTo>
                    <a:pt x="331470" y="86591"/>
                    <a:pt x="352044" y="94878"/>
                    <a:pt x="367093" y="109641"/>
                  </a:cubicBezTo>
                  <a:cubicBezTo>
                    <a:pt x="382238" y="124310"/>
                    <a:pt x="390620" y="144217"/>
                    <a:pt x="390525" y="164982"/>
                  </a:cubicBezTo>
                  <a:cubicBezTo>
                    <a:pt x="389573" y="207178"/>
                    <a:pt x="353854" y="241087"/>
                    <a:pt x="309943" y="241277"/>
                  </a:cubicBezTo>
                  <a:cubicBezTo>
                    <a:pt x="265557" y="241753"/>
                    <a:pt x="229076" y="207749"/>
                    <a:pt x="228124" y="164982"/>
                  </a:cubicBezTo>
                  <a:close/>
                  <a:moveTo>
                    <a:pt x="246031" y="164982"/>
                  </a:moveTo>
                  <a:cubicBezTo>
                    <a:pt x="247841" y="197938"/>
                    <a:pt x="275749" y="224037"/>
                    <a:pt x="309943" y="224894"/>
                  </a:cubicBezTo>
                  <a:cubicBezTo>
                    <a:pt x="343948" y="223561"/>
                    <a:pt x="371284" y="197653"/>
                    <a:pt x="372999" y="164982"/>
                  </a:cubicBezTo>
                  <a:cubicBezTo>
                    <a:pt x="372142" y="131644"/>
                    <a:pt x="344519" y="104688"/>
                    <a:pt x="309943" y="103355"/>
                  </a:cubicBezTo>
                  <a:cubicBezTo>
                    <a:pt x="275082" y="104212"/>
                    <a:pt x="246983" y="131263"/>
                    <a:pt x="246031" y="1649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108" name="Group 1107">
            <a:extLst>
              <a:ext uri="{FF2B5EF4-FFF2-40B4-BE49-F238E27FC236}">
                <a16:creationId xmlns:a16="http://schemas.microsoft.com/office/drawing/2014/main" id="{0BAC618C-0309-DD5F-20CE-1EC3EFDAAA5C}"/>
              </a:ext>
            </a:extLst>
          </p:cNvPr>
          <p:cNvGrpSpPr/>
          <p:nvPr/>
        </p:nvGrpSpPr>
        <p:grpSpPr>
          <a:xfrm>
            <a:off x="3410433" y="6342992"/>
            <a:ext cx="825766" cy="321228"/>
            <a:chOff x="4793047" y="6345339"/>
            <a:chExt cx="825766" cy="321228"/>
          </a:xfrm>
        </p:grpSpPr>
        <p:grpSp>
          <p:nvGrpSpPr>
            <p:cNvPr id="1163" name="Group 1162">
              <a:extLst>
                <a:ext uri="{FF2B5EF4-FFF2-40B4-BE49-F238E27FC236}">
                  <a16:creationId xmlns:a16="http://schemas.microsoft.com/office/drawing/2014/main" id="{54F91D9C-6E2D-797F-B03B-C4F214769B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66811" y="6447367"/>
              <a:ext cx="252002" cy="126000"/>
              <a:chOff x="7568353" y="933450"/>
              <a:chExt cx="171450" cy="85725"/>
            </a:xfrm>
            <a:noFill/>
          </p:grpSpPr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A9BC5E99-33E4-BD6D-A736-20DA88E8FFC2}"/>
                  </a:ext>
                </a:extLst>
              </p:cNvPr>
              <p:cNvSpPr/>
              <p:nvPr/>
            </p:nvSpPr>
            <p:spPr>
              <a:xfrm>
                <a:off x="7568353" y="933450"/>
                <a:ext cx="171450" cy="85725"/>
              </a:xfrm>
              <a:custGeom>
                <a:avLst/>
                <a:gdLst>
                  <a:gd name="connsiteX0" fmla="*/ 0 w 171450"/>
                  <a:gd name="connsiteY0" fmla="*/ 42863 h 85725"/>
                  <a:gd name="connsiteX1" fmla="*/ 85725 w 171450"/>
                  <a:gd name="connsiteY1" fmla="*/ 0 h 85725"/>
                  <a:gd name="connsiteX2" fmla="*/ 171450 w 171450"/>
                  <a:gd name="connsiteY2" fmla="*/ 42863 h 85725"/>
                  <a:gd name="connsiteX3" fmla="*/ 85725 w 171450"/>
                  <a:gd name="connsiteY3" fmla="*/ 85725 h 85725"/>
                  <a:gd name="connsiteX4" fmla="*/ 0 w 171450"/>
                  <a:gd name="connsiteY4" fmla="*/ 42863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450" h="85725">
                    <a:moveTo>
                      <a:pt x="0" y="42863"/>
                    </a:moveTo>
                    <a:cubicBezTo>
                      <a:pt x="21146" y="15716"/>
                      <a:pt x="52578" y="0"/>
                      <a:pt x="85725" y="0"/>
                    </a:cubicBezTo>
                    <a:cubicBezTo>
                      <a:pt x="118872" y="0"/>
                      <a:pt x="150304" y="15716"/>
                      <a:pt x="171450" y="42863"/>
                    </a:cubicBezTo>
                    <a:cubicBezTo>
                      <a:pt x="150304" y="70009"/>
                      <a:pt x="118872" y="85725"/>
                      <a:pt x="85725" y="85725"/>
                    </a:cubicBezTo>
                    <a:cubicBezTo>
                      <a:pt x="52578" y="85725"/>
                      <a:pt x="21146" y="70009"/>
                      <a:pt x="0" y="42863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60E3A951-CBC8-BD8C-65BF-A3B322E99AE7}"/>
                  </a:ext>
                </a:extLst>
              </p:cNvPr>
              <p:cNvSpPr/>
              <p:nvPr/>
            </p:nvSpPr>
            <p:spPr>
              <a:xfrm>
                <a:off x="7623224" y="943432"/>
                <a:ext cx="61722" cy="65759"/>
              </a:xfrm>
              <a:custGeom>
                <a:avLst/>
                <a:gdLst>
                  <a:gd name="connsiteX0" fmla="*/ 61722 w 61722"/>
                  <a:gd name="connsiteY0" fmla="*/ 32880 h 65759"/>
                  <a:gd name="connsiteX1" fmla="*/ 30861 w 61722"/>
                  <a:gd name="connsiteY1" fmla="*/ 65760 h 65759"/>
                  <a:gd name="connsiteX2" fmla="*/ 0 w 61722"/>
                  <a:gd name="connsiteY2" fmla="*/ 32880 h 65759"/>
                  <a:gd name="connsiteX3" fmla="*/ 30861 w 61722"/>
                  <a:gd name="connsiteY3" fmla="*/ 0 h 65759"/>
                  <a:gd name="connsiteX4" fmla="*/ 61722 w 61722"/>
                  <a:gd name="connsiteY4" fmla="*/ 32880 h 65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22" h="65759">
                    <a:moveTo>
                      <a:pt x="61722" y="32880"/>
                    </a:moveTo>
                    <a:cubicBezTo>
                      <a:pt x="61722" y="51039"/>
                      <a:pt x="47905" y="65760"/>
                      <a:pt x="30861" y="65760"/>
                    </a:cubicBezTo>
                    <a:cubicBezTo>
                      <a:pt x="13817" y="65760"/>
                      <a:pt x="0" y="51039"/>
                      <a:pt x="0" y="32880"/>
                    </a:cubicBezTo>
                    <a:cubicBezTo>
                      <a:pt x="0" y="14721"/>
                      <a:pt x="13817" y="0"/>
                      <a:pt x="30861" y="0"/>
                    </a:cubicBezTo>
                    <a:cubicBezTo>
                      <a:pt x="47905" y="0"/>
                      <a:pt x="61722" y="14721"/>
                      <a:pt x="61722" y="3288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BAF89C8-934D-1CEF-469B-5825D9026369}"/>
                  </a:ext>
                </a:extLst>
              </p:cNvPr>
              <p:cNvSpPr/>
              <p:nvPr/>
            </p:nvSpPr>
            <p:spPr>
              <a:xfrm>
                <a:off x="7633498" y="954392"/>
                <a:ext cx="41147" cy="43839"/>
              </a:xfrm>
              <a:custGeom>
                <a:avLst/>
                <a:gdLst>
                  <a:gd name="connsiteX0" fmla="*/ 41148 w 41147"/>
                  <a:gd name="connsiteY0" fmla="*/ 21920 h 43839"/>
                  <a:gd name="connsiteX1" fmla="*/ 20574 w 41147"/>
                  <a:gd name="connsiteY1" fmla="*/ 43840 h 43839"/>
                  <a:gd name="connsiteX2" fmla="*/ 0 w 41147"/>
                  <a:gd name="connsiteY2" fmla="*/ 21920 h 43839"/>
                  <a:gd name="connsiteX3" fmla="*/ 20574 w 41147"/>
                  <a:gd name="connsiteY3" fmla="*/ 0 h 43839"/>
                  <a:gd name="connsiteX4" fmla="*/ 41148 w 41147"/>
                  <a:gd name="connsiteY4" fmla="*/ 21920 h 4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47" h="43839">
                    <a:moveTo>
                      <a:pt x="41148" y="21920"/>
                    </a:moveTo>
                    <a:cubicBezTo>
                      <a:pt x="41148" y="34026"/>
                      <a:pt x="31937" y="43840"/>
                      <a:pt x="20574" y="43840"/>
                    </a:cubicBezTo>
                    <a:cubicBezTo>
                      <a:pt x="9211" y="43840"/>
                      <a:pt x="0" y="34026"/>
                      <a:pt x="0" y="21920"/>
                    </a:cubicBezTo>
                    <a:cubicBezTo>
                      <a:pt x="0" y="9814"/>
                      <a:pt x="9211" y="0"/>
                      <a:pt x="20574" y="0"/>
                    </a:cubicBezTo>
                    <a:cubicBezTo>
                      <a:pt x="31937" y="0"/>
                      <a:pt x="41148" y="9814"/>
                      <a:pt x="41148" y="21920"/>
                    </a:cubicBezTo>
                    <a:close/>
                  </a:path>
                </a:pathLst>
              </a:custGeom>
              <a:grpFill/>
              <a:ln w="1270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64" name="TextBox 1163">
              <a:extLst>
                <a:ext uri="{FF2B5EF4-FFF2-40B4-BE49-F238E27FC236}">
                  <a16:creationId xmlns:a16="http://schemas.microsoft.com/office/drawing/2014/main" id="{E2EF7223-3CC0-3C4F-2BA2-740121142F79}"/>
                </a:ext>
              </a:extLst>
            </p:cNvPr>
            <p:cNvSpPr txBox="1"/>
            <p:nvPr/>
          </p:nvSpPr>
          <p:spPr>
            <a:xfrm>
              <a:off x="5046881" y="6373299"/>
              <a:ext cx="319663" cy="27699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12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PIN</a:t>
              </a:r>
            </a:p>
          </p:txBody>
        </p:sp>
        <p:pic>
          <p:nvPicPr>
            <p:cNvPr id="1166" name="Graphic 1165" descr="Fingerprint with solid fill">
              <a:extLst>
                <a:ext uri="{FF2B5EF4-FFF2-40B4-BE49-F238E27FC236}">
                  <a16:creationId xmlns:a16="http://schemas.microsoft.com/office/drawing/2014/main" id="{2BAACEB2-3D3F-1B5E-1D4A-07B96D3D0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793047" y="6345339"/>
              <a:ext cx="321228" cy="321228"/>
            </a:xfrm>
            <a:prstGeom prst="rect">
              <a:avLst/>
            </a:prstGeom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287C44B8-8013-13E7-0237-1CB5D81CABDF}"/>
              </a:ext>
            </a:extLst>
          </p:cNvPr>
          <p:cNvGrpSpPr/>
          <p:nvPr/>
        </p:nvGrpSpPr>
        <p:grpSpPr>
          <a:xfrm>
            <a:off x="4031271" y="6301837"/>
            <a:ext cx="812629" cy="446278"/>
            <a:chOff x="10785943" y="5489706"/>
            <a:chExt cx="812629" cy="446278"/>
          </a:xfrm>
        </p:grpSpPr>
        <p:pic>
          <p:nvPicPr>
            <p:cNvPr id="1150" name="Graphic 1149" descr="Key outline">
              <a:extLst>
                <a:ext uri="{FF2B5EF4-FFF2-40B4-BE49-F238E27FC236}">
                  <a16:creationId xmlns:a16="http://schemas.microsoft.com/office/drawing/2014/main" id="{F6628352-B3C8-FC2E-7E95-FE55751D9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22500" y="5559912"/>
              <a:ext cx="376072" cy="376072"/>
            </a:xfrm>
            <a:prstGeom prst="rect">
              <a:avLst/>
            </a:prstGeom>
          </p:spPr>
        </p:pic>
        <p:sp>
          <p:nvSpPr>
            <p:cNvPr id="1162" name="TextBox 1161">
              <a:extLst>
                <a:ext uri="{FF2B5EF4-FFF2-40B4-BE49-F238E27FC236}">
                  <a16:creationId xmlns:a16="http://schemas.microsoft.com/office/drawing/2014/main" id="{6A316019-27D4-9CBE-A0BB-5A5A4D71ED34}"/>
                </a:ext>
              </a:extLst>
            </p:cNvPr>
            <p:cNvSpPr txBox="1"/>
            <p:nvPr/>
          </p:nvSpPr>
          <p:spPr>
            <a:xfrm>
              <a:off x="10785943" y="5489706"/>
              <a:ext cx="81262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Holder AuthN</a:t>
              </a:r>
            </a:p>
          </p:txBody>
        </p:sp>
      </p:grp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4593910B-187E-3D04-B95F-4B66FA9C875D}"/>
              </a:ext>
            </a:extLst>
          </p:cNvPr>
          <p:cNvGrpSpPr/>
          <p:nvPr/>
        </p:nvGrpSpPr>
        <p:grpSpPr>
          <a:xfrm>
            <a:off x="5055155" y="6301837"/>
            <a:ext cx="504538" cy="465328"/>
            <a:chOff x="11062681" y="5489706"/>
            <a:chExt cx="504538" cy="465328"/>
          </a:xfrm>
        </p:grpSpPr>
        <p:pic>
          <p:nvPicPr>
            <p:cNvPr id="1139" name="Graphic 1138" descr="Key outline">
              <a:extLst>
                <a:ext uri="{FF2B5EF4-FFF2-40B4-BE49-F238E27FC236}">
                  <a16:creationId xmlns:a16="http://schemas.microsoft.com/office/drawing/2014/main" id="{C6D2812B-7915-3F99-B567-771527B25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191147" y="5578962"/>
              <a:ext cx="376072" cy="376072"/>
            </a:xfrm>
            <a:prstGeom prst="rect">
              <a:avLst/>
            </a:prstGeom>
          </p:spPr>
        </p:pic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32409A05-029E-D526-D77B-A1E0366BDF49}"/>
                </a:ext>
              </a:extLst>
            </p:cNvPr>
            <p:cNvSpPr txBox="1"/>
            <p:nvPr/>
          </p:nvSpPr>
          <p:spPr>
            <a:xfrm>
              <a:off x="11062681" y="5489706"/>
              <a:ext cx="50453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12" name="Group 1111">
            <a:extLst>
              <a:ext uri="{FF2B5EF4-FFF2-40B4-BE49-F238E27FC236}">
                <a16:creationId xmlns:a16="http://schemas.microsoft.com/office/drawing/2014/main" id="{09157289-DD44-D059-FA1E-F2E4AC177E21}"/>
              </a:ext>
            </a:extLst>
          </p:cNvPr>
          <p:cNvGrpSpPr/>
          <p:nvPr/>
        </p:nvGrpSpPr>
        <p:grpSpPr>
          <a:xfrm>
            <a:off x="4850531" y="6310888"/>
            <a:ext cx="335658" cy="379187"/>
            <a:chOff x="10749568" y="5635101"/>
            <a:chExt cx="350430" cy="395875"/>
          </a:xfrm>
        </p:grpSpPr>
        <p:pic>
          <p:nvPicPr>
            <p:cNvPr id="1125" name="Graphic 1124" descr="Paper with solid fill">
              <a:extLst>
                <a:ext uri="{FF2B5EF4-FFF2-40B4-BE49-F238E27FC236}">
                  <a16:creationId xmlns:a16="http://schemas.microsoft.com/office/drawing/2014/main" id="{AE823193-9334-84B6-C5F3-8BAAE7DAD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126" name="TextBox 1125">
              <a:extLst>
                <a:ext uri="{FF2B5EF4-FFF2-40B4-BE49-F238E27FC236}">
                  <a16:creationId xmlns:a16="http://schemas.microsoft.com/office/drawing/2014/main" id="{E80D27BE-E72F-AAFF-606F-4D2B75E12FCC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AT</a:t>
              </a:r>
            </a:p>
          </p:txBody>
        </p:sp>
        <p:grpSp>
          <p:nvGrpSpPr>
            <p:cNvPr id="1127" name="Group 1126">
              <a:extLst>
                <a:ext uri="{FF2B5EF4-FFF2-40B4-BE49-F238E27FC236}">
                  <a16:creationId xmlns:a16="http://schemas.microsoft.com/office/drawing/2014/main" id="{3B5EC020-3F79-F2A4-F062-138BAE225E15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256BBCF8-FF2A-5663-94A0-74D36FA2D0D4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208FA0AC-D30B-93A7-1B3F-8CB33BA230BA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0821C628-9965-1573-CAAD-C4E50DACD20F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CEB482B7-D3E1-F513-FE41-F47F1A87DC72}"/>
              </a:ext>
            </a:extLst>
          </p:cNvPr>
          <p:cNvGrpSpPr/>
          <p:nvPr/>
        </p:nvGrpSpPr>
        <p:grpSpPr>
          <a:xfrm>
            <a:off x="5539840" y="6301837"/>
            <a:ext cx="732706" cy="446278"/>
            <a:chOff x="319523" y="5081988"/>
            <a:chExt cx="732706" cy="446278"/>
          </a:xfrm>
        </p:grpSpPr>
        <p:pic>
          <p:nvPicPr>
            <p:cNvPr id="1123" name="Graphic 1122" descr="Key outline">
              <a:extLst>
                <a:ext uri="{FF2B5EF4-FFF2-40B4-BE49-F238E27FC236}">
                  <a16:creationId xmlns:a16="http://schemas.microsoft.com/office/drawing/2014/main" id="{66D1BC84-105C-F3D7-7D07-7E2EDD9AB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676157" y="5152194"/>
              <a:ext cx="376072" cy="376072"/>
            </a:xfrm>
            <a:prstGeom prst="rect">
              <a:avLst/>
            </a:prstGeom>
          </p:spPr>
        </p:pic>
        <p:sp>
          <p:nvSpPr>
            <p:cNvPr id="1124" name="TextBox 1123">
              <a:extLst>
                <a:ext uri="{FF2B5EF4-FFF2-40B4-BE49-F238E27FC236}">
                  <a16:creationId xmlns:a16="http://schemas.microsoft.com/office/drawing/2014/main" id="{A12C5FBB-8F2A-F403-FEEF-5FF13592910B}"/>
                </a:ext>
              </a:extLst>
            </p:cNvPr>
            <p:cNvSpPr txBox="1"/>
            <p:nvPr/>
          </p:nvSpPr>
          <p:spPr>
            <a:xfrm>
              <a:off x="319523" y="5081988"/>
              <a:ext cx="732706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 </a:t>
              </a:r>
              <a:r>
                <a:rPr lang="en-GB" sz="800" spc="0" baseline="0" dirty="0" err="1">
                  <a:ln/>
                  <a:latin typeface="Helvetica"/>
                  <a:cs typeface="Helvetica"/>
                  <a:sym typeface="Helvetica"/>
                  <a:rtl val="0"/>
                </a:rPr>
                <a:t>PoP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6634574E-4173-3056-A20B-4F41A3B77D1F}"/>
              </a:ext>
            </a:extLst>
          </p:cNvPr>
          <p:cNvGrpSpPr/>
          <p:nvPr/>
        </p:nvGrpSpPr>
        <p:grpSpPr>
          <a:xfrm>
            <a:off x="2791461" y="6301837"/>
            <a:ext cx="621489" cy="446278"/>
            <a:chOff x="10966769" y="5489706"/>
            <a:chExt cx="621489" cy="446278"/>
          </a:xfrm>
        </p:grpSpPr>
        <p:pic>
          <p:nvPicPr>
            <p:cNvPr id="1121" name="Graphic 1120" descr="Key outline">
              <a:extLst>
                <a:ext uri="{FF2B5EF4-FFF2-40B4-BE49-F238E27FC236}">
                  <a16:creationId xmlns:a16="http://schemas.microsoft.com/office/drawing/2014/main" id="{6F8CEEC9-E20D-4F57-EB7E-C021E8919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12186" y="5559912"/>
              <a:ext cx="376072" cy="376072"/>
            </a:xfrm>
            <a:prstGeom prst="rect">
              <a:avLst/>
            </a:prstGeom>
          </p:spPr>
        </p:pic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B04FDB9E-6890-06A6-93F4-135E5F3E9759}"/>
                </a:ext>
              </a:extLst>
            </p:cNvPr>
            <p:cNvSpPr txBox="1"/>
            <p:nvPr/>
          </p:nvSpPr>
          <p:spPr>
            <a:xfrm>
              <a:off x="10966769" y="5489706"/>
              <a:ext cx="62148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Wallet AuthN</a:t>
              </a:r>
            </a:p>
          </p:txBody>
        </p:sp>
      </p:grpSp>
      <p:grpSp>
        <p:nvGrpSpPr>
          <p:cNvPr id="1117" name="Group 1116">
            <a:extLst>
              <a:ext uri="{FF2B5EF4-FFF2-40B4-BE49-F238E27FC236}">
                <a16:creationId xmlns:a16="http://schemas.microsoft.com/office/drawing/2014/main" id="{4501D6F1-41F6-7F58-4E10-D05EC2974B57}"/>
              </a:ext>
            </a:extLst>
          </p:cNvPr>
          <p:cNvGrpSpPr/>
          <p:nvPr/>
        </p:nvGrpSpPr>
        <p:grpSpPr>
          <a:xfrm>
            <a:off x="6159645" y="6301837"/>
            <a:ext cx="647217" cy="446278"/>
            <a:chOff x="11005275" y="5489706"/>
            <a:chExt cx="647217" cy="446278"/>
          </a:xfrm>
        </p:grpSpPr>
        <p:pic>
          <p:nvPicPr>
            <p:cNvPr id="1118" name="Graphic 1117" descr="Key outline">
              <a:extLst>
                <a:ext uri="{FF2B5EF4-FFF2-40B4-BE49-F238E27FC236}">
                  <a16:creationId xmlns:a16="http://schemas.microsoft.com/office/drawing/2014/main" id="{610017F4-5583-D353-0E5D-BBEA96CB6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flipH="1" flipV="1">
              <a:off x="11276420" y="5559912"/>
              <a:ext cx="376072" cy="376072"/>
            </a:xfrm>
            <a:prstGeom prst="rect">
              <a:avLst/>
            </a:prstGeom>
          </p:spPr>
        </p:pic>
        <p:sp>
          <p:nvSpPr>
            <p:cNvPr id="1120" name="TextBox 1119">
              <a:extLst>
                <a:ext uri="{FF2B5EF4-FFF2-40B4-BE49-F238E27FC236}">
                  <a16:creationId xmlns:a16="http://schemas.microsoft.com/office/drawing/2014/main" id="{112C5600-3AE8-AC45-54CF-E1627487867A}"/>
                </a:ext>
              </a:extLst>
            </p:cNvPr>
            <p:cNvSpPr txBox="1"/>
            <p:nvPr/>
          </p:nvSpPr>
          <p:spPr>
            <a:xfrm>
              <a:off x="11005275" y="5489706"/>
              <a:ext cx="64721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r"/>
              <a:r>
                <a:rPr lang="en-GB" sz="800" dirty="0">
                  <a:ln/>
                  <a:latin typeface="Helvetica"/>
                  <a:cs typeface="Helvetica"/>
                  <a:sym typeface="Helvetica"/>
                  <a:rtl val="0"/>
                </a:rPr>
                <a:t>Attestation</a:t>
              </a:r>
              <a:endParaRPr lang="en-GB" sz="800" spc="0" baseline="0" dirty="0">
                <a:ln/>
                <a:latin typeface="Helvetica"/>
                <a:cs typeface="Helvetica"/>
                <a:sym typeface="Helvetica"/>
                <a:rtl val="0"/>
              </a:endParaRPr>
            </a:p>
          </p:txBody>
        </p:sp>
      </p:grpSp>
      <p:grpSp>
        <p:nvGrpSpPr>
          <p:cNvPr id="1257" name="Group 1256">
            <a:extLst>
              <a:ext uri="{FF2B5EF4-FFF2-40B4-BE49-F238E27FC236}">
                <a16:creationId xmlns:a16="http://schemas.microsoft.com/office/drawing/2014/main" id="{B277828D-7545-1C54-F4EC-C037A53A7285}"/>
              </a:ext>
            </a:extLst>
          </p:cNvPr>
          <p:cNvGrpSpPr/>
          <p:nvPr/>
        </p:nvGrpSpPr>
        <p:grpSpPr>
          <a:xfrm>
            <a:off x="5556942" y="6310888"/>
            <a:ext cx="335658" cy="379187"/>
            <a:chOff x="10749568" y="5635101"/>
            <a:chExt cx="350430" cy="395875"/>
          </a:xfrm>
        </p:grpSpPr>
        <p:pic>
          <p:nvPicPr>
            <p:cNvPr id="1258" name="Graphic 1257" descr="Paper with solid fill">
              <a:extLst>
                <a:ext uri="{FF2B5EF4-FFF2-40B4-BE49-F238E27FC236}">
                  <a16:creationId xmlns:a16="http://schemas.microsoft.com/office/drawing/2014/main" id="{CDC96972-471F-374A-8224-BB1CAEFAB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9568" y="5635101"/>
              <a:ext cx="350430" cy="350428"/>
            </a:xfrm>
            <a:prstGeom prst="rect">
              <a:avLst/>
            </a:prstGeom>
          </p:spPr>
        </p:pic>
        <p:sp>
          <p:nvSpPr>
            <p:cNvPr id="1259" name="TextBox 1258">
              <a:extLst>
                <a:ext uri="{FF2B5EF4-FFF2-40B4-BE49-F238E27FC236}">
                  <a16:creationId xmlns:a16="http://schemas.microsoft.com/office/drawing/2014/main" id="{82810784-162C-23F6-5C87-B38AA9E7BD3C}"/>
                </a:ext>
              </a:extLst>
            </p:cNvPr>
            <p:cNvSpPr txBox="1"/>
            <p:nvPr/>
          </p:nvSpPr>
          <p:spPr>
            <a:xfrm>
              <a:off x="10784244" y="5713896"/>
              <a:ext cx="274282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rPr>
                <a:t>VC</a:t>
              </a:r>
            </a:p>
          </p:txBody>
        </p:sp>
        <p:grpSp>
          <p:nvGrpSpPr>
            <p:cNvPr id="1260" name="Group 1259">
              <a:extLst>
                <a:ext uri="{FF2B5EF4-FFF2-40B4-BE49-F238E27FC236}">
                  <a16:creationId xmlns:a16="http://schemas.microsoft.com/office/drawing/2014/main" id="{2D87D143-9629-A141-19C8-CA947FC674F6}"/>
                </a:ext>
              </a:extLst>
            </p:cNvPr>
            <p:cNvGrpSpPr/>
            <p:nvPr/>
          </p:nvGrpSpPr>
          <p:grpSpPr>
            <a:xfrm>
              <a:off x="10957123" y="5858479"/>
              <a:ext cx="142875" cy="172497"/>
              <a:chOff x="10482325" y="5748903"/>
              <a:chExt cx="142875" cy="172497"/>
            </a:xfrm>
          </p:grpSpPr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9AD91260-06D5-05B5-1560-A623A0FCC22A}"/>
                  </a:ext>
                </a:extLst>
              </p:cNvPr>
              <p:cNvSpPr/>
              <p:nvPr/>
            </p:nvSpPr>
            <p:spPr>
              <a:xfrm>
                <a:off x="10515662" y="5873775"/>
                <a:ext cx="76200" cy="47625"/>
              </a:xfrm>
              <a:custGeom>
                <a:avLst/>
                <a:gdLst>
                  <a:gd name="connsiteX0" fmla="*/ 19050 w 76200"/>
                  <a:gd name="connsiteY0" fmla="*/ 0 h 47625"/>
                  <a:gd name="connsiteX1" fmla="*/ 57150 w 76200"/>
                  <a:gd name="connsiteY1" fmla="*/ 0 h 47625"/>
                  <a:gd name="connsiteX2" fmla="*/ 76200 w 76200"/>
                  <a:gd name="connsiteY2" fmla="*/ 0 h 47625"/>
                  <a:gd name="connsiteX3" fmla="*/ 76200 w 76200"/>
                  <a:gd name="connsiteY3" fmla="*/ 35719 h 47625"/>
                  <a:gd name="connsiteX4" fmla="*/ 76200 w 76200"/>
                  <a:gd name="connsiteY4" fmla="*/ 47625 h 47625"/>
                  <a:gd name="connsiteX5" fmla="*/ 38100 w 76200"/>
                  <a:gd name="connsiteY5" fmla="*/ 23813 h 47625"/>
                  <a:gd name="connsiteX6" fmla="*/ 0 w 76200"/>
                  <a:gd name="connsiteY6" fmla="*/ 47625 h 47625"/>
                  <a:gd name="connsiteX7" fmla="*/ 0 w 76200"/>
                  <a:gd name="connsiteY7" fmla="*/ 0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6200" h="47625">
                    <a:moveTo>
                      <a:pt x="19050" y="0"/>
                    </a:moveTo>
                    <a:lnTo>
                      <a:pt x="57150" y="0"/>
                    </a:lnTo>
                    <a:lnTo>
                      <a:pt x="76200" y="0"/>
                    </a:lnTo>
                    <a:lnTo>
                      <a:pt x="76200" y="35719"/>
                    </a:lnTo>
                    <a:lnTo>
                      <a:pt x="76200" y="47625"/>
                    </a:lnTo>
                    <a:lnTo>
                      <a:pt x="38100" y="23813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090A6DDA-27D4-9E77-633D-03D70D5F8DF3}"/>
                  </a:ext>
                </a:extLst>
              </p:cNvPr>
              <p:cNvSpPr/>
              <p:nvPr/>
            </p:nvSpPr>
            <p:spPr>
              <a:xfrm>
                <a:off x="10482325" y="5748903"/>
                <a:ext cx="142875" cy="142875"/>
              </a:xfrm>
              <a:custGeom>
                <a:avLst/>
                <a:gdLst>
                  <a:gd name="connsiteX0" fmla="*/ 142875 w 142875"/>
                  <a:gd name="connsiteY0" fmla="*/ 71438 h 142875"/>
                  <a:gd name="connsiteX1" fmla="*/ 71438 w 142875"/>
                  <a:gd name="connsiteY1" fmla="*/ 142875 h 142875"/>
                  <a:gd name="connsiteX2" fmla="*/ 0 w 142875"/>
                  <a:gd name="connsiteY2" fmla="*/ 71438 h 142875"/>
                  <a:gd name="connsiteX3" fmla="*/ 71438 w 142875"/>
                  <a:gd name="connsiteY3" fmla="*/ 0 h 142875"/>
                  <a:gd name="connsiteX4" fmla="*/ 142875 w 142875"/>
                  <a:gd name="connsiteY4" fmla="*/ 71438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42875" y="71438"/>
                    </a:moveTo>
                    <a:cubicBezTo>
                      <a:pt x="142875" y="110891"/>
                      <a:pt x="110891" y="142875"/>
                      <a:pt x="71438" y="142875"/>
                    </a:cubicBezTo>
                    <a:cubicBezTo>
                      <a:pt x="31984" y="142875"/>
                      <a:pt x="0" y="110891"/>
                      <a:pt x="0" y="71438"/>
                    </a:cubicBezTo>
                    <a:cubicBezTo>
                      <a:pt x="0" y="31984"/>
                      <a:pt x="31984" y="0"/>
                      <a:pt x="71438" y="0"/>
                    </a:cubicBezTo>
                    <a:cubicBezTo>
                      <a:pt x="110891" y="0"/>
                      <a:pt x="142875" y="31984"/>
                      <a:pt x="142875" y="714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C4CCEE06-F06F-F765-BA4A-F227BC44223A}"/>
                  </a:ext>
                </a:extLst>
              </p:cNvPr>
              <p:cNvSpPr/>
              <p:nvPr/>
            </p:nvSpPr>
            <p:spPr>
              <a:xfrm>
                <a:off x="10491850" y="5758428"/>
                <a:ext cx="123825" cy="123825"/>
              </a:xfrm>
              <a:custGeom>
                <a:avLst/>
                <a:gdLst>
                  <a:gd name="connsiteX0" fmla="*/ 123825 w 123825"/>
                  <a:gd name="connsiteY0" fmla="*/ 61913 h 123825"/>
                  <a:gd name="connsiteX1" fmla="*/ 61913 w 123825"/>
                  <a:gd name="connsiteY1" fmla="*/ 123825 h 123825"/>
                  <a:gd name="connsiteX2" fmla="*/ 0 w 123825"/>
                  <a:gd name="connsiteY2" fmla="*/ 61913 h 123825"/>
                  <a:gd name="connsiteX3" fmla="*/ 61913 w 123825"/>
                  <a:gd name="connsiteY3" fmla="*/ 0 h 123825"/>
                  <a:gd name="connsiteX4" fmla="*/ 123825 w 123825"/>
                  <a:gd name="connsiteY4" fmla="*/ 61913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825" y="61913"/>
                    </a:moveTo>
                    <a:cubicBezTo>
                      <a:pt x="123825" y="96106"/>
                      <a:pt x="96106" y="123825"/>
                      <a:pt x="61913" y="123825"/>
                    </a:cubicBezTo>
                    <a:cubicBezTo>
                      <a:pt x="27719" y="123825"/>
                      <a:pt x="0" y="96106"/>
                      <a:pt x="0" y="61913"/>
                    </a:cubicBezTo>
                    <a:cubicBezTo>
                      <a:pt x="0" y="27719"/>
                      <a:pt x="27719" y="0"/>
                      <a:pt x="61913" y="0"/>
                    </a:cubicBezTo>
                    <a:cubicBezTo>
                      <a:pt x="96106" y="0"/>
                      <a:pt x="123825" y="27719"/>
                      <a:pt x="123825" y="61913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grpSp>
        <p:nvGrpSpPr>
          <p:cNvPr id="1265" name="Group 1264">
            <a:extLst>
              <a:ext uri="{FF2B5EF4-FFF2-40B4-BE49-F238E27FC236}">
                <a16:creationId xmlns:a16="http://schemas.microsoft.com/office/drawing/2014/main" id="{30CD4698-A412-4031-DCCB-82884F7F592F}"/>
              </a:ext>
            </a:extLst>
          </p:cNvPr>
          <p:cNvGrpSpPr/>
          <p:nvPr/>
        </p:nvGrpSpPr>
        <p:grpSpPr>
          <a:xfrm>
            <a:off x="3523127" y="2965685"/>
            <a:ext cx="2066555" cy="3505638"/>
            <a:chOff x="5226042" y="1981755"/>
            <a:chExt cx="2066555" cy="3505638"/>
          </a:xfrm>
        </p:grpSpPr>
        <p:pic>
          <p:nvPicPr>
            <p:cNvPr id="1266" name="Picture 4">
              <a:extLst>
                <a:ext uri="{FF2B5EF4-FFF2-40B4-BE49-F238E27FC236}">
                  <a16:creationId xmlns:a16="http://schemas.microsoft.com/office/drawing/2014/main" id="{9232071C-8A81-2394-F1F6-D2AD0AA43C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42" y="1981755"/>
              <a:ext cx="2066555" cy="350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67" name="Rectangle 1266">
              <a:extLst>
                <a:ext uri="{FF2B5EF4-FFF2-40B4-BE49-F238E27FC236}">
                  <a16:creationId xmlns:a16="http://schemas.microsoft.com/office/drawing/2014/main" id="{3E339985-D11F-A654-E8B6-D5DEE66BC906}"/>
                </a:ext>
              </a:extLst>
            </p:cNvPr>
            <p:cNvSpPr/>
            <p:nvPr/>
          </p:nvSpPr>
          <p:spPr>
            <a:xfrm>
              <a:off x="5510581" y="259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Person Identification</a:t>
              </a:r>
            </a:p>
          </p:txBody>
        </p:sp>
        <p:sp>
          <p:nvSpPr>
            <p:cNvPr id="1268" name="Rectangle 1267">
              <a:extLst>
                <a:ext uri="{FF2B5EF4-FFF2-40B4-BE49-F238E27FC236}">
                  <a16:creationId xmlns:a16="http://schemas.microsoft.com/office/drawing/2014/main" id="{A5815DC1-29FC-8414-731A-02399714E0D5}"/>
                </a:ext>
              </a:extLst>
            </p:cNvPr>
            <p:cNvSpPr/>
            <p:nvPr/>
          </p:nvSpPr>
          <p:spPr>
            <a:xfrm>
              <a:off x="5510581" y="3608574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GB" sz="1000" dirty="0"/>
                <a:t>Education/Qualifications</a:t>
              </a:r>
            </a:p>
          </p:txBody>
        </p:sp>
        <p:sp>
          <p:nvSpPr>
            <p:cNvPr id="1269" name="Rectangle 1268">
              <a:extLst>
                <a:ext uri="{FF2B5EF4-FFF2-40B4-BE49-F238E27FC236}">
                  <a16:creationId xmlns:a16="http://schemas.microsoft.com/office/drawing/2014/main" id="{45A06C72-CB7E-CEA5-54DD-8CABBD8BFB39}"/>
                </a:ext>
              </a:extLst>
            </p:cNvPr>
            <p:cNvSpPr/>
            <p:nvPr/>
          </p:nvSpPr>
          <p:spPr>
            <a:xfrm>
              <a:off x="5510581" y="310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Passport</a:t>
              </a:r>
            </a:p>
          </p:txBody>
        </p:sp>
        <p:sp>
          <p:nvSpPr>
            <p:cNvPr id="1270" name="Rectangle 1269">
              <a:extLst>
                <a:ext uri="{FF2B5EF4-FFF2-40B4-BE49-F238E27FC236}">
                  <a16:creationId xmlns:a16="http://schemas.microsoft.com/office/drawing/2014/main" id="{EB37CF48-53DF-B97C-A3CA-632E8D879614}"/>
                </a:ext>
              </a:extLst>
            </p:cNvPr>
            <p:cNvSpPr/>
            <p:nvPr/>
          </p:nvSpPr>
          <p:spPr>
            <a:xfrm>
              <a:off x="5510581" y="3859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Financial</a:t>
              </a:r>
            </a:p>
          </p:txBody>
        </p:sp>
        <p:sp>
          <p:nvSpPr>
            <p:cNvPr id="1271" name="Rectangle 1270">
              <a:extLst>
                <a:ext uri="{FF2B5EF4-FFF2-40B4-BE49-F238E27FC236}">
                  <a16:creationId xmlns:a16="http://schemas.microsoft.com/office/drawing/2014/main" id="{D899ECC5-64E7-CC20-6461-236DBB7229A3}"/>
                </a:ext>
              </a:extLst>
            </p:cNvPr>
            <p:cNvSpPr/>
            <p:nvPr/>
          </p:nvSpPr>
          <p:spPr>
            <a:xfrm>
              <a:off x="5510581" y="411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Employment</a:t>
              </a:r>
            </a:p>
          </p:txBody>
        </p:sp>
        <p:sp>
          <p:nvSpPr>
            <p:cNvPr id="1272" name="Rectangle 1271">
              <a:extLst>
                <a:ext uri="{FF2B5EF4-FFF2-40B4-BE49-F238E27FC236}">
                  <a16:creationId xmlns:a16="http://schemas.microsoft.com/office/drawing/2014/main" id="{44C208CA-43DC-3968-79F8-A284FC4340BE}"/>
                </a:ext>
              </a:extLst>
            </p:cNvPr>
            <p:cNvSpPr/>
            <p:nvPr/>
          </p:nvSpPr>
          <p:spPr>
            <a:xfrm>
              <a:off x="5510581" y="4363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Health/Medical</a:t>
              </a:r>
            </a:p>
          </p:txBody>
        </p:sp>
        <p:sp>
          <p:nvSpPr>
            <p:cNvPr id="1273" name="Rectangle 1272">
              <a:extLst>
                <a:ext uri="{FF2B5EF4-FFF2-40B4-BE49-F238E27FC236}">
                  <a16:creationId xmlns:a16="http://schemas.microsoft.com/office/drawing/2014/main" id="{96BA2D4C-F226-FB7F-A71E-AD51D2151FA8}"/>
                </a:ext>
              </a:extLst>
            </p:cNvPr>
            <p:cNvSpPr/>
            <p:nvPr/>
          </p:nvSpPr>
          <p:spPr>
            <a:xfrm>
              <a:off x="5510581" y="4615800"/>
              <a:ext cx="1481197" cy="252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Shopping Coupon</a:t>
              </a:r>
            </a:p>
          </p:txBody>
        </p:sp>
        <p:sp>
          <p:nvSpPr>
            <p:cNvPr id="1274" name="Rectangle 1273">
              <a:extLst>
                <a:ext uri="{FF2B5EF4-FFF2-40B4-BE49-F238E27FC236}">
                  <a16:creationId xmlns:a16="http://schemas.microsoft.com/office/drawing/2014/main" id="{DE678340-5AE3-7008-27A5-E673A462EA27}"/>
                </a:ext>
              </a:extLst>
            </p:cNvPr>
            <p:cNvSpPr/>
            <p:nvPr/>
          </p:nvSpPr>
          <p:spPr>
            <a:xfrm>
              <a:off x="5510581" y="2851800"/>
              <a:ext cx="1481197" cy="252000"/>
            </a:xfrm>
            <a:prstGeom prst="rect">
              <a:avLst/>
            </a:prstGeom>
            <a:ln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/>
                <a:t>Certificates</a:t>
              </a:r>
            </a:p>
          </p:txBody>
        </p:sp>
      </p:grpSp>
      <p:sp>
        <p:nvSpPr>
          <p:cNvPr id="1275" name="Rectangle: Rounded Corners 1274">
            <a:extLst>
              <a:ext uri="{FF2B5EF4-FFF2-40B4-BE49-F238E27FC236}">
                <a16:creationId xmlns:a16="http://schemas.microsoft.com/office/drawing/2014/main" id="{4B4E8C7F-2E98-FA69-7606-29487B118563}"/>
              </a:ext>
            </a:extLst>
          </p:cNvPr>
          <p:cNvSpPr/>
          <p:nvPr/>
        </p:nvSpPr>
        <p:spPr>
          <a:xfrm>
            <a:off x="380989" y="1231200"/>
            <a:ext cx="3627587" cy="400097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Qualified Providers (examples)</a:t>
            </a:r>
          </a:p>
        </p:txBody>
      </p:sp>
      <p:grpSp>
        <p:nvGrpSpPr>
          <p:cNvPr id="1300" name="Group 1299">
            <a:extLst>
              <a:ext uri="{FF2B5EF4-FFF2-40B4-BE49-F238E27FC236}">
                <a16:creationId xmlns:a16="http://schemas.microsoft.com/office/drawing/2014/main" id="{FC3C7082-793C-4C19-39FB-8FC1B0192250}"/>
              </a:ext>
            </a:extLst>
          </p:cNvPr>
          <p:cNvGrpSpPr/>
          <p:nvPr/>
        </p:nvGrpSpPr>
        <p:grpSpPr>
          <a:xfrm>
            <a:off x="1364613" y="1561685"/>
            <a:ext cx="1609851" cy="2457230"/>
            <a:chOff x="2632447" y="1552472"/>
            <a:chExt cx="1609851" cy="2457230"/>
          </a:xfrm>
        </p:grpSpPr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88E1EF6-D084-AAA2-1A0F-9A72A7F54B3D}"/>
                </a:ext>
              </a:extLst>
            </p:cNvPr>
            <p:cNvGrpSpPr/>
            <p:nvPr/>
          </p:nvGrpSpPr>
          <p:grpSpPr>
            <a:xfrm>
              <a:off x="2632447" y="2873538"/>
              <a:ext cx="1609851" cy="1136164"/>
              <a:chOff x="122177" y="2320412"/>
              <a:chExt cx="1643741" cy="1149050"/>
            </a:xfrm>
          </p:grpSpPr>
          <p:grpSp>
            <p:nvGrpSpPr>
              <p:cNvPr id="1314" name="Group 1313">
                <a:extLst>
                  <a:ext uri="{FF2B5EF4-FFF2-40B4-BE49-F238E27FC236}">
                    <a16:creationId xmlns:a16="http://schemas.microsoft.com/office/drawing/2014/main" id="{D306510D-0E47-6DAA-72F6-0BF71753ED9E}"/>
                  </a:ext>
                </a:extLst>
              </p:cNvPr>
              <p:cNvGrpSpPr/>
              <p:nvPr/>
            </p:nvGrpSpPr>
            <p:grpSpPr>
              <a:xfrm>
                <a:off x="398530" y="2320412"/>
                <a:ext cx="992362" cy="914400"/>
                <a:chOff x="339071" y="3403976"/>
                <a:chExt cx="992362" cy="914400"/>
              </a:xfrm>
            </p:grpSpPr>
            <p:pic>
              <p:nvPicPr>
                <p:cNvPr id="1316" name="Graphic 1315" descr="Building outline">
                  <a:extLst>
                    <a:ext uri="{FF2B5EF4-FFF2-40B4-BE49-F238E27FC236}">
                      <a16:creationId xmlns:a16="http://schemas.microsoft.com/office/drawing/2014/main" id="{3F62976D-B533-1A38-7152-908CCC2FA4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71" y="3403976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317" name="Group 1316">
                  <a:extLst>
                    <a:ext uri="{FF2B5EF4-FFF2-40B4-BE49-F238E27FC236}">
                      <a16:creationId xmlns:a16="http://schemas.microsoft.com/office/drawing/2014/main" id="{1B9BC0BF-E80E-CE71-A27E-7C4201573292}"/>
                    </a:ext>
                  </a:extLst>
                </p:cNvPr>
                <p:cNvGrpSpPr/>
                <p:nvPr/>
              </p:nvGrpSpPr>
              <p:grpSpPr>
                <a:xfrm>
                  <a:off x="664691" y="3878642"/>
                  <a:ext cx="666742" cy="404810"/>
                  <a:chOff x="330478" y="3649699"/>
                  <a:chExt cx="266700" cy="161925"/>
                </a:xfrm>
              </p:grpSpPr>
              <p:sp>
                <p:nvSpPr>
                  <p:cNvPr id="1318" name="Freeform: Shape 1317">
                    <a:extLst>
                      <a:ext uri="{FF2B5EF4-FFF2-40B4-BE49-F238E27FC236}">
                        <a16:creationId xmlns:a16="http://schemas.microsoft.com/office/drawing/2014/main" id="{7177F420-EF27-BC8B-67B6-604CC0E09055}"/>
                      </a:ext>
                    </a:extLst>
                  </p:cNvPr>
                  <p:cNvSpPr/>
                  <p:nvPr/>
                </p:nvSpPr>
                <p:spPr>
                  <a:xfrm>
                    <a:off x="330478" y="3649699"/>
                    <a:ext cx="266700" cy="161925"/>
                  </a:xfrm>
                  <a:custGeom>
                    <a:avLst/>
                    <a:gdLst>
                      <a:gd name="connsiteX0" fmla="*/ 258604 w 266700"/>
                      <a:gd name="connsiteY0" fmla="*/ 0 h 161925"/>
                      <a:gd name="connsiteX1" fmla="*/ 266700 w 266700"/>
                      <a:gd name="connsiteY1" fmla="*/ 8096 h 161925"/>
                      <a:gd name="connsiteX2" fmla="*/ 266700 w 266700"/>
                      <a:gd name="connsiteY2" fmla="*/ 153829 h 161925"/>
                      <a:gd name="connsiteX3" fmla="*/ 258604 w 266700"/>
                      <a:gd name="connsiteY3" fmla="*/ 161925 h 161925"/>
                      <a:gd name="connsiteX4" fmla="*/ 8096 w 266700"/>
                      <a:gd name="connsiteY4" fmla="*/ 161925 h 161925"/>
                      <a:gd name="connsiteX5" fmla="*/ 0 w 266700"/>
                      <a:gd name="connsiteY5" fmla="*/ 153829 h 161925"/>
                      <a:gd name="connsiteX6" fmla="*/ 0 w 266700"/>
                      <a:gd name="connsiteY6" fmla="*/ 8096 h 161925"/>
                      <a:gd name="connsiteX7" fmla="*/ 8096 w 266700"/>
                      <a:gd name="connsiteY7" fmla="*/ 0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66700" h="161925">
                        <a:moveTo>
                          <a:pt x="258604" y="0"/>
                        </a:moveTo>
                        <a:cubicBezTo>
                          <a:pt x="263075" y="0"/>
                          <a:pt x="266700" y="3625"/>
                          <a:pt x="266700" y="8096"/>
                        </a:cubicBezTo>
                        <a:lnTo>
                          <a:pt x="266700" y="153829"/>
                        </a:lnTo>
                        <a:cubicBezTo>
                          <a:pt x="266700" y="158300"/>
                          <a:pt x="263075" y="161925"/>
                          <a:pt x="258604" y="161925"/>
                        </a:cubicBezTo>
                        <a:lnTo>
                          <a:pt x="8096" y="161925"/>
                        </a:lnTo>
                        <a:cubicBezTo>
                          <a:pt x="3625" y="161925"/>
                          <a:pt x="0" y="158300"/>
                          <a:pt x="0" y="153829"/>
                        </a:cubicBezTo>
                        <a:lnTo>
                          <a:pt x="0" y="8096"/>
                        </a:lnTo>
                        <a:cubicBezTo>
                          <a:pt x="0" y="3625"/>
                          <a:pt x="3625" y="0"/>
                          <a:pt x="8096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19" name="Freeform: Shape 1318">
                    <a:extLst>
                      <a:ext uri="{FF2B5EF4-FFF2-40B4-BE49-F238E27FC236}">
                        <a16:creationId xmlns:a16="http://schemas.microsoft.com/office/drawing/2014/main" id="{441E3236-0FEE-912D-9D94-2470ED60E0F8}"/>
                      </a:ext>
                    </a:extLst>
                  </p:cNvPr>
                  <p:cNvSpPr/>
                  <p:nvPr/>
                </p:nvSpPr>
                <p:spPr>
                  <a:xfrm>
                    <a:off x="340003" y="3668749"/>
                    <a:ext cx="133350" cy="133350"/>
                  </a:xfrm>
                  <a:custGeom>
                    <a:avLst/>
                    <a:gdLst>
                      <a:gd name="connsiteX0" fmla="*/ 0 w 133350"/>
                      <a:gd name="connsiteY0" fmla="*/ 0 h 133350"/>
                      <a:gd name="connsiteX1" fmla="*/ 133350 w 133350"/>
                      <a:gd name="connsiteY1" fmla="*/ 0 h 133350"/>
                      <a:gd name="connsiteX2" fmla="*/ 133350 w 133350"/>
                      <a:gd name="connsiteY2" fmla="*/ 133350 h 133350"/>
                      <a:gd name="connsiteX3" fmla="*/ 0 w 133350"/>
                      <a:gd name="connsiteY3" fmla="*/ 133350 h 1333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3350" h="133350">
                        <a:moveTo>
                          <a:pt x="0" y="0"/>
                        </a:moveTo>
                        <a:lnTo>
                          <a:pt x="133350" y="0"/>
                        </a:lnTo>
                        <a:lnTo>
                          <a:pt x="133350" y="133350"/>
                        </a:lnTo>
                        <a:lnTo>
                          <a:pt x="0" y="13335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sp>
                <p:nvSpPr>
                  <p:cNvPr id="1320" name="Freeform: Shape 1319">
                    <a:extLst>
                      <a:ext uri="{FF2B5EF4-FFF2-40B4-BE49-F238E27FC236}">
                        <a16:creationId xmlns:a16="http://schemas.microsoft.com/office/drawing/2014/main" id="{8BB90196-2C49-FDA8-395A-9737A9B14FB1}"/>
                      </a:ext>
                    </a:extLst>
                  </p:cNvPr>
                  <p:cNvSpPr/>
                  <p:nvPr/>
                </p:nvSpPr>
                <p:spPr>
                  <a:xfrm>
                    <a:off x="473353" y="378800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1" name="Freeform: Shape 1320">
                    <a:extLst>
                      <a:ext uri="{FF2B5EF4-FFF2-40B4-BE49-F238E27FC236}">
                        <a16:creationId xmlns:a16="http://schemas.microsoft.com/office/drawing/2014/main" id="{640D48BE-586F-5404-87E9-4E51FA2E0249}"/>
                      </a:ext>
                    </a:extLst>
                  </p:cNvPr>
                  <p:cNvSpPr/>
                  <p:nvPr/>
                </p:nvSpPr>
                <p:spPr>
                  <a:xfrm>
                    <a:off x="473353" y="3768952"/>
                    <a:ext cx="104775" cy="9525"/>
                  </a:xfrm>
                  <a:custGeom>
                    <a:avLst/>
                    <a:gdLst>
                      <a:gd name="connsiteX0" fmla="*/ 0 w 104775"/>
                      <a:gd name="connsiteY0" fmla="*/ 0 h 9525"/>
                      <a:gd name="connsiteX1" fmla="*/ 104775 w 104775"/>
                      <a:gd name="connsiteY1" fmla="*/ 0 h 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4775" h="9525">
                        <a:moveTo>
                          <a:pt x="0" y="0"/>
                        </a:moveTo>
                        <a:lnTo>
                          <a:pt x="104775" y="0"/>
                        </a:lnTo>
                      </a:path>
                    </a:pathLst>
                  </a:custGeom>
                  <a:noFill/>
                  <a:ln w="9525" cap="flat">
                    <a:solidFill>
                      <a:schemeClr val="tx1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/>
                  </a:p>
                </p:txBody>
              </p:sp>
              <p:sp>
                <p:nvSpPr>
                  <p:cNvPr id="1322" name="Freeform: Shape 1321">
                    <a:extLst>
                      <a:ext uri="{FF2B5EF4-FFF2-40B4-BE49-F238E27FC236}">
                        <a16:creationId xmlns:a16="http://schemas.microsoft.com/office/drawing/2014/main" id="{1F584DC0-2716-2BEE-3FE6-FF6B48944454}"/>
                      </a:ext>
                    </a:extLst>
                  </p:cNvPr>
                  <p:cNvSpPr/>
                  <p:nvPr/>
                </p:nvSpPr>
                <p:spPr>
                  <a:xfrm>
                    <a:off x="347182" y="3682893"/>
                    <a:ext cx="104222" cy="114634"/>
                  </a:xfrm>
                  <a:custGeom>
                    <a:avLst/>
                    <a:gdLst>
                      <a:gd name="connsiteX0" fmla="*/ 21050 w 415671"/>
                      <a:gd name="connsiteY0" fmla="*/ 436436 h 457200"/>
                      <a:gd name="connsiteX1" fmla="*/ 207836 w 415671"/>
                      <a:gd name="connsiteY1" fmla="*/ 251270 h 457200"/>
                      <a:gd name="connsiteX2" fmla="*/ 303467 w 415671"/>
                      <a:gd name="connsiteY2" fmla="*/ 278701 h 457200"/>
                      <a:gd name="connsiteX3" fmla="*/ 394621 w 415671"/>
                      <a:gd name="connsiteY3" fmla="*/ 436436 h 457200"/>
                      <a:gd name="connsiteX4" fmla="*/ 105918 w 415671"/>
                      <a:gd name="connsiteY4" fmla="*/ 123444 h 457200"/>
                      <a:gd name="connsiteX5" fmla="*/ 207836 w 415671"/>
                      <a:gd name="connsiteY5" fmla="*/ 20765 h 457200"/>
                      <a:gd name="connsiteX6" fmla="*/ 309753 w 415671"/>
                      <a:gd name="connsiteY6" fmla="*/ 123444 h 457200"/>
                      <a:gd name="connsiteX7" fmla="*/ 207836 w 415671"/>
                      <a:gd name="connsiteY7" fmla="*/ 226028 h 457200"/>
                      <a:gd name="connsiteX8" fmla="*/ 105918 w 415671"/>
                      <a:gd name="connsiteY8" fmla="*/ 123444 h 457200"/>
                      <a:gd name="connsiteX9" fmla="*/ 314516 w 415671"/>
                      <a:gd name="connsiteY9" fmla="*/ 261080 h 457200"/>
                      <a:gd name="connsiteX10" fmla="*/ 256699 w 415671"/>
                      <a:gd name="connsiteY10" fmla="*/ 236601 h 457200"/>
                      <a:gd name="connsiteX11" fmla="*/ 330518 w 415671"/>
                      <a:gd name="connsiteY11" fmla="*/ 123444 h 457200"/>
                      <a:gd name="connsiteX12" fmla="*/ 207836 w 415671"/>
                      <a:gd name="connsiteY12" fmla="*/ 0 h 457200"/>
                      <a:gd name="connsiteX13" fmla="*/ 85154 w 415671"/>
                      <a:gd name="connsiteY13" fmla="*/ 123444 h 457200"/>
                      <a:gd name="connsiteX14" fmla="*/ 159163 w 415671"/>
                      <a:gd name="connsiteY14" fmla="*/ 236696 h 457200"/>
                      <a:gd name="connsiteX15" fmla="*/ 0 w 415671"/>
                      <a:gd name="connsiteY15" fmla="*/ 446818 h 457200"/>
                      <a:gd name="connsiteX16" fmla="*/ 10382 w 415671"/>
                      <a:gd name="connsiteY16" fmla="*/ 457200 h 457200"/>
                      <a:gd name="connsiteX17" fmla="*/ 405289 w 415671"/>
                      <a:gd name="connsiteY17" fmla="*/ 457200 h 457200"/>
                      <a:gd name="connsiteX18" fmla="*/ 415671 w 415671"/>
                      <a:gd name="connsiteY18" fmla="*/ 446818 h 457200"/>
                      <a:gd name="connsiteX19" fmla="*/ 314516 w 415671"/>
                      <a:gd name="connsiteY19" fmla="*/ 261080 h 457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</a:cxnLst>
                    <a:rect l="l" t="t" r="r" b="b"/>
                    <a:pathLst>
                      <a:path w="415671" h="457200">
                        <a:moveTo>
                          <a:pt x="21050" y="436436"/>
                        </a:moveTo>
                        <a:cubicBezTo>
                          <a:pt x="26289" y="333375"/>
                          <a:pt x="108013" y="251270"/>
                          <a:pt x="207836" y="251270"/>
                        </a:cubicBezTo>
                        <a:cubicBezTo>
                          <a:pt x="241554" y="251270"/>
                          <a:pt x="274606" y="260699"/>
                          <a:pt x="303467" y="278701"/>
                        </a:cubicBezTo>
                        <a:cubicBezTo>
                          <a:pt x="356997" y="312039"/>
                          <a:pt x="391287" y="371856"/>
                          <a:pt x="394621" y="436436"/>
                        </a:cubicBezTo>
                        <a:close/>
                        <a:moveTo>
                          <a:pt x="105918" y="123444"/>
                        </a:moveTo>
                        <a:cubicBezTo>
                          <a:pt x="105918" y="66866"/>
                          <a:pt x="151638" y="20765"/>
                          <a:pt x="207836" y="20765"/>
                        </a:cubicBezTo>
                        <a:cubicBezTo>
                          <a:pt x="264033" y="20765"/>
                          <a:pt x="309753" y="66866"/>
                          <a:pt x="309753" y="123444"/>
                        </a:cubicBezTo>
                        <a:cubicBezTo>
                          <a:pt x="309753" y="180023"/>
                          <a:pt x="264033" y="226028"/>
                          <a:pt x="207836" y="226028"/>
                        </a:cubicBezTo>
                        <a:cubicBezTo>
                          <a:pt x="151638" y="226028"/>
                          <a:pt x="105918" y="180023"/>
                          <a:pt x="105918" y="123444"/>
                        </a:cubicBezTo>
                        <a:close/>
                        <a:moveTo>
                          <a:pt x="314516" y="261080"/>
                        </a:moveTo>
                        <a:cubicBezTo>
                          <a:pt x="296513" y="249841"/>
                          <a:pt x="276892" y="241649"/>
                          <a:pt x="256699" y="236601"/>
                        </a:cubicBezTo>
                        <a:cubicBezTo>
                          <a:pt x="300038" y="217551"/>
                          <a:pt x="330518" y="174022"/>
                          <a:pt x="330518" y="123444"/>
                        </a:cubicBezTo>
                        <a:cubicBezTo>
                          <a:pt x="330518" y="55340"/>
                          <a:pt x="275463" y="0"/>
                          <a:pt x="207836" y="0"/>
                        </a:cubicBezTo>
                        <a:cubicBezTo>
                          <a:pt x="140208" y="0"/>
                          <a:pt x="85154" y="55340"/>
                          <a:pt x="85154" y="123444"/>
                        </a:cubicBezTo>
                        <a:cubicBezTo>
                          <a:pt x="85154" y="174117"/>
                          <a:pt x="115634" y="217646"/>
                          <a:pt x="159163" y="236696"/>
                        </a:cubicBezTo>
                        <a:cubicBezTo>
                          <a:pt x="68009" y="259556"/>
                          <a:pt x="0" y="344996"/>
                          <a:pt x="0" y="446818"/>
                        </a:cubicBezTo>
                        <a:cubicBezTo>
                          <a:pt x="0" y="452533"/>
                          <a:pt x="4667" y="457200"/>
                          <a:pt x="10382" y="457200"/>
                        </a:cubicBezTo>
                        <a:lnTo>
                          <a:pt x="405289" y="457200"/>
                        </a:lnTo>
                        <a:cubicBezTo>
                          <a:pt x="411004" y="457200"/>
                          <a:pt x="415671" y="452533"/>
                          <a:pt x="415671" y="446818"/>
                        </a:cubicBezTo>
                        <a:cubicBezTo>
                          <a:pt x="415671" y="371189"/>
                          <a:pt x="376904" y="299942"/>
                          <a:pt x="314516" y="26108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 sz="1400" dirty="0"/>
                  </a:p>
                </p:txBody>
              </p:sp>
              <p:pic>
                <p:nvPicPr>
                  <p:cNvPr id="1323" name="Graphic 1322" descr="Car outline">
                    <a:extLst>
                      <a:ext uri="{FF2B5EF4-FFF2-40B4-BE49-F238E27FC236}">
                        <a16:creationId xmlns:a16="http://schemas.microsoft.com/office/drawing/2014/main" id="{2CAA0850-7B1A-7483-8460-8D7291399B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96DAC541-7B7A-43D3-8B79-37D633B846F1}">
                        <asvg:svgBlip xmlns:asvg="http://schemas.microsoft.com/office/drawing/2016/SVG/main" r:embed="rId1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8583" y="3651752"/>
                    <a:ext cx="126725" cy="126725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315" name="TextBox 1314">
                <a:extLst>
                  <a:ext uri="{FF2B5EF4-FFF2-40B4-BE49-F238E27FC236}">
                    <a16:creationId xmlns:a16="http://schemas.microsoft.com/office/drawing/2014/main" id="{7C3DBCBF-AAE3-EB73-DD7E-6AEDA6D37AA3}"/>
                  </a:ext>
                </a:extLst>
              </p:cNvPr>
              <p:cNvSpPr txBox="1"/>
              <p:nvPr/>
            </p:nvSpPr>
            <p:spPr>
              <a:xfrm>
                <a:off x="122177" y="3161685"/>
                <a:ext cx="16437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/>
                  <a:t>Driving License</a:t>
                </a:r>
              </a:p>
            </p:txBody>
          </p:sp>
        </p:grpSp>
        <p:grpSp>
          <p:nvGrpSpPr>
            <p:cNvPr id="1302" name="Group 1301">
              <a:extLst>
                <a:ext uri="{FF2B5EF4-FFF2-40B4-BE49-F238E27FC236}">
                  <a16:creationId xmlns:a16="http://schemas.microsoft.com/office/drawing/2014/main" id="{636CD085-449F-0B95-6870-0CE481F046EB}"/>
                </a:ext>
              </a:extLst>
            </p:cNvPr>
            <p:cNvGrpSpPr/>
            <p:nvPr/>
          </p:nvGrpSpPr>
          <p:grpSpPr>
            <a:xfrm>
              <a:off x="2939955" y="1552472"/>
              <a:ext cx="1037374" cy="1206553"/>
              <a:chOff x="2890821" y="1265828"/>
              <a:chExt cx="1059212" cy="1220237"/>
            </a:xfrm>
          </p:grpSpPr>
          <p:grpSp>
            <p:nvGrpSpPr>
              <p:cNvPr id="1303" name="Group 1302">
                <a:extLst>
                  <a:ext uri="{FF2B5EF4-FFF2-40B4-BE49-F238E27FC236}">
                    <a16:creationId xmlns:a16="http://schemas.microsoft.com/office/drawing/2014/main" id="{8AD33532-56D7-7F27-F0C2-E22D6EDAD245}"/>
                  </a:ext>
                </a:extLst>
              </p:cNvPr>
              <p:cNvGrpSpPr/>
              <p:nvPr/>
            </p:nvGrpSpPr>
            <p:grpSpPr>
              <a:xfrm>
                <a:off x="2941520" y="1265828"/>
                <a:ext cx="945908" cy="1031978"/>
                <a:chOff x="5778070" y="-227746"/>
                <a:chExt cx="979872" cy="1031978"/>
              </a:xfrm>
            </p:grpSpPr>
            <p:grpSp>
              <p:nvGrpSpPr>
                <p:cNvPr id="1305" name="Group 1304">
                  <a:extLst>
                    <a:ext uri="{FF2B5EF4-FFF2-40B4-BE49-F238E27FC236}">
                      <a16:creationId xmlns:a16="http://schemas.microsoft.com/office/drawing/2014/main" id="{559EE3D2-521A-F681-9704-387554181D46}"/>
                    </a:ext>
                  </a:extLst>
                </p:cNvPr>
                <p:cNvGrpSpPr/>
                <p:nvPr/>
              </p:nvGrpSpPr>
              <p:grpSpPr>
                <a:xfrm>
                  <a:off x="5778070" y="-227746"/>
                  <a:ext cx="914400" cy="1031978"/>
                  <a:chOff x="2553799" y="3489523"/>
                  <a:chExt cx="914400" cy="1031978"/>
                </a:xfrm>
              </p:grpSpPr>
              <p:pic>
                <p:nvPicPr>
                  <p:cNvPr id="1312" name="Graphic 1311" descr="Court outline">
                    <a:extLst>
                      <a:ext uri="{FF2B5EF4-FFF2-40B4-BE49-F238E27FC236}">
                        <a16:creationId xmlns:a16="http://schemas.microsoft.com/office/drawing/2014/main" id="{0039B551-EDA1-358F-560C-4018206CCC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6"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553799" y="3607101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313" name="Graphic 1312" descr="Flag outline">
                    <a:extLst>
                      <a:ext uri="{FF2B5EF4-FFF2-40B4-BE49-F238E27FC236}">
                        <a16:creationId xmlns:a16="http://schemas.microsoft.com/office/drawing/2014/main" id="{5E773B77-911A-EDFC-34C0-EE2C8C32E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46680" y="3489523"/>
                    <a:ext cx="269966" cy="269966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06" name="Group 1305">
                  <a:extLst>
                    <a:ext uri="{FF2B5EF4-FFF2-40B4-BE49-F238E27FC236}">
                      <a16:creationId xmlns:a16="http://schemas.microsoft.com/office/drawing/2014/main" id="{8F364186-59B7-D820-1A6D-60F0EF4E6236}"/>
                    </a:ext>
                  </a:extLst>
                </p:cNvPr>
                <p:cNvGrpSpPr/>
                <p:nvPr/>
              </p:nvGrpSpPr>
              <p:grpSpPr>
                <a:xfrm>
                  <a:off x="6305934" y="282544"/>
                  <a:ext cx="452008" cy="493208"/>
                  <a:chOff x="6339651" y="270239"/>
                  <a:chExt cx="452008" cy="493208"/>
                </a:xfrm>
              </p:grpSpPr>
              <p:sp>
                <p:nvSpPr>
                  <p:cNvPr id="1307" name="Oval 1306">
                    <a:extLst>
                      <a:ext uri="{FF2B5EF4-FFF2-40B4-BE49-F238E27FC236}">
                        <a16:creationId xmlns:a16="http://schemas.microsoft.com/office/drawing/2014/main" id="{6A181503-9D35-C5AB-482C-EF53870F9499}"/>
                      </a:ext>
                    </a:extLst>
                  </p:cNvPr>
                  <p:cNvSpPr/>
                  <p:nvPr/>
                </p:nvSpPr>
                <p:spPr>
                  <a:xfrm>
                    <a:off x="6462753" y="559096"/>
                    <a:ext cx="214312" cy="14940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308" name="Group 1307">
                    <a:extLst>
                      <a:ext uri="{FF2B5EF4-FFF2-40B4-BE49-F238E27FC236}">
                        <a16:creationId xmlns:a16="http://schemas.microsoft.com/office/drawing/2014/main" id="{431E5F1F-7D06-7B5C-2ADF-D0E58F0682D5}"/>
                      </a:ext>
                    </a:extLst>
                  </p:cNvPr>
                  <p:cNvGrpSpPr/>
                  <p:nvPr/>
                </p:nvGrpSpPr>
                <p:grpSpPr>
                  <a:xfrm>
                    <a:off x="6339651" y="270239"/>
                    <a:ext cx="452008" cy="493208"/>
                    <a:chOff x="3664941" y="1702205"/>
                    <a:chExt cx="452008" cy="493208"/>
                  </a:xfrm>
                </p:grpSpPr>
                <p:sp>
                  <p:nvSpPr>
                    <p:cNvPr id="1309" name="Freeform: Shape 1308">
                      <a:extLst>
                        <a:ext uri="{FF2B5EF4-FFF2-40B4-BE49-F238E27FC236}">
                          <a16:creationId xmlns:a16="http://schemas.microsoft.com/office/drawing/2014/main" id="{B685A665-483B-A3E8-6575-5C64FE7FF1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91724" y="1727704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142875" cap="flat">
                      <a:solidFill>
                        <a:schemeClr val="bg1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0" name="Freeform: Shape 1309">
                      <a:extLst>
                        <a:ext uri="{FF2B5EF4-FFF2-40B4-BE49-F238E27FC236}">
                          <a16:creationId xmlns:a16="http://schemas.microsoft.com/office/drawing/2014/main" id="{E4D48EA3-851F-79F7-02C4-0419E0D812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64941" y="1702205"/>
                      <a:ext cx="425225" cy="467709"/>
                    </a:xfrm>
                    <a:custGeom>
                      <a:avLst/>
                      <a:gdLst>
                        <a:gd name="connsiteX0" fmla="*/ 21050 w 415671"/>
                        <a:gd name="connsiteY0" fmla="*/ 436436 h 457200"/>
                        <a:gd name="connsiteX1" fmla="*/ 207836 w 415671"/>
                        <a:gd name="connsiteY1" fmla="*/ 251270 h 457200"/>
                        <a:gd name="connsiteX2" fmla="*/ 303467 w 415671"/>
                        <a:gd name="connsiteY2" fmla="*/ 278701 h 457200"/>
                        <a:gd name="connsiteX3" fmla="*/ 394621 w 415671"/>
                        <a:gd name="connsiteY3" fmla="*/ 436436 h 457200"/>
                        <a:gd name="connsiteX4" fmla="*/ 105918 w 415671"/>
                        <a:gd name="connsiteY4" fmla="*/ 123444 h 457200"/>
                        <a:gd name="connsiteX5" fmla="*/ 207836 w 415671"/>
                        <a:gd name="connsiteY5" fmla="*/ 20765 h 457200"/>
                        <a:gd name="connsiteX6" fmla="*/ 309753 w 415671"/>
                        <a:gd name="connsiteY6" fmla="*/ 123444 h 457200"/>
                        <a:gd name="connsiteX7" fmla="*/ 207836 w 415671"/>
                        <a:gd name="connsiteY7" fmla="*/ 226028 h 457200"/>
                        <a:gd name="connsiteX8" fmla="*/ 105918 w 415671"/>
                        <a:gd name="connsiteY8" fmla="*/ 123444 h 457200"/>
                        <a:gd name="connsiteX9" fmla="*/ 314516 w 415671"/>
                        <a:gd name="connsiteY9" fmla="*/ 261080 h 457200"/>
                        <a:gd name="connsiteX10" fmla="*/ 256699 w 415671"/>
                        <a:gd name="connsiteY10" fmla="*/ 236601 h 457200"/>
                        <a:gd name="connsiteX11" fmla="*/ 330518 w 415671"/>
                        <a:gd name="connsiteY11" fmla="*/ 123444 h 457200"/>
                        <a:gd name="connsiteX12" fmla="*/ 207836 w 415671"/>
                        <a:gd name="connsiteY12" fmla="*/ 0 h 457200"/>
                        <a:gd name="connsiteX13" fmla="*/ 85154 w 415671"/>
                        <a:gd name="connsiteY13" fmla="*/ 123444 h 457200"/>
                        <a:gd name="connsiteX14" fmla="*/ 159163 w 415671"/>
                        <a:gd name="connsiteY14" fmla="*/ 236696 h 457200"/>
                        <a:gd name="connsiteX15" fmla="*/ 0 w 415671"/>
                        <a:gd name="connsiteY15" fmla="*/ 446818 h 457200"/>
                        <a:gd name="connsiteX16" fmla="*/ 10382 w 415671"/>
                        <a:gd name="connsiteY16" fmla="*/ 457200 h 457200"/>
                        <a:gd name="connsiteX17" fmla="*/ 405289 w 415671"/>
                        <a:gd name="connsiteY17" fmla="*/ 457200 h 457200"/>
                        <a:gd name="connsiteX18" fmla="*/ 415671 w 415671"/>
                        <a:gd name="connsiteY18" fmla="*/ 446818 h 457200"/>
                        <a:gd name="connsiteX19" fmla="*/ 314516 w 415671"/>
                        <a:gd name="connsiteY19" fmla="*/ 261080 h 45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</a:cxnLst>
                      <a:rect l="l" t="t" r="r" b="b"/>
                      <a:pathLst>
                        <a:path w="415671" h="457200">
                          <a:moveTo>
                            <a:pt x="21050" y="436436"/>
                          </a:moveTo>
                          <a:cubicBezTo>
                            <a:pt x="26289" y="333375"/>
                            <a:pt x="108013" y="251270"/>
                            <a:pt x="207836" y="251270"/>
                          </a:cubicBezTo>
                          <a:cubicBezTo>
                            <a:pt x="241554" y="251270"/>
                            <a:pt x="274606" y="260699"/>
                            <a:pt x="303467" y="278701"/>
                          </a:cubicBezTo>
                          <a:cubicBezTo>
                            <a:pt x="356997" y="312039"/>
                            <a:pt x="391287" y="371856"/>
                            <a:pt x="394621" y="436436"/>
                          </a:cubicBezTo>
                          <a:close/>
                          <a:moveTo>
                            <a:pt x="105918" y="123444"/>
                          </a:moveTo>
                          <a:cubicBezTo>
                            <a:pt x="105918" y="66866"/>
                            <a:pt x="151638" y="20765"/>
                            <a:pt x="207836" y="20765"/>
                          </a:cubicBezTo>
                          <a:cubicBezTo>
                            <a:pt x="264033" y="20765"/>
                            <a:pt x="309753" y="66866"/>
                            <a:pt x="309753" y="123444"/>
                          </a:cubicBezTo>
                          <a:cubicBezTo>
                            <a:pt x="309753" y="180023"/>
                            <a:pt x="264033" y="226028"/>
                            <a:pt x="207836" y="226028"/>
                          </a:cubicBezTo>
                          <a:cubicBezTo>
                            <a:pt x="151638" y="226028"/>
                            <a:pt x="105918" y="180023"/>
                            <a:pt x="105918" y="123444"/>
                          </a:cubicBezTo>
                          <a:close/>
                          <a:moveTo>
                            <a:pt x="314516" y="261080"/>
                          </a:moveTo>
                          <a:cubicBezTo>
                            <a:pt x="296513" y="249841"/>
                            <a:pt x="276892" y="241649"/>
                            <a:pt x="256699" y="236601"/>
                          </a:cubicBezTo>
                          <a:cubicBezTo>
                            <a:pt x="300038" y="217551"/>
                            <a:pt x="330518" y="174022"/>
                            <a:pt x="330518" y="123444"/>
                          </a:cubicBezTo>
                          <a:cubicBezTo>
                            <a:pt x="330518" y="55340"/>
                            <a:pt x="275463" y="0"/>
                            <a:pt x="207836" y="0"/>
                          </a:cubicBezTo>
                          <a:cubicBezTo>
                            <a:pt x="140208" y="0"/>
                            <a:pt x="85154" y="55340"/>
                            <a:pt x="85154" y="123444"/>
                          </a:cubicBezTo>
                          <a:cubicBezTo>
                            <a:pt x="85154" y="174117"/>
                            <a:pt x="115634" y="217646"/>
                            <a:pt x="159163" y="236696"/>
                          </a:cubicBezTo>
                          <a:cubicBezTo>
                            <a:pt x="68009" y="259556"/>
                            <a:pt x="0" y="344996"/>
                            <a:pt x="0" y="446818"/>
                          </a:cubicBezTo>
                          <a:cubicBezTo>
                            <a:pt x="0" y="452533"/>
                            <a:pt x="4667" y="457200"/>
                            <a:pt x="10382" y="457200"/>
                          </a:cubicBezTo>
                          <a:lnTo>
                            <a:pt x="405289" y="457200"/>
                          </a:lnTo>
                          <a:cubicBezTo>
                            <a:pt x="411004" y="457200"/>
                            <a:pt x="415671" y="452533"/>
                            <a:pt x="415671" y="446818"/>
                          </a:cubicBezTo>
                          <a:cubicBezTo>
                            <a:pt x="415671" y="371189"/>
                            <a:pt x="376904" y="299942"/>
                            <a:pt x="314516" y="261080"/>
                          </a:cubicBezTo>
                          <a:close/>
                        </a:path>
                      </a:pathLst>
                    </a:custGeom>
                    <a:solidFill>
                      <a:schemeClr val="tx1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/>
                    </a:p>
                  </p:txBody>
                </p:sp>
                <p:sp>
                  <p:nvSpPr>
                    <p:cNvPr id="1311" name="Freeform: Shape 1310">
                      <a:extLst>
                        <a:ext uri="{FF2B5EF4-FFF2-40B4-BE49-F238E27FC236}">
                          <a16:creationId xmlns:a16="http://schemas.microsoft.com/office/drawing/2014/main" id="{EFE9A8CF-1968-678F-8DCC-EE85D9A53D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84435" y="1882123"/>
                      <a:ext cx="194096" cy="225201"/>
                    </a:xfrm>
                    <a:custGeom>
                      <a:avLst/>
                      <a:gdLst>
                        <a:gd name="connsiteX0" fmla="*/ 643 w 189735"/>
                        <a:gd name="connsiteY0" fmla="*/ 150919 h 220141"/>
                        <a:gd name="connsiteX1" fmla="*/ 14645 w 189735"/>
                        <a:gd name="connsiteY1" fmla="*/ 133488 h 220141"/>
                        <a:gd name="connsiteX2" fmla="*/ 36743 w 189735"/>
                        <a:gd name="connsiteY2" fmla="*/ 132535 h 220141"/>
                        <a:gd name="connsiteX3" fmla="*/ 59317 w 189735"/>
                        <a:gd name="connsiteY3" fmla="*/ 157777 h 220141"/>
                        <a:gd name="connsiteX4" fmla="*/ 142851 w 189735"/>
                        <a:gd name="connsiteY4" fmla="*/ 10711 h 220141"/>
                        <a:gd name="connsiteX5" fmla="*/ 181142 w 189735"/>
                        <a:gd name="connsiteY5" fmla="*/ 1567 h 220141"/>
                        <a:gd name="connsiteX6" fmla="*/ 188952 w 189735"/>
                        <a:gd name="connsiteY6" fmla="*/ 7663 h 220141"/>
                        <a:gd name="connsiteX7" fmla="*/ 187904 w 189735"/>
                        <a:gd name="connsiteY7" fmla="*/ 17664 h 220141"/>
                        <a:gd name="connsiteX8" fmla="*/ 79605 w 189735"/>
                        <a:gd name="connsiteY8" fmla="*/ 215212 h 220141"/>
                        <a:gd name="connsiteX9" fmla="*/ 39029 w 189735"/>
                        <a:gd name="connsiteY9" fmla="*/ 215212 h 220141"/>
                        <a:gd name="connsiteX10" fmla="*/ 643 w 189735"/>
                        <a:gd name="connsiteY10" fmla="*/ 155491 h 220141"/>
                        <a:gd name="connsiteX11" fmla="*/ 643 w 189735"/>
                        <a:gd name="connsiteY11" fmla="*/ 150919 h 2201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89735" h="220141">
                          <a:moveTo>
                            <a:pt x="643" y="150919"/>
                          </a:moveTo>
                          <a:cubicBezTo>
                            <a:pt x="2643" y="143394"/>
                            <a:pt x="7691" y="137012"/>
                            <a:pt x="14645" y="133488"/>
                          </a:cubicBezTo>
                          <a:cubicBezTo>
                            <a:pt x="21503" y="129964"/>
                            <a:pt x="29599" y="129678"/>
                            <a:pt x="36743" y="132535"/>
                          </a:cubicBezTo>
                          <a:cubicBezTo>
                            <a:pt x="47125" y="137679"/>
                            <a:pt x="55221" y="146728"/>
                            <a:pt x="59317" y="157777"/>
                          </a:cubicBezTo>
                          <a:cubicBezTo>
                            <a:pt x="77891" y="103960"/>
                            <a:pt x="106275" y="54049"/>
                            <a:pt x="142851" y="10711"/>
                          </a:cubicBezTo>
                          <a:cubicBezTo>
                            <a:pt x="153138" y="1186"/>
                            <a:pt x="167712" y="-2339"/>
                            <a:pt x="181142" y="1567"/>
                          </a:cubicBezTo>
                          <a:cubicBezTo>
                            <a:pt x="184666" y="2138"/>
                            <a:pt x="187523" y="4424"/>
                            <a:pt x="188952" y="7663"/>
                          </a:cubicBezTo>
                          <a:cubicBezTo>
                            <a:pt x="190286" y="10996"/>
                            <a:pt x="189905" y="14711"/>
                            <a:pt x="187904" y="17664"/>
                          </a:cubicBezTo>
                          <a:cubicBezTo>
                            <a:pt x="138279" y="74814"/>
                            <a:pt x="101322" y="142156"/>
                            <a:pt x="79605" y="215212"/>
                          </a:cubicBezTo>
                          <a:cubicBezTo>
                            <a:pt x="66842" y="221785"/>
                            <a:pt x="51792" y="221785"/>
                            <a:pt x="39029" y="215212"/>
                          </a:cubicBezTo>
                          <a:cubicBezTo>
                            <a:pt x="29313" y="193400"/>
                            <a:pt x="16359" y="173302"/>
                            <a:pt x="643" y="155491"/>
                          </a:cubicBezTo>
                          <a:cubicBezTo>
                            <a:pt x="-214" y="154062"/>
                            <a:pt x="-214" y="152347"/>
                            <a:pt x="643" y="150919"/>
                          </a:cubicBezTo>
                          <a:close/>
                        </a:path>
                      </a:pathLst>
                    </a:custGeom>
                    <a:solidFill>
                      <a:schemeClr val="accent5">
                        <a:lumMod val="75000"/>
                      </a:schemeClr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14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304" name="TextBox 1303">
                <a:extLst>
                  <a:ext uri="{FF2B5EF4-FFF2-40B4-BE49-F238E27FC236}">
                    <a16:creationId xmlns:a16="http://schemas.microsoft.com/office/drawing/2014/main" id="{0980EDB6-FD2E-BBA8-3388-54CA3CADAFB9}"/>
                  </a:ext>
                </a:extLst>
              </p:cNvPr>
              <p:cNvSpPr txBox="1"/>
              <p:nvPr/>
            </p:nvSpPr>
            <p:spPr>
              <a:xfrm>
                <a:off x="2890821" y="2178288"/>
                <a:ext cx="1059212" cy="307777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algn="ctr"/>
                <a:r>
                  <a:rPr lang="en-GB" sz="1400" dirty="0"/>
                  <a:t>National eID</a:t>
                </a:r>
              </a:p>
            </p:txBody>
          </p:sp>
        </p:grpSp>
      </p:grpSp>
      <p:grpSp>
        <p:nvGrpSpPr>
          <p:cNvPr id="1327" name="Group 1326">
            <a:extLst>
              <a:ext uri="{FF2B5EF4-FFF2-40B4-BE49-F238E27FC236}">
                <a16:creationId xmlns:a16="http://schemas.microsoft.com/office/drawing/2014/main" id="{3C0DEA22-EF73-6A33-E477-1BA620DFB867}"/>
              </a:ext>
            </a:extLst>
          </p:cNvPr>
          <p:cNvGrpSpPr/>
          <p:nvPr/>
        </p:nvGrpSpPr>
        <p:grpSpPr>
          <a:xfrm>
            <a:off x="6386032" y="1622388"/>
            <a:ext cx="1071245" cy="1075241"/>
            <a:chOff x="9578715" y="3292356"/>
            <a:chExt cx="914400" cy="1084207"/>
          </a:xfrm>
        </p:grpSpPr>
        <p:pic>
          <p:nvPicPr>
            <p:cNvPr id="1328" name="Graphic 1327" descr="Police female outline">
              <a:extLst>
                <a:ext uri="{FF2B5EF4-FFF2-40B4-BE49-F238E27FC236}">
                  <a16:creationId xmlns:a16="http://schemas.microsoft.com/office/drawing/2014/main" id="{54F53E6E-EC63-764C-5CAF-8DF3A2F5E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578715" y="3292356"/>
              <a:ext cx="914400" cy="914400"/>
            </a:xfrm>
            <a:prstGeom prst="rect">
              <a:avLst/>
            </a:prstGeom>
          </p:spPr>
        </p:pic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915B95-7947-413A-1692-6EDD35E00472}"/>
                </a:ext>
              </a:extLst>
            </p:cNvPr>
            <p:cNvSpPr txBox="1"/>
            <p:nvPr/>
          </p:nvSpPr>
          <p:spPr>
            <a:xfrm>
              <a:off x="9648226" y="4068786"/>
              <a:ext cx="7753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1400" dirty="0"/>
                <a:t>Officials</a:t>
              </a:r>
            </a:p>
          </p:txBody>
        </p:sp>
      </p:grpSp>
      <p:sp>
        <p:nvSpPr>
          <p:cNvPr id="1330" name="Rectangle: Rounded Corners 1329">
            <a:extLst>
              <a:ext uri="{FF2B5EF4-FFF2-40B4-BE49-F238E27FC236}">
                <a16:creationId xmlns:a16="http://schemas.microsoft.com/office/drawing/2014/main" id="{5F89B6B6-EA25-8FBB-E4D0-39DC3BBF0648}"/>
              </a:ext>
            </a:extLst>
          </p:cNvPr>
          <p:cNvSpPr/>
          <p:nvPr/>
        </p:nvSpPr>
        <p:spPr>
          <a:xfrm>
            <a:off x="5328000" y="1231200"/>
            <a:ext cx="3509429" cy="5622013"/>
          </a:xfrm>
          <a:prstGeom prst="roundRect">
            <a:avLst>
              <a:gd name="adj" fmla="val 1925"/>
            </a:avLst>
          </a:prstGeom>
          <a:noFill/>
          <a:ln>
            <a:solidFill>
              <a:schemeClr val="bg1">
                <a:lumMod val="50000"/>
                <a:alpha val="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Relying Parties (examples)</a:t>
            </a:r>
          </a:p>
        </p:txBody>
      </p:sp>
      <p:sp>
        <p:nvSpPr>
          <p:cNvPr id="1351" name="Rectangle 1350">
            <a:extLst>
              <a:ext uri="{FF2B5EF4-FFF2-40B4-BE49-F238E27FC236}">
                <a16:creationId xmlns:a16="http://schemas.microsoft.com/office/drawing/2014/main" id="{2B35C5E0-2C88-0B9A-6A6C-156BFE1DF03F}"/>
              </a:ext>
            </a:extLst>
          </p:cNvPr>
          <p:cNvSpPr/>
          <p:nvPr/>
        </p:nvSpPr>
        <p:spPr>
          <a:xfrm>
            <a:off x="9000000" y="5328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1B380A58-E4A2-2594-5C8C-562FE1EEE4D7}"/>
              </a:ext>
            </a:extLst>
          </p:cNvPr>
          <p:cNvSpPr/>
          <p:nvPr/>
        </p:nvSpPr>
        <p:spPr>
          <a:xfrm>
            <a:off x="9000000" y="5796000"/>
            <a:ext cx="2880000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 descr="Lock with solid fill">
            <a:extLst>
              <a:ext uri="{FF2B5EF4-FFF2-40B4-BE49-F238E27FC236}">
                <a16:creationId xmlns:a16="http://schemas.microsoft.com/office/drawing/2014/main" id="{054BF82C-1E61-83F1-43F3-9549A4CDAE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33541" y="6030842"/>
            <a:ext cx="375088" cy="37508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3B7E2D5A-2007-9B43-E673-2A59C3A234EE}"/>
              </a:ext>
            </a:extLst>
          </p:cNvPr>
          <p:cNvGrpSpPr/>
          <p:nvPr/>
        </p:nvGrpSpPr>
        <p:grpSpPr>
          <a:xfrm>
            <a:off x="1050032" y="1625641"/>
            <a:ext cx="4621722" cy="2240393"/>
            <a:chOff x="1050032" y="1625641"/>
            <a:chExt cx="4621722" cy="22403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825F13-24D6-5E33-74B7-DBCAB935C52D}"/>
                </a:ext>
              </a:extLst>
            </p:cNvPr>
            <p:cNvSpPr txBox="1"/>
            <p:nvPr/>
          </p:nvSpPr>
          <p:spPr>
            <a:xfrm>
              <a:off x="3147242" y="1625641"/>
              <a:ext cx="2524512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a) Authenticate wallet &amp; holder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15E04A60-F3FD-28A2-13AA-766CDA4A5614}"/>
                </a:ext>
              </a:extLst>
            </p:cNvPr>
            <p:cNvSpPr/>
            <p:nvPr/>
          </p:nvSpPr>
          <p:spPr>
            <a:xfrm>
              <a:off x="1050032" y="2019867"/>
              <a:ext cx="3641434" cy="1846167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EFC51C-D76A-B5A4-C0AA-0ECDFFD7BC0D}"/>
              </a:ext>
            </a:extLst>
          </p:cNvPr>
          <p:cNvGrpSpPr/>
          <p:nvPr/>
        </p:nvGrpSpPr>
        <p:grpSpPr>
          <a:xfrm>
            <a:off x="1294611" y="2323749"/>
            <a:ext cx="3115496" cy="1160235"/>
            <a:chOff x="1294611" y="2323749"/>
            <a:chExt cx="3115496" cy="11602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767ED7-59B3-17FE-6B18-7A9B7831D49B}"/>
                </a:ext>
              </a:extLst>
            </p:cNvPr>
            <p:cNvSpPr txBox="1"/>
            <p:nvPr/>
          </p:nvSpPr>
          <p:spPr>
            <a:xfrm>
              <a:off x="2725361" y="2598103"/>
              <a:ext cx="1056835" cy="307777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/>
              <a:r>
                <a:rPr lang="en-GB" sz="1400" dirty="0"/>
                <a:t>b) Obtain PID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F1E43228-1528-C57C-E192-68A3043D3BB5}"/>
                </a:ext>
              </a:extLst>
            </p:cNvPr>
            <p:cNvSpPr/>
            <p:nvPr/>
          </p:nvSpPr>
          <p:spPr>
            <a:xfrm>
              <a:off x="1294611" y="2323749"/>
              <a:ext cx="3115496" cy="1160235"/>
            </a:xfrm>
            <a:prstGeom prst="arc">
              <a:avLst>
                <a:gd name="adj1" fmla="val 16200000"/>
                <a:gd name="adj2" fmla="val 138264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BD131FC-4720-05BC-6F3E-762ED1C716BC}"/>
              </a:ext>
            </a:extLst>
          </p:cNvPr>
          <p:cNvSpPr txBox="1"/>
          <p:nvPr/>
        </p:nvSpPr>
        <p:spPr>
          <a:xfrm>
            <a:off x="2709494" y="2796502"/>
            <a:ext cx="1438801" cy="523220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inc. verified wallet attestations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1FBEDC-AA6A-3CD6-8A02-14CEB672578B}"/>
              </a:ext>
            </a:extLst>
          </p:cNvPr>
          <p:cNvSpPr txBox="1"/>
          <p:nvPr/>
        </p:nvSpPr>
        <p:spPr>
          <a:xfrm>
            <a:off x="3806476" y="1828813"/>
            <a:ext cx="1865277" cy="307777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/>
            <a:r>
              <a:rPr lang="en-GB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with wallet attestations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81FDFF-B62E-E61B-6ADE-8357419529D2}"/>
              </a:ext>
            </a:extLst>
          </p:cNvPr>
          <p:cNvGrpSpPr/>
          <p:nvPr/>
        </p:nvGrpSpPr>
        <p:grpSpPr>
          <a:xfrm>
            <a:off x="1080000" y="3400049"/>
            <a:ext cx="3446048" cy="1802615"/>
            <a:chOff x="1080000" y="3400049"/>
            <a:chExt cx="3446048" cy="1802615"/>
          </a:xfrm>
        </p:grpSpPr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9546A42-C497-CBBA-5D13-C474C396182A}"/>
                </a:ext>
              </a:extLst>
            </p:cNvPr>
            <p:cNvSpPr/>
            <p:nvPr/>
          </p:nvSpPr>
          <p:spPr>
            <a:xfrm>
              <a:off x="2421847" y="3400049"/>
              <a:ext cx="2104201" cy="1175502"/>
            </a:xfrm>
            <a:prstGeom prst="arc">
              <a:avLst>
                <a:gd name="adj1" fmla="val 4720044"/>
                <a:gd name="adj2" fmla="val 10968779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C42314-343F-CEE3-DDF8-D1C89317ECA2}"/>
                </a:ext>
              </a:extLst>
            </p:cNvPr>
            <p:cNvSpPr txBox="1"/>
            <p:nvPr/>
          </p:nvSpPr>
          <p:spPr>
            <a:xfrm>
              <a:off x="1080000" y="4464000"/>
              <a:ext cx="2238316" cy="73866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en-GB" sz="1400" dirty="0"/>
                <a:t>c) Use PID (eID means)</a:t>
              </a:r>
              <a:br>
                <a:rPr lang="en-GB" sz="1400" dirty="0"/>
              </a:br>
              <a:r>
                <a:rPr lang="en-GB" sz="1400" dirty="0"/>
                <a:t>to obtain attestations of attributes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D650D09-B28E-B6DC-D42C-ACCBD501C7BF}"/>
              </a:ext>
            </a:extLst>
          </p:cNvPr>
          <p:cNvSpPr txBox="1"/>
          <p:nvPr/>
        </p:nvSpPr>
        <p:spPr>
          <a:xfrm>
            <a:off x="1080000" y="4716469"/>
            <a:ext cx="2585360" cy="477054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36000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with verified wallet attestations</a:t>
            </a:r>
          </a:p>
          <a:p>
            <a:r>
              <a:rPr lang="en-GB" sz="1400" dirty="0"/>
              <a:t>to obtain attestations of attributes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2F3644-D497-4BB9-C0BE-43C0262806CF}"/>
              </a:ext>
            </a:extLst>
          </p:cNvPr>
          <p:cNvGrpSpPr/>
          <p:nvPr/>
        </p:nvGrpSpPr>
        <p:grpSpPr>
          <a:xfrm>
            <a:off x="4492948" y="1122874"/>
            <a:ext cx="4018006" cy="3556179"/>
            <a:chOff x="4492948" y="1122874"/>
            <a:chExt cx="4018006" cy="355617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999477AE-7F8F-73FA-4862-162E5037B5D6}"/>
                </a:ext>
              </a:extLst>
            </p:cNvPr>
            <p:cNvSpPr/>
            <p:nvPr/>
          </p:nvSpPr>
          <p:spPr>
            <a:xfrm>
              <a:off x="4492948" y="1122874"/>
              <a:ext cx="2382158" cy="3391501"/>
            </a:xfrm>
            <a:prstGeom prst="arc">
              <a:avLst>
                <a:gd name="adj1" fmla="val 21515035"/>
                <a:gd name="adj2" fmla="val 5676142"/>
              </a:avLst>
            </a:prstGeom>
            <a:ln w="889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4B6E2E7-936D-8E53-7E75-BEBFE44A825B}"/>
                </a:ext>
              </a:extLst>
            </p:cNvPr>
            <p:cNvSpPr txBox="1"/>
            <p:nvPr/>
          </p:nvSpPr>
          <p:spPr>
            <a:xfrm>
              <a:off x="6683262" y="3940389"/>
              <a:ext cx="1827692" cy="73866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en-GB" sz="1400" dirty="0"/>
                <a:t>d) Present</a:t>
              </a:r>
            </a:p>
            <a:p>
              <a:r>
                <a:rPr lang="en-GB" sz="1400" dirty="0"/>
                <a:t>attestation of attributes</a:t>
              </a:r>
            </a:p>
            <a:p>
              <a:r>
                <a:rPr lang="en-GB" sz="1400" dirty="0"/>
                <a:t>to relying party</a:t>
              </a: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0AA8039-2787-0A03-3F03-5ED82E2838FA}"/>
              </a:ext>
            </a:extLst>
          </p:cNvPr>
          <p:cNvSpPr/>
          <p:nvPr/>
        </p:nvSpPr>
        <p:spPr>
          <a:xfrm>
            <a:off x="3806476" y="4341714"/>
            <a:ext cx="1481197" cy="25200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Driving Licence</a:t>
            </a:r>
          </a:p>
        </p:txBody>
      </p:sp>
    </p:spTree>
    <p:extLst>
      <p:ext uri="{BB962C8B-B14F-4D97-AF65-F5344CB8AC3E}">
        <p14:creationId xmlns:p14="http://schemas.microsoft.com/office/powerpoint/2010/main" val="233530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" grpId="0" animBg="1"/>
      <p:bldP spid="1352" grpId="0" animBg="1"/>
      <p:bldP spid="19" grpId="0"/>
      <p:bldP spid="21" grpId="0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094">
            <a:extLst>
              <a:ext uri="{FF2B5EF4-FFF2-40B4-BE49-F238E27FC236}">
                <a16:creationId xmlns:a16="http://schemas.microsoft.com/office/drawing/2014/main" id="{55BD0F4D-1B94-983A-090F-84EB37DF5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161054"/>
              </p:ext>
            </p:extLst>
          </p:nvPr>
        </p:nvGraphicFramePr>
        <p:xfrm>
          <a:off x="428200" y="1109280"/>
          <a:ext cx="11288459" cy="514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980108747"/>
                    </a:ext>
                  </a:extLst>
                </a:gridCol>
                <a:gridCol w="1718100">
                  <a:extLst>
                    <a:ext uri="{9D8B030D-6E8A-4147-A177-3AD203B41FA5}">
                      <a16:colId xmlns:a16="http://schemas.microsoft.com/office/drawing/2014/main" val="3936821659"/>
                    </a:ext>
                  </a:extLst>
                </a:gridCol>
                <a:gridCol w="2598420">
                  <a:extLst>
                    <a:ext uri="{9D8B030D-6E8A-4147-A177-3AD203B41FA5}">
                      <a16:colId xmlns:a16="http://schemas.microsoft.com/office/drawing/2014/main" val="3891666307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894623054"/>
                    </a:ext>
                  </a:extLst>
                </a:gridCol>
                <a:gridCol w="1650639">
                  <a:extLst>
                    <a:ext uri="{9D8B030D-6E8A-4147-A177-3AD203B41FA5}">
                      <a16:colId xmlns:a16="http://schemas.microsoft.com/office/drawing/2014/main" val="150050028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dirty="0">
                        <a:solidFill>
                          <a:srgbClr val="38638E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38638E"/>
                          </a:solidFill>
                        </a:rPr>
                        <a:t>Verification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Verification artefacts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</a:rPr>
                        <a:t>Artefact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Primary threats to artefacts (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STRIDE</a:t>
                      </a:r>
                      <a:r>
                        <a:rPr lang="en-GB" sz="1200" b="1" dirty="0">
                          <a:solidFill>
                            <a:srgbClr val="023581"/>
                          </a:solidFill>
                          <a:latin typeface="+mn-lt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495052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Authenticity of entities, PID and attestations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Trust certificates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Used to protect trusted lists of participants in the wallet ecosystem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38638E"/>
                          </a:solidFill>
                        </a:rPr>
                        <a:t>(eg providers, wallets and relying parties)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Spoofing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391363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Authenticity of wallet</a:t>
                      </a:r>
                    </a:p>
                    <a:p>
                      <a:r>
                        <a:rPr lang="en-GB" sz="1200" dirty="0"/>
                        <a:t>and wallet holder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wallet to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568789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secrets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 wallet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3563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Wallet holder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authentication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authenticate holder to</a:t>
                      </a:r>
                    </a:p>
                    <a:p>
                      <a:r>
                        <a:rPr lang="en-GB" sz="1200" dirty="0"/>
                        <a:t>electronic identification (eID) providers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595075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Ownership of 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identity of natural / legal personal etc to be established</a:t>
                      </a:r>
                    </a:p>
                    <a:p>
                      <a:r>
                        <a:rPr lang="en-GB" sz="1200" dirty="0"/>
                        <a:t>Also used as eID means for online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743778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Access token</a:t>
                      </a:r>
                      <a:br>
                        <a:rPr lang="en-GB" sz="1200" dirty="0"/>
                      </a:br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access token at issuance</a:t>
                      </a:r>
                    </a:p>
                    <a:p>
                      <a:r>
                        <a:rPr lang="en-GB" sz="1200" dirty="0"/>
                        <a:t>Use of access tokens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811857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Ownership of attestations of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Enables selective disclosure of personal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852677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Verified credentials</a:t>
                      </a:r>
                    </a:p>
                    <a:p>
                      <a:r>
                        <a:rPr lang="en-GB" sz="1200" dirty="0"/>
                        <a:t>proof-of-possession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Bound to the associated credential at issuance</a:t>
                      </a:r>
                    </a:p>
                    <a:p>
                      <a:r>
                        <a:rPr lang="en-GB" sz="1200" dirty="0"/>
                        <a:t>Use of credential not possible without this associated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4261651"/>
                  </a:ext>
                </a:extLst>
              </a:tr>
              <a:tr h="468000"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Wallet attestation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Attestation keys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sign attestations relating to security of the wallet app itself, the keys materials used by the wallet and/or the host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200" dirty="0"/>
                        <a:t>Information Disclosure</a:t>
                      </a:r>
                    </a:p>
                    <a:p>
                      <a:r>
                        <a:rPr lang="en-GB" sz="1200" dirty="0"/>
                        <a:t>Tampering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1552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Security policy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Used to as part of the attestation process</a:t>
                      </a:r>
                    </a:p>
                    <a:p>
                      <a:r>
                        <a:rPr lang="en-GB" sz="1200" dirty="0"/>
                        <a:t>Likely requires health / posture related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GB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675701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85" y="158635"/>
            <a:ext cx="9317873" cy="730737"/>
          </a:xfrm>
        </p:spPr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</a:t>
            </a:r>
            <a:r>
              <a:rPr lang="da-DK" b="1" dirty="0" err="1"/>
              <a:t>mechanisms</a:t>
            </a:r>
            <a:r>
              <a:rPr lang="da-DK" b="1" dirty="0"/>
              <a:t> (5)</a:t>
            </a:r>
            <a:endParaRPr lang="en-FR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BD618-FCA9-A629-83AF-AC819F78699C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DB10D2F-1643-1527-5488-AFF294485234}"/>
              </a:ext>
            </a:extLst>
          </p:cNvPr>
          <p:cNvGrpSpPr/>
          <p:nvPr/>
        </p:nvGrpSpPr>
        <p:grpSpPr>
          <a:xfrm>
            <a:off x="3958560" y="1707482"/>
            <a:ext cx="843194" cy="4468494"/>
            <a:chOff x="10908000" y="1730342"/>
            <a:chExt cx="843194" cy="4468494"/>
          </a:xfrm>
        </p:grpSpPr>
        <p:grpSp>
          <p:nvGrpSpPr>
            <p:cNvPr id="1250" name="Group 1249">
              <a:extLst>
                <a:ext uri="{FF2B5EF4-FFF2-40B4-BE49-F238E27FC236}">
                  <a16:creationId xmlns:a16="http://schemas.microsoft.com/office/drawing/2014/main" id="{BF301479-C9B8-7F84-4228-4C1D8879B821}"/>
                </a:ext>
              </a:extLst>
            </p:cNvPr>
            <p:cNvGrpSpPr/>
            <p:nvPr/>
          </p:nvGrpSpPr>
          <p:grpSpPr>
            <a:xfrm>
              <a:off x="11415536" y="4431950"/>
              <a:ext cx="335658" cy="379187"/>
              <a:chOff x="10749568" y="5635101"/>
              <a:chExt cx="350430" cy="395875"/>
            </a:xfrm>
          </p:grpSpPr>
          <p:pic>
            <p:nvPicPr>
              <p:cNvPr id="1251" name="Graphic 1250" descr="Paper with solid fill">
                <a:extLst>
                  <a:ext uri="{FF2B5EF4-FFF2-40B4-BE49-F238E27FC236}">
                    <a16:creationId xmlns:a16="http://schemas.microsoft.com/office/drawing/2014/main" id="{6DE08AE5-1823-3377-24F6-B7E7021D0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252" name="TextBox 1251">
                <a:extLst>
                  <a:ext uri="{FF2B5EF4-FFF2-40B4-BE49-F238E27FC236}">
                    <a16:creationId xmlns:a16="http://schemas.microsoft.com/office/drawing/2014/main" id="{BA3DFEF7-D6CF-5C4D-1F7F-7E191F31EFE3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</a:t>
                </a:r>
              </a:p>
            </p:txBody>
          </p:sp>
          <p:grpSp>
            <p:nvGrpSpPr>
              <p:cNvPr id="1253" name="Group 1252">
                <a:extLst>
                  <a:ext uri="{FF2B5EF4-FFF2-40B4-BE49-F238E27FC236}">
                    <a16:creationId xmlns:a16="http://schemas.microsoft.com/office/drawing/2014/main" id="{A4827675-6BF2-AD8C-C704-8799149C1B73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254" name="Freeform: Shape 1253">
                  <a:extLst>
                    <a:ext uri="{FF2B5EF4-FFF2-40B4-BE49-F238E27FC236}">
                      <a16:creationId xmlns:a16="http://schemas.microsoft.com/office/drawing/2014/main" id="{300A4163-90C8-B71E-4EF9-8D178F60E018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5" name="Freeform: Shape 1254">
                  <a:extLst>
                    <a:ext uri="{FF2B5EF4-FFF2-40B4-BE49-F238E27FC236}">
                      <a16:creationId xmlns:a16="http://schemas.microsoft.com/office/drawing/2014/main" id="{D04AB439-6273-12A7-1A7B-70B339DC3E06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256" name="Freeform: Shape 1255">
                  <a:extLst>
                    <a:ext uri="{FF2B5EF4-FFF2-40B4-BE49-F238E27FC236}">
                      <a16:creationId xmlns:a16="http://schemas.microsoft.com/office/drawing/2014/main" id="{CCBD6E00-CA16-D3DB-7CC0-FC42797C0A19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D22C10D-3DE9-C770-1EA4-272140962240}"/>
                </a:ext>
              </a:extLst>
            </p:cNvPr>
            <p:cNvGrpSpPr/>
            <p:nvPr/>
          </p:nvGrpSpPr>
          <p:grpSpPr>
            <a:xfrm>
              <a:off x="11355529" y="1730342"/>
              <a:ext cx="378237" cy="307002"/>
              <a:chOff x="9821290" y="4547726"/>
              <a:chExt cx="378237" cy="307002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530F6E7-6D85-D5DE-387C-13320C3F5801}"/>
                  </a:ext>
                </a:extLst>
              </p:cNvPr>
              <p:cNvSpPr/>
              <p:nvPr/>
            </p:nvSpPr>
            <p:spPr>
              <a:xfrm>
                <a:off x="9821290" y="4547726"/>
                <a:ext cx="378237" cy="221456"/>
              </a:xfrm>
              <a:custGeom>
                <a:avLst/>
                <a:gdLst>
                  <a:gd name="connsiteX0" fmla="*/ 349472 w 378237"/>
                  <a:gd name="connsiteY0" fmla="*/ 0 h 221456"/>
                  <a:gd name="connsiteX1" fmla="*/ 378238 w 378237"/>
                  <a:gd name="connsiteY1" fmla="*/ 28765 h 221456"/>
                  <a:gd name="connsiteX2" fmla="*/ 378238 w 378237"/>
                  <a:gd name="connsiteY2" fmla="*/ 192691 h 221456"/>
                  <a:gd name="connsiteX3" fmla="*/ 349472 w 378237"/>
                  <a:gd name="connsiteY3" fmla="*/ 221456 h 221456"/>
                  <a:gd name="connsiteX4" fmla="*/ 28766 w 378237"/>
                  <a:gd name="connsiteY4" fmla="*/ 221456 h 221456"/>
                  <a:gd name="connsiteX5" fmla="*/ 0 w 378237"/>
                  <a:gd name="connsiteY5" fmla="*/ 192691 h 221456"/>
                  <a:gd name="connsiteX6" fmla="*/ 0 w 378237"/>
                  <a:gd name="connsiteY6" fmla="*/ 28765 h 221456"/>
                  <a:gd name="connsiteX7" fmla="*/ 28766 w 378237"/>
                  <a:gd name="connsiteY7" fmla="*/ 0 h 22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8237" h="221456">
                    <a:moveTo>
                      <a:pt x="349472" y="0"/>
                    </a:moveTo>
                    <a:cubicBezTo>
                      <a:pt x="365359" y="0"/>
                      <a:pt x="378238" y="12879"/>
                      <a:pt x="378238" y="28765"/>
                    </a:cubicBezTo>
                    <a:lnTo>
                      <a:pt x="378238" y="192691"/>
                    </a:lnTo>
                    <a:cubicBezTo>
                      <a:pt x="378238" y="208577"/>
                      <a:pt x="365359" y="221456"/>
                      <a:pt x="349472" y="221456"/>
                    </a:cubicBezTo>
                    <a:lnTo>
                      <a:pt x="28766" y="221456"/>
                    </a:lnTo>
                    <a:cubicBezTo>
                      <a:pt x="12879" y="221456"/>
                      <a:pt x="0" y="208577"/>
                      <a:pt x="0" y="192691"/>
                    </a:cubicBezTo>
                    <a:lnTo>
                      <a:pt x="0" y="28765"/>
                    </a:lnTo>
                    <a:cubicBezTo>
                      <a:pt x="0" y="12879"/>
                      <a:pt x="12879" y="0"/>
                      <a:pt x="28766" y="0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34E5A80-CAB0-A59A-9BAB-AE5DFDC3EE41}"/>
                  </a:ext>
                </a:extLst>
              </p:cNvPr>
              <p:cNvSpPr/>
              <p:nvPr/>
            </p:nvSpPr>
            <p:spPr>
              <a:xfrm>
                <a:off x="9842189" y="4569328"/>
                <a:ext cx="349272" cy="285400"/>
              </a:xfrm>
              <a:custGeom>
                <a:avLst/>
                <a:gdLst>
                  <a:gd name="connsiteX0" fmla="*/ 0 w 433170"/>
                  <a:gd name="connsiteY0" fmla="*/ 49729 h 353957"/>
                  <a:gd name="connsiteX1" fmla="*/ 51625 w 433170"/>
                  <a:gd name="connsiteY1" fmla="*/ 9 h 353957"/>
                  <a:gd name="connsiteX2" fmla="*/ 335852 w 433170"/>
                  <a:gd name="connsiteY2" fmla="*/ 9 h 353957"/>
                  <a:gd name="connsiteX3" fmla="*/ 369094 w 433170"/>
                  <a:gd name="connsiteY3" fmla="*/ 27822 h 353957"/>
                  <a:gd name="connsiteX4" fmla="*/ 369094 w 433170"/>
                  <a:gd name="connsiteY4" fmla="*/ 42205 h 353957"/>
                  <a:gd name="connsiteX5" fmla="*/ 348520 w 433170"/>
                  <a:gd name="connsiteY5" fmla="*/ 35156 h 353957"/>
                  <a:gd name="connsiteX6" fmla="*/ 334518 w 433170"/>
                  <a:gd name="connsiteY6" fmla="*/ 19821 h 353957"/>
                  <a:gd name="connsiteX7" fmla="*/ 62579 w 433170"/>
                  <a:gd name="connsiteY7" fmla="*/ 19821 h 353957"/>
                  <a:gd name="connsiteX8" fmla="*/ 62579 w 433170"/>
                  <a:gd name="connsiteY8" fmla="*/ 60683 h 353957"/>
                  <a:gd name="connsiteX9" fmla="*/ 20574 w 433170"/>
                  <a:gd name="connsiteY9" fmla="*/ 60683 h 353957"/>
                  <a:gd name="connsiteX10" fmla="*/ 20574 w 433170"/>
                  <a:gd name="connsiteY10" fmla="*/ 208797 h 353957"/>
                  <a:gd name="connsiteX11" fmla="*/ 31528 w 433170"/>
                  <a:gd name="connsiteY11" fmla="*/ 220227 h 353957"/>
                  <a:gd name="connsiteX12" fmla="*/ 180784 w 433170"/>
                  <a:gd name="connsiteY12" fmla="*/ 220227 h 353957"/>
                  <a:gd name="connsiteX13" fmla="*/ 192691 w 433170"/>
                  <a:gd name="connsiteY13" fmla="*/ 239658 h 353957"/>
                  <a:gd name="connsiteX14" fmla="*/ 29813 w 433170"/>
                  <a:gd name="connsiteY14" fmla="*/ 239658 h 353957"/>
                  <a:gd name="connsiteX15" fmla="*/ 0 w 433170"/>
                  <a:gd name="connsiteY15" fmla="*/ 210035 h 353957"/>
                  <a:gd name="connsiteX16" fmla="*/ 201359 w 433170"/>
                  <a:gd name="connsiteY16" fmla="*/ 325288 h 353957"/>
                  <a:gd name="connsiteX17" fmla="*/ 239935 w 433170"/>
                  <a:gd name="connsiteY17" fmla="*/ 261946 h 353957"/>
                  <a:gd name="connsiteX18" fmla="*/ 192405 w 433170"/>
                  <a:gd name="connsiteY18" fmla="*/ 126787 h 353957"/>
                  <a:gd name="connsiteX19" fmla="*/ 313754 w 433170"/>
                  <a:gd name="connsiteY19" fmla="*/ 44871 h 353957"/>
                  <a:gd name="connsiteX20" fmla="*/ 429292 w 433170"/>
                  <a:gd name="connsiteY20" fmla="*/ 134311 h 353957"/>
                  <a:gd name="connsiteX21" fmla="*/ 372618 w 433170"/>
                  <a:gd name="connsiteY21" fmla="*/ 266232 h 353957"/>
                  <a:gd name="connsiteX22" fmla="*/ 415957 w 433170"/>
                  <a:gd name="connsiteY22" fmla="*/ 329097 h 353957"/>
                  <a:gd name="connsiteX23" fmla="*/ 368618 w 433170"/>
                  <a:gd name="connsiteY23" fmla="*/ 316810 h 353957"/>
                  <a:gd name="connsiteX24" fmla="*/ 355092 w 433170"/>
                  <a:gd name="connsiteY24" fmla="*/ 353577 h 353957"/>
                  <a:gd name="connsiteX25" fmla="*/ 304324 w 433170"/>
                  <a:gd name="connsiteY25" fmla="*/ 288140 h 353957"/>
                  <a:gd name="connsiteX26" fmla="*/ 265748 w 433170"/>
                  <a:gd name="connsiteY26" fmla="*/ 353958 h 353957"/>
                  <a:gd name="connsiteX27" fmla="*/ 248221 w 433170"/>
                  <a:gd name="connsiteY27" fmla="*/ 314334 h 353957"/>
                  <a:gd name="connsiteX28" fmla="*/ 201835 w 433170"/>
                  <a:gd name="connsiteY28" fmla="*/ 164982 h 353957"/>
                  <a:gd name="connsiteX29" fmla="*/ 309943 w 433170"/>
                  <a:gd name="connsiteY29" fmla="*/ 265375 h 353957"/>
                  <a:gd name="connsiteX30" fmla="*/ 416814 w 433170"/>
                  <a:gd name="connsiteY30" fmla="*/ 164982 h 353957"/>
                  <a:gd name="connsiteX31" fmla="*/ 311753 w 433170"/>
                  <a:gd name="connsiteY31" fmla="*/ 62397 h 353957"/>
                  <a:gd name="connsiteX32" fmla="*/ 201835 w 433170"/>
                  <a:gd name="connsiteY32" fmla="*/ 164982 h 353957"/>
                  <a:gd name="connsiteX33" fmla="*/ 228124 w 433170"/>
                  <a:gd name="connsiteY33" fmla="*/ 164982 h 353957"/>
                  <a:gd name="connsiteX34" fmla="*/ 252032 w 433170"/>
                  <a:gd name="connsiteY34" fmla="*/ 109165 h 353957"/>
                  <a:gd name="connsiteX35" fmla="*/ 309943 w 433170"/>
                  <a:gd name="connsiteY35" fmla="*/ 86496 h 353957"/>
                  <a:gd name="connsiteX36" fmla="*/ 367093 w 433170"/>
                  <a:gd name="connsiteY36" fmla="*/ 109641 h 353957"/>
                  <a:gd name="connsiteX37" fmla="*/ 390525 w 433170"/>
                  <a:gd name="connsiteY37" fmla="*/ 164982 h 353957"/>
                  <a:gd name="connsiteX38" fmla="*/ 309943 w 433170"/>
                  <a:gd name="connsiteY38" fmla="*/ 241277 h 353957"/>
                  <a:gd name="connsiteX39" fmla="*/ 228124 w 433170"/>
                  <a:gd name="connsiteY39" fmla="*/ 164982 h 353957"/>
                  <a:gd name="connsiteX40" fmla="*/ 246031 w 433170"/>
                  <a:gd name="connsiteY40" fmla="*/ 164982 h 353957"/>
                  <a:gd name="connsiteX41" fmla="*/ 309943 w 433170"/>
                  <a:gd name="connsiteY41" fmla="*/ 224894 h 353957"/>
                  <a:gd name="connsiteX42" fmla="*/ 372999 w 433170"/>
                  <a:gd name="connsiteY42" fmla="*/ 164982 h 353957"/>
                  <a:gd name="connsiteX43" fmla="*/ 309943 w 433170"/>
                  <a:gd name="connsiteY43" fmla="*/ 103355 h 353957"/>
                  <a:gd name="connsiteX44" fmla="*/ 246031 w 433170"/>
                  <a:gd name="connsiteY44" fmla="*/ 164982 h 353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33170" h="353957">
                    <a:moveTo>
                      <a:pt x="0" y="49729"/>
                    </a:moveTo>
                    <a:lnTo>
                      <a:pt x="51625" y="9"/>
                    </a:lnTo>
                    <a:lnTo>
                      <a:pt x="335852" y="9"/>
                    </a:lnTo>
                    <a:cubicBezTo>
                      <a:pt x="352711" y="-372"/>
                      <a:pt x="367093" y="11629"/>
                      <a:pt x="369094" y="27822"/>
                    </a:cubicBezTo>
                    <a:lnTo>
                      <a:pt x="369094" y="42205"/>
                    </a:lnTo>
                    <a:lnTo>
                      <a:pt x="348520" y="35156"/>
                    </a:lnTo>
                    <a:cubicBezTo>
                      <a:pt x="348901" y="27250"/>
                      <a:pt x="342709" y="20488"/>
                      <a:pt x="334518" y="19821"/>
                    </a:cubicBezTo>
                    <a:lnTo>
                      <a:pt x="62579" y="19821"/>
                    </a:lnTo>
                    <a:lnTo>
                      <a:pt x="62579" y="60683"/>
                    </a:lnTo>
                    <a:lnTo>
                      <a:pt x="20574" y="60683"/>
                    </a:lnTo>
                    <a:lnTo>
                      <a:pt x="20574" y="208797"/>
                    </a:lnTo>
                    <a:cubicBezTo>
                      <a:pt x="21145" y="214607"/>
                      <a:pt x="25622" y="219274"/>
                      <a:pt x="31528" y="220227"/>
                    </a:cubicBezTo>
                    <a:lnTo>
                      <a:pt x="180784" y="220227"/>
                    </a:lnTo>
                    <a:lnTo>
                      <a:pt x="192691" y="239658"/>
                    </a:lnTo>
                    <a:lnTo>
                      <a:pt x="29813" y="239658"/>
                    </a:lnTo>
                    <a:cubicBezTo>
                      <a:pt x="14001" y="237467"/>
                      <a:pt x="1810" y="225275"/>
                      <a:pt x="0" y="210035"/>
                    </a:cubicBezTo>
                    <a:close/>
                    <a:moveTo>
                      <a:pt x="201359" y="325288"/>
                    </a:moveTo>
                    <a:lnTo>
                      <a:pt x="239935" y="261946"/>
                    </a:lnTo>
                    <a:cubicBezTo>
                      <a:pt x="194691" y="232133"/>
                      <a:pt x="175260" y="176983"/>
                      <a:pt x="192405" y="126787"/>
                    </a:cubicBezTo>
                    <a:cubicBezTo>
                      <a:pt x="209455" y="76495"/>
                      <a:pt x="258889" y="43157"/>
                      <a:pt x="313754" y="44871"/>
                    </a:cubicBezTo>
                    <a:cubicBezTo>
                      <a:pt x="368618" y="46681"/>
                      <a:pt x="415671" y="83067"/>
                      <a:pt x="429292" y="134311"/>
                    </a:cubicBezTo>
                    <a:cubicBezTo>
                      <a:pt x="442913" y="185556"/>
                      <a:pt x="419862" y="239277"/>
                      <a:pt x="372618" y="266232"/>
                    </a:cubicBezTo>
                    <a:lnTo>
                      <a:pt x="415957" y="329097"/>
                    </a:lnTo>
                    <a:lnTo>
                      <a:pt x="368618" y="316810"/>
                    </a:lnTo>
                    <a:lnTo>
                      <a:pt x="355092" y="353577"/>
                    </a:lnTo>
                    <a:lnTo>
                      <a:pt x="304324" y="288140"/>
                    </a:lnTo>
                    <a:lnTo>
                      <a:pt x="265748" y="353958"/>
                    </a:lnTo>
                    <a:lnTo>
                      <a:pt x="248221" y="314334"/>
                    </a:lnTo>
                    <a:close/>
                    <a:moveTo>
                      <a:pt x="201835" y="164982"/>
                    </a:moveTo>
                    <a:cubicBezTo>
                      <a:pt x="204597" y="220703"/>
                      <a:pt x="252032" y="264708"/>
                      <a:pt x="309943" y="265375"/>
                    </a:cubicBezTo>
                    <a:cubicBezTo>
                      <a:pt x="367379" y="264042"/>
                      <a:pt x="414051" y="220227"/>
                      <a:pt x="416814" y="164982"/>
                    </a:cubicBezTo>
                    <a:cubicBezTo>
                      <a:pt x="415290" y="109451"/>
                      <a:pt x="369284" y="64588"/>
                      <a:pt x="311753" y="62397"/>
                    </a:cubicBezTo>
                    <a:cubicBezTo>
                      <a:pt x="252317" y="62112"/>
                      <a:pt x="203549" y="107641"/>
                      <a:pt x="201835" y="164982"/>
                    </a:cubicBezTo>
                    <a:close/>
                    <a:moveTo>
                      <a:pt x="228124" y="164982"/>
                    </a:moveTo>
                    <a:cubicBezTo>
                      <a:pt x="228029" y="144027"/>
                      <a:pt x="236601" y="123929"/>
                      <a:pt x="252032" y="109165"/>
                    </a:cubicBezTo>
                    <a:cubicBezTo>
                      <a:pt x="267367" y="94402"/>
                      <a:pt x="288322" y="86210"/>
                      <a:pt x="309943" y="86496"/>
                    </a:cubicBezTo>
                    <a:cubicBezTo>
                      <a:pt x="331470" y="86591"/>
                      <a:pt x="352044" y="94878"/>
                      <a:pt x="367093" y="109641"/>
                    </a:cubicBezTo>
                    <a:cubicBezTo>
                      <a:pt x="382238" y="124310"/>
                      <a:pt x="390620" y="144217"/>
                      <a:pt x="390525" y="164982"/>
                    </a:cubicBezTo>
                    <a:cubicBezTo>
                      <a:pt x="389573" y="207178"/>
                      <a:pt x="353854" y="241087"/>
                      <a:pt x="309943" y="241277"/>
                    </a:cubicBezTo>
                    <a:cubicBezTo>
                      <a:pt x="265557" y="241753"/>
                      <a:pt x="229076" y="207749"/>
                      <a:pt x="228124" y="164982"/>
                    </a:cubicBezTo>
                    <a:close/>
                    <a:moveTo>
                      <a:pt x="246031" y="164982"/>
                    </a:moveTo>
                    <a:cubicBezTo>
                      <a:pt x="247841" y="197938"/>
                      <a:pt x="275749" y="224037"/>
                      <a:pt x="309943" y="224894"/>
                    </a:cubicBezTo>
                    <a:cubicBezTo>
                      <a:pt x="343948" y="223561"/>
                      <a:pt x="371284" y="197653"/>
                      <a:pt x="372999" y="164982"/>
                    </a:cubicBezTo>
                    <a:cubicBezTo>
                      <a:pt x="372142" y="131644"/>
                      <a:pt x="344519" y="104688"/>
                      <a:pt x="309943" y="103355"/>
                    </a:cubicBezTo>
                    <a:cubicBezTo>
                      <a:pt x="275082" y="104212"/>
                      <a:pt x="246983" y="131263"/>
                      <a:pt x="246031" y="1649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5A6405E-C2EC-06B4-B2FB-F43CC0FB2906}"/>
                </a:ext>
              </a:extLst>
            </p:cNvPr>
            <p:cNvGrpSpPr/>
            <p:nvPr/>
          </p:nvGrpSpPr>
          <p:grpSpPr>
            <a:xfrm>
              <a:off x="10908000" y="2660812"/>
              <a:ext cx="825766" cy="321228"/>
              <a:chOff x="4793047" y="6345339"/>
              <a:chExt cx="825766" cy="321228"/>
            </a:xfrm>
          </p:grpSpPr>
          <p:grpSp>
            <p:nvGrpSpPr>
              <p:cNvPr id="1088" name="Group 1087">
                <a:extLst>
                  <a:ext uri="{FF2B5EF4-FFF2-40B4-BE49-F238E27FC236}">
                    <a16:creationId xmlns:a16="http://schemas.microsoft.com/office/drawing/2014/main" id="{B85DC469-A8F9-28D5-A3BE-3652E1E6F78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6811" y="6447367"/>
                <a:ext cx="252002" cy="126000"/>
                <a:chOff x="7568353" y="933450"/>
                <a:chExt cx="171450" cy="85725"/>
              </a:xfrm>
              <a:noFill/>
            </p:grpSpPr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8B3799A-1546-2069-978D-AF718E0C996A}"/>
                    </a:ext>
                  </a:extLst>
                </p:cNvPr>
                <p:cNvSpPr/>
                <p:nvPr/>
              </p:nvSpPr>
              <p:spPr>
                <a:xfrm>
                  <a:off x="7568353" y="933450"/>
                  <a:ext cx="171450" cy="85725"/>
                </a:xfrm>
                <a:custGeom>
                  <a:avLst/>
                  <a:gdLst>
                    <a:gd name="connsiteX0" fmla="*/ 0 w 171450"/>
                    <a:gd name="connsiteY0" fmla="*/ 42863 h 85725"/>
                    <a:gd name="connsiteX1" fmla="*/ 85725 w 171450"/>
                    <a:gd name="connsiteY1" fmla="*/ 0 h 85725"/>
                    <a:gd name="connsiteX2" fmla="*/ 171450 w 171450"/>
                    <a:gd name="connsiteY2" fmla="*/ 42863 h 85725"/>
                    <a:gd name="connsiteX3" fmla="*/ 85725 w 171450"/>
                    <a:gd name="connsiteY3" fmla="*/ 85725 h 85725"/>
                    <a:gd name="connsiteX4" fmla="*/ 0 w 171450"/>
                    <a:gd name="connsiteY4" fmla="*/ 42863 h 85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450" h="85725">
                      <a:moveTo>
                        <a:pt x="0" y="42863"/>
                      </a:moveTo>
                      <a:cubicBezTo>
                        <a:pt x="21146" y="15716"/>
                        <a:pt x="52578" y="0"/>
                        <a:pt x="85725" y="0"/>
                      </a:cubicBezTo>
                      <a:cubicBezTo>
                        <a:pt x="118872" y="0"/>
                        <a:pt x="150304" y="15716"/>
                        <a:pt x="171450" y="42863"/>
                      </a:cubicBezTo>
                      <a:cubicBezTo>
                        <a:pt x="150304" y="70009"/>
                        <a:pt x="118872" y="85725"/>
                        <a:pt x="85725" y="85725"/>
                      </a:cubicBezTo>
                      <a:cubicBezTo>
                        <a:pt x="52578" y="85725"/>
                        <a:pt x="21146" y="70009"/>
                        <a:pt x="0" y="42863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D57D338E-7421-5102-40AA-296D566FD827}"/>
                    </a:ext>
                  </a:extLst>
                </p:cNvPr>
                <p:cNvSpPr/>
                <p:nvPr/>
              </p:nvSpPr>
              <p:spPr>
                <a:xfrm>
                  <a:off x="7623224" y="943432"/>
                  <a:ext cx="61722" cy="65759"/>
                </a:xfrm>
                <a:custGeom>
                  <a:avLst/>
                  <a:gdLst>
                    <a:gd name="connsiteX0" fmla="*/ 61722 w 61722"/>
                    <a:gd name="connsiteY0" fmla="*/ 32880 h 65759"/>
                    <a:gd name="connsiteX1" fmla="*/ 30861 w 61722"/>
                    <a:gd name="connsiteY1" fmla="*/ 65760 h 65759"/>
                    <a:gd name="connsiteX2" fmla="*/ 0 w 61722"/>
                    <a:gd name="connsiteY2" fmla="*/ 32880 h 65759"/>
                    <a:gd name="connsiteX3" fmla="*/ 30861 w 61722"/>
                    <a:gd name="connsiteY3" fmla="*/ 0 h 65759"/>
                    <a:gd name="connsiteX4" fmla="*/ 61722 w 61722"/>
                    <a:gd name="connsiteY4" fmla="*/ 32880 h 6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22" h="65759">
                      <a:moveTo>
                        <a:pt x="61722" y="32880"/>
                      </a:moveTo>
                      <a:cubicBezTo>
                        <a:pt x="61722" y="51039"/>
                        <a:pt x="47905" y="65760"/>
                        <a:pt x="30861" y="65760"/>
                      </a:cubicBezTo>
                      <a:cubicBezTo>
                        <a:pt x="13817" y="65760"/>
                        <a:pt x="0" y="51039"/>
                        <a:pt x="0" y="32880"/>
                      </a:cubicBezTo>
                      <a:cubicBezTo>
                        <a:pt x="0" y="14721"/>
                        <a:pt x="13817" y="0"/>
                        <a:pt x="30861" y="0"/>
                      </a:cubicBezTo>
                      <a:cubicBezTo>
                        <a:pt x="47905" y="0"/>
                        <a:pt x="61722" y="14721"/>
                        <a:pt x="61722" y="3288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01F41FF7-5F31-F7BC-9293-DC27910C73ED}"/>
                    </a:ext>
                  </a:extLst>
                </p:cNvPr>
                <p:cNvSpPr/>
                <p:nvPr/>
              </p:nvSpPr>
              <p:spPr>
                <a:xfrm>
                  <a:off x="7633498" y="954392"/>
                  <a:ext cx="41147" cy="43839"/>
                </a:xfrm>
                <a:custGeom>
                  <a:avLst/>
                  <a:gdLst>
                    <a:gd name="connsiteX0" fmla="*/ 41148 w 41147"/>
                    <a:gd name="connsiteY0" fmla="*/ 21920 h 43839"/>
                    <a:gd name="connsiteX1" fmla="*/ 20574 w 41147"/>
                    <a:gd name="connsiteY1" fmla="*/ 43840 h 43839"/>
                    <a:gd name="connsiteX2" fmla="*/ 0 w 41147"/>
                    <a:gd name="connsiteY2" fmla="*/ 21920 h 43839"/>
                    <a:gd name="connsiteX3" fmla="*/ 20574 w 41147"/>
                    <a:gd name="connsiteY3" fmla="*/ 0 h 43839"/>
                    <a:gd name="connsiteX4" fmla="*/ 41148 w 41147"/>
                    <a:gd name="connsiteY4" fmla="*/ 21920 h 43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147" h="43839">
                      <a:moveTo>
                        <a:pt x="41148" y="21920"/>
                      </a:moveTo>
                      <a:cubicBezTo>
                        <a:pt x="41148" y="34026"/>
                        <a:pt x="31937" y="43840"/>
                        <a:pt x="20574" y="43840"/>
                      </a:cubicBezTo>
                      <a:cubicBezTo>
                        <a:pt x="9211" y="43840"/>
                        <a:pt x="0" y="34026"/>
                        <a:pt x="0" y="21920"/>
                      </a:cubicBezTo>
                      <a:cubicBezTo>
                        <a:pt x="0" y="9814"/>
                        <a:pt x="9211" y="0"/>
                        <a:pt x="20574" y="0"/>
                      </a:cubicBezTo>
                      <a:cubicBezTo>
                        <a:pt x="31937" y="0"/>
                        <a:pt x="41148" y="9814"/>
                        <a:pt x="41148" y="21920"/>
                      </a:cubicBezTo>
                      <a:close/>
                    </a:path>
                  </a:pathLst>
                </a:custGeom>
                <a:grpFill/>
                <a:ln w="1270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  <p:sp>
            <p:nvSpPr>
              <p:cNvPr id="1089" name="TextBox 1088">
                <a:extLst>
                  <a:ext uri="{FF2B5EF4-FFF2-40B4-BE49-F238E27FC236}">
                    <a16:creationId xmlns:a16="http://schemas.microsoft.com/office/drawing/2014/main" id="{6C1F45C1-5C9D-21D8-7823-3CF674D8DE3C}"/>
                  </a:ext>
                </a:extLst>
              </p:cNvPr>
              <p:cNvSpPr txBox="1"/>
              <p:nvPr/>
            </p:nvSpPr>
            <p:spPr>
              <a:xfrm>
                <a:off x="5046881" y="6373299"/>
                <a:ext cx="319663" cy="27699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12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PIN</a:t>
                </a:r>
              </a:p>
            </p:txBody>
          </p:sp>
          <p:pic>
            <p:nvPicPr>
              <p:cNvPr id="1091" name="Graphic 1090" descr="Fingerprint with solid fill">
                <a:extLst>
                  <a:ext uri="{FF2B5EF4-FFF2-40B4-BE49-F238E27FC236}">
                    <a16:creationId xmlns:a16="http://schemas.microsoft.com/office/drawing/2014/main" id="{E118BE61-D657-B2F4-8A38-D01CA4A7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93047" y="6345339"/>
                <a:ext cx="321228" cy="321228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55FA13B-B01B-1ED4-B813-349DAE68C887}"/>
                </a:ext>
              </a:extLst>
            </p:cNvPr>
            <p:cNvGrpSpPr/>
            <p:nvPr/>
          </p:nvGrpSpPr>
          <p:grpSpPr>
            <a:xfrm>
              <a:off x="10921137" y="3071595"/>
              <a:ext cx="812629" cy="446278"/>
              <a:chOff x="10785943" y="5489706"/>
              <a:chExt cx="812629" cy="446278"/>
            </a:xfrm>
          </p:grpSpPr>
          <p:pic>
            <p:nvPicPr>
              <p:cNvPr id="1086" name="Graphic 1085" descr="Key outline">
                <a:extLst>
                  <a:ext uri="{FF2B5EF4-FFF2-40B4-BE49-F238E27FC236}">
                    <a16:creationId xmlns:a16="http://schemas.microsoft.com/office/drawing/2014/main" id="{F5E4DB74-1918-43F0-FD88-856A83D5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2250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2CA330D6-AB94-B63B-CC15-BA9962E8F13B}"/>
                  </a:ext>
                </a:extLst>
              </p:cNvPr>
              <p:cNvSpPr txBox="1"/>
              <p:nvPr/>
            </p:nvSpPr>
            <p:spPr>
              <a:xfrm>
                <a:off x="10785943" y="5489706"/>
                <a:ext cx="81262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Holder AuthN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568D439-81A3-76E1-D098-2BB3332D2603}"/>
                </a:ext>
              </a:extLst>
            </p:cNvPr>
            <p:cNvGrpSpPr/>
            <p:nvPr/>
          </p:nvGrpSpPr>
          <p:grpSpPr>
            <a:xfrm>
              <a:off x="11229228" y="4024013"/>
              <a:ext cx="504538" cy="465328"/>
              <a:chOff x="11062681" y="5489706"/>
              <a:chExt cx="504538" cy="465328"/>
            </a:xfrm>
          </p:grpSpPr>
          <p:pic>
            <p:nvPicPr>
              <p:cNvPr id="1084" name="Graphic 1083" descr="Key outline">
                <a:extLst>
                  <a:ext uri="{FF2B5EF4-FFF2-40B4-BE49-F238E27FC236}">
                    <a16:creationId xmlns:a16="http://schemas.microsoft.com/office/drawing/2014/main" id="{57EC3A94-B2EB-03BF-AD5B-991D3172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191147" y="557896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2F27E9DA-9085-9A90-89E2-09F35C9E6AD0}"/>
                  </a:ext>
                </a:extLst>
              </p:cNvPr>
              <p:cNvSpPr txBox="1"/>
              <p:nvPr/>
            </p:nvSpPr>
            <p:spPr>
              <a:xfrm>
                <a:off x="11062681" y="5489706"/>
                <a:ext cx="504538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4A95ED7-C19C-9E67-CB34-0E094BF2952F}"/>
                </a:ext>
              </a:extLst>
            </p:cNvPr>
            <p:cNvGrpSpPr/>
            <p:nvPr/>
          </p:nvGrpSpPr>
          <p:grpSpPr>
            <a:xfrm>
              <a:off x="11398108" y="3508468"/>
              <a:ext cx="335658" cy="379187"/>
              <a:chOff x="10749568" y="5635101"/>
              <a:chExt cx="350430" cy="395875"/>
            </a:xfrm>
          </p:grpSpPr>
          <p:pic>
            <p:nvPicPr>
              <p:cNvPr id="1065" name="Graphic 1064" descr="Paper with solid fill">
                <a:extLst>
                  <a:ext uri="{FF2B5EF4-FFF2-40B4-BE49-F238E27FC236}">
                    <a16:creationId xmlns:a16="http://schemas.microsoft.com/office/drawing/2014/main" id="{EE051050-C0EE-B6F3-0BE6-4F30EFD10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49568" y="5635101"/>
                <a:ext cx="350430" cy="350428"/>
              </a:xfrm>
              <a:prstGeom prst="rect">
                <a:avLst/>
              </a:prstGeom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2BA5A9C9-033B-FF42-844C-816C260033F4}"/>
                  </a:ext>
                </a:extLst>
              </p:cNvPr>
              <p:cNvSpPr txBox="1"/>
              <p:nvPr/>
            </p:nvSpPr>
            <p:spPr>
              <a:xfrm>
                <a:off x="10784244" y="5713896"/>
                <a:ext cx="27428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</a:t>
                </a:r>
              </a:p>
            </p:txBody>
          </p:sp>
          <p:grpSp>
            <p:nvGrpSpPr>
              <p:cNvPr id="1069" name="Group 1068">
                <a:extLst>
                  <a:ext uri="{FF2B5EF4-FFF2-40B4-BE49-F238E27FC236}">
                    <a16:creationId xmlns:a16="http://schemas.microsoft.com/office/drawing/2014/main" id="{DCABB208-7CEE-F8C8-0134-3813F2F134DB}"/>
                  </a:ext>
                </a:extLst>
              </p:cNvPr>
              <p:cNvGrpSpPr/>
              <p:nvPr/>
            </p:nvGrpSpPr>
            <p:grpSpPr>
              <a:xfrm>
                <a:off x="10957123" y="5858479"/>
                <a:ext cx="142875" cy="172497"/>
                <a:chOff x="10482325" y="5748903"/>
                <a:chExt cx="142875" cy="172497"/>
              </a:xfrm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4D2A03AD-DB65-5AC0-D3F6-2F209597C85D}"/>
                    </a:ext>
                  </a:extLst>
                </p:cNvPr>
                <p:cNvSpPr/>
                <p:nvPr/>
              </p:nvSpPr>
              <p:spPr>
                <a:xfrm>
                  <a:off x="10515662" y="5873775"/>
                  <a:ext cx="76200" cy="47625"/>
                </a:xfrm>
                <a:custGeom>
                  <a:avLst/>
                  <a:gdLst>
                    <a:gd name="connsiteX0" fmla="*/ 19050 w 76200"/>
                    <a:gd name="connsiteY0" fmla="*/ 0 h 47625"/>
                    <a:gd name="connsiteX1" fmla="*/ 57150 w 76200"/>
                    <a:gd name="connsiteY1" fmla="*/ 0 h 47625"/>
                    <a:gd name="connsiteX2" fmla="*/ 76200 w 76200"/>
                    <a:gd name="connsiteY2" fmla="*/ 0 h 47625"/>
                    <a:gd name="connsiteX3" fmla="*/ 76200 w 76200"/>
                    <a:gd name="connsiteY3" fmla="*/ 35719 h 47625"/>
                    <a:gd name="connsiteX4" fmla="*/ 76200 w 76200"/>
                    <a:gd name="connsiteY4" fmla="*/ 47625 h 47625"/>
                    <a:gd name="connsiteX5" fmla="*/ 38100 w 76200"/>
                    <a:gd name="connsiteY5" fmla="*/ 23813 h 47625"/>
                    <a:gd name="connsiteX6" fmla="*/ 0 w 76200"/>
                    <a:gd name="connsiteY6" fmla="*/ 47625 h 47625"/>
                    <a:gd name="connsiteX7" fmla="*/ 0 w 76200"/>
                    <a:gd name="connsiteY7" fmla="*/ 0 h 476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6200" h="47625">
                      <a:moveTo>
                        <a:pt x="19050" y="0"/>
                      </a:moveTo>
                      <a:lnTo>
                        <a:pt x="57150" y="0"/>
                      </a:lnTo>
                      <a:lnTo>
                        <a:pt x="76200" y="0"/>
                      </a:lnTo>
                      <a:lnTo>
                        <a:pt x="76200" y="35719"/>
                      </a:lnTo>
                      <a:lnTo>
                        <a:pt x="76200" y="47625"/>
                      </a:lnTo>
                      <a:lnTo>
                        <a:pt x="38100" y="23813"/>
                      </a:lnTo>
                      <a:lnTo>
                        <a:pt x="0" y="47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763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2F724A4D-1F20-606B-458D-144EC4E1ED18}"/>
                    </a:ext>
                  </a:extLst>
                </p:cNvPr>
                <p:cNvSpPr/>
                <p:nvPr/>
              </p:nvSpPr>
              <p:spPr>
                <a:xfrm>
                  <a:off x="10482325" y="5748903"/>
                  <a:ext cx="142875" cy="142875"/>
                </a:xfrm>
                <a:custGeom>
                  <a:avLst/>
                  <a:gdLst>
                    <a:gd name="connsiteX0" fmla="*/ 142875 w 142875"/>
                    <a:gd name="connsiteY0" fmla="*/ 71438 h 142875"/>
                    <a:gd name="connsiteX1" fmla="*/ 71438 w 142875"/>
                    <a:gd name="connsiteY1" fmla="*/ 142875 h 142875"/>
                    <a:gd name="connsiteX2" fmla="*/ 0 w 142875"/>
                    <a:gd name="connsiteY2" fmla="*/ 71438 h 142875"/>
                    <a:gd name="connsiteX3" fmla="*/ 71438 w 142875"/>
                    <a:gd name="connsiteY3" fmla="*/ 0 h 142875"/>
                    <a:gd name="connsiteX4" fmla="*/ 142875 w 142875"/>
                    <a:gd name="connsiteY4" fmla="*/ 71438 h 142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773AAB28-D303-D618-FD04-35ECEAEF1303}"/>
                    </a:ext>
                  </a:extLst>
                </p:cNvPr>
                <p:cNvSpPr/>
                <p:nvPr/>
              </p:nvSpPr>
              <p:spPr>
                <a:xfrm>
                  <a:off x="10491850" y="5758428"/>
                  <a:ext cx="123825" cy="123825"/>
                </a:xfrm>
                <a:custGeom>
                  <a:avLst/>
                  <a:gdLst>
                    <a:gd name="connsiteX0" fmla="*/ 123825 w 123825"/>
                    <a:gd name="connsiteY0" fmla="*/ 61913 h 123825"/>
                    <a:gd name="connsiteX1" fmla="*/ 61913 w 123825"/>
                    <a:gd name="connsiteY1" fmla="*/ 123825 h 123825"/>
                    <a:gd name="connsiteX2" fmla="*/ 0 w 123825"/>
                    <a:gd name="connsiteY2" fmla="*/ 61913 h 123825"/>
                    <a:gd name="connsiteX3" fmla="*/ 61913 w 123825"/>
                    <a:gd name="connsiteY3" fmla="*/ 0 h 123825"/>
                    <a:gd name="connsiteX4" fmla="*/ 123825 w 123825"/>
                    <a:gd name="connsiteY4" fmla="*/ 61913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825" h="123825">
                      <a:moveTo>
                        <a:pt x="123825" y="61913"/>
                      </a:moveTo>
                      <a:cubicBezTo>
                        <a:pt x="123825" y="96106"/>
                        <a:pt x="96106" y="123825"/>
                        <a:pt x="61913" y="123825"/>
                      </a:cubicBezTo>
                      <a:cubicBezTo>
                        <a:pt x="27719" y="123825"/>
                        <a:pt x="0" y="96106"/>
                        <a:pt x="0" y="61913"/>
                      </a:cubicBezTo>
                      <a:cubicBezTo>
                        <a:pt x="0" y="27719"/>
                        <a:pt x="27719" y="0"/>
                        <a:pt x="61913" y="0"/>
                      </a:cubicBezTo>
                      <a:cubicBezTo>
                        <a:pt x="96106" y="0"/>
                        <a:pt x="123825" y="27719"/>
                        <a:pt x="123825" y="61913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80EC42A-D70E-E771-E9D8-4EE5AD18A265}"/>
                </a:ext>
              </a:extLst>
            </p:cNvPr>
            <p:cNvGrpSpPr/>
            <p:nvPr/>
          </p:nvGrpSpPr>
          <p:grpSpPr>
            <a:xfrm>
              <a:off x="11001060" y="4965629"/>
              <a:ext cx="732706" cy="446278"/>
              <a:chOff x="319523" y="5081988"/>
              <a:chExt cx="732706" cy="446278"/>
            </a:xfrm>
          </p:grpSpPr>
          <p:pic>
            <p:nvPicPr>
              <p:cNvPr id="1059" name="Graphic 1058" descr="Key outline">
                <a:extLst>
                  <a:ext uri="{FF2B5EF4-FFF2-40B4-BE49-F238E27FC236}">
                    <a16:creationId xmlns:a16="http://schemas.microsoft.com/office/drawing/2014/main" id="{3FB0D03E-834C-953A-992B-184589B957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676157" y="5152194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64" name="TextBox 1063">
                <a:extLst>
                  <a:ext uri="{FF2B5EF4-FFF2-40B4-BE49-F238E27FC236}">
                    <a16:creationId xmlns:a16="http://schemas.microsoft.com/office/drawing/2014/main" id="{85684796-2CF6-BB1E-FE23-69E2FE682D46}"/>
                  </a:ext>
                </a:extLst>
              </p:cNvPr>
              <p:cNvSpPr txBox="1"/>
              <p:nvPr/>
            </p:nvSpPr>
            <p:spPr>
              <a:xfrm>
                <a:off x="319523" y="5081988"/>
                <a:ext cx="732706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VC </a:t>
                </a:r>
                <a:r>
                  <a:rPr lang="en-GB" sz="800" spc="0" baseline="0" dirty="0" err="1">
                    <a:ln/>
                    <a:latin typeface="Helvetica"/>
                    <a:cs typeface="Helvetica"/>
                    <a:sym typeface="Helvetica"/>
                    <a:rtl val="0"/>
                  </a:rPr>
                  <a:t>PoP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5BFC1F4-CF04-28DD-437A-622A49380A3E}"/>
                </a:ext>
              </a:extLst>
            </p:cNvPr>
            <p:cNvGrpSpPr/>
            <p:nvPr/>
          </p:nvGrpSpPr>
          <p:grpSpPr>
            <a:xfrm>
              <a:off x="11112277" y="2137307"/>
              <a:ext cx="621489" cy="446278"/>
              <a:chOff x="10966769" y="5489706"/>
              <a:chExt cx="621489" cy="446278"/>
            </a:xfrm>
          </p:grpSpPr>
          <p:pic>
            <p:nvPicPr>
              <p:cNvPr id="1056" name="Graphic 1055" descr="Key outline">
                <a:extLst>
                  <a:ext uri="{FF2B5EF4-FFF2-40B4-BE49-F238E27FC236}">
                    <a16:creationId xmlns:a16="http://schemas.microsoft.com/office/drawing/2014/main" id="{3AD38416-1CFA-B47A-695A-83462A69F5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12186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86BDF1E3-5DF2-D8AB-DB86-207AAB9305CA}"/>
                  </a:ext>
                </a:extLst>
              </p:cNvPr>
              <p:cNvSpPr txBox="1"/>
              <p:nvPr/>
            </p:nvSpPr>
            <p:spPr>
              <a:xfrm>
                <a:off x="10966769" y="5489706"/>
                <a:ext cx="621489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spc="0" baseline="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Wallet AuthN</a:t>
                </a:r>
              </a:p>
            </p:txBody>
          </p:sp>
        </p:grpSp>
        <p:pic>
          <p:nvPicPr>
            <p:cNvPr id="1041" name="Graphic 1040" descr="Lock with solid fill">
              <a:extLst>
                <a:ext uri="{FF2B5EF4-FFF2-40B4-BE49-F238E27FC236}">
                  <a16:creationId xmlns:a16="http://schemas.microsoft.com/office/drawing/2014/main" id="{4855DBF7-FCC6-5867-6066-D3E6DA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358678" y="5823748"/>
              <a:ext cx="375088" cy="375088"/>
            </a:xfrm>
            <a:prstGeom prst="rect">
              <a:avLst/>
            </a:prstGeom>
          </p:spPr>
        </p:pic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36C8A6D7-7166-B536-9A6A-DC357A1368A4}"/>
                </a:ext>
              </a:extLst>
            </p:cNvPr>
            <p:cNvGrpSpPr/>
            <p:nvPr/>
          </p:nvGrpSpPr>
          <p:grpSpPr>
            <a:xfrm>
              <a:off x="11086549" y="5379154"/>
              <a:ext cx="647217" cy="446278"/>
              <a:chOff x="11005275" y="5489706"/>
              <a:chExt cx="647217" cy="446278"/>
            </a:xfrm>
          </p:grpSpPr>
          <p:pic>
            <p:nvPicPr>
              <p:cNvPr id="1053" name="Graphic 1052" descr="Key outline">
                <a:extLst>
                  <a:ext uri="{FF2B5EF4-FFF2-40B4-BE49-F238E27FC236}">
                    <a16:creationId xmlns:a16="http://schemas.microsoft.com/office/drawing/2014/main" id="{2AE2040E-B166-C3F7-466A-F67AF7F65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flipH="1" flipV="1">
                <a:off x="11276420" y="5559912"/>
                <a:ext cx="376072" cy="376072"/>
              </a:xfrm>
              <a:prstGeom prst="rect">
                <a:avLst/>
              </a:prstGeom>
            </p:spPr>
          </p:pic>
          <p:sp>
            <p:nvSpPr>
              <p:cNvPr id="1055" name="TextBox 1054">
                <a:extLst>
                  <a:ext uri="{FF2B5EF4-FFF2-40B4-BE49-F238E27FC236}">
                    <a16:creationId xmlns:a16="http://schemas.microsoft.com/office/drawing/2014/main" id="{AACAD7F3-D016-2131-7DC4-F297F6CCE5FB}"/>
                  </a:ext>
                </a:extLst>
              </p:cNvPr>
              <p:cNvSpPr txBox="1"/>
              <p:nvPr/>
            </p:nvSpPr>
            <p:spPr>
              <a:xfrm>
                <a:off x="11005275" y="5489706"/>
                <a:ext cx="647217" cy="21544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r"/>
                <a:r>
                  <a:rPr lang="en-GB" sz="800" dirty="0">
                    <a:ln/>
                    <a:latin typeface="Helvetica"/>
                    <a:cs typeface="Helvetica"/>
                    <a:sym typeface="Helvetica"/>
                    <a:rtl val="0"/>
                  </a:rPr>
                  <a:t>Attestation</a:t>
                </a:r>
                <a:endParaRPr lang="en-GB" sz="800" spc="0" baseline="0" dirty="0">
                  <a:ln/>
                  <a:latin typeface="Helvetica"/>
                  <a:cs typeface="Helvetica"/>
                  <a:sym typeface="Helvetica"/>
                  <a:rtl val="0"/>
                </a:endParaRPr>
              </a:p>
            </p:txBody>
          </p:sp>
        </p:grpSp>
      </p:grp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6F9AE2E-C4C6-3BD7-F58F-38E81558A30D}"/>
              </a:ext>
            </a:extLst>
          </p:cNvPr>
          <p:cNvSpPr txBox="1"/>
          <p:nvPr/>
        </p:nvSpPr>
        <p:spPr>
          <a:xfrm>
            <a:off x="3611880" y="6347892"/>
            <a:ext cx="826079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PID – Person Identification Data</a:t>
            </a:r>
          </a:p>
          <a:p>
            <a:pPr algn="r"/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STRIDE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–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poofing,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ampering,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R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epudiation,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I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nformation Disclosure,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enial of Service, </a:t>
            </a:r>
            <a:r>
              <a:rPr lang="en-GB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levation of Privilege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732ED6-BB8B-82A8-F668-DBC34B2E962A}"/>
              </a:ext>
            </a:extLst>
          </p:cNvPr>
          <p:cNvSpPr/>
          <p:nvPr/>
        </p:nvSpPr>
        <p:spPr>
          <a:xfrm>
            <a:off x="360000" y="5292000"/>
            <a:ext cx="11520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83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F450BB5-2A77-21A1-3718-1BD7F16C8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004192"/>
              </p:ext>
            </p:extLst>
          </p:nvPr>
        </p:nvGraphicFramePr>
        <p:xfrm>
          <a:off x="1188000" y="1197000"/>
          <a:ext cx="9331431" cy="55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57">
                  <a:extLst>
                    <a:ext uri="{9D8B030D-6E8A-4147-A177-3AD203B41FA5}">
                      <a16:colId xmlns:a16="http://schemas.microsoft.com/office/drawing/2014/main" val="3629829579"/>
                    </a:ext>
                  </a:extLst>
                </a:gridCol>
                <a:gridCol w="7887397">
                  <a:extLst>
                    <a:ext uri="{9D8B030D-6E8A-4147-A177-3AD203B41FA5}">
                      <a16:colId xmlns:a16="http://schemas.microsoft.com/office/drawing/2014/main" val="1873007821"/>
                    </a:ext>
                  </a:extLst>
                </a:gridCol>
                <a:gridCol w="697777">
                  <a:extLst>
                    <a:ext uri="{9D8B030D-6E8A-4147-A177-3AD203B41FA5}">
                      <a16:colId xmlns:a16="http://schemas.microsoft.com/office/drawing/2014/main" val="2724300858"/>
                    </a:ext>
                  </a:extLst>
                </a:gridCol>
              </a:tblGrid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i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Wallet verifies: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i="0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89789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1.a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providers and relying parties are authentic</a:t>
                      </a:r>
                      <a:endParaRPr lang="en-GB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86616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  <a:latin typeface="+mn-lt"/>
                        </a:rPr>
                        <a:t>Providers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52769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825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2.b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holder identity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6011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properly protecting key material (from exfiltration or replay)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5924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adheres to certain policies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571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4.c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(potentially) wallet is audited / approved under regulatory scheme(s)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773373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+mn-lt"/>
                        </a:rPr>
                        <a:t>Relying parties verify: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>
                        <a:solidFill>
                          <a:srgbClr val="172B4D"/>
                        </a:solidFill>
                        <a:latin typeface="-apple-system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55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wallet is authentic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335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person identification data (PID)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74375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3.b.ii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PID belongs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8617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from wallet from authentic source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362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3.c.ii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  <a:latin typeface="+mn-lt"/>
                        </a:rPr>
                        <a:t>attestations of attributes belong to wallet holder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2">
                            <a:lumMod val="10000"/>
                          </a:schemeClr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3789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Wallet </a:t>
            </a:r>
            <a:r>
              <a:rPr lang="da-DK" b="1" dirty="0" err="1"/>
              <a:t>verification</a:t>
            </a:r>
            <a:r>
              <a:rPr lang="da-DK" b="1" dirty="0"/>
              <a:t> checklist (final)</a:t>
            </a:r>
            <a:endParaRPr lang="en-FR" b="1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C4BA49-3CEC-E947-F51F-0B63BB11C68B}"/>
              </a:ext>
            </a:extLst>
          </p:cNvPr>
          <p:cNvGrpSpPr/>
          <p:nvPr/>
        </p:nvGrpSpPr>
        <p:grpSpPr>
          <a:xfrm>
            <a:off x="10087431" y="5186618"/>
            <a:ext cx="311790" cy="1103790"/>
            <a:chOff x="10080000" y="5076000"/>
            <a:chExt cx="311790" cy="1103790"/>
          </a:xfrm>
        </p:grpSpPr>
        <p:pic>
          <p:nvPicPr>
            <p:cNvPr id="45" name="Graphic 44" descr="Checkmark with solid fill">
              <a:extLst>
                <a:ext uri="{FF2B5EF4-FFF2-40B4-BE49-F238E27FC236}">
                  <a16:creationId xmlns:a16="http://schemas.microsoft.com/office/drawing/2014/main" id="{9FAF14E3-132B-A1E7-8B57-A61CEBA89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076000"/>
              <a:ext cx="311790" cy="311790"/>
            </a:xfrm>
            <a:prstGeom prst="rect">
              <a:avLst/>
            </a:prstGeom>
          </p:spPr>
        </p:pic>
        <p:pic>
          <p:nvPicPr>
            <p:cNvPr id="51" name="Graphic 50" descr="Checkmark with solid fill">
              <a:extLst>
                <a:ext uri="{FF2B5EF4-FFF2-40B4-BE49-F238E27FC236}">
                  <a16:creationId xmlns:a16="http://schemas.microsoft.com/office/drawing/2014/main" id="{EBE2520D-683E-C15A-3581-35654A0EF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868000"/>
              <a:ext cx="311790" cy="311790"/>
            </a:xfrm>
            <a:prstGeom prst="rect">
              <a:avLst/>
            </a:prstGeom>
          </p:spPr>
        </p:pic>
      </p:grpSp>
      <p:pic>
        <p:nvPicPr>
          <p:cNvPr id="54" name="Graphic 53" descr="Checkmark with solid fill">
            <a:extLst>
              <a:ext uri="{FF2B5EF4-FFF2-40B4-BE49-F238E27FC236}">
                <a16:creationId xmlns:a16="http://schemas.microsoft.com/office/drawing/2014/main" id="{0262F490-C15B-D7E6-55F0-975B76CAD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87431" y="6374618"/>
            <a:ext cx="311790" cy="311790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19A5A4B9-9A3C-A8BA-0A32-491339128154}"/>
              </a:ext>
            </a:extLst>
          </p:cNvPr>
          <p:cNvGrpSpPr/>
          <p:nvPr/>
        </p:nvGrpSpPr>
        <p:grpSpPr>
          <a:xfrm>
            <a:off x="10087431" y="1622618"/>
            <a:ext cx="311790" cy="3479790"/>
            <a:chOff x="10080000" y="1512000"/>
            <a:chExt cx="311790" cy="3479790"/>
          </a:xfrm>
        </p:grpSpPr>
        <p:pic>
          <p:nvPicPr>
            <p:cNvPr id="4" name="Graphic 3" descr="Checkmark with solid fill">
              <a:extLst>
                <a:ext uri="{FF2B5EF4-FFF2-40B4-BE49-F238E27FC236}">
                  <a16:creationId xmlns:a16="http://schemas.microsoft.com/office/drawing/2014/main" id="{A11CF4AD-94AE-9164-2C02-4BD2E49E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1512000"/>
              <a:ext cx="311790" cy="311790"/>
            </a:xfrm>
            <a:prstGeom prst="rect">
              <a:avLst/>
            </a:prstGeom>
          </p:spPr>
        </p:pic>
        <p:pic>
          <p:nvPicPr>
            <p:cNvPr id="42" name="Graphic 41" descr="Checkmark with solid fill">
              <a:extLst>
                <a:ext uri="{FF2B5EF4-FFF2-40B4-BE49-F238E27FC236}">
                  <a16:creationId xmlns:a16="http://schemas.microsoft.com/office/drawing/2014/main" id="{4E86F70E-404C-EC9D-1382-627EA169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4680000"/>
              <a:ext cx="311790" cy="311790"/>
            </a:xfrm>
            <a:prstGeom prst="rect">
              <a:avLst/>
            </a:prstGeom>
          </p:spPr>
        </p:pic>
        <p:pic>
          <p:nvPicPr>
            <p:cNvPr id="71" name="Graphic 70" descr="Checkmark with solid fill">
              <a:extLst>
                <a:ext uri="{FF2B5EF4-FFF2-40B4-BE49-F238E27FC236}">
                  <a16:creationId xmlns:a16="http://schemas.microsoft.com/office/drawing/2014/main" id="{027C99EA-6068-0B80-2FA7-11154FFC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290714"/>
              <a:ext cx="311790" cy="311790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9FE279-8485-4345-714B-31C4886BC3D4}"/>
              </a:ext>
            </a:extLst>
          </p:cNvPr>
          <p:cNvGrpSpPr/>
          <p:nvPr/>
        </p:nvGrpSpPr>
        <p:grpSpPr>
          <a:xfrm>
            <a:off x="10087431" y="2797332"/>
            <a:ext cx="311790" cy="3097076"/>
            <a:chOff x="10080000" y="2686714"/>
            <a:chExt cx="311790" cy="3097076"/>
          </a:xfrm>
        </p:grpSpPr>
        <p:pic>
          <p:nvPicPr>
            <p:cNvPr id="48" name="Graphic 47" descr="Checkmark with solid fill">
              <a:extLst>
                <a:ext uri="{FF2B5EF4-FFF2-40B4-BE49-F238E27FC236}">
                  <a16:creationId xmlns:a16="http://schemas.microsoft.com/office/drawing/2014/main" id="{2A5D8AB9-5D5E-6800-941B-73DD107D4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5472000"/>
              <a:ext cx="311790" cy="311790"/>
            </a:xfrm>
            <a:prstGeom prst="rect">
              <a:avLst/>
            </a:prstGeom>
          </p:spPr>
        </p:pic>
        <p:pic>
          <p:nvPicPr>
            <p:cNvPr id="69" name="Graphic 68" descr="Checkmark with solid fill">
              <a:extLst>
                <a:ext uri="{FF2B5EF4-FFF2-40B4-BE49-F238E27FC236}">
                  <a16:creationId xmlns:a16="http://schemas.microsoft.com/office/drawing/2014/main" id="{79C10FBD-3463-47BA-35D4-7549988F0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2686714"/>
              <a:ext cx="311790" cy="31179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E271A00-4489-EC07-C3FD-0A08835BC6EB}"/>
              </a:ext>
            </a:extLst>
          </p:cNvPr>
          <p:cNvGrpSpPr/>
          <p:nvPr/>
        </p:nvGrpSpPr>
        <p:grpSpPr>
          <a:xfrm>
            <a:off x="1159431" y="3219905"/>
            <a:ext cx="9360000" cy="1059082"/>
            <a:chOff x="1152000" y="3109287"/>
            <a:chExt cx="9360000" cy="1059082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FFE74C3-0295-3D06-6687-A1AA98772244}"/>
                </a:ext>
              </a:extLst>
            </p:cNvPr>
            <p:cNvSpPr/>
            <p:nvPr/>
          </p:nvSpPr>
          <p:spPr>
            <a:xfrm>
              <a:off x="1152000" y="3109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80D0CC60-9C7A-807F-D451-6774B39146C6}"/>
                </a:ext>
              </a:extLst>
            </p:cNvPr>
            <p:cNvSpPr/>
            <p:nvPr/>
          </p:nvSpPr>
          <p:spPr>
            <a:xfrm>
              <a:off x="1152000" y="3505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71338B4A-1BD6-734C-9B3E-84FE87767EE5}"/>
                </a:ext>
              </a:extLst>
            </p:cNvPr>
            <p:cNvSpPr/>
            <p:nvPr/>
          </p:nvSpPr>
          <p:spPr>
            <a:xfrm>
              <a:off x="1152000" y="3901287"/>
              <a:ext cx="9360000" cy="267082"/>
            </a:xfrm>
            <a:prstGeom prst="roundRect">
              <a:avLst/>
            </a:prstGeom>
            <a:solidFill>
              <a:schemeClr val="accent5">
                <a:lumMod val="50000"/>
                <a:alpha val="25000"/>
              </a:schemeClr>
            </a:solidFill>
            <a:ln w="222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703890E-9DA4-339B-5A26-F5E7DC5EB12A}"/>
              </a:ext>
            </a:extLst>
          </p:cNvPr>
          <p:cNvGrpSpPr/>
          <p:nvPr/>
        </p:nvGrpSpPr>
        <p:grpSpPr>
          <a:xfrm>
            <a:off x="10087431" y="3193332"/>
            <a:ext cx="311790" cy="1103790"/>
            <a:chOff x="10080000" y="3082714"/>
            <a:chExt cx="311790" cy="1103790"/>
          </a:xfrm>
        </p:grpSpPr>
        <p:pic>
          <p:nvPicPr>
            <p:cNvPr id="67" name="Graphic 66" descr="Checkmark with solid fill">
              <a:extLst>
                <a:ext uri="{FF2B5EF4-FFF2-40B4-BE49-F238E27FC236}">
                  <a16:creationId xmlns:a16="http://schemas.microsoft.com/office/drawing/2014/main" id="{2FBEF98A-568B-1FC6-0DB2-81470D8BA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3082714"/>
              <a:ext cx="311790" cy="311790"/>
            </a:xfrm>
            <a:prstGeom prst="rect">
              <a:avLst/>
            </a:prstGeom>
          </p:spPr>
        </p:pic>
        <p:pic>
          <p:nvPicPr>
            <p:cNvPr id="65" name="Graphic 64" descr="Checkmark with solid fill">
              <a:extLst>
                <a:ext uri="{FF2B5EF4-FFF2-40B4-BE49-F238E27FC236}">
                  <a16:creationId xmlns:a16="http://schemas.microsoft.com/office/drawing/2014/main" id="{914F2E78-5A2E-BB79-826B-396489806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3478714"/>
              <a:ext cx="311790" cy="311790"/>
            </a:xfrm>
            <a:prstGeom prst="rect">
              <a:avLst/>
            </a:prstGeom>
          </p:spPr>
        </p:pic>
        <p:pic>
          <p:nvPicPr>
            <p:cNvPr id="63" name="Graphic 62" descr="Checkmark with solid fill">
              <a:extLst>
                <a:ext uri="{FF2B5EF4-FFF2-40B4-BE49-F238E27FC236}">
                  <a16:creationId xmlns:a16="http://schemas.microsoft.com/office/drawing/2014/main" id="{28DD5555-9179-4A8E-07ED-D7A77A894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80000" y="3874714"/>
              <a:ext cx="311790" cy="311790"/>
            </a:xfrm>
            <a:prstGeom prst="rect">
              <a:avLst/>
            </a:prstGeom>
          </p:spPr>
        </p:pic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6D5438-4810-71E1-CB3D-3F093137F4F4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8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b="1" dirty="0"/>
              <a:t>‘Wallet </a:t>
            </a:r>
            <a:r>
              <a:rPr lang="da-DK" sz="2400" b="1" dirty="0" err="1"/>
              <a:t>verification</a:t>
            </a:r>
            <a:r>
              <a:rPr lang="da-DK" sz="2400" b="1" dirty="0"/>
              <a:t>’ - EUDI </a:t>
            </a:r>
            <a:r>
              <a:rPr lang="da-DK" sz="2400" b="1" dirty="0" err="1"/>
              <a:t>wallet</a:t>
            </a:r>
            <a:r>
              <a:rPr lang="da-DK" sz="2400" b="1" dirty="0"/>
              <a:t> </a:t>
            </a:r>
            <a:r>
              <a:rPr lang="da-DK" sz="2400" b="1" dirty="0" err="1"/>
              <a:t>building</a:t>
            </a:r>
            <a:r>
              <a:rPr lang="da-DK" sz="2400" b="1" dirty="0"/>
              <a:t> </a:t>
            </a:r>
            <a:r>
              <a:rPr lang="da-DK" sz="2400" b="1" dirty="0" err="1"/>
              <a:t>blocks</a:t>
            </a:r>
            <a:r>
              <a:rPr lang="da-DK" sz="2400" b="1" dirty="0"/>
              <a:t> in support of</a:t>
            </a:r>
            <a:endParaRPr lang="en-FR" sz="2400" b="1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211C03-4561-9321-7A03-26CA31CF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148" y="833400"/>
            <a:ext cx="3388452" cy="617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6C95FE2-5C94-0813-19EC-AB6C79FDDC6F}"/>
              </a:ext>
            </a:extLst>
          </p:cNvPr>
          <p:cNvSpPr/>
          <p:nvPr/>
        </p:nvSpPr>
        <p:spPr>
          <a:xfrm>
            <a:off x="4918075" y="5060566"/>
            <a:ext cx="2490425" cy="1116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Platform</a:t>
            </a:r>
          </a:p>
          <a:p>
            <a:pPr algn="ctr"/>
            <a:r>
              <a:rPr lang="en-GB" sz="1600" dirty="0"/>
              <a:t>Android / iOS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99F307-F1C9-BEC0-7ABE-5B9D712FFB66}"/>
              </a:ext>
            </a:extLst>
          </p:cNvPr>
          <p:cNvSpPr/>
          <p:nvPr/>
        </p:nvSpPr>
        <p:spPr>
          <a:xfrm>
            <a:off x="4918075" y="3939005"/>
            <a:ext cx="2490425" cy="1116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Security core</a:t>
            </a:r>
            <a:endParaRPr lang="en-GB" sz="1600" dirty="0"/>
          </a:p>
          <a:p>
            <a:pPr algn="ctr"/>
            <a:r>
              <a:rPr lang="en-GB" sz="1600" dirty="0"/>
              <a:t>3</a:t>
            </a:r>
            <a:r>
              <a:rPr lang="en-GB" sz="1600" baseline="30000" dirty="0"/>
              <a:t>rd</a:t>
            </a:r>
            <a:r>
              <a:rPr lang="en-GB" sz="1600" dirty="0"/>
              <a:t> party security vendor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DE5048-A120-2C37-6BAA-4F0AF2EE9A74}"/>
              </a:ext>
            </a:extLst>
          </p:cNvPr>
          <p:cNvSpPr/>
          <p:nvPr/>
        </p:nvSpPr>
        <p:spPr>
          <a:xfrm>
            <a:off x="4918075" y="2817443"/>
            <a:ext cx="2490425" cy="1116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Functional code</a:t>
            </a:r>
          </a:p>
          <a:p>
            <a:pPr algn="ctr"/>
            <a:r>
              <a:rPr lang="en-GB" sz="1600" dirty="0"/>
              <a:t>Reference implementation Sept 2023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B2FF7-71D5-632E-C0BC-5755876ECC83}"/>
              </a:ext>
            </a:extLst>
          </p:cNvPr>
          <p:cNvSpPr/>
          <p:nvPr/>
        </p:nvSpPr>
        <p:spPr>
          <a:xfrm>
            <a:off x="4918075" y="1695881"/>
            <a:ext cx="2490425" cy="1116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User Experience (UX)</a:t>
            </a:r>
          </a:p>
          <a:p>
            <a:pPr algn="ctr"/>
            <a:r>
              <a:rPr lang="en-GB" sz="1600" dirty="0"/>
              <a:t>Wallet provider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331C64-98C6-3702-AE96-89EB4E6D1ED0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9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15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AFF9CEB-92A9-CAC0-3AB5-45C4F21A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722547"/>
              </p:ext>
            </p:extLst>
          </p:nvPr>
        </p:nvGraphicFramePr>
        <p:xfrm>
          <a:off x="3829139" y="1849828"/>
          <a:ext cx="8265449" cy="476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4106">
                  <a:extLst>
                    <a:ext uri="{9D8B030D-6E8A-4147-A177-3AD203B41FA5}">
                      <a16:colId xmlns:a16="http://schemas.microsoft.com/office/drawing/2014/main" val="4109008795"/>
                    </a:ext>
                  </a:extLst>
                </a:gridCol>
                <a:gridCol w="4841343">
                  <a:extLst>
                    <a:ext uri="{9D8B030D-6E8A-4147-A177-3AD203B41FA5}">
                      <a16:colId xmlns:a16="http://schemas.microsoft.com/office/drawing/2014/main" val="2473310520"/>
                    </a:ext>
                  </a:extLst>
                </a:gridCol>
              </a:tblGrid>
              <a:tr h="5223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a-DK" sz="280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Cryptomathic</a:t>
                      </a:r>
                      <a:r>
                        <a:rPr lang="da-DK" sz="2800" dirty="0"/>
                        <a:t> Mobile Application Security Core (</a:t>
                      </a:r>
                      <a:r>
                        <a:rPr lang="da-DK" sz="280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MASC</a:t>
                      </a:r>
                      <a:r>
                        <a:rPr lang="da-DK" sz="2800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a-DK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34092"/>
                  </a:ext>
                </a:extLst>
              </a:tr>
              <a:tr h="92175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da-DK" sz="1800" b="1" dirty="0" err="1"/>
                        <a:t>Protects</a:t>
                      </a:r>
                      <a:r>
                        <a:rPr lang="da-DK" sz="1800" b="1" dirty="0"/>
                        <a:t> </a:t>
                      </a:r>
                      <a:r>
                        <a:rPr lang="da-DK" sz="1800" b="1" dirty="0" err="1"/>
                        <a:t>against</a:t>
                      </a:r>
                      <a:r>
                        <a:rPr lang="da-DK" sz="1800" b="1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800" dirty="0"/>
                        <a:t>Information disclosure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800" dirty="0" err="1"/>
                        <a:t>Tampering</a:t>
                      </a:r>
                      <a:endParaRPr lang="da-DK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sz="1800" b="1" dirty="0" err="1"/>
                        <a:t>Protects</a:t>
                      </a:r>
                      <a:r>
                        <a:rPr lang="da-DK" sz="1800" b="1" dirty="0"/>
                        <a:t> </a:t>
                      </a:r>
                      <a:r>
                        <a:rPr lang="da-DK" sz="1800" b="1" dirty="0" err="1"/>
                        <a:t>when</a:t>
                      </a:r>
                      <a:r>
                        <a:rPr lang="da-DK" sz="1800" b="1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800" dirty="0"/>
                        <a:t>Wallet app is running (Dynamic </a:t>
                      </a:r>
                      <a:r>
                        <a:rPr lang="da-DK" sz="1800" dirty="0" err="1"/>
                        <a:t>protection</a:t>
                      </a:r>
                      <a:r>
                        <a:rPr lang="da-DK" sz="1800" dirty="0"/>
                        <a:t>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800" dirty="0"/>
                        <a:t>Wallet app is not running (</a:t>
                      </a:r>
                      <a:r>
                        <a:rPr lang="da-DK" sz="1800" dirty="0" err="1"/>
                        <a:t>Static</a:t>
                      </a:r>
                      <a:r>
                        <a:rPr lang="da-DK" sz="1800" dirty="0"/>
                        <a:t> </a:t>
                      </a:r>
                      <a:r>
                        <a:rPr lang="da-DK" sz="1800" dirty="0" err="1"/>
                        <a:t>protection</a:t>
                      </a:r>
                      <a:r>
                        <a:rPr lang="da-DK" sz="18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853087"/>
                  </a:ext>
                </a:extLst>
              </a:tr>
              <a:tr h="64522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a-DK" sz="1800" b="1" dirty="0" err="1"/>
                        <a:t>Includes</a:t>
                      </a:r>
                      <a:r>
                        <a:rPr lang="da-DK" sz="1800" b="1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a-DK" sz="1800" dirty="0"/>
                        <a:t>Assurance </a:t>
                      </a:r>
                      <a:r>
                        <a:rPr lang="da-DK" sz="1800" dirty="0" err="1"/>
                        <a:t>protocol</a:t>
                      </a:r>
                      <a:r>
                        <a:rPr lang="da-DK" sz="1800" dirty="0"/>
                        <a:t> with </a:t>
                      </a:r>
                      <a:r>
                        <a:rPr lang="da-DK" sz="1800" dirty="0" err="1"/>
                        <a:t>posture</a:t>
                      </a:r>
                      <a:r>
                        <a:rPr lang="da-DK" sz="1800" dirty="0"/>
                        <a:t> / </a:t>
                      </a:r>
                      <a:r>
                        <a:rPr lang="da-DK" sz="1800" dirty="0" err="1"/>
                        <a:t>health</a:t>
                      </a:r>
                      <a:r>
                        <a:rPr lang="da-DK" sz="1800" dirty="0"/>
                        <a:t> data (for </a:t>
                      </a:r>
                      <a:r>
                        <a:rPr lang="da-DK" sz="1800" dirty="0" err="1"/>
                        <a:t>use</a:t>
                      </a:r>
                      <a:r>
                        <a:rPr lang="da-DK" sz="1800" dirty="0"/>
                        <a:t> in attestations)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a-DK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119665"/>
                  </a:ext>
                </a:extLst>
              </a:tr>
              <a:tr h="36870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da-DK" sz="1800" b="1" dirty="0" err="1"/>
                        <a:t>Highlighted</a:t>
                      </a:r>
                      <a:r>
                        <a:rPr lang="da-DK" sz="1800" b="1" dirty="0"/>
                        <a:t> features for EUDI </a:t>
                      </a:r>
                      <a:r>
                        <a:rPr lang="da-DK" sz="1800" b="1" dirty="0" err="1"/>
                        <a:t>wallet</a:t>
                      </a:r>
                      <a:r>
                        <a:rPr lang="da-DK" sz="1800" b="1" dirty="0"/>
                        <a:t>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a-DK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07415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Device identification / binding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Debugger / emulator detection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000322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Root / jailbreak detection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11791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Protected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/>
                        <a:t>Hooking detection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62484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Access token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/>
                        <a:t>Runtime integrity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6282"/>
                  </a:ext>
                </a:extLst>
              </a:tr>
              <a:tr h="36870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Protected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/>
                        <a:t>Transport / payload encryption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761761"/>
                  </a:ext>
                </a:extLst>
              </a:tr>
              <a:tr h="460877">
                <a:tc gridSpan="2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2400" b="1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1788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618A4DC-DC7E-888D-BF90-A66665A1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b="1" dirty="0"/>
              <a:t>‘Wallet </a:t>
            </a:r>
            <a:r>
              <a:rPr lang="da-DK" sz="2400" b="1" dirty="0" err="1"/>
              <a:t>verification</a:t>
            </a:r>
            <a:r>
              <a:rPr lang="da-DK" sz="2400" b="1" dirty="0"/>
              <a:t>’ - EUDI </a:t>
            </a:r>
            <a:r>
              <a:rPr lang="da-DK" sz="2400" b="1" dirty="0" err="1"/>
              <a:t>wallet</a:t>
            </a:r>
            <a:r>
              <a:rPr lang="da-DK" sz="2400" b="1" dirty="0"/>
              <a:t> </a:t>
            </a:r>
            <a:r>
              <a:rPr lang="da-DK" sz="2400" b="1" dirty="0" err="1"/>
              <a:t>building</a:t>
            </a:r>
            <a:r>
              <a:rPr lang="da-DK" sz="2400" b="1" dirty="0"/>
              <a:t> </a:t>
            </a:r>
            <a:r>
              <a:rPr lang="da-DK" sz="2400" b="1" dirty="0" err="1"/>
              <a:t>blocks</a:t>
            </a:r>
            <a:r>
              <a:rPr lang="da-DK" sz="2400" b="1" dirty="0"/>
              <a:t> in support of</a:t>
            </a:r>
            <a:endParaRPr lang="en-FR" sz="24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4FB4CC-F8C6-C6BB-9FDE-C6BCFFCFBD61}"/>
              </a:ext>
            </a:extLst>
          </p:cNvPr>
          <p:cNvGrpSpPr/>
          <p:nvPr/>
        </p:nvGrpSpPr>
        <p:grpSpPr>
          <a:xfrm>
            <a:off x="4460148" y="833400"/>
            <a:ext cx="3388452" cy="6178430"/>
            <a:chOff x="4460148" y="751233"/>
            <a:chExt cx="3388452" cy="617843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7211C03-4561-9321-7A03-26CA31CFA1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148" y="751233"/>
              <a:ext cx="3388452" cy="61784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C95FE2-5C94-0813-19EC-AB6C79FDDC6F}"/>
                </a:ext>
              </a:extLst>
            </p:cNvPr>
            <p:cNvSpPr/>
            <p:nvPr/>
          </p:nvSpPr>
          <p:spPr>
            <a:xfrm>
              <a:off x="4918075" y="4978399"/>
              <a:ext cx="2490425" cy="1116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Platform</a:t>
              </a:r>
            </a:p>
            <a:p>
              <a:pPr algn="ctr"/>
              <a:r>
                <a:rPr lang="en-GB" sz="1600" dirty="0"/>
                <a:t>Android / iOS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99F307-F1C9-BEC0-7ABE-5B9D712FFB66}"/>
                </a:ext>
              </a:extLst>
            </p:cNvPr>
            <p:cNvSpPr/>
            <p:nvPr/>
          </p:nvSpPr>
          <p:spPr>
            <a:xfrm>
              <a:off x="4918075" y="3856838"/>
              <a:ext cx="2490425" cy="11160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Security core</a:t>
              </a:r>
              <a:endParaRPr lang="en-GB" sz="1600" dirty="0"/>
            </a:p>
            <a:p>
              <a:pPr algn="ctr"/>
              <a:r>
                <a:rPr lang="en-GB" sz="1600" dirty="0"/>
                <a:t>3</a:t>
              </a:r>
              <a:r>
                <a:rPr lang="en-GB" sz="1600" baseline="30000" dirty="0"/>
                <a:t>rd</a:t>
              </a:r>
              <a:r>
                <a:rPr lang="en-GB" sz="1600" dirty="0"/>
                <a:t> party security vendor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DE5048-A120-2C37-6BAA-4F0AF2EE9A74}"/>
                </a:ext>
              </a:extLst>
            </p:cNvPr>
            <p:cNvSpPr/>
            <p:nvPr/>
          </p:nvSpPr>
          <p:spPr>
            <a:xfrm>
              <a:off x="4918075" y="2735276"/>
              <a:ext cx="2490425" cy="1116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Functional code</a:t>
              </a:r>
            </a:p>
            <a:p>
              <a:pPr algn="ctr"/>
              <a:r>
                <a:rPr lang="en-GB" sz="1600" dirty="0"/>
                <a:t>Reference implementation Sept 2023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36B2FF7-71D5-632E-C0BC-5755876ECC83}"/>
                </a:ext>
              </a:extLst>
            </p:cNvPr>
            <p:cNvSpPr/>
            <p:nvPr/>
          </p:nvSpPr>
          <p:spPr>
            <a:xfrm>
              <a:off x="4918075" y="1613714"/>
              <a:ext cx="2490425" cy="1116000"/>
            </a:xfrm>
            <a:prstGeom prst="rect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User Experience (UX)</a:t>
              </a:r>
            </a:p>
            <a:p>
              <a:pPr algn="ctr"/>
              <a:r>
                <a:rPr lang="en-GB" sz="1600" dirty="0"/>
                <a:t>Wallet provider</a:t>
              </a:r>
            </a:p>
          </p:txBody>
        </p:sp>
      </p:grpSp>
      <p:sp>
        <p:nvSpPr>
          <p:cNvPr id="5" name="Left Brace 4">
            <a:extLst>
              <a:ext uri="{FF2B5EF4-FFF2-40B4-BE49-F238E27FC236}">
                <a16:creationId xmlns:a16="http://schemas.microsoft.com/office/drawing/2014/main" id="{DFEE5D72-53A2-9934-544E-B889CFBD67F6}"/>
              </a:ext>
            </a:extLst>
          </p:cNvPr>
          <p:cNvSpPr/>
          <p:nvPr/>
        </p:nvSpPr>
        <p:spPr>
          <a:xfrm>
            <a:off x="3582184" y="1965602"/>
            <a:ext cx="304702" cy="4105784"/>
          </a:xfrm>
          <a:prstGeom prst="leftBrace">
            <a:avLst>
              <a:gd name="adj1" fmla="val 34607"/>
              <a:gd name="adj2" fmla="val 61447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331C64-98C6-3702-AE96-89EB4E6D1ED0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10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29167E-6 -7.40741E-7 L -0.33933 0.001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66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2BF482-E90E-8431-8394-E79717B0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6" y="1327408"/>
            <a:ext cx="9078098" cy="50627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A5BE0C-E252-589E-C412-D53FF6BF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Overview of the EUDI Wallet roles </a:t>
            </a:r>
            <a:endParaRPr lang="en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C7DA9B-3A76-CCDB-251C-2F4CFF2ADE60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C24BF8-2D94-1F2D-D3E6-651F9D8ADF3C}"/>
              </a:ext>
            </a:extLst>
          </p:cNvPr>
          <p:cNvSpPr txBox="1"/>
          <p:nvPr/>
        </p:nvSpPr>
        <p:spPr>
          <a:xfrm>
            <a:off x="3611880" y="6532558"/>
            <a:ext cx="8260797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</a:t>
            </a:r>
            <a:r>
              <a:rPr lang="en-GB" sz="1200" b="0" i="0" u="none" strike="noStrike" dirty="0">
                <a:effectLst/>
                <a:latin typeface="-apple-system"/>
                <a:hlinkClick r:id="rId4" tooltip="https://github.com/eu-digital-identity-wallet/architecture-and-reference-framework/releases/download/v1.1.0/ARF-v1.1.0-for-publication.pdf"/>
              </a:rPr>
              <a:t>EUDI Architecture and Reference Framework (ARF) v1.1.0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13A6F-A790-37B5-43C2-24E65DDEA46C}"/>
              </a:ext>
            </a:extLst>
          </p:cNvPr>
          <p:cNvSpPr txBox="1"/>
          <p:nvPr/>
        </p:nvSpPr>
        <p:spPr>
          <a:xfrm>
            <a:off x="9305314" y="1400436"/>
            <a:ext cx="2820786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End Users of EUDI Wallets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EUDI Wallet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Person Identification Data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Trusted Lists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Qualified Electronic Attestation of Attributes (QEAA)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Non-qualified Electronic Attestation of Attributes (EAA)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Qualified and non-qualified certificate for electronic signature/seal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Authentic Sources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Relying Parties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 Conformity Assessment Bodies (CAB)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Supervisory bodies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Device manufacturers and related subsystems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(Q)EAA Schema Providers</a:t>
            </a:r>
          </a:p>
          <a:p>
            <a:pPr marL="228600" indent="-228600">
              <a:spcAft>
                <a:spcPts val="900"/>
              </a:spcAft>
              <a:buFont typeface="+mj-lt"/>
              <a:buAutoNum type="arabicPeriod"/>
            </a:pPr>
            <a:r>
              <a:rPr lang="en-GB" sz="1200" dirty="0"/>
              <a:t>National Accreditation Bodies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59D1B7-1D3E-38CC-9F4C-DB8F130D121B}"/>
              </a:ext>
            </a:extLst>
          </p:cNvPr>
          <p:cNvGrpSpPr/>
          <p:nvPr/>
        </p:nvGrpSpPr>
        <p:grpSpPr>
          <a:xfrm>
            <a:off x="5992801" y="1513093"/>
            <a:ext cx="2959152" cy="2439782"/>
            <a:chOff x="5992801" y="1513093"/>
            <a:chExt cx="2959152" cy="243978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FF76F6E-67A3-31FD-0D48-BF79849494E3}"/>
                </a:ext>
              </a:extLst>
            </p:cNvPr>
            <p:cNvSpPr/>
            <p:nvPr/>
          </p:nvSpPr>
          <p:spPr>
            <a:xfrm>
              <a:off x="7742278" y="316230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C33081-AB94-0953-10EA-BDD24B435194}"/>
                </a:ext>
              </a:extLst>
            </p:cNvPr>
            <p:cNvSpPr txBox="1"/>
            <p:nvPr/>
          </p:nvSpPr>
          <p:spPr>
            <a:xfrm>
              <a:off x="5992801" y="1513093"/>
              <a:ext cx="1634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Wallet is made available on AppStore for download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BF12A69-30D0-104E-631E-7D56DE9D6CFE}"/>
                </a:ext>
              </a:extLst>
            </p:cNvPr>
            <p:cNvCxnSpPr>
              <a:cxnSpLocks/>
              <a:stCxn id="4" idx="0"/>
              <a:endCxn id="5" idx="2"/>
            </p:cNvCxnSpPr>
            <p:nvPr/>
          </p:nvCxnSpPr>
          <p:spPr>
            <a:xfrm flipH="1" flipV="1">
              <a:off x="6809868" y="2159424"/>
              <a:ext cx="1537248" cy="1002876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A5ED21-E31F-A075-E860-2D99541A995F}"/>
              </a:ext>
            </a:extLst>
          </p:cNvPr>
          <p:cNvGrpSpPr/>
          <p:nvPr/>
        </p:nvGrpSpPr>
        <p:grpSpPr>
          <a:xfrm>
            <a:off x="2803757" y="1391498"/>
            <a:ext cx="3795617" cy="2561377"/>
            <a:chOff x="2803757" y="1391498"/>
            <a:chExt cx="3795617" cy="256137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65AC615-2711-B529-DC29-F7D4F945474B}"/>
                </a:ext>
              </a:extLst>
            </p:cNvPr>
            <p:cNvSpPr/>
            <p:nvPr/>
          </p:nvSpPr>
          <p:spPr>
            <a:xfrm>
              <a:off x="5389699" y="316230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56EFFCC-F1FA-9612-63F6-99E1DE98D89D}"/>
                </a:ext>
              </a:extLst>
            </p:cNvPr>
            <p:cNvSpPr txBox="1"/>
            <p:nvPr/>
          </p:nvSpPr>
          <p:spPr>
            <a:xfrm>
              <a:off x="4441411" y="1391498"/>
              <a:ext cx="16744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Wallet is personalised by User using</a:t>
              </a:r>
              <a:br>
                <a:rPr lang="en-GB" sz="1200" dirty="0">
                  <a:solidFill>
                    <a:srgbClr val="EF576D"/>
                  </a:solidFill>
                </a:rPr>
              </a:br>
              <a:r>
                <a:rPr lang="en-GB" sz="1200" dirty="0">
                  <a:solidFill>
                    <a:srgbClr val="EF576D"/>
                  </a:solidFill>
                </a:rPr>
                <a:t>National eID scheme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EA424CA-6F8F-8CCB-50CC-95A137DEA8F6}"/>
                </a:ext>
              </a:extLst>
            </p:cNvPr>
            <p:cNvCxnSpPr>
              <a:cxnSpLocks/>
              <a:stCxn id="15" idx="0"/>
              <a:endCxn id="16" idx="2"/>
            </p:cNvCxnSpPr>
            <p:nvPr/>
          </p:nvCxnSpPr>
          <p:spPr>
            <a:xfrm flipH="1" flipV="1">
              <a:off x="5278626" y="2037829"/>
              <a:ext cx="715911" cy="1124471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817A61E-4EDA-E3D2-7C8F-B51380B818F5}"/>
                </a:ext>
              </a:extLst>
            </p:cNvPr>
            <p:cNvSpPr/>
            <p:nvPr/>
          </p:nvSpPr>
          <p:spPr>
            <a:xfrm>
              <a:off x="2803757" y="139259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4EA215B-957C-9000-229A-63EACCC1C217}"/>
                </a:ext>
              </a:extLst>
            </p:cNvPr>
            <p:cNvCxnSpPr>
              <a:cxnSpLocks/>
              <a:stCxn id="16" idx="1"/>
              <a:endCxn id="18" idx="3"/>
            </p:cNvCxnSpPr>
            <p:nvPr/>
          </p:nvCxnSpPr>
          <p:spPr>
            <a:xfrm flipH="1">
              <a:off x="4013432" y="1714664"/>
              <a:ext cx="427979" cy="73214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AB02D74-9B2A-472D-985C-1BF1C7428B52}"/>
              </a:ext>
            </a:extLst>
          </p:cNvPr>
          <p:cNvGrpSpPr/>
          <p:nvPr/>
        </p:nvGrpSpPr>
        <p:grpSpPr>
          <a:xfrm>
            <a:off x="5219933" y="3980836"/>
            <a:ext cx="3719874" cy="790575"/>
            <a:chOff x="5260654" y="3162300"/>
            <a:chExt cx="3719874" cy="790575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B812DD0-F665-F84D-39A8-CFB805B9CF48}"/>
                </a:ext>
              </a:extLst>
            </p:cNvPr>
            <p:cNvSpPr/>
            <p:nvPr/>
          </p:nvSpPr>
          <p:spPr>
            <a:xfrm>
              <a:off x="7770853" y="316230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FCF4DD-14E8-C040-4DD3-B71A129E6CAE}"/>
                </a:ext>
              </a:extLst>
            </p:cNvPr>
            <p:cNvSpPr txBox="1"/>
            <p:nvPr/>
          </p:nvSpPr>
          <p:spPr>
            <a:xfrm>
              <a:off x="5260654" y="3675876"/>
              <a:ext cx="148090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Wallet is developed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27253FD-55F0-56A5-3598-6D66B63EAE6C}"/>
                </a:ext>
              </a:extLst>
            </p:cNvPr>
            <p:cNvCxnSpPr>
              <a:cxnSpLocks/>
              <a:stCxn id="26" idx="1"/>
              <a:endCxn id="27" idx="3"/>
            </p:cNvCxnSpPr>
            <p:nvPr/>
          </p:nvCxnSpPr>
          <p:spPr>
            <a:xfrm flipH="1">
              <a:off x="6741559" y="3557588"/>
              <a:ext cx="1029294" cy="256788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C2EDDC6-2DFB-C262-A685-469ABA2B3457}"/>
              </a:ext>
            </a:extLst>
          </p:cNvPr>
          <p:cNvGrpSpPr/>
          <p:nvPr/>
        </p:nvGrpSpPr>
        <p:grpSpPr>
          <a:xfrm>
            <a:off x="1094794" y="2211126"/>
            <a:ext cx="2902970" cy="2362124"/>
            <a:chOff x="2803757" y="1392590"/>
            <a:chExt cx="2902970" cy="2362124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231A2B90-44DE-4779-3DA8-70A997CE244C}"/>
                </a:ext>
              </a:extLst>
            </p:cNvPr>
            <p:cNvSpPr/>
            <p:nvPr/>
          </p:nvSpPr>
          <p:spPr>
            <a:xfrm>
              <a:off x="4497052" y="1439483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1913D6C-7D6C-3453-44D7-51660F5C44C0}"/>
                </a:ext>
              </a:extLst>
            </p:cNvPr>
            <p:cNvSpPr txBox="1"/>
            <p:nvPr/>
          </p:nvSpPr>
          <p:spPr>
            <a:xfrm>
              <a:off x="2821646" y="2739051"/>
              <a:ext cx="15162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Passport office makes passport details available to user by Trust Services Provider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F3280B9-EB02-59D7-9A6F-32BA32E70AC8}"/>
                </a:ext>
              </a:extLst>
            </p:cNvPr>
            <p:cNvCxnSpPr>
              <a:cxnSpLocks/>
              <a:stCxn id="44" idx="2"/>
              <a:endCxn id="45" idx="0"/>
            </p:cNvCxnSpPr>
            <p:nvPr/>
          </p:nvCxnSpPr>
          <p:spPr>
            <a:xfrm flipH="1">
              <a:off x="3579755" y="2230058"/>
              <a:ext cx="1522135" cy="508993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6FE3087-B19C-FE93-B085-DCE55B6A2EE1}"/>
                </a:ext>
              </a:extLst>
            </p:cNvPr>
            <p:cNvSpPr/>
            <p:nvPr/>
          </p:nvSpPr>
          <p:spPr>
            <a:xfrm>
              <a:off x="2803757" y="139259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F61EAAE-10FD-9FA4-BF85-0B794418F707}"/>
                </a:ext>
              </a:extLst>
            </p:cNvPr>
            <p:cNvCxnSpPr>
              <a:cxnSpLocks/>
              <a:stCxn id="45" idx="0"/>
              <a:endCxn id="47" idx="2"/>
            </p:cNvCxnSpPr>
            <p:nvPr/>
          </p:nvCxnSpPr>
          <p:spPr>
            <a:xfrm flipH="1" flipV="1">
              <a:off x="3408595" y="2183165"/>
              <a:ext cx="171160" cy="555886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9AB27CB-F188-66AF-88CC-0087AA326ECB}"/>
              </a:ext>
            </a:extLst>
          </p:cNvPr>
          <p:cNvGrpSpPr/>
          <p:nvPr/>
        </p:nvGrpSpPr>
        <p:grpSpPr>
          <a:xfrm>
            <a:off x="2782289" y="3103286"/>
            <a:ext cx="2794066" cy="1433891"/>
            <a:chOff x="2803757" y="1392590"/>
            <a:chExt cx="2794066" cy="143389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3FD7CA1-28C8-FED4-E664-25F8677D1393}"/>
                </a:ext>
              </a:extLst>
            </p:cNvPr>
            <p:cNvSpPr txBox="1"/>
            <p:nvPr/>
          </p:nvSpPr>
          <p:spPr>
            <a:xfrm>
              <a:off x="4081607" y="2180150"/>
              <a:ext cx="1516216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(unqualified)</a:t>
              </a:r>
            </a:p>
            <a:p>
              <a:r>
                <a:rPr lang="en-GB" sz="1200" dirty="0">
                  <a:solidFill>
                    <a:srgbClr val="EF576D"/>
                  </a:solidFill>
                </a:rPr>
                <a:t>Airline ticket can also be loaded on wallet 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BF8C761D-6D18-AE25-6FA9-55651955DE8B}"/>
                </a:ext>
              </a:extLst>
            </p:cNvPr>
            <p:cNvSpPr/>
            <p:nvPr/>
          </p:nvSpPr>
          <p:spPr>
            <a:xfrm>
              <a:off x="2803757" y="139259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DDA7B9C-C1A9-20D0-6E17-ACA617D18D80}"/>
                </a:ext>
              </a:extLst>
            </p:cNvPr>
            <p:cNvCxnSpPr>
              <a:cxnSpLocks/>
              <a:stCxn id="72" idx="0"/>
              <a:endCxn id="74" idx="3"/>
            </p:cNvCxnSpPr>
            <p:nvPr/>
          </p:nvCxnSpPr>
          <p:spPr>
            <a:xfrm flipH="1" flipV="1">
              <a:off x="4013432" y="1787878"/>
              <a:ext cx="826283" cy="392272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A8864E9-3A0E-C9D6-30D4-C84272BE2445}"/>
              </a:ext>
            </a:extLst>
          </p:cNvPr>
          <p:cNvGrpSpPr/>
          <p:nvPr/>
        </p:nvGrpSpPr>
        <p:grpSpPr>
          <a:xfrm>
            <a:off x="5362539" y="1136565"/>
            <a:ext cx="3850318" cy="1885870"/>
            <a:chOff x="2803757" y="310587"/>
            <a:chExt cx="3850318" cy="1885870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D8CEF476-0875-5DDC-CD81-1D80B3877619}"/>
                </a:ext>
              </a:extLst>
            </p:cNvPr>
            <p:cNvSpPr/>
            <p:nvPr/>
          </p:nvSpPr>
          <p:spPr>
            <a:xfrm>
              <a:off x="5183496" y="1405882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480B71C-248E-4429-32FD-31CC736071BC}"/>
                </a:ext>
              </a:extLst>
            </p:cNvPr>
            <p:cNvSpPr txBox="1"/>
            <p:nvPr/>
          </p:nvSpPr>
          <p:spPr>
            <a:xfrm>
              <a:off x="4504958" y="310587"/>
              <a:ext cx="2149117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EF576D"/>
                  </a:solidFill>
                </a:rPr>
                <a:t>Passport, travel documents etc are selectively disclosed by user during journey through airport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04756E6-49A3-656C-FDDE-1C311590579B}"/>
                </a:ext>
              </a:extLst>
            </p:cNvPr>
            <p:cNvCxnSpPr>
              <a:cxnSpLocks/>
              <a:stCxn id="87" idx="0"/>
              <a:endCxn id="88" idx="2"/>
            </p:cNvCxnSpPr>
            <p:nvPr/>
          </p:nvCxnSpPr>
          <p:spPr>
            <a:xfrm flipH="1" flipV="1">
              <a:off x="5579517" y="1141584"/>
              <a:ext cx="208817" cy="264298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80F98EF4-59EE-BDC9-9E66-F34CD4B7A33D}"/>
                </a:ext>
              </a:extLst>
            </p:cNvPr>
            <p:cNvSpPr/>
            <p:nvPr/>
          </p:nvSpPr>
          <p:spPr>
            <a:xfrm>
              <a:off x="2803757" y="1392590"/>
              <a:ext cx="1209675" cy="790575"/>
            </a:xfrm>
            <a:prstGeom prst="roundRect">
              <a:avLst/>
            </a:prstGeom>
            <a:noFill/>
            <a:ln w="15875">
              <a:solidFill>
                <a:srgbClr val="EF576D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8148887-4F7D-DEB9-9F2E-886B058AF776}"/>
                </a:ext>
              </a:extLst>
            </p:cNvPr>
            <p:cNvCxnSpPr>
              <a:cxnSpLocks/>
              <a:stCxn id="88" idx="2"/>
              <a:endCxn id="90" idx="0"/>
            </p:cNvCxnSpPr>
            <p:nvPr/>
          </p:nvCxnSpPr>
          <p:spPr>
            <a:xfrm flipH="1">
              <a:off x="3408595" y="1141584"/>
              <a:ext cx="2170922" cy="251006"/>
            </a:xfrm>
            <a:prstGeom prst="line">
              <a:avLst/>
            </a:prstGeom>
            <a:ln w="15875">
              <a:solidFill>
                <a:srgbClr val="EF57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565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40067-E14C-7240-0273-CE4CA69B3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CEN TC224 (</a:t>
            </a:r>
            <a:r>
              <a:rPr lang="en-GB" dirty="0"/>
              <a:t>Personal identification and related personal devices with secure element, systems, operations and privacy in a multi sectorial environment)</a:t>
            </a:r>
            <a:endParaRPr lang="en-SE" dirty="0"/>
          </a:p>
          <a:p>
            <a:pPr lvl="1"/>
            <a:r>
              <a:rPr lang="en-SE" dirty="0"/>
              <a:t>WG17 (</a:t>
            </a:r>
            <a:r>
              <a:rPr lang="en-GB" dirty="0"/>
              <a:t>Protection Profiles in the context of Secure Signature Creation Devices SSCD)</a:t>
            </a:r>
          </a:p>
          <a:p>
            <a:pPr lvl="2"/>
            <a:r>
              <a:rPr lang="en-GB" dirty="0"/>
              <a:t>Protection Profiles scan for EUDI wallet, </a:t>
            </a:r>
          </a:p>
          <a:p>
            <a:pPr lvl="3"/>
            <a:r>
              <a:rPr lang="en-GB" dirty="0"/>
              <a:t>Cryptomathic involved in drafting (Jan </a:t>
            </a:r>
            <a:r>
              <a:rPr lang="en-GB" dirty="0" err="1"/>
              <a:t>Kærsgaard</a:t>
            </a:r>
            <a:r>
              <a:rPr lang="en-GB" dirty="0"/>
              <a:t>, VP Digital Identities and Signatures)</a:t>
            </a:r>
            <a:endParaRPr lang="en-SE" dirty="0"/>
          </a:p>
          <a:p>
            <a:pPr lvl="1"/>
            <a:r>
              <a:rPr lang="en-SE" dirty="0"/>
              <a:t>WG20 (</a:t>
            </a:r>
            <a:r>
              <a:rPr lang="en-GB" dirty="0"/>
              <a:t>Ad Hoc Group on European Digital Identity Wallets)</a:t>
            </a:r>
          </a:p>
          <a:p>
            <a:pPr lvl="2"/>
            <a:r>
              <a:rPr lang="en-GB" dirty="0"/>
              <a:t>Standards Gap Analysis </a:t>
            </a:r>
            <a:r>
              <a:rPr lang="en-GB" dirty="0" err="1"/>
              <a:t>eIDAS</a:t>
            </a:r>
            <a:endParaRPr lang="en-GB" dirty="0"/>
          </a:p>
          <a:p>
            <a:pPr lvl="2"/>
            <a:r>
              <a:rPr lang="en-GB" dirty="0"/>
              <a:t>Onboarding of PID within EUDI wallet</a:t>
            </a:r>
          </a:p>
          <a:p>
            <a:pPr lvl="2"/>
            <a:r>
              <a:rPr lang="en-GB" dirty="0"/>
              <a:t>Metadata Supporting Access Control to EUDI wallet held attributes</a:t>
            </a:r>
          </a:p>
          <a:p>
            <a:pPr lvl="3"/>
            <a:r>
              <a:rPr lang="en-GB" dirty="0"/>
              <a:t>Jan Lindquist is lead editor</a:t>
            </a:r>
            <a:endParaRPr lang="en-SE" dirty="0"/>
          </a:p>
          <a:p>
            <a:r>
              <a:rPr lang="en-SE" dirty="0"/>
              <a:t>ETSI ESI</a:t>
            </a:r>
          </a:p>
          <a:p>
            <a:pPr lvl="1"/>
            <a:r>
              <a:rPr lang="en-GB" dirty="0"/>
              <a:t>Policy requirements for QTSP providing Electronic Attestation of attributes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5BE0C-E252-589E-C412-D53FF6BF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Standards Landscape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C7DA9B-3A76-CCDB-251C-2F4CFF2ADE60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8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40067-E14C-7240-0273-CE4CA69B3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linkClick r:id="rId3"/>
              </a:rPr>
              <a:t>POTENTIAL – Pilots for European Digital Identity Wallet Consortium</a:t>
            </a:r>
          </a:p>
          <a:p>
            <a:pPr lvl="1"/>
            <a:r>
              <a:rPr lang="en-GB" dirty="0"/>
              <a:t>Access to government services</a:t>
            </a:r>
          </a:p>
          <a:p>
            <a:pPr lvl="1"/>
            <a:r>
              <a:rPr lang="en-GB" dirty="0"/>
              <a:t>Opening of a bank account</a:t>
            </a:r>
          </a:p>
          <a:p>
            <a:pPr lvl="1"/>
            <a:r>
              <a:rPr lang="en-GB" dirty="0"/>
              <a:t>Registration for a SIM card</a:t>
            </a:r>
          </a:p>
          <a:p>
            <a:pPr lvl="1"/>
            <a:r>
              <a:rPr lang="en-GB" dirty="0"/>
              <a:t>Mobile driving licence</a:t>
            </a:r>
          </a:p>
          <a:p>
            <a:pPr lvl="1"/>
            <a:r>
              <a:rPr lang="en-GB" dirty="0"/>
              <a:t>eSignatures</a:t>
            </a:r>
          </a:p>
          <a:p>
            <a:pPr lvl="1"/>
            <a:r>
              <a:rPr lang="en-GB" dirty="0" err="1"/>
              <a:t>ePrescriptions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EWC – EU Digital Identity Wallet Consortium</a:t>
            </a:r>
            <a:endParaRPr lang="en-GB" dirty="0"/>
          </a:p>
          <a:p>
            <a:pPr lvl="1"/>
            <a:r>
              <a:rPr lang="en-GB" dirty="0"/>
              <a:t>The storage and display of digital travel credentials</a:t>
            </a:r>
          </a:p>
          <a:p>
            <a:pPr lvl="1"/>
            <a:r>
              <a:rPr lang="en-GB" dirty="0"/>
              <a:t>The organisation of digital wallets</a:t>
            </a:r>
          </a:p>
          <a:p>
            <a:pPr lvl="1"/>
            <a:r>
              <a:rPr lang="en-GB" dirty="0"/>
              <a:t>The organisation of payments</a:t>
            </a:r>
          </a:p>
          <a:p>
            <a:r>
              <a:rPr lang="en-GB" dirty="0">
                <a:hlinkClick r:id="rId4"/>
              </a:rPr>
              <a:t>NOBID – Nordic-Baltic eID Wallet Consortium</a:t>
            </a:r>
            <a:endParaRPr lang="en-GB" dirty="0"/>
          </a:p>
          <a:p>
            <a:pPr lvl="1"/>
            <a:r>
              <a:rPr lang="en-GB" dirty="0"/>
              <a:t>Authorisation of payments for products and services</a:t>
            </a:r>
          </a:p>
          <a:p>
            <a:r>
              <a:rPr lang="en-GB" dirty="0">
                <a:hlinkClick r:id="rId5"/>
              </a:rPr>
              <a:t>DC4EU – Digital Credentials for Europe Consortium</a:t>
            </a:r>
            <a:endParaRPr lang="en-GB" dirty="0"/>
          </a:p>
          <a:p>
            <a:pPr lvl="1"/>
            <a:r>
              <a:rPr lang="en-GB" dirty="0"/>
              <a:t>Educational sector and the social security domain.</a:t>
            </a:r>
            <a:endParaRPr lang="en-S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5BE0C-E252-589E-C412-D53FF6BF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Four</a:t>
            </a:r>
            <a:r>
              <a:rPr lang="da-DK" dirty="0"/>
              <a:t> </a:t>
            </a:r>
            <a:r>
              <a:rPr lang="en-SE" dirty="0"/>
              <a:t>EU Large Scale Projects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C7DA9B-3A76-CCDB-251C-2F4CFF2ADE60}"/>
              </a:ext>
            </a:extLst>
          </p:cNvPr>
          <p:cNvCxnSpPr/>
          <p:nvPr/>
        </p:nvCxnSpPr>
        <p:spPr>
          <a:xfrm>
            <a:off x="416689" y="1074918"/>
            <a:ext cx="1133161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5506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ryptomathic">
      <a:dk1>
        <a:srgbClr val="1F5080"/>
      </a:dk1>
      <a:lt1>
        <a:sysClr val="window" lastClr="FFFFFF"/>
      </a:lt1>
      <a:dk2>
        <a:srgbClr val="44546A"/>
      </a:dk2>
      <a:lt2>
        <a:srgbClr val="E7E6E6"/>
      </a:lt2>
      <a:accent1>
        <a:srgbClr val="1F5080"/>
      </a:accent1>
      <a:accent2>
        <a:srgbClr val="032E3F"/>
      </a:accent2>
      <a:accent3>
        <a:srgbClr val="38638E"/>
      </a:accent3>
      <a:accent4>
        <a:srgbClr val="38638E"/>
      </a:accent4>
      <a:accent5>
        <a:srgbClr val="BDE295"/>
      </a:accent5>
      <a:accent6>
        <a:srgbClr val="989898"/>
      </a:accent6>
      <a:hlink>
        <a:srgbClr val="38638E"/>
      </a:hlink>
      <a:folHlink>
        <a:srgbClr val="38638E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590_TF34076243" id="{54149988-5BA3-4CCC-B0DD-9C5828AF214E}" vid="{1B31C5A5-A789-409F-B147-D68DA30F24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cb400f19-2c79-4b44-a3b0-77b4248d887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E04203CF9E74CADDE41D5A9CDA312" ma:contentTypeVersion="13" ma:contentTypeDescription="Create a new document." ma:contentTypeScope="" ma:versionID="edc609aeaecc6fa957176413b24e4529">
  <xsd:schema xmlns:xsd="http://www.w3.org/2001/XMLSchema" xmlns:xs="http://www.w3.org/2001/XMLSchema" xmlns:p="http://schemas.microsoft.com/office/2006/metadata/properties" xmlns:ns2="cb400f19-2c79-4b44-a3b0-77b4248d8876" xmlns:ns3="e1b0671a-3a79-425e-9138-b829bb5abaed" targetNamespace="http://schemas.microsoft.com/office/2006/metadata/properties" ma:root="true" ma:fieldsID="79ae095ab0828f635873048ecea2735b" ns2:_="" ns3:_="">
    <xsd:import namespace="cb400f19-2c79-4b44-a3b0-77b4248d8876"/>
    <xsd:import namespace="e1b0671a-3a79-425e-9138-b829bb5aba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400f19-2c79-4b44-a3b0-77b4248d88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0671a-3a79-425e-9138-b829bb5abae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C31332-3081-4BD9-AD6F-078B4521F3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19797F-2510-4681-A59B-FCD8F3733FE0}">
  <ds:schemaRefs>
    <ds:schemaRef ds:uri="http://purl.org/dc/elements/1.1/"/>
    <ds:schemaRef ds:uri="http://schemas.microsoft.com/office/2006/documentManagement/types"/>
    <ds:schemaRef ds:uri="http://purl.org/dc/dcmitype/"/>
    <ds:schemaRef ds:uri="16c05727-aa75-4e4a-9b5f-8a80a1165891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cb400f19-2c79-4b44-a3b0-77b4248d8876"/>
  </ds:schemaRefs>
</ds:datastoreItem>
</file>

<file path=customXml/itemProps3.xml><?xml version="1.0" encoding="utf-8"?>
<ds:datastoreItem xmlns:ds="http://schemas.openxmlformats.org/officeDocument/2006/customXml" ds:itemID="{779B6B43-5CD3-4603-8978-0F637C22E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400f19-2c79-4b44-a3b0-77b4248d8876"/>
    <ds:schemaRef ds:uri="e1b0671a-3a79-425e-9138-b829bb5aba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61689</TotalTime>
  <Words>4025</Words>
  <Application>Microsoft Macintosh PowerPoint</Application>
  <PresentationFormat>Widescreen</PresentationFormat>
  <Paragraphs>957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-apple-system</vt:lpstr>
      <vt:lpstr>Arial</vt:lpstr>
      <vt:lpstr>Calibri</vt:lpstr>
      <vt:lpstr>Corbel</vt:lpstr>
      <vt:lpstr>Helvetica</vt:lpstr>
      <vt:lpstr>Open Sans</vt:lpstr>
      <vt:lpstr>Open Sans Light</vt:lpstr>
      <vt:lpstr>Proxima Nova Rg</vt:lpstr>
      <vt:lpstr>Times New Roman</vt:lpstr>
      <vt:lpstr>1_Office Theme</vt:lpstr>
      <vt:lpstr>Wallet Verification + current state of certain EUDI wallet initiatives (additions to original presentation)</vt:lpstr>
      <vt:lpstr>Agenda</vt:lpstr>
      <vt:lpstr>EU digital identity wallet ecosystem A simplified view</vt:lpstr>
      <vt:lpstr>‘Wallet verification’ from eIDAS 2 proposal (2 March 2023)</vt:lpstr>
      <vt:lpstr>‘Wallet verification’ – a definition</vt:lpstr>
      <vt:lpstr>‘Wallet verification’ – a definition (continued)</vt:lpstr>
      <vt:lpstr>Example: Driving license issued to wallet app on mobile phone</vt:lpstr>
      <vt:lpstr>Wallet verification – checklist (1)</vt:lpstr>
      <vt:lpstr>1. Authenticity of entities, PID and attestations</vt:lpstr>
      <vt:lpstr>Wallet verification mechanisms (1)</vt:lpstr>
      <vt:lpstr>Wallet verification – checklist (2)</vt:lpstr>
      <vt:lpstr>2. Authenticity of wallet and wallet holder</vt:lpstr>
      <vt:lpstr>Wallet verification mechanisms (2)</vt:lpstr>
      <vt:lpstr>Wallet verification – checklist (3)</vt:lpstr>
      <vt:lpstr>3. Ownership of person identification data</vt:lpstr>
      <vt:lpstr>Wallet verification mechanisms (3)</vt:lpstr>
      <vt:lpstr>Wallet verification – checklist (4)</vt:lpstr>
      <vt:lpstr>4. Ownership of attestations of attributes</vt:lpstr>
      <vt:lpstr>Wallet verification mechanisms (4)</vt:lpstr>
      <vt:lpstr>Wallet verification checklist (5)</vt:lpstr>
      <vt:lpstr>5. Wallet attestations</vt:lpstr>
      <vt:lpstr>Wallet verification mechanisms (5)</vt:lpstr>
      <vt:lpstr>Wallet verification checklist (final)</vt:lpstr>
      <vt:lpstr>‘Wallet verification’ - EUDI wallet building blocks in support of</vt:lpstr>
      <vt:lpstr>‘Wallet verification’ - EUDI wallet building blocks in support of</vt:lpstr>
      <vt:lpstr> Overview of the EUDI Wallet roles </vt:lpstr>
      <vt:lpstr>Standards Landscape</vt:lpstr>
      <vt:lpstr>Four EU Large Scale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Quantum Computer?</dc:title>
  <dc:creator>Pranav Degwekar</dc:creator>
  <cp:lastModifiedBy>Fonseca, Jorge</cp:lastModifiedBy>
  <cp:revision>298</cp:revision>
  <dcterms:created xsi:type="dcterms:W3CDTF">2022-09-09T11:09:31Z</dcterms:created>
  <dcterms:modified xsi:type="dcterms:W3CDTF">2023-10-15T21:01:26Z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