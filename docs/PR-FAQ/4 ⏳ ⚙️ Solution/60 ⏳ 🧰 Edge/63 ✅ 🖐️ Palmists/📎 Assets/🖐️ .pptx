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37" r:id="rId2"/>
    <p:sldId id="1664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B0603020204020204" pitchFamily="34" charset="0"/>
      <p:regular r:id="rId10"/>
      <p:bold r:id="rId11"/>
      <p:italic r:id="rId12"/>
      <p:boldItalic r:id="rId13"/>
    </p:embeddedFont>
    <p:embeddedFont>
      <p:font typeface="Lora" pitchFamily="2" charset="77"/>
      <p:regular r:id="rId14"/>
      <p:bold r:id="rId15"/>
      <p:italic r:id="rId16"/>
      <p:boldItalic r:id="rId17"/>
    </p:embeddedFont>
    <p:embeddedFont>
      <p:font typeface="Segoe UI" panose="020B0502040204020203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🧰 Edge Toolbox" id="{0B1E7102-EF1C-AE4B-8A0F-2D06169A63CE}">
          <p14:sldIdLst>
            <p14:sldId id="1837"/>
            <p14:sldId id="166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02" autoAdjust="0"/>
    <p:restoredTop sz="96966" autoAdjust="0"/>
  </p:normalViewPr>
  <p:slideViewPr>
    <p:cSldViewPr snapToGrid="0">
      <p:cViewPr varScale="1">
        <p:scale>
          <a:sx n="124" d="100"/>
          <a:sy n="124" d="100"/>
        </p:scale>
        <p:origin x="736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6.fntdata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viewProps" Target="viewProps.xml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23" Type="http://schemas.openxmlformats.org/officeDocument/2006/relationships/presProps" Target="presProps.xml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b="1" i="0">
                <a:solidFill>
                  <a:srgbClr val="222222"/>
                </a:solidFill>
                <a:effectLst/>
                <a:latin typeface="Helvetica" pitchFamily="2" charset="0"/>
              </a:rPr>
              <a:t>Biometrics: Uses and Abuses</a:t>
            </a:r>
            <a:br>
              <a:rPr lang="en-GB" b="1" i="0">
                <a:solidFill>
                  <a:srgbClr val="222222"/>
                </a:solidFill>
                <a:effectLst/>
                <a:latin typeface="Helvetica" pitchFamily="2" charset="0"/>
              </a:rPr>
            </a:br>
            <a:r>
              <a:rPr lang="en-US"/>
              <a:t>https://</a:t>
            </a:r>
            <a:r>
              <a:rPr lang="en-US" err="1"/>
              <a:t>www.schneier.com</a:t>
            </a:r>
            <a:r>
              <a:rPr lang="en-US"/>
              <a:t>/essays/archives/1999/08/</a:t>
            </a:r>
            <a:r>
              <a:rPr lang="en-US" err="1"/>
              <a:t>biometrics_uses_and.html</a:t>
            </a:r>
            <a:r>
              <a:rPr lang="en-US"/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b="1" i="0">
                <a:solidFill>
                  <a:srgbClr val="1E1D1C"/>
                </a:solidFill>
                <a:effectLst/>
                <a:latin typeface="Lora" pitchFamily="2" charset="77"/>
              </a:rPr>
              <a:t>How does Pico work?</a:t>
            </a:r>
            <a:br>
              <a:rPr lang="en-US" b="0" i="0">
                <a:solidFill>
                  <a:srgbClr val="1E1D1C"/>
                </a:solidFill>
                <a:effectLst/>
                <a:latin typeface="Lora" pitchFamily="2" charset="77"/>
              </a:rPr>
            </a:br>
            <a:r>
              <a:rPr lang="en-US" b="0" i="0">
                <a:solidFill>
                  <a:srgbClr val="1E1D1C"/>
                </a:solidFill>
                <a:effectLst/>
                <a:latin typeface="Lora" pitchFamily="2" charset="77"/>
              </a:rPr>
              <a:t>https://</a:t>
            </a:r>
            <a:r>
              <a:rPr lang="en-US" b="0" i="0" err="1">
                <a:solidFill>
                  <a:srgbClr val="1E1D1C"/>
                </a:solidFill>
                <a:effectLst/>
                <a:latin typeface="Lora" pitchFamily="2" charset="77"/>
              </a:rPr>
              <a:t>www.cl.cam.ac.uk</a:t>
            </a:r>
            <a:r>
              <a:rPr lang="en-US" b="0" i="0">
                <a:solidFill>
                  <a:srgbClr val="1E1D1C"/>
                </a:solidFill>
                <a:effectLst/>
                <a:latin typeface="Lora" pitchFamily="2" charset="77"/>
              </a:rPr>
              <a:t>/~fms27/</a:t>
            </a:r>
            <a:r>
              <a:rPr lang="en-US" b="0" i="0" err="1">
                <a:solidFill>
                  <a:srgbClr val="1E1D1C"/>
                </a:solidFill>
                <a:effectLst/>
                <a:latin typeface="Lora" pitchFamily="2" charset="77"/>
              </a:rPr>
              <a:t>pico</a:t>
            </a:r>
            <a:r>
              <a:rPr lang="en-US" b="0" i="0">
                <a:solidFill>
                  <a:srgbClr val="1E1D1C"/>
                </a:solidFill>
                <a:effectLst/>
                <a:latin typeface="Lora" pitchFamily="2" charset="77"/>
              </a:rPr>
              <a:t>/technical/</a:t>
            </a:r>
            <a:endParaRPr lang="en-GB" b="0" i="0">
              <a:solidFill>
                <a:srgbClr val="1E1D1C"/>
              </a:solidFill>
              <a:effectLst/>
              <a:latin typeface="Lora" pitchFamily="2" charset="77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38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22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206C1-F2D7-4256-BCD7-3DAB701EE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83F305-C76D-5B5C-66C2-7439A74B5E0C}"/>
              </a:ext>
            </a:extLst>
          </p:cNvPr>
          <p:cNvSpPr txBox="1"/>
          <p:nvPr/>
        </p:nvSpPr>
        <p:spPr>
          <a:xfrm>
            <a:off x="1521508" y="1613118"/>
            <a:ext cx="9148983" cy="186204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🖐️ Palmist</a:t>
            </a:r>
          </a:p>
        </p:txBody>
      </p:sp>
    </p:spTree>
    <p:extLst>
      <p:ext uri="{BB962C8B-B14F-4D97-AF65-F5344CB8AC3E}">
        <p14:creationId xmlns:p14="http://schemas.microsoft.com/office/powerpoint/2010/main" val="373665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E857ED20-90EE-A496-248C-F501878CA2CB}"/>
              </a:ext>
            </a:extLst>
          </p:cNvPr>
          <p:cNvGrpSpPr/>
          <p:nvPr/>
        </p:nvGrpSpPr>
        <p:grpSpPr>
          <a:xfrm>
            <a:off x="4192076" y="4667558"/>
            <a:ext cx="2231181" cy="1014729"/>
            <a:chOff x="6164674" y="5137842"/>
            <a:chExt cx="2231181" cy="101472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3767247-9B2B-7C46-58D2-763ADCB4EC7F}"/>
                </a:ext>
              </a:extLst>
            </p:cNvPr>
            <p:cNvSpPr/>
            <p:nvPr/>
          </p:nvSpPr>
          <p:spPr>
            <a:xfrm>
              <a:off x="6258930" y="5490228"/>
              <a:ext cx="2053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B1262DE-7FE1-A466-DD5D-B1D403224F20}"/>
                </a:ext>
              </a:extLst>
            </p:cNvPr>
            <p:cNvSpPr/>
            <p:nvPr/>
          </p:nvSpPr>
          <p:spPr>
            <a:xfrm>
              <a:off x="6164674" y="5137842"/>
              <a:ext cx="2231181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2F5C6E2C-2D63-50BA-804D-776A48FDBC82}"/>
              </a:ext>
            </a:extLst>
          </p:cNvPr>
          <p:cNvSpPr/>
          <p:nvPr/>
        </p:nvSpPr>
        <p:spPr>
          <a:xfrm>
            <a:off x="8004820" y="3037257"/>
            <a:ext cx="228079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Wallet: App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5357F23-DAC8-A599-05B6-9ACBF7094FC2}"/>
              </a:ext>
            </a:extLst>
          </p:cNvPr>
          <p:cNvGrpSpPr/>
          <p:nvPr/>
        </p:nvGrpSpPr>
        <p:grpSpPr>
          <a:xfrm>
            <a:off x="8251306" y="4796810"/>
            <a:ext cx="1986810" cy="745447"/>
            <a:chOff x="6798567" y="646875"/>
            <a:chExt cx="1356748" cy="74544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FAE80A4-DAE9-3202-8E92-485479220EA5}"/>
                </a:ext>
              </a:extLst>
            </p:cNvPr>
            <p:cNvSpPr txBox="1"/>
            <p:nvPr/>
          </p:nvSpPr>
          <p:spPr>
            <a:xfrm>
              <a:off x="6798567" y="1022990"/>
              <a:ext cx="1356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/>
                <a:t>✨ QR Credential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3B0C1E5-E7F0-B1CB-7244-CA4BE50473D5}"/>
                </a:ext>
              </a:extLst>
            </p:cNvPr>
            <p:cNvSpPr/>
            <p:nvPr/>
          </p:nvSpPr>
          <p:spPr>
            <a:xfrm>
              <a:off x="6799806" y="646875"/>
              <a:ext cx="1355509" cy="745447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800" baseline="-17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📄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Printed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C0641B5-1340-3FF5-7EEB-546143ADAB20}"/>
              </a:ext>
            </a:extLst>
          </p:cNvPr>
          <p:cNvGrpSpPr/>
          <p:nvPr/>
        </p:nvGrpSpPr>
        <p:grpSpPr>
          <a:xfrm>
            <a:off x="2291270" y="865340"/>
            <a:ext cx="1853692" cy="1014729"/>
            <a:chOff x="6164675" y="5137842"/>
            <a:chExt cx="1853692" cy="101472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7847DC-DCBE-1AC7-DD5A-16D353532B8C}"/>
                </a:ext>
              </a:extLst>
            </p:cNvPr>
            <p:cNvSpPr/>
            <p:nvPr/>
          </p:nvSpPr>
          <p:spPr>
            <a:xfrm>
              <a:off x="6248421" y="5490228"/>
              <a:ext cx="1692122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🖐️</a:t>
              </a:r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Palmist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EAE5CED-5F2D-B0F6-5323-1BA2BA2AFA15}"/>
                </a:ext>
              </a:extLst>
            </p:cNvPr>
            <p:cNvSpPr/>
            <p:nvPr/>
          </p:nvSpPr>
          <p:spPr>
            <a:xfrm>
              <a:off x="6164675" y="5137842"/>
              <a:ext cx="1853692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5F1EB2C-39E4-D5F7-56B4-5BDCA522E0FF}"/>
              </a:ext>
            </a:extLst>
          </p:cNvPr>
          <p:cNvGrpSpPr/>
          <p:nvPr/>
        </p:nvGrpSpPr>
        <p:grpSpPr>
          <a:xfrm>
            <a:off x="8541596" y="865339"/>
            <a:ext cx="1735712" cy="1014729"/>
            <a:chOff x="6164675" y="5137842"/>
            <a:chExt cx="1735712" cy="1014729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CF24010-4BA9-EA6C-B4E7-4149F65C8C1F}"/>
                </a:ext>
              </a:extLst>
            </p:cNvPr>
            <p:cNvSpPr/>
            <p:nvPr/>
          </p:nvSpPr>
          <p:spPr>
            <a:xfrm>
              <a:off x="6258931" y="5490228"/>
              <a:ext cx="155833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🃏</a:t>
              </a:r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Issuer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103B1DD-ABA2-D371-5A37-F0235E0D6409}"/>
                </a:ext>
              </a:extLst>
            </p:cNvPr>
            <p:cNvSpPr/>
            <p:nvPr/>
          </p:nvSpPr>
          <p:spPr>
            <a:xfrm>
              <a:off x="6164675" y="5137842"/>
              <a:ext cx="1735712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9DAC17E-33A8-4FEC-559A-81B906BB8F05}"/>
              </a:ext>
            </a:extLst>
          </p:cNvPr>
          <p:cNvGrpSpPr/>
          <p:nvPr/>
        </p:nvGrpSpPr>
        <p:grpSpPr>
          <a:xfrm>
            <a:off x="5295792" y="865340"/>
            <a:ext cx="2231181" cy="1014729"/>
            <a:chOff x="6164674" y="5137842"/>
            <a:chExt cx="2231181" cy="1014729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B0B3179-6D50-F2E5-4999-19D06F079B59}"/>
                </a:ext>
              </a:extLst>
            </p:cNvPr>
            <p:cNvSpPr/>
            <p:nvPr/>
          </p:nvSpPr>
          <p:spPr>
            <a:xfrm>
              <a:off x="6258930" y="5490228"/>
              <a:ext cx="2053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Biometric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2F79117-34A9-0025-FA27-4A6F6EBD54FE}"/>
                </a:ext>
              </a:extLst>
            </p:cNvPr>
            <p:cNvSpPr/>
            <p:nvPr/>
          </p:nvSpPr>
          <p:spPr>
            <a:xfrm>
              <a:off x="6164674" y="5137842"/>
              <a:ext cx="2231181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57" name="Straight Arrow Connector 12">
            <a:extLst>
              <a:ext uri="{FF2B5EF4-FFF2-40B4-BE49-F238E27FC236}">
                <a16:creationId xmlns:a16="http://schemas.microsoft.com/office/drawing/2014/main" id="{427836E9-D802-5BB7-CBB7-FD015AC6A68F}"/>
              </a:ext>
            </a:extLst>
          </p:cNvPr>
          <p:cNvCxnSpPr>
            <a:cxnSpLocks/>
            <a:stCxn id="50" idx="3"/>
            <a:endCxn id="56" idx="1"/>
          </p:cNvCxnSpPr>
          <p:nvPr/>
        </p:nvCxnSpPr>
        <p:spPr>
          <a:xfrm>
            <a:off x="4144962" y="1372705"/>
            <a:ext cx="1150830" cy="0"/>
          </a:xfrm>
          <a:prstGeom prst="straightConnector1">
            <a:avLst/>
          </a:prstGeom>
          <a:ln>
            <a:headEnd type="triangle" w="lg" len="lg"/>
            <a:tailEnd type="none" w="lg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3" name="Straight Arrow Connector 12">
            <a:extLst>
              <a:ext uri="{FF2B5EF4-FFF2-40B4-BE49-F238E27FC236}">
                <a16:creationId xmlns:a16="http://schemas.microsoft.com/office/drawing/2014/main" id="{D3E55AED-8FA7-43B3-EEA3-7422CC3C91DB}"/>
              </a:ext>
            </a:extLst>
          </p:cNvPr>
          <p:cNvCxnSpPr>
            <a:cxnSpLocks/>
            <a:stCxn id="56" idx="3"/>
            <a:endCxn id="53" idx="1"/>
          </p:cNvCxnSpPr>
          <p:nvPr/>
        </p:nvCxnSpPr>
        <p:spPr>
          <a:xfrm flipV="1">
            <a:off x="7526973" y="1372704"/>
            <a:ext cx="1014623" cy="1"/>
          </a:xfrm>
          <a:prstGeom prst="bentConnector3">
            <a:avLst>
              <a:gd name="adj1" fmla="val 50000"/>
            </a:avLst>
          </a:prstGeom>
          <a:ln>
            <a:headEnd type="triangle" w="lg" len="lg"/>
            <a:tailEnd type="none" w="lg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Straight Arrow Connector 12">
            <a:extLst>
              <a:ext uri="{FF2B5EF4-FFF2-40B4-BE49-F238E27FC236}">
                <a16:creationId xmlns:a16="http://schemas.microsoft.com/office/drawing/2014/main" id="{EED1C348-5856-C1B1-9272-62BE8DBC8C55}"/>
              </a:ext>
            </a:extLst>
          </p:cNvPr>
          <p:cNvCxnSpPr>
            <a:cxnSpLocks/>
            <a:stCxn id="37" idx="1"/>
            <a:endCxn id="31" idx="3"/>
          </p:cNvCxnSpPr>
          <p:nvPr/>
        </p:nvCxnSpPr>
        <p:spPr>
          <a:xfrm flipH="1">
            <a:off x="6423257" y="5169534"/>
            <a:ext cx="1829863" cy="5389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12">
            <a:extLst>
              <a:ext uri="{FF2B5EF4-FFF2-40B4-BE49-F238E27FC236}">
                <a16:creationId xmlns:a16="http://schemas.microsoft.com/office/drawing/2014/main" id="{AE7F7D3E-EFF5-48FF-C05E-7700C7B491CD}"/>
              </a:ext>
            </a:extLst>
          </p:cNvPr>
          <p:cNvCxnSpPr>
            <a:cxnSpLocks/>
            <a:endCxn id="105" idx="2"/>
          </p:cNvCxnSpPr>
          <p:nvPr/>
        </p:nvCxnSpPr>
        <p:spPr>
          <a:xfrm flipV="1">
            <a:off x="9550787" y="2330747"/>
            <a:ext cx="0" cy="673212"/>
          </a:xfrm>
          <a:prstGeom prst="straightConnector1">
            <a:avLst/>
          </a:prstGeom>
          <a:ln>
            <a:headEnd type="triangle" w="lg" len="lg"/>
            <a:tailEnd type="none" w="lg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" name="Straight Arrow Connector 12">
            <a:extLst>
              <a:ext uri="{FF2B5EF4-FFF2-40B4-BE49-F238E27FC236}">
                <a16:creationId xmlns:a16="http://schemas.microsoft.com/office/drawing/2014/main" id="{7FCD0A8F-82CD-4E1B-AD87-321AC859BA54}"/>
              </a:ext>
            </a:extLst>
          </p:cNvPr>
          <p:cNvCxnSpPr>
            <a:cxnSpLocks/>
          </p:cNvCxnSpPr>
          <p:nvPr/>
        </p:nvCxnSpPr>
        <p:spPr>
          <a:xfrm flipV="1">
            <a:off x="9538909" y="4051363"/>
            <a:ext cx="11878" cy="745447"/>
          </a:xfrm>
          <a:prstGeom prst="straightConnector1">
            <a:avLst/>
          </a:prstGeom>
          <a:ln>
            <a:headEnd type="triangle" w="lg" len="lg"/>
            <a:tailEnd type="none" w="lg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D089FBA9-DD1E-B67F-E831-083B8AB8286B}"/>
              </a:ext>
            </a:extLst>
          </p:cNvPr>
          <p:cNvSpPr/>
          <p:nvPr/>
        </p:nvSpPr>
        <p:spPr>
          <a:xfrm>
            <a:off x="8421421" y="3650728"/>
            <a:ext cx="1973118" cy="401068"/>
          </a:xfrm>
          <a:prstGeom prst="rect">
            <a:avLst/>
          </a:prstGeom>
          <a:noFill/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🔑 </a:t>
            </a:r>
            <a:r>
              <a: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store token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3C345C1-2E37-E699-006D-63168F05C502}"/>
              </a:ext>
            </a:extLst>
          </p:cNvPr>
          <p:cNvSpPr txBox="1"/>
          <p:nvPr/>
        </p:nvSpPr>
        <p:spPr>
          <a:xfrm>
            <a:off x="2195707" y="1932196"/>
            <a:ext cx="18507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🖐️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scan palm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FF2313D-801D-F925-E186-04433B43B346}"/>
              </a:ext>
            </a:extLst>
          </p:cNvPr>
          <p:cNvSpPr txBox="1"/>
          <p:nvPr/>
        </p:nvSpPr>
        <p:spPr>
          <a:xfrm>
            <a:off x="5204824" y="1930884"/>
            <a:ext cx="2228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🛂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show passport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F905B63-FB76-666C-2DC7-2A36AACBB50F}"/>
              </a:ext>
            </a:extLst>
          </p:cNvPr>
          <p:cNvSpPr txBox="1"/>
          <p:nvPr/>
        </p:nvSpPr>
        <p:spPr>
          <a:xfrm>
            <a:off x="8436684" y="1930637"/>
            <a:ext cx="2228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🔑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issue </a:t>
            </a:r>
            <a:r>
              <a: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token</a:t>
            </a:r>
            <a:endParaRPr lang="en-GB" sz="2000" i="1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8165F30-94A2-1FA1-89B1-5A5B1DB33DC3}"/>
              </a:ext>
            </a:extLst>
          </p:cNvPr>
          <p:cNvSpPr txBox="1"/>
          <p:nvPr/>
        </p:nvSpPr>
        <p:spPr>
          <a:xfrm>
            <a:off x="7621229" y="932485"/>
            <a:ext cx="968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share?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A7147C2-6F50-E1A4-6806-E18B67EEE2FB}"/>
              </a:ext>
            </a:extLst>
          </p:cNvPr>
          <p:cNvSpPr txBox="1"/>
          <p:nvPr/>
        </p:nvSpPr>
        <p:spPr>
          <a:xfrm>
            <a:off x="4232994" y="918968"/>
            <a:ext cx="1063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register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ACCD15D-65AA-6CFD-A46C-A9DEDABB3953}"/>
              </a:ext>
            </a:extLst>
          </p:cNvPr>
          <p:cNvSpPr txBox="1"/>
          <p:nvPr/>
        </p:nvSpPr>
        <p:spPr>
          <a:xfrm>
            <a:off x="9604512" y="2438000"/>
            <a:ext cx="867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issue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EA67A4D-EE9A-722B-F53C-9276B03E7E44}"/>
              </a:ext>
            </a:extLst>
          </p:cNvPr>
          <p:cNvSpPr txBox="1"/>
          <p:nvPr/>
        </p:nvSpPr>
        <p:spPr>
          <a:xfrm>
            <a:off x="9593880" y="4180934"/>
            <a:ext cx="867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print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74DDADD-AD06-F165-18B3-7A0C7F93F050}"/>
              </a:ext>
            </a:extLst>
          </p:cNvPr>
          <p:cNvSpPr txBox="1"/>
          <p:nvPr/>
        </p:nvSpPr>
        <p:spPr>
          <a:xfrm>
            <a:off x="6930231" y="4392881"/>
            <a:ext cx="1207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scan </a:t>
            </a:r>
            <a:b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QR</a:t>
            </a:r>
          </a:p>
        </p:txBody>
      </p:sp>
      <p:cxnSp>
        <p:nvCxnSpPr>
          <p:cNvPr id="125" name="Straight Arrow Connector 12">
            <a:extLst>
              <a:ext uri="{FF2B5EF4-FFF2-40B4-BE49-F238E27FC236}">
                <a16:creationId xmlns:a16="http://schemas.microsoft.com/office/drawing/2014/main" id="{8776F954-9C8D-4B46-5178-60C97AD65150}"/>
              </a:ext>
            </a:extLst>
          </p:cNvPr>
          <p:cNvCxnSpPr>
            <a:cxnSpLocks/>
            <a:stCxn id="95" idx="2"/>
            <a:endCxn id="31" idx="1"/>
          </p:cNvCxnSpPr>
          <p:nvPr/>
        </p:nvCxnSpPr>
        <p:spPr>
          <a:xfrm rot="16200000" flipH="1">
            <a:off x="2235263" y="3218109"/>
            <a:ext cx="2842617" cy="1071010"/>
          </a:xfrm>
          <a:prstGeom prst="bentConnector2">
            <a:avLst/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D7D07749-AB8A-EEBB-C419-2F33FCDDE1EE}"/>
              </a:ext>
            </a:extLst>
          </p:cNvPr>
          <p:cNvSpPr txBox="1"/>
          <p:nvPr/>
        </p:nvSpPr>
        <p:spPr>
          <a:xfrm>
            <a:off x="3153156" y="4448543"/>
            <a:ext cx="1207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scan palm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BCD3F373-B73E-49DD-A788-2A45559427E5}"/>
              </a:ext>
            </a:extLst>
          </p:cNvPr>
          <p:cNvSpPr/>
          <p:nvPr/>
        </p:nvSpPr>
        <p:spPr>
          <a:xfrm>
            <a:off x="4781575" y="56277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03EC13A6-EFBC-D957-F5DF-54480369F278}"/>
              </a:ext>
            </a:extLst>
          </p:cNvPr>
          <p:cNvSpPr/>
          <p:nvPr/>
        </p:nvSpPr>
        <p:spPr>
          <a:xfrm>
            <a:off x="7854284" y="559762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FF40A715-29A8-9E0C-0F8C-3943323539E8}"/>
              </a:ext>
            </a:extLst>
          </p:cNvPr>
          <p:cNvSpPr/>
          <p:nvPr/>
        </p:nvSpPr>
        <p:spPr>
          <a:xfrm>
            <a:off x="10304890" y="2455759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EC47E9D8-FF44-33F8-B474-D8B728A6BF96}"/>
              </a:ext>
            </a:extLst>
          </p:cNvPr>
          <p:cNvSpPr/>
          <p:nvPr/>
        </p:nvSpPr>
        <p:spPr>
          <a:xfrm>
            <a:off x="10281096" y="420316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E655A458-7C3E-65D5-495C-5FBD110C3707}"/>
              </a:ext>
            </a:extLst>
          </p:cNvPr>
          <p:cNvSpPr/>
          <p:nvPr/>
        </p:nvSpPr>
        <p:spPr>
          <a:xfrm>
            <a:off x="6569451" y="468078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992B1335-851B-DABB-428D-74FC1C42387C}"/>
              </a:ext>
            </a:extLst>
          </p:cNvPr>
          <p:cNvSpPr/>
          <p:nvPr/>
        </p:nvSpPr>
        <p:spPr>
          <a:xfrm>
            <a:off x="3269807" y="4078665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3" name="Straight Arrow Connector 12">
            <a:extLst>
              <a:ext uri="{FF2B5EF4-FFF2-40B4-BE49-F238E27FC236}">
                <a16:creationId xmlns:a16="http://schemas.microsoft.com/office/drawing/2014/main" id="{F5F7107A-06E1-5CEB-1480-F3DBFD6F6BD6}"/>
              </a:ext>
            </a:extLst>
          </p:cNvPr>
          <p:cNvCxnSpPr>
            <a:cxnSpLocks/>
            <a:stCxn id="104" idx="2"/>
            <a:endCxn id="33" idx="1"/>
          </p:cNvCxnSpPr>
          <p:nvPr/>
        </p:nvCxnSpPr>
        <p:spPr>
          <a:xfrm rot="16200000" flipH="1">
            <a:off x="6668196" y="1981724"/>
            <a:ext cx="987355" cy="1685893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913116-EE89-28CD-E299-F1B15DC33811}"/>
              </a:ext>
            </a:extLst>
          </p:cNvPr>
          <p:cNvSpPr txBox="1"/>
          <p:nvPr/>
        </p:nvSpPr>
        <p:spPr>
          <a:xfrm>
            <a:off x="6369646" y="2889172"/>
            <a:ext cx="968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2C8AB7-6483-D720-754E-5662565440CD}"/>
              </a:ext>
            </a:extLst>
          </p:cNvPr>
          <p:cNvSpPr/>
          <p:nvPr/>
        </p:nvSpPr>
        <p:spPr>
          <a:xfrm>
            <a:off x="5804287" y="2949119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B</a:t>
            </a:r>
          </a:p>
        </p:txBody>
      </p:sp>
      <p:pic>
        <p:nvPicPr>
          <p:cNvPr id="2052" name="Picture 4" descr="Amazon One">
            <a:extLst>
              <a:ext uri="{FF2B5EF4-FFF2-40B4-BE49-F238E27FC236}">
                <a16:creationId xmlns:a16="http://schemas.microsoft.com/office/drawing/2014/main" id="{EEC50642-25DD-4A45-E655-767BEC7ED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530" y="4180934"/>
            <a:ext cx="957102" cy="1052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6450C1-2CFF-8E21-FD48-791F039C676A}"/>
              </a:ext>
            </a:extLst>
          </p:cNvPr>
          <p:cNvSpPr txBox="1"/>
          <p:nvPr/>
        </p:nvSpPr>
        <p:spPr>
          <a:xfrm>
            <a:off x="4144693" y="2420672"/>
            <a:ext cx="567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>
                <a:solidFill>
                  <a:srgbClr val="F0F6FC"/>
                </a:solidFill>
                <a:effectLst/>
                <a:latin typeface="-apple-system"/>
              </a:rPr>
              <a:t>😶</a:t>
            </a:r>
          </a:p>
        </p:txBody>
      </p:sp>
    </p:spTree>
    <p:extLst>
      <p:ext uri="{BB962C8B-B14F-4D97-AF65-F5344CB8AC3E}">
        <p14:creationId xmlns:p14="http://schemas.microsoft.com/office/powerpoint/2010/main" val="101439907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47785</TotalTime>
  <Words>111</Words>
  <Application>Microsoft Macintosh PowerPoint</Application>
  <PresentationFormat>Widescreen</PresentationFormat>
  <Paragraphs>35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-apple-system</vt:lpstr>
      <vt:lpstr>Arial</vt:lpstr>
      <vt:lpstr>Helvetica</vt:lpstr>
      <vt:lpstr>Amazon Ember</vt:lpstr>
      <vt:lpstr>Lora</vt:lpstr>
      <vt:lpstr>Amazon Ember Display</vt:lpstr>
      <vt:lpstr>Segoe UI</vt:lpstr>
      <vt:lpstr>Wingdings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156</cp:revision>
  <dcterms:created xsi:type="dcterms:W3CDTF">2022-10-07T16:14:37Z</dcterms:created>
  <dcterms:modified xsi:type="dcterms:W3CDTF">2025-04-22T20:25:06Z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2025-04-22T20:25:04Z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c297573b-b2cf-4859-bcbf-151f187fdc9e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