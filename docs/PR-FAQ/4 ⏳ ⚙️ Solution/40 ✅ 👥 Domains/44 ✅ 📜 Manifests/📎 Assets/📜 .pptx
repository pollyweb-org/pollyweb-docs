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835" r:id="rId2"/>
    <p:sldId id="1718" r:id="rId3"/>
    <p:sldId id="1851" r:id="rId4"/>
    <p:sldId id="1723" r:id="rId5"/>
    <p:sldId id="1846" r:id="rId6"/>
    <p:sldId id="1694" r:id="rId7"/>
    <p:sldId id="1854" r:id="rId8"/>
  </p:sldIdLst>
  <p:sldSz cx="12192000" cy="6858000"/>
  <p:notesSz cx="6858000" cy="9144000"/>
  <p:embeddedFontLst>
    <p:embeddedFont>
      <p:font typeface="Amazon Ember" panose="020B0603020204020204" pitchFamily="34" charset="0"/>
      <p:regular r:id="rId11"/>
      <p:bold r:id="rId12"/>
      <p:italic r:id="rId13"/>
      <p:boldItalic r:id="rId14"/>
    </p:embeddedFont>
    <p:embeddedFont>
      <p:font typeface="Amazon Ember Display" panose="020B0603020204020204" pitchFamily="34" charset="0"/>
      <p:regular r:id="rId15"/>
      <p:bold r:id="rId16"/>
      <p:italic r:id="rId17"/>
      <p:boldItalic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📜 Domain Manifest" id="{F06F95BB-D49F-7447-97EC-5C05B9195A06}">
          <p14:sldIdLst>
            <p14:sldId id="1835"/>
            <p14:sldId id="1718"/>
            <p14:sldId id="1851"/>
            <p14:sldId id="1723"/>
            <p14:sldId id="1846"/>
            <p14:sldId id="1694"/>
            <p14:sldId id="185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commentAuthors" Target="commentAuthors.xml"/><Relationship Id="rId10" Type="http://schemas.openxmlformats.org/officeDocument/2006/relationships/handoutMaster" Target="handoutMasters/handout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1A40B-D402-B16C-6E97-2FAA5539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3C4B07-08D9-CDEA-0DFD-8D28D8FB1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5A4B22-EA21-4B7D-E702-B2A508FA0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FAB685C-67C6-0679-6608-FDFD6B4CCD21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7834C-8016-834C-2BF8-483ADDEB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57DD765-6939-56B1-BD6B-0B77C8A0E7E9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54AEFE-10EC-1673-0C48-AD31380459F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863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009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53AD4-D53B-81FE-0713-A8EF6D01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C6FFA-A699-206C-A41B-D95B27154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42638-2327-45B3-E3F7-756512BBA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6BA1290-52C4-021C-193E-E6321093F3C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5F8B8-AAEE-5B70-145B-EEA51A23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FAD3AC-A001-2041-B548-17037E097DF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2364C-73F0-81AD-CEE6-7A85A77D1A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88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01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19354-65AE-3646-59B8-02A63FF6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719DD-705C-23AB-AC92-85BD76BC6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5579F-68C2-2FD0-1408-7B8B02D0E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1B1BBE7-3CB5-620D-4FC5-B42981F68D5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F2E34-D627-FA32-958E-AB94B918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F46100-1863-D5D4-8E52-BE5D2352CBF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4/22/25 9:15 PM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B13FC-6F84-7879-EE90-CEEED07347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0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2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74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png"/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12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.png"/><Relationship Id="rId5" Type="http://schemas.openxmlformats.org/officeDocument/2006/relationships/image" Target="../media/image13.png"/><Relationship Id="rId10" Type="http://schemas.openxmlformats.org/officeDocument/2006/relationships/image" Target="../media/image6.svg"/><Relationship Id="rId4" Type="http://schemas.openxmlformats.org/officeDocument/2006/relationships/image" Target="../media/image16.svg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svg"/><Relationship Id="rId11" Type="http://schemas.openxmlformats.org/officeDocument/2006/relationships/image" Target="../media/image9.png"/><Relationship Id="rId5" Type="http://schemas.openxmlformats.org/officeDocument/2006/relationships/image" Target="../media/image15.png"/><Relationship Id="rId10" Type="http://schemas.openxmlformats.org/officeDocument/2006/relationships/image" Target="../media/image6.svg"/><Relationship Id="rId4" Type="http://schemas.openxmlformats.org/officeDocument/2006/relationships/image" Target="../media/image2.sv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2DD51-350F-6313-E126-26614FD6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37E806-8663-67AD-2556-02ED185D401B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📜 Domain Manifest</a:t>
            </a:r>
          </a:p>
        </p:txBody>
      </p:sp>
    </p:spTree>
    <p:extLst>
      <p:ext uri="{BB962C8B-B14F-4D97-AF65-F5344CB8AC3E}">
        <p14:creationId xmlns:p14="http://schemas.microsoft.com/office/powerpoint/2010/main" val="324420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EB355-AFCB-DD93-9BE8-E922BBF5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ED9B0BA-E8A0-4115-699F-90F7CB8BCA40}"/>
              </a:ext>
            </a:extLst>
          </p:cNvPr>
          <p:cNvGrpSpPr/>
          <p:nvPr/>
        </p:nvGrpSpPr>
        <p:grpSpPr>
          <a:xfrm>
            <a:off x="3901088" y="1576231"/>
            <a:ext cx="3795697" cy="1788528"/>
            <a:chOff x="6164674" y="5020615"/>
            <a:chExt cx="3795697" cy="17885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CA82C4A-53C3-B2DC-CDF7-6FAC590DA405}"/>
                </a:ext>
              </a:extLst>
            </p:cNvPr>
            <p:cNvSpPr/>
            <p:nvPr/>
          </p:nvSpPr>
          <p:spPr>
            <a:xfrm>
              <a:off x="6164674" y="5020615"/>
              <a:ext cx="3795697" cy="1788528"/>
            </a:xfrm>
            <a:prstGeom prst="rect">
              <a:avLst/>
            </a:prstGeom>
            <a:solidFill>
              <a:schemeClr val="bg1">
                <a:lumMod val="50000"/>
                <a:lumOff val="50000"/>
                <a:alpha val="21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BA29A8B-63C8-C7C5-6D65-F9469013ECEE}"/>
                </a:ext>
              </a:extLst>
            </p:cNvPr>
            <p:cNvSpPr/>
            <p:nvPr/>
          </p:nvSpPr>
          <p:spPr>
            <a:xfrm>
              <a:off x="6258929" y="5490228"/>
              <a:ext cx="18682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📜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Manifest</a:t>
              </a: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7A0643F-0D72-35A5-19D6-2531EC0DDAA5}"/>
              </a:ext>
            </a:extLst>
          </p:cNvPr>
          <p:cNvSpPr/>
          <p:nvPr/>
        </p:nvSpPr>
        <p:spPr>
          <a:xfrm>
            <a:off x="5957807" y="2045844"/>
            <a:ext cx="164867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Inbox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2ED3B1-BF99-DCB6-1AD3-C477F48EDA52}"/>
              </a:ext>
            </a:extLst>
          </p:cNvPr>
          <p:cNvSpPr/>
          <p:nvPr/>
        </p:nvSpPr>
        <p:spPr>
          <a:xfrm>
            <a:off x="3995343" y="2712276"/>
            <a:ext cx="3611141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>
              <a:defRPr/>
            </a:pP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Domain Core</a:t>
            </a:r>
          </a:p>
        </p:txBody>
      </p: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5E091AFA-9B04-37BB-CC99-A0221BC392D1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2459254" y="2326936"/>
            <a:ext cx="1536089" cy="4101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C6E601A-7C8F-BA04-ED7F-054A907C873B}"/>
              </a:ext>
            </a:extLst>
          </p:cNvPr>
          <p:cNvSpPr/>
          <p:nvPr/>
        </p:nvSpPr>
        <p:spPr>
          <a:xfrm>
            <a:off x="8705554" y="1104922"/>
            <a:ext cx="1744730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Domain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5EE5924-8882-561F-1C70-D903FEED4BDD}"/>
              </a:ext>
            </a:extLst>
          </p:cNvPr>
          <p:cNvSpPr/>
          <p:nvPr/>
        </p:nvSpPr>
        <p:spPr>
          <a:xfrm>
            <a:off x="8611298" y="758309"/>
            <a:ext cx="3267191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Other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D992D09-85C6-0D24-137D-B29CE56D891E}"/>
              </a:ext>
            </a:extLst>
          </p:cNvPr>
          <p:cNvSpPr/>
          <p:nvPr/>
        </p:nvSpPr>
        <p:spPr>
          <a:xfrm>
            <a:off x="10597100" y="1104922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cxnSp>
        <p:nvCxnSpPr>
          <p:cNvPr id="46" name="Straight Arrow Connector 12">
            <a:extLst>
              <a:ext uri="{FF2B5EF4-FFF2-40B4-BE49-F238E27FC236}">
                <a16:creationId xmlns:a16="http://schemas.microsoft.com/office/drawing/2014/main" id="{CF4AD997-6814-B049-E903-C582E9F5F8E5}"/>
              </a:ext>
            </a:extLst>
          </p:cNvPr>
          <p:cNvCxnSpPr>
            <a:cxnSpLocks/>
            <a:stCxn id="42" idx="1"/>
            <a:endCxn id="14" idx="0"/>
          </p:cNvCxnSpPr>
          <p:nvPr/>
        </p:nvCxnSpPr>
        <p:spPr>
          <a:xfrm rot="10800000" flipV="1">
            <a:off x="6782146" y="1265674"/>
            <a:ext cx="1829152" cy="78017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12">
            <a:extLst>
              <a:ext uri="{FF2B5EF4-FFF2-40B4-BE49-F238E27FC236}">
                <a16:creationId xmlns:a16="http://schemas.microsoft.com/office/drawing/2014/main" id="{ACDA3E5E-BA7E-70C0-0F93-736C443BB065}"/>
              </a:ext>
            </a:extLst>
          </p:cNvPr>
          <p:cNvCxnSpPr>
            <a:cxnSpLocks/>
            <a:stCxn id="27" idx="3"/>
            <a:endCxn id="42" idx="2"/>
          </p:cNvCxnSpPr>
          <p:nvPr/>
        </p:nvCxnSpPr>
        <p:spPr>
          <a:xfrm flipV="1">
            <a:off x="7606484" y="1773038"/>
            <a:ext cx="2638410" cy="1220330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877B23B0-88F2-25CC-0708-F4E24A3B0CE8}"/>
              </a:ext>
            </a:extLst>
          </p:cNvPr>
          <p:cNvSpPr/>
          <p:nvPr/>
        </p:nvSpPr>
        <p:spPr>
          <a:xfrm>
            <a:off x="11259566" y="1099152"/>
            <a:ext cx="51503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B474C1-712F-3F1E-FE62-6B286C1FB3E8}"/>
              </a:ext>
            </a:extLst>
          </p:cNvPr>
          <p:cNvSpPr txBox="1"/>
          <p:nvPr/>
        </p:nvSpPr>
        <p:spPr>
          <a:xfrm>
            <a:off x="5745452" y="1589249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GB" dirty="0"/>
              <a:t>   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877179-3997-E00A-5AF1-E6AB3DEE7945}"/>
              </a:ext>
            </a:extLst>
          </p:cNvPr>
          <p:cNvGrpSpPr/>
          <p:nvPr/>
        </p:nvGrpSpPr>
        <p:grpSpPr>
          <a:xfrm>
            <a:off x="539932" y="549299"/>
            <a:ext cx="1919322" cy="1014729"/>
            <a:chOff x="712971" y="2543574"/>
            <a:chExt cx="1919322" cy="101472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652432-C72B-3345-54B3-D73C0C49807F}"/>
                </a:ext>
              </a:extLst>
            </p:cNvPr>
            <p:cNvSpPr/>
            <p:nvPr/>
          </p:nvSpPr>
          <p:spPr>
            <a:xfrm>
              <a:off x="797539" y="2928855"/>
              <a:ext cx="178370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12ADA5E-CC89-0D2C-78F5-FCD077D894F5}"/>
                </a:ext>
              </a:extLst>
            </p:cNvPr>
            <p:cNvSpPr/>
            <p:nvPr/>
          </p:nvSpPr>
          <p:spPr>
            <a:xfrm>
              <a:off x="712971" y="2543574"/>
              <a:ext cx="1919322" cy="101472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47" name="Straight Arrow Connector 12">
            <a:extLst>
              <a:ext uri="{FF2B5EF4-FFF2-40B4-BE49-F238E27FC236}">
                <a16:creationId xmlns:a16="http://schemas.microsoft.com/office/drawing/2014/main" id="{8BC37319-1568-3DF8-FB46-7A4C946416CB}"/>
              </a:ext>
            </a:extLst>
          </p:cNvPr>
          <p:cNvCxnSpPr>
            <a:cxnSpLocks/>
            <a:stCxn id="42" idx="0"/>
            <a:endCxn id="16" idx="0"/>
          </p:cNvCxnSpPr>
          <p:nvPr/>
        </p:nvCxnSpPr>
        <p:spPr>
          <a:xfrm rot="16200000" flipV="1">
            <a:off x="5767739" y="-3718847"/>
            <a:ext cx="209010" cy="8745301"/>
          </a:xfrm>
          <a:prstGeom prst="bentConnector3">
            <a:avLst>
              <a:gd name="adj1" fmla="val 209373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B59EF9A2-BB15-92AA-4457-761FC56D299D}"/>
              </a:ext>
            </a:extLst>
          </p:cNvPr>
          <p:cNvSpPr txBox="1"/>
          <p:nvPr/>
        </p:nvSpPr>
        <p:spPr>
          <a:xfrm>
            <a:off x="2447539" y="1811608"/>
            <a:ext cx="234017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changes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9007ED0C-AE6D-66E9-A084-4E8F88145BBB}"/>
              </a:ext>
            </a:extLst>
          </p:cNvPr>
          <p:cNvSpPr/>
          <p:nvPr/>
        </p:nvSpPr>
        <p:spPr>
          <a:xfrm>
            <a:off x="7791040" y="2532276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4A0E21-3247-56E9-6E5E-62B2C09197CA}"/>
              </a:ext>
            </a:extLst>
          </p:cNvPr>
          <p:cNvSpPr txBox="1"/>
          <p:nvPr/>
        </p:nvSpPr>
        <p:spPr>
          <a:xfrm>
            <a:off x="8175372" y="2512221"/>
            <a:ext cx="208333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request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1D54B0-0D5F-35B5-563D-657649A0BC45}"/>
              </a:ext>
            </a:extLst>
          </p:cNvPr>
          <p:cNvSpPr txBox="1"/>
          <p:nvPr/>
        </p:nvSpPr>
        <p:spPr>
          <a:xfrm>
            <a:off x="7129753" y="750974"/>
            <a:ext cx="2083331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✉️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response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E35B2ED1-1417-7CA4-1C41-3A49DCA60CCA}"/>
              </a:ext>
            </a:extLst>
          </p:cNvPr>
          <p:cNvSpPr/>
          <p:nvPr/>
        </p:nvSpPr>
        <p:spPr>
          <a:xfrm>
            <a:off x="10417100" y="30550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227CED-1DF9-4AAC-25BC-BEC8EDE4AD10}"/>
              </a:ext>
            </a:extLst>
          </p:cNvPr>
          <p:cNvSpPr txBox="1"/>
          <p:nvPr/>
        </p:nvSpPr>
        <p:spPr>
          <a:xfrm>
            <a:off x="10777100" y="265393"/>
            <a:ext cx="1188477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query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CAD94D4C-64D0-C505-1AEC-D4B94C6BA2AA}"/>
              </a:ext>
            </a:extLst>
          </p:cNvPr>
          <p:cNvSpPr/>
          <p:nvPr/>
        </p:nvSpPr>
        <p:spPr>
          <a:xfrm>
            <a:off x="6778639" y="804563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6622D7-3421-1503-68A0-86BA5A1E8D03}"/>
              </a:ext>
            </a:extLst>
          </p:cNvPr>
          <p:cNvSpPr txBox="1"/>
          <p:nvPr/>
        </p:nvSpPr>
        <p:spPr>
          <a:xfrm>
            <a:off x="206409" y="6287264"/>
            <a:ext cx="1085233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MANIFEST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498404-EBB0-35B3-D204-2CA3C3B48957}"/>
              </a:ext>
            </a:extLst>
          </p:cNvPr>
          <p:cNvGrpSpPr/>
          <p:nvPr/>
        </p:nvGrpSpPr>
        <p:grpSpPr>
          <a:xfrm>
            <a:off x="539932" y="1836660"/>
            <a:ext cx="1919322" cy="988753"/>
            <a:chOff x="6139541" y="1010602"/>
            <a:chExt cx="3444792" cy="98875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D482F30-55D9-9EC3-862F-77395BC5071F}"/>
                </a:ext>
              </a:extLst>
            </p:cNvPr>
            <p:cNvSpPr/>
            <p:nvPr/>
          </p:nvSpPr>
          <p:spPr>
            <a:xfrm>
              <a:off x="6139541" y="1010602"/>
              <a:ext cx="3444792" cy="9887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B83312-32B6-7540-2C82-525D6144F67A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Listener</a:t>
              </a:r>
            </a:p>
          </p:txBody>
        </p:sp>
      </p:grpSp>
      <p:cxnSp>
        <p:nvCxnSpPr>
          <p:cNvPr id="24" name="Straight Arrow Connector 12">
            <a:extLst>
              <a:ext uri="{FF2B5EF4-FFF2-40B4-BE49-F238E27FC236}">
                <a16:creationId xmlns:a16="http://schemas.microsoft.com/office/drawing/2014/main" id="{0C4627F5-E5A9-5E9D-516C-685353090716}"/>
              </a:ext>
            </a:extLst>
          </p:cNvPr>
          <p:cNvCxnSpPr>
            <a:cxnSpLocks/>
            <a:stCxn id="9" idx="1"/>
            <a:endCxn id="16" idx="1"/>
          </p:cNvCxnSpPr>
          <p:nvPr/>
        </p:nvCxnSpPr>
        <p:spPr>
          <a:xfrm rot="10800000">
            <a:off x="539932" y="1056665"/>
            <a:ext cx="12700" cy="1274373"/>
          </a:xfrm>
          <a:prstGeom prst="bentConnector3">
            <a:avLst>
              <a:gd name="adj1" fmla="val 1800000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5794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812DE-5ACC-FEC5-B916-7305EDF19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BDDF39-C024-46D8-F613-44FC62DAF67D}"/>
              </a:ext>
            </a:extLst>
          </p:cNvPr>
          <p:cNvSpPr/>
          <p:nvPr/>
        </p:nvSpPr>
        <p:spPr>
          <a:xfrm>
            <a:off x="256045" y="264102"/>
            <a:ext cx="8013224" cy="5797102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24075023-3B46-B8D6-D451-40EE041415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48782" y="256564"/>
            <a:ext cx="381000" cy="3810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A02B750-FE45-D11B-EFC4-ADCD226155F3}"/>
              </a:ext>
            </a:extLst>
          </p:cNvPr>
          <p:cNvSpPr/>
          <p:nvPr/>
        </p:nvSpPr>
        <p:spPr>
          <a:xfrm>
            <a:off x="5841102" y="3511225"/>
            <a:ext cx="2052831" cy="393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async 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E53758F-20E3-276F-9035-21D6C0B2E8A1}"/>
              </a:ext>
            </a:extLst>
          </p:cNvPr>
          <p:cNvGrpSpPr/>
          <p:nvPr/>
        </p:nvGrpSpPr>
        <p:grpSpPr>
          <a:xfrm>
            <a:off x="8625564" y="3300877"/>
            <a:ext cx="1554755" cy="818292"/>
            <a:chOff x="6139541" y="1010603"/>
            <a:chExt cx="2790469" cy="818292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B3F0920-69A5-023F-DE06-214B16C7E066}"/>
                </a:ext>
              </a:extLst>
            </p:cNvPr>
            <p:cNvSpPr/>
            <p:nvPr/>
          </p:nvSpPr>
          <p:spPr>
            <a:xfrm>
              <a:off x="6139541" y="1010603"/>
              <a:ext cx="2790469" cy="8182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5FF9139B-2F54-DE1B-AD11-5E4E66317355}"/>
                </a:ext>
              </a:extLst>
            </p:cNvPr>
            <p:cNvSpPr/>
            <p:nvPr/>
          </p:nvSpPr>
          <p:spPr>
            <a:xfrm>
              <a:off x="6236555" y="1340761"/>
              <a:ext cx="2584044" cy="43117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Listener</a:t>
              </a:r>
            </a:p>
          </p:txBody>
        </p:sp>
      </p:grpSp>
      <p:cxnSp>
        <p:nvCxnSpPr>
          <p:cNvPr id="94" name="Straight Arrow Connector 12">
            <a:extLst>
              <a:ext uri="{FF2B5EF4-FFF2-40B4-BE49-F238E27FC236}">
                <a16:creationId xmlns:a16="http://schemas.microsoft.com/office/drawing/2014/main" id="{F9E52ACB-D019-B994-2D72-F112B610F802}"/>
              </a:ext>
            </a:extLst>
          </p:cNvPr>
          <p:cNvCxnSpPr>
            <a:cxnSpLocks/>
            <a:stCxn id="56" idx="3"/>
            <a:endCxn id="76" idx="1"/>
          </p:cNvCxnSpPr>
          <p:nvPr/>
        </p:nvCxnSpPr>
        <p:spPr>
          <a:xfrm>
            <a:off x="7893933" y="3708169"/>
            <a:ext cx="731631" cy="185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7" name="TextBox 12">
            <a:extLst>
              <a:ext uri="{FF2B5EF4-FFF2-40B4-BE49-F238E27FC236}">
                <a16:creationId xmlns:a16="http://schemas.microsoft.com/office/drawing/2014/main" id="{3229E927-3959-FFA8-D6D1-1DAA1D5019E4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174038" y="2888902"/>
            <a:ext cx="14207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commit or block  drafted changes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A36DBCE-944E-5B2F-EAE3-4E942683327D}"/>
              </a:ext>
            </a:extLst>
          </p:cNvPr>
          <p:cNvSpPr txBox="1"/>
          <p:nvPr/>
        </p:nvSpPr>
        <p:spPr>
          <a:xfrm>
            <a:off x="206409" y="6409189"/>
            <a:ext cx="190116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AWS MANIFESTER</a:t>
            </a:r>
          </a:p>
        </p:txBody>
      </p:sp>
      <p:cxnSp>
        <p:nvCxnSpPr>
          <p:cNvPr id="7" name="Straight Arrow Connector 12">
            <a:extLst>
              <a:ext uri="{FF2B5EF4-FFF2-40B4-BE49-F238E27FC236}">
                <a16:creationId xmlns:a16="http://schemas.microsoft.com/office/drawing/2014/main" id="{B8168D6B-EA58-CAB4-417D-C7F07D860DB9}"/>
              </a:ext>
            </a:extLst>
          </p:cNvPr>
          <p:cNvCxnSpPr>
            <a:cxnSpLocks/>
            <a:stCxn id="171" idx="1"/>
            <a:endCxn id="212" idx="1"/>
          </p:cNvCxnSpPr>
          <p:nvPr/>
        </p:nvCxnSpPr>
        <p:spPr>
          <a:xfrm rot="10800000">
            <a:off x="991782" y="2559555"/>
            <a:ext cx="12700" cy="1147359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2">
            <a:extLst>
              <a:ext uri="{FF2B5EF4-FFF2-40B4-BE49-F238E27FC236}">
                <a16:creationId xmlns:a16="http://schemas.microsoft.com/office/drawing/2014/main" id="{D62CE8C9-9032-9CE9-9FA9-9BBC88EA9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877" y="3417922"/>
            <a:ext cx="227196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publish committed change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1AAA60A-0FA7-0E42-C178-36C4B782BC98}"/>
              </a:ext>
            </a:extLst>
          </p:cNvPr>
          <p:cNvSpPr/>
          <p:nvPr/>
        </p:nvSpPr>
        <p:spPr>
          <a:xfrm>
            <a:off x="5855076" y="453922"/>
            <a:ext cx="2016191" cy="39388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7DB64141-20BE-2C77-68E3-45DA4521E8A6}"/>
              </a:ext>
            </a:extLst>
          </p:cNvPr>
          <p:cNvGrpSpPr/>
          <p:nvPr/>
        </p:nvGrpSpPr>
        <p:grpSpPr>
          <a:xfrm>
            <a:off x="991782" y="3447486"/>
            <a:ext cx="2060095" cy="518854"/>
            <a:chOff x="4537167" y="5246272"/>
            <a:chExt cx="2060095" cy="518854"/>
          </a:xfrm>
        </p:grpSpPr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BEC4845C-167E-9E12-0679-31B8CFAEE147}"/>
                </a:ext>
              </a:extLst>
            </p:cNvPr>
            <p:cNvGrpSpPr/>
            <p:nvPr/>
          </p:nvGrpSpPr>
          <p:grpSpPr>
            <a:xfrm>
              <a:off x="4537167" y="5246272"/>
              <a:ext cx="2060095" cy="518854"/>
              <a:chOff x="6440267" y="2476895"/>
              <a:chExt cx="2060095" cy="518854"/>
            </a:xfrm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BB3FD2EF-BB8E-24E9-53CB-BCA772B9DB74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72" name="Graphic 10" descr="AWS Lambda service icon.">
                <a:extLst>
                  <a:ext uri="{FF2B5EF4-FFF2-40B4-BE49-F238E27FC236}">
                    <a16:creationId xmlns:a16="http://schemas.microsoft.com/office/drawing/2014/main" id="{83D118F7-87F6-2A41-6654-987611A6F2F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6956201" y="2547613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FF843BA1-A462-9B25-C9FC-8E1A4265C25C}"/>
                  </a:ext>
                </a:extLst>
              </p:cNvPr>
              <p:cNvSpPr txBox="1"/>
              <p:nvPr/>
            </p:nvSpPr>
            <p:spPr>
              <a:xfrm>
                <a:off x="7316200" y="2504674"/>
                <a:ext cx="11841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change verifier</a:t>
                </a:r>
              </a:p>
            </p:txBody>
          </p:sp>
        </p:grpSp>
        <p:pic>
          <p:nvPicPr>
            <p:cNvPr id="174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EB87A687-37CA-9F5E-3A49-DBF5778A1E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4618464" y="5319941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7DEFED96-459D-3444-4B3F-F2D3BA0E0B1D}"/>
              </a:ext>
            </a:extLst>
          </p:cNvPr>
          <p:cNvGrpSpPr/>
          <p:nvPr/>
        </p:nvGrpSpPr>
        <p:grpSpPr>
          <a:xfrm>
            <a:off x="991782" y="4789276"/>
            <a:ext cx="2157667" cy="518854"/>
            <a:chOff x="4537167" y="5246272"/>
            <a:chExt cx="2157667" cy="518854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F29F8FBB-4EFB-226A-7A72-338B7A7A2429}"/>
                </a:ext>
              </a:extLst>
            </p:cNvPr>
            <p:cNvGrpSpPr/>
            <p:nvPr/>
          </p:nvGrpSpPr>
          <p:grpSpPr>
            <a:xfrm>
              <a:off x="4537167" y="5246272"/>
              <a:ext cx="2157667" cy="518854"/>
              <a:chOff x="6440267" y="2476895"/>
              <a:chExt cx="2157667" cy="518854"/>
            </a:xfrm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F277288C-843E-43FF-C3DC-A678E499FE43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80" name="Graphic 10" descr="AWS Lambda service icon.">
                <a:extLst>
                  <a:ext uri="{FF2B5EF4-FFF2-40B4-BE49-F238E27FC236}">
                    <a16:creationId xmlns:a16="http://schemas.microsoft.com/office/drawing/2014/main" id="{2E390D90-58A0-CF11-4691-FB5C1D6A46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6956201" y="2547613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1341FF32-6D99-A42D-6B6B-9F0227ACA461}"/>
                  </a:ext>
                </a:extLst>
              </p:cNvPr>
              <p:cNvSpPr txBox="1"/>
              <p:nvPr/>
            </p:nvSpPr>
            <p:spPr>
              <a:xfrm>
                <a:off x="7316199" y="2504674"/>
                <a:ext cx="128173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batch merger</a:t>
                </a:r>
              </a:p>
            </p:txBody>
          </p:sp>
        </p:grpSp>
        <p:pic>
          <p:nvPicPr>
            <p:cNvPr id="178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6C347FA7-A1A9-ECB9-B1AD-6255CA32BE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4618464" y="5319941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377DABA7-426E-11CC-BDDD-47F4F59B1430}"/>
              </a:ext>
            </a:extLst>
          </p:cNvPr>
          <p:cNvGrpSpPr/>
          <p:nvPr/>
        </p:nvGrpSpPr>
        <p:grpSpPr>
          <a:xfrm>
            <a:off x="991782" y="2875210"/>
            <a:ext cx="2106057" cy="518854"/>
            <a:chOff x="4836533" y="3621390"/>
            <a:chExt cx="2106057" cy="518854"/>
          </a:xfrm>
        </p:grpSpPr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31979CB0-2AD5-B328-534D-0B6D221F6755}"/>
                </a:ext>
              </a:extLst>
            </p:cNvPr>
            <p:cNvGrpSpPr/>
            <p:nvPr/>
          </p:nvGrpSpPr>
          <p:grpSpPr>
            <a:xfrm>
              <a:off x="4836533" y="3621390"/>
              <a:ext cx="2106057" cy="518854"/>
              <a:chOff x="6440267" y="2476895"/>
              <a:chExt cx="2106057" cy="518854"/>
            </a:xfrm>
          </p:grpSpPr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294D73C9-9354-754F-8314-33A5E82B50E7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205" name="Graphic 10" descr="AWS Lambda service icon.">
                <a:extLst>
                  <a:ext uri="{FF2B5EF4-FFF2-40B4-BE49-F238E27FC236}">
                    <a16:creationId xmlns:a16="http://schemas.microsoft.com/office/drawing/2014/main" id="{67734134-070F-F98F-FDCB-E3C3D1DCDC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6956201" y="2547613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62A0B15B-5425-13F7-3585-83E9277ADB31}"/>
                  </a:ext>
                </a:extLst>
              </p:cNvPr>
              <p:cNvSpPr txBox="1"/>
              <p:nvPr/>
            </p:nvSpPr>
            <p:spPr>
              <a:xfrm>
                <a:off x="7316199" y="2504674"/>
                <a:ext cx="123012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stream handler</a:t>
                </a:r>
              </a:p>
            </p:txBody>
          </p:sp>
        </p:grpSp>
        <p:pic>
          <p:nvPicPr>
            <p:cNvPr id="207" name="Graphic 206" descr="Stream resource icon for the Amazon DynamoDB service.">
              <a:extLst>
                <a:ext uri="{FF2B5EF4-FFF2-40B4-BE49-F238E27FC236}">
                  <a16:creationId xmlns:a16="http://schemas.microsoft.com/office/drawing/2014/main" id="{B9D0CEB0-AA4E-0F89-F31A-8A0835575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918105" y="3692108"/>
              <a:ext cx="359999" cy="359999"/>
            </a:xfrm>
            <a:prstGeom prst="rect">
              <a:avLst/>
            </a:prstGeom>
          </p:spPr>
        </p:pic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57923C6B-B473-0C3A-1DDA-6FD714D8849A}"/>
              </a:ext>
            </a:extLst>
          </p:cNvPr>
          <p:cNvGrpSpPr/>
          <p:nvPr/>
        </p:nvGrpSpPr>
        <p:grpSpPr>
          <a:xfrm>
            <a:off x="991782" y="2300354"/>
            <a:ext cx="2052000" cy="518400"/>
            <a:chOff x="612366" y="4202686"/>
            <a:chExt cx="2052000" cy="518400"/>
          </a:xfrm>
        </p:grpSpPr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AE130F48-ACE7-BA84-5625-8A0EE781B087}"/>
                </a:ext>
              </a:extLst>
            </p:cNvPr>
            <p:cNvGrpSpPr/>
            <p:nvPr/>
          </p:nvGrpSpPr>
          <p:grpSpPr>
            <a:xfrm>
              <a:off x="612366" y="4202686"/>
              <a:ext cx="2052000" cy="518400"/>
              <a:chOff x="6838092" y="3987527"/>
              <a:chExt cx="2052000" cy="518400"/>
            </a:xfrm>
          </p:grpSpPr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EF6AADF6-D727-D9E5-0B87-4963CCFA4224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2052000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3" name="TextBox 11">
                <a:extLst>
                  <a:ext uri="{FF2B5EF4-FFF2-40B4-BE49-F238E27FC236}">
                    <a16:creationId xmlns:a16="http://schemas.microsoft.com/office/drawing/2014/main" id="{EEDAA437-1961-442D-208F-2CFFFC8C7D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9866" y="4022422"/>
                <a:ext cx="129589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DynamoDB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manifest parts</a:t>
                </a:r>
                <a:endPara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211" name="Graphic 23" descr="Amazon DynamoDB service icon.">
              <a:extLst>
                <a:ext uri="{FF2B5EF4-FFF2-40B4-BE49-F238E27FC236}">
                  <a16:creationId xmlns:a16="http://schemas.microsoft.com/office/drawing/2014/main" id="{5CD4A4C2-FB2D-5028-8CAD-6D778D5741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 bwMode="auto">
            <a:xfrm>
              <a:off x="688948" y="4288038"/>
              <a:ext cx="360000" cy="36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21" name="Straight Arrow Connector 12">
            <a:extLst>
              <a:ext uri="{FF2B5EF4-FFF2-40B4-BE49-F238E27FC236}">
                <a16:creationId xmlns:a16="http://schemas.microsoft.com/office/drawing/2014/main" id="{B1DCEF8C-E565-FE1F-E136-2F6A62A24EBB}"/>
              </a:ext>
            </a:extLst>
          </p:cNvPr>
          <p:cNvCxnSpPr>
            <a:cxnSpLocks/>
            <a:stCxn id="171" idx="2"/>
            <a:endCxn id="179" idx="0"/>
          </p:cNvCxnSpPr>
          <p:nvPr/>
        </p:nvCxnSpPr>
        <p:spPr>
          <a:xfrm>
            <a:off x="2018198" y="3966340"/>
            <a:ext cx="0" cy="82293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B5491BD7-14D7-C160-85A3-6C42C23F2BBD}"/>
              </a:ext>
            </a:extLst>
          </p:cNvPr>
          <p:cNvGrpSpPr/>
          <p:nvPr/>
        </p:nvGrpSpPr>
        <p:grpSpPr>
          <a:xfrm>
            <a:off x="991782" y="5369183"/>
            <a:ext cx="2157667" cy="518854"/>
            <a:chOff x="2158741" y="5160177"/>
            <a:chExt cx="2157667" cy="518854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BA07A0-F506-D916-CAD0-A6AD2E46E42E}"/>
                </a:ext>
              </a:extLst>
            </p:cNvPr>
            <p:cNvSpPr/>
            <p:nvPr/>
          </p:nvSpPr>
          <p:spPr>
            <a:xfrm>
              <a:off x="2158741" y="5160177"/>
              <a:ext cx="2052831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21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79EE4242-4613-605C-544D-FD1D3B1E4D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2240168" y="5234557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TextBox 9">
              <a:extLst>
                <a:ext uri="{FF2B5EF4-FFF2-40B4-BE49-F238E27FC236}">
                  <a16:creationId xmlns:a16="http://schemas.microsoft.com/office/drawing/2014/main" id="{2A5F0445-DFD9-02A7-AAD5-22DD5D97A6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3202" y="5185362"/>
              <a:ext cx="17032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S3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rPr>
                <a:t>manifest file (1 GB)</a:t>
              </a:r>
            </a:p>
          </p:txBody>
        </p:sp>
      </p:grpSp>
      <p:cxnSp>
        <p:nvCxnSpPr>
          <p:cNvPr id="235" name="Straight Arrow Connector 12">
            <a:extLst>
              <a:ext uri="{FF2B5EF4-FFF2-40B4-BE49-F238E27FC236}">
                <a16:creationId xmlns:a16="http://schemas.microsoft.com/office/drawing/2014/main" id="{44E9A850-EA37-4AA1-7E82-B178F1DC3266}"/>
              </a:ext>
            </a:extLst>
          </p:cNvPr>
          <p:cNvCxnSpPr>
            <a:cxnSpLocks/>
            <a:stCxn id="179" idx="1"/>
            <a:endCxn id="23" idx="1"/>
          </p:cNvCxnSpPr>
          <p:nvPr/>
        </p:nvCxnSpPr>
        <p:spPr>
          <a:xfrm rot="10800000" flipV="1">
            <a:off x="991782" y="5048702"/>
            <a:ext cx="12700" cy="579907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8" name="TextBox 12">
            <a:extLst>
              <a:ext uri="{FF2B5EF4-FFF2-40B4-BE49-F238E27FC236}">
                <a16:creationId xmlns:a16="http://schemas.microsoft.com/office/drawing/2014/main" id="{A2ECD3C6-30D9-2DCD-94C1-6F6786889BCF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04309" y="5135475"/>
            <a:ext cx="8570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update projection</a:t>
            </a:r>
          </a:p>
        </p:txBody>
      </p:sp>
      <p:cxnSp>
        <p:nvCxnSpPr>
          <p:cNvPr id="247" name="Straight Arrow Connector 12">
            <a:extLst>
              <a:ext uri="{FF2B5EF4-FFF2-40B4-BE49-F238E27FC236}">
                <a16:creationId xmlns:a16="http://schemas.microsoft.com/office/drawing/2014/main" id="{98447487-9F2D-53EA-B0CF-6D059DA9738D}"/>
              </a:ext>
            </a:extLst>
          </p:cNvPr>
          <p:cNvCxnSpPr>
            <a:cxnSpLocks/>
            <a:stCxn id="179" idx="3"/>
            <a:endCxn id="365" idx="1"/>
          </p:cNvCxnSpPr>
          <p:nvPr/>
        </p:nvCxnSpPr>
        <p:spPr>
          <a:xfrm>
            <a:off x="3044614" y="5048703"/>
            <a:ext cx="2796488" cy="1339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2" name="Straight Arrow Connector 12">
            <a:extLst>
              <a:ext uri="{FF2B5EF4-FFF2-40B4-BE49-F238E27FC236}">
                <a16:creationId xmlns:a16="http://schemas.microsoft.com/office/drawing/2014/main" id="{F95B5990-0EEC-7660-F8C9-7F6271A8094A}"/>
              </a:ext>
            </a:extLst>
          </p:cNvPr>
          <p:cNvCxnSpPr>
            <a:cxnSpLocks/>
            <a:stCxn id="171" idx="3"/>
            <a:endCxn id="56" idx="1"/>
          </p:cNvCxnSpPr>
          <p:nvPr/>
        </p:nvCxnSpPr>
        <p:spPr>
          <a:xfrm>
            <a:off x="3044614" y="3706913"/>
            <a:ext cx="2796488" cy="125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6" name="Straight Arrow Connector 12">
            <a:extLst>
              <a:ext uri="{FF2B5EF4-FFF2-40B4-BE49-F238E27FC236}">
                <a16:creationId xmlns:a16="http://schemas.microsoft.com/office/drawing/2014/main" id="{FB420560-6E74-4C83-138C-68A727766232}"/>
              </a:ext>
            </a:extLst>
          </p:cNvPr>
          <p:cNvCxnSpPr>
            <a:cxnSpLocks/>
            <a:stCxn id="358" idx="0"/>
            <a:endCxn id="142" idx="3"/>
          </p:cNvCxnSpPr>
          <p:nvPr/>
        </p:nvCxnSpPr>
        <p:spPr>
          <a:xfrm rot="16200000" flipV="1">
            <a:off x="8239293" y="282841"/>
            <a:ext cx="2650011" cy="3386062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9" name="TextBox 12">
            <a:extLst>
              <a:ext uri="{FF2B5EF4-FFF2-40B4-BE49-F238E27FC236}">
                <a16:creationId xmlns:a16="http://schemas.microsoft.com/office/drawing/2014/main" id="{39EC009E-9BCF-939E-9833-D4C8807BA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820" y="4746916"/>
            <a:ext cx="264358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verify drift in projection URL (slow)</a:t>
            </a:r>
          </a:p>
        </p:txBody>
      </p:sp>
      <p:cxnSp>
        <p:nvCxnSpPr>
          <p:cNvPr id="260" name="Straight Arrow Connector 12">
            <a:extLst>
              <a:ext uri="{FF2B5EF4-FFF2-40B4-BE49-F238E27FC236}">
                <a16:creationId xmlns:a16="http://schemas.microsoft.com/office/drawing/2014/main" id="{9732F7A2-5B83-21BF-BACC-C60BD7125608}"/>
              </a:ext>
            </a:extLst>
          </p:cNvPr>
          <p:cNvCxnSpPr>
            <a:cxnSpLocks/>
            <a:stCxn id="365" idx="3"/>
            <a:endCxn id="358" idx="2"/>
          </p:cNvCxnSpPr>
          <p:nvPr/>
        </p:nvCxnSpPr>
        <p:spPr>
          <a:xfrm flipV="1">
            <a:off x="7893933" y="4119169"/>
            <a:ext cx="3363396" cy="930873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7" name="TextBox 12">
            <a:extLst>
              <a:ext uri="{FF2B5EF4-FFF2-40B4-BE49-F238E27FC236}">
                <a16:creationId xmlns:a16="http://schemas.microsoft.com/office/drawing/2014/main" id="{B0F8C5DA-D34B-6825-C6F7-5FB8AA53B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8510" y="5381127"/>
            <a:ext cx="315326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pre-signed URL </a:t>
            </a:r>
            <a:r>
              <a:rPr lang="en-US" altLang="en-US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🔗</a:t>
            </a:r>
            <a:br>
              <a:rPr lang="en-US" altLang="en-US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(</a:t>
            </a: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limited retention lifecycle - e.g., weeks) </a:t>
            </a:r>
          </a:p>
        </p:txBody>
      </p:sp>
      <p:sp>
        <p:nvSpPr>
          <p:cNvPr id="268" name="TextBox 12">
            <a:extLst>
              <a:ext uri="{FF2B5EF4-FFF2-40B4-BE49-F238E27FC236}">
                <a16:creationId xmlns:a16="http://schemas.microsoft.com/office/drawing/2014/main" id="{93CD24AD-668E-514C-0B60-055696084C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3352" y="355347"/>
            <a:ext cx="28339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drift or error detected in projection</a:t>
            </a:r>
          </a:p>
        </p:txBody>
      </p: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28EDD176-4DEC-67FF-ED70-DAD6B25CEBC1}"/>
              </a:ext>
            </a:extLst>
          </p:cNvPr>
          <p:cNvGrpSpPr/>
          <p:nvPr/>
        </p:nvGrpSpPr>
        <p:grpSpPr>
          <a:xfrm>
            <a:off x="5841102" y="920089"/>
            <a:ext cx="2052832" cy="518854"/>
            <a:chOff x="4537167" y="5246272"/>
            <a:chExt cx="2052832" cy="518854"/>
          </a:xfrm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725D908D-2F45-3427-87FF-A29FC466DE85}"/>
                </a:ext>
              </a:extLst>
            </p:cNvPr>
            <p:cNvGrpSpPr/>
            <p:nvPr/>
          </p:nvGrpSpPr>
          <p:grpSpPr>
            <a:xfrm>
              <a:off x="4537167" y="5246272"/>
              <a:ext cx="2052832" cy="518854"/>
              <a:chOff x="6440267" y="2476895"/>
              <a:chExt cx="2052832" cy="518854"/>
            </a:xfrm>
          </p:grpSpPr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D2DFFF0D-15D0-AC2E-C81C-A436BF8D0DC9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280" name="Graphic 10" descr="AWS Lambda service icon.">
                <a:extLst>
                  <a:ext uri="{FF2B5EF4-FFF2-40B4-BE49-F238E27FC236}">
                    <a16:creationId xmlns:a16="http://schemas.microsoft.com/office/drawing/2014/main" id="{F4CC11D5-0A00-FFF1-47E5-B153068D2B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6956201" y="2547613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3A1201E6-CAB7-4454-6B5B-16BC26E20B91}"/>
                  </a:ext>
                </a:extLst>
              </p:cNvPr>
              <p:cNvSpPr txBox="1"/>
              <p:nvPr/>
            </p:nvSpPr>
            <p:spPr>
              <a:xfrm>
                <a:off x="7316199" y="2504674"/>
                <a:ext cx="115423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drift handler</a:t>
                </a:r>
              </a:p>
            </p:txBody>
          </p:sp>
        </p:grpSp>
        <p:pic>
          <p:nvPicPr>
            <p:cNvPr id="278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7EB2C994-D378-8302-9E95-96E76B6C1F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4618464" y="5319941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299" name="Straight Arrow Connector 12">
            <a:extLst>
              <a:ext uri="{FF2B5EF4-FFF2-40B4-BE49-F238E27FC236}">
                <a16:creationId xmlns:a16="http://schemas.microsoft.com/office/drawing/2014/main" id="{E2371374-0B8A-C888-E296-7ADBE973A817}"/>
              </a:ext>
            </a:extLst>
          </p:cNvPr>
          <p:cNvCxnSpPr>
            <a:cxnSpLocks/>
            <a:stCxn id="327" idx="2"/>
            <a:endCxn id="287" idx="1"/>
          </p:cNvCxnSpPr>
          <p:nvPr/>
        </p:nvCxnSpPr>
        <p:spPr>
          <a:xfrm rot="16200000" flipH="1">
            <a:off x="4482088" y="985337"/>
            <a:ext cx="699425" cy="201860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3" name="TextBox 12">
            <a:extLst>
              <a:ext uri="{FF2B5EF4-FFF2-40B4-BE49-F238E27FC236}">
                <a16:creationId xmlns:a16="http://schemas.microsoft.com/office/drawing/2014/main" id="{FDD86A1A-4755-C820-B075-7EC110087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8215" y="2361095"/>
            <a:ext cx="16287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upload manifest file (up to 1 GB)</a:t>
            </a:r>
          </a:p>
        </p:txBody>
      </p:sp>
      <p:cxnSp>
        <p:nvCxnSpPr>
          <p:cNvPr id="306" name="Straight Arrow Connector 12">
            <a:extLst>
              <a:ext uri="{FF2B5EF4-FFF2-40B4-BE49-F238E27FC236}">
                <a16:creationId xmlns:a16="http://schemas.microsoft.com/office/drawing/2014/main" id="{912ED221-C09A-4EE8-5AFE-EA62E0D3D6E1}"/>
              </a:ext>
            </a:extLst>
          </p:cNvPr>
          <p:cNvCxnSpPr>
            <a:cxnSpLocks/>
            <a:stCxn id="287" idx="2"/>
            <a:endCxn id="56" idx="0"/>
          </p:cNvCxnSpPr>
          <p:nvPr/>
        </p:nvCxnSpPr>
        <p:spPr>
          <a:xfrm>
            <a:off x="6867518" y="2603779"/>
            <a:ext cx="0" cy="907446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10" name="TextBox 12">
            <a:extLst>
              <a:ext uri="{FF2B5EF4-FFF2-40B4-BE49-F238E27FC236}">
                <a16:creationId xmlns:a16="http://schemas.microsoft.com/office/drawing/2014/main" id="{FE440993-EA78-9220-00EA-E8D86CBF9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2942" y="2612825"/>
            <a:ext cx="124945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reset from 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pre-signed URL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(slow)</a:t>
            </a:r>
          </a:p>
        </p:txBody>
      </p: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8CA256E2-5B4F-0300-91F2-1B714AEF101A}"/>
              </a:ext>
            </a:extLst>
          </p:cNvPr>
          <p:cNvGrpSpPr/>
          <p:nvPr/>
        </p:nvGrpSpPr>
        <p:grpSpPr>
          <a:xfrm>
            <a:off x="3393358" y="714091"/>
            <a:ext cx="858280" cy="930836"/>
            <a:chOff x="3680747" y="714102"/>
            <a:chExt cx="858280" cy="930836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736301A7-037F-E542-0370-635BC12D7C14}"/>
                </a:ext>
              </a:extLst>
            </p:cNvPr>
            <p:cNvSpPr/>
            <p:nvPr/>
          </p:nvSpPr>
          <p:spPr>
            <a:xfrm>
              <a:off x="3729228" y="714102"/>
              <a:ext cx="749581" cy="930835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grpSp>
          <p:nvGrpSpPr>
            <p:cNvPr id="333" name="Group 332">
              <a:extLst>
                <a:ext uri="{FF2B5EF4-FFF2-40B4-BE49-F238E27FC236}">
                  <a16:creationId xmlns:a16="http://schemas.microsoft.com/office/drawing/2014/main" id="{34CCB056-63DF-8479-60C2-E793C51A4BE9}"/>
                </a:ext>
              </a:extLst>
            </p:cNvPr>
            <p:cNvGrpSpPr/>
            <p:nvPr/>
          </p:nvGrpSpPr>
          <p:grpSpPr>
            <a:xfrm>
              <a:off x="3680747" y="793099"/>
              <a:ext cx="858280" cy="851839"/>
              <a:chOff x="758125" y="466021"/>
              <a:chExt cx="858280" cy="851839"/>
            </a:xfrm>
          </p:grpSpPr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ED666400-3AD2-0650-D671-52775B200BFB}"/>
                  </a:ext>
                </a:extLst>
              </p:cNvPr>
              <p:cNvSpPr txBox="1"/>
              <p:nvPr/>
            </p:nvSpPr>
            <p:spPr>
              <a:xfrm>
                <a:off x="905381" y="466021"/>
                <a:ext cx="56376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4400" dirty="0">
                    <a:solidFill>
                      <a:srgbClr val="FFFF00"/>
                    </a:solidFill>
                  </a:rPr>
                  <a:t>🧑‍🦰</a:t>
                </a:r>
                <a:endParaRPr lang="en-US" sz="800" dirty="0"/>
              </a:p>
            </p:txBody>
          </p:sp>
          <p:sp>
            <p:nvSpPr>
              <p:cNvPr id="327" name="TextBox 12">
                <a:extLst>
                  <a:ext uri="{FF2B5EF4-FFF2-40B4-BE49-F238E27FC236}">
                    <a16:creationId xmlns:a16="http://schemas.microsoft.com/office/drawing/2014/main" id="{188BF8CE-3D94-149F-374A-1FF8E04627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8125" y="1040861"/>
                <a:ext cx="858280" cy="2769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</a:rPr>
                  <a:t>admins</a:t>
                </a:r>
              </a:p>
            </p:txBody>
          </p:sp>
        </p:grpSp>
      </p:grpSp>
      <p:cxnSp>
        <p:nvCxnSpPr>
          <p:cNvPr id="328" name="Straight Arrow Connector 12">
            <a:extLst>
              <a:ext uri="{FF2B5EF4-FFF2-40B4-BE49-F238E27FC236}">
                <a16:creationId xmlns:a16="http://schemas.microsoft.com/office/drawing/2014/main" id="{73891AB6-AD40-49F0-47AA-86F00708A858}"/>
              </a:ext>
            </a:extLst>
          </p:cNvPr>
          <p:cNvCxnSpPr>
            <a:cxnSpLocks/>
            <a:stCxn id="344" idx="1"/>
            <a:endCxn id="211" idx="0"/>
          </p:cNvCxnSpPr>
          <p:nvPr/>
        </p:nvCxnSpPr>
        <p:spPr>
          <a:xfrm rot="10800000" flipV="1">
            <a:off x="1248365" y="1179508"/>
            <a:ext cx="2193475" cy="1206197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0" name="TextBox 12">
            <a:extLst>
              <a:ext uri="{FF2B5EF4-FFF2-40B4-BE49-F238E27FC236}">
                <a16:creationId xmlns:a16="http://schemas.microsoft.com/office/drawing/2014/main" id="{0D6D640C-F5D8-A4F2-B8A6-92950E985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183" y="885994"/>
            <a:ext cx="19089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change manifest parts</a:t>
            </a:r>
          </a:p>
        </p:txBody>
      </p: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749C4038-AE2B-9BF5-57CC-3F9E89DB114F}"/>
              </a:ext>
            </a:extLst>
          </p:cNvPr>
          <p:cNvGrpSpPr/>
          <p:nvPr/>
        </p:nvGrpSpPr>
        <p:grpSpPr>
          <a:xfrm>
            <a:off x="10566498" y="3300877"/>
            <a:ext cx="1381662" cy="818292"/>
            <a:chOff x="6139543" y="1010603"/>
            <a:chExt cx="2479802" cy="818292"/>
          </a:xfrm>
        </p:grpSpPr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1EDB179F-523C-2827-C731-DBFDE61BAE94}"/>
                </a:ext>
              </a:extLst>
            </p:cNvPr>
            <p:cNvSpPr/>
            <p:nvPr/>
          </p:nvSpPr>
          <p:spPr>
            <a:xfrm>
              <a:off x="6139543" y="1010603"/>
              <a:ext cx="2479802" cy="8182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359" name="Rectangle 358">
              <a:extLst>
                <a:ext uri="{FF2B5EF4-FFF2-40B4-BE49-F238E27FC236}">
                  <a16:creationId xmlns:a16="http://schemas.microsoft.com/office/drawing/2014/main" id="{13BA8D5C-C209-CF09-C666-D2D1268E7959}"/>
                </a:ext>
              </a:extLst>
            </p:cNvPr>
            <p:cNvSpPr/>
            <p:nvPr/>
          </p:nvSpPr>
          <p:spPr>
            <a:xfrm>
              <a:off x="6236555" y="1340761"/>
              <a:ext cx="2273377" cy="43117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</p:grpSp>
      <p:cxnSp>
        <p:nvCxnSpPr>
          <p:cNvPr id="360" name="Straight Arrow Connector 12">
            <a:extLst>
              <a:ext uri="{FF2B5EF4-FFF2-40B4-BE49-F238E27FC236}">
                <a16:creationId xmlns:a16="http://schemas.microsoft.com/office/drawing/2014/main" id="{7D279628-583C-7CF0-B7C5-793617FFB1B4}"/>
              </a:ext>
            </a:extLst>
          </p:cNvPr>
          <p:cNvCxnSpPr>
            <a:cxnSpLocks/>
            <a:stCxn id="76" idx="3"/>
            <a:endCxn id="358" idx="1"/>
          </p:cNvCxnSpPr>
          <p:nvPr/>
        </p:nvCxnSpPr>
        <p:spPr>
          <a:xfrm>
            <a:off x="10180319" y="3710023"/>
            <a:ext cx="38617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5" name="Rectangle 364">
            <a:extLst>
              <a:ext uri="{FF2B5EF4-FFF2-40B4-BE49-F238E27FC236}">
                <a16:creationId xmlns:a16="http://schemas.microsoft.com/office/drawing/2014/main" id="{C057EE8B-94BD-46DC-12F9-7E3F0FBD2448}"/>
              </a:ext>
            </a:extLst>
          </p:cNvPr>
          <p:cNvSpPr/>
          <p:nvPr/>
        </p:nvSpPr>
        <p:spPr>
          <a:xfrm>
            <a:off x="5841102" y="4853098"/>
            <a:ext cx="2052831" cy="393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async 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82" name="TextBox 12">
            <a:extLst>
              <a:ext uri="{FF2B5EF4-FFF2-40B4-BE49-F238E27FC236}">
                <a16:creationId xmlns:a16="http://schemas.microsoft.com/office/drawing/2014/main" id="{98D57C06-1E9B-E384-C690-2636601AA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9269" y="663157"/>
            <a:ext cx="28339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(this is a slow verification - e.g., days)</a:t>
            </a:r>
          </a:p>
        </p:txBody>
      </p: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1279BBEA-A8A5-0F81-164C-C1327365DE7B}"/>
              </a:ext>
            </a:extLst>
          </p:cNvPr>
          <p:cNvGrpSpPr/>
          <p:nvPr/>
        </p:nvGrpSpPr>
        <p:grpSpPr>
          <a:xfrm>
            <a:off x="5841102" y="2084925"/>
            <a:ext cx="2118869" cy="518854"/>
            <a:chOff x="5457919" y="1492728"/>
            <a:chExt cx="2118869" cy="518854"/>
          </a:xfrm>
        </p:grpSpPr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D14FC076-F505-DE6B-6332-F195ECC70920}"/>
                </a:ext>
              </a:extLst>
            </p:cNvPr>
            <p:cNvGrpSpPr/>
            <p:nvPr/>
          </p:nvGrpSpPr>
          <p:grpSpPr>
            <a:xfrm>
              <a:off x="5457919" y="1492728"/>
              <a:ext cx="2118869" cy="518854"/>
              <a:chOff x="5684343" y="1614656"/>
              <a:chExt cx="2118869" cy="518854"/>
            </a:xfrm>
          </p:grpSpPr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AE5C25FC-EB48-4E0A-E2F8-C7953D103147}"/>
                  </a:ext>
                </a:extLst>
              </p:cNvPr>
              <p:cNvGrpSpPr/>
              <p:nvPr/>
            </p:nvGrpSpPr>
            <p:grpSpPr>
              <a:xfrm>
                <a:off x="5684343" y="1614656"/>
                <a:ext cx="2118869" cy="518854"/>
                <a:chOff x="6399966" y="2708142"/>
                <a:chExt cx="2118869" cy="518854"/>
              </a:xfrm>
            </p:grpSpPr>
            <p:sp>
              <p:nvSpPr>
                <p:cNvPr id="287" name="Rectangle 286">
                  <a:extLst>
                    <a:ext uri="{FF2B5EF4-FFF2-40B4-BE49-F238E27FC236}">
                      <a16:creationId xmlns:a16="http://schemas.microsoft.com/office/drawing/2014/main" id="{3F641AD7-326C-5B55-73B8-3F50AA195E17}"/>
                    </a:ext>
                  </a:extLst>
                </p:cNvPr>
                <p:cNvSpPr/>
                <p:nvPr/>
              </p:nvSpPr>
              <p:spPr>
                <a:xfrm>
                  <a:off x="6399966" y="2708142"/>
                  <a:ext cx="2052831" cy="518854"/>
                </a:xfrm>
                <a:prstGeom prst="rect">
                  <a:avLst/>
                </a:prstGeom>
                <a:solidFill>
                  <a:schemeClr val="bg1">
                    <a:lumMod val="85000"/>
                    <a:lumOff val="1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45720" rIns="45720" bIns="72000" rtlCol="0" anchor="b"/>
                <a:lstStyle/>
                <a:p>
                  <a:pPr algn="ctr"/>
                  <a:endParaRPr lang="en-US" sz="1600" i="1" dirty="0">
                    <a:solidFill>
                      <a:schemeClr val="tx1">
                        <a:lumMod val="75000"/>
                      </a:schemeClr>
                    </a:solidFill>
                  </a:endParaRPr>
                </a:p>
              </p:txBody>
            </p:sp>
            <p:sp>
              <p:nvSpPr>
                <p:cNvPr id="289" name="TextBox 9">
                  <a:extLst>
                    <a:ext uri="{FF2B5EF4-FFF2-40B4-BE49-F238E27FC236}">
                      <a16:creationId xmlns:a16="http://schemas.microsoft.com/office/drawing/2014/main" id="{751E7B0F-20FA-DA3B-4F8C-ECD0B429E9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66667" y="2742618"/>
                  <a:ext cx="1252168" cy="4616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  <a:t>S3, Lambda</a:t>
                  </a:r>
                  <a:br>
                    <a:rPr lang="en-US" alt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rPr>
                  </a:br>
                  <a:r>
                    <a:rPr lang="en-US" altLang="en-US" sz="12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  <a:latin typeface="+mn-lt"/>
                      <a:ea typeface="Amazon Ember" panose="020B0603020204020204" pitchFamily="34" charset="0"/>
                      <a:cs typeface="Arial" panose="020B0604020202020204" pitchFamily="34" charset="0"/>
                    </a:rPr>
                    <a:t>manifest file</a:t>
                  </a:r>
                </a:p>
              </p:txBody>
            </p:sp>
          </p:grpSp>
          <p:pic>
            <p:nvPicPr>
              <p:cNvPr id="294" name="Graphic 10" descr="AWS Lambda service icon.">
                <a:extLst>
                  <a:ext uri="{FF2B5EF4-FFF2-40B4-BE49-F238E27FC236}">
                    <a16:creationId xmlns:a16="http://schemas.microsoft.com/office/drawing/2014/main" id="{58A7961E-AB8F-E4FF-7A67-ACCB57481E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6196121" y="169198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384" name="Graphic 8" descr="Amazon Simple Storage Service (Amazon S3) service icon.">
              <a:extLst>
                <a:ext uri="{FF2B5EF4-FFF2-40B4-BE49-F238E27FC236}">
                  <a16:creationId xmlns:a16="http://schemas.microsoft.com/office/drawing/2014/main" id="{596FEA8A-4CD5-BDBA-73F8-25287A3046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5538309" y="157005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386" name="Straight Arrow Connector 12">
            <a:extLst>
              <a:ext uri="{FF2B5EF4-FFF2-40B4-BE49-F238E27FC236}">
                <a16:creationId xmlns:a16="http://schemas.microsoft.com/office/drawing/2014/main" id="{DCF2E700-7C50-A0B9-FEFE-D4A54201B2BF}"/>
              </a:ext>
            </a:extLst>
          </p:cNvPr>
          <p:cNvCxnSpPr>
            <a:cxnSpLocks/>
            <a:stCxn id="410" idx="1"/>
            <a:endCxn id="344" idx="3"/>
          </p:cNvCxnSpPr>
          <p:nvPr/>
        </p:nvCxnSpPr>
        <p:spPr>
          <a:xfrm flipH="1" flipV="1">
            <a:off x="4191420" y="1179509"/>
            <a:ext cx="671464" cy="308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5" name="TextBox 12">
            <a:extLst>
              <a:ext uri="{FF2B5EF4-FFF2-40B4-BE49-F238E27FC236}">
                <a16:creationId xmlns:a16="http://schemas.microsoft.com/office/drawing/2014/main" id="{3FFD68FD-75EC-227F-E50B-B540A9DE8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682" y="3716830"/>
            <a:ext cx="264672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(fast, up to 100 KB)</a:t>
            </a:r>
          </a:p>
        </p:txBody>
      </p:sp>
      <p:sp>
        <p:nvSpPr>
          <p:cNvPr id="406" name="TextBox 12">
            <a:extLst>
              <a:ext uri="{FF2B5EF4-FFF2-40B4-BE49-F238E27FC236}">
                <a16:creationId xmlns:a16="http://schemas.microsoft.com/office/drawing/2014/main" id="{D5D6567D-CE37-0061-25B9-559E50C48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972" y="4001347"/>
            <a:ext cx="10346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batch messages</a:t>
            </a:r>
          </a:p>
        </p:txBody>
      </p:sp>
      <p:cxnSp>
        <p:nvCxnSpPr>
          <p:cNvPr id="412" name="Straight Arrow Connector 12">
            <a:extLst>
              <a:ext uri="{FF2B5EF4-FFF2-40B4-BE49-F238E27FC236}">
                <a16:creationId xmlns:a16="http://schemas.microsoft.com/office/drawing/2014/main" id="{71BCA875-241E-48F3-44ED-FDAA0CDA0B38}"/>
              </a:ext>
            </a:extLst>
          </p:cNvPr>
          <p:cNvCxnSpPr>
            <a:cxnSpLocks/>
            <a:stCxn id="279" idx="1"/>
            <a:endCxn id="410" idx="3"/>
          </p:cNvCxnSpPr>
          <p:nvPr/>
        </p:nvCxnSpPr>
        <p:spPr>
          <a:xfrm flipH="1">
            <a:off x="5222884" y="1179516"/>
            <a:ext cx="618218" cy="307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90B31D80-F8AB-D9F6-D013-D1CDFBF0FA8D}"/>
              </a:ext>
            </a:extLst>
          </p:cNvPr>
          <p:cNvGrpSpPr/>
          <p:nvPr/>
        </p:nvGrpSpPr>
        <p:grpSpPr>
          <a:xfrm>
            <a:off x="4784371" y="1002591"/>
            <a:ext cx="517557" cy="822090"/>
            <a:chOff x="4862753" y="1002591"/>
            <a:chExt cx="517557" cy="822090"/>
          </a:xfrm>
        </p:grpSpPr>
        <p:pic>
          <p:nvPicPr>
            <p:cNvPr id="410" name="Graphic 24" descr="Amazon Simple Notification Service (Amazon SNS) service icon.">
              <a:extLst>
                <a:ext uri="{FF2B5EF4-FFF2-40B4-BE49-F238E27FC236}">
                  <a16:creationId xmlns:a16="http://schemas.microsoft.com/office/drawing/2014/main" id="{B9B2662C-901C-E0B2-B174-DB86E6B336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/>
          </p:blipFill>
          <p:spPr bwMode="auto">
            <a:xfrm>
              <a:off x="4941266" y="1002591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5" name="TextBox 414">
              <a:extLst>
                <a:ext uri="{FF2B5EF4-FFF2-40B4-BE49-F238E27FC236}">
                  <a16:creationId xmlns:a16="http://schemas.microsoft.com/office/drawing/2014/main" id="{E841268D-24B3-7615-1449-2B876EC6CC55}"/>
                </a:ext>
              </a:extLst>
            </p:cNvPr>
            <p:cNvSpPr txBox="1"/>
            <p:nvPr/>
          </p:nvSpPr>
          <p:spPr>
            <a:xfrm>
              <a:off x="4862753" y="1363016"/>
              <a:ext cx="51755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SNS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alert</a:t>
              </a:r>
              <a:endPara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18" name="Straight Arrow Connector 12">
            <a:extLst>
              <a:ext uri="{FF2B5EF4-FFF2-40B4-BE49-F238E27FC236}">
                <a16:creationId xmlns:a16="http://schemas.microsoft.com/office/drawing/2014/main" id="{82BB145F-1DD5-7573-CFDA-0064FE49E408}"/>
              </a:ext>
            </a:extLst>
          </p:cNvPr>
          <p:cNvCxnSpPr>
            <a:cxnSpLocks/>
            <a:stCxn id="294" idx="0"/>
            <a:endCxn id="384" idx="0"/>
          </p:cNvCxnSpPr>
          <p:nvPr/>
        </p:nvCxnSpPr>
        <p:spPr>
          <a:xfrm rot="16200000" flipV="1">
            <a:off x="6317186" y="1946557"/>
            <a:ext cx="12700" cy="431388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21" name="TextBox 12">
            <a:extLst>
              <a:ext uri="{FF2B5EF4-FFF2-40B4-BE49-F238E27FC236}">
                <a16:creationId xmlns:a16="http://schemas.microsoft.com/office/drawing/2014/main" id="{79DD9615-78C1-783A-638E-2A087D4A9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7940" y="1822145"/>
            <a:ext cx="134599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verify schema</a:t>
            </a:r>
          </a:p>
        </p:txBody>
      </p:sp>
    </p:spTree>
    <p:extLst>
      <p:ext uri="{BB962C8B-B14F-4D97-AF65-F5344CB8AC3E}">
        <p14:creationId xmlns:p14="http://schemas.microsoft.com/office/powerpoint/2010/main" val="3910879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FCDFC-826E-F46A-2BCA-B52190C4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977089E0-5576-190D-F034-73303B1DAB36}"/>
              </a:ext>
            </a:extLst>
          </p:cNvPr>
          <p:cNvSpPr/>
          <p:nvPr/>
        </p:nvSpPr>
        <p:spPr>
          <a:xfrm>
            <a:off x="1474504" y="2293990"/>
            <a:ext cx="9359150" cy="2689307"/>
          </a:xfrm>
          <a:prstGeom prst="rect">
            <a:avLst/>
          </a:prstGeom>
          <a:solidFill>
            <a:schemeClr val="tx1">
              <a:alpha val="1543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C2FA3F1-0D2A-3B8F-29BE-8FA669D00ACA}"/>
              </a:ext>
            </a:extLst>
          </p:cNvPr>
          <p:cNvGrpSpPr/>
          <p:nvPr/>
        </p:nvGrpSpPr>
        <p:grpSpPr>
          <a:xfrm>
            <a:off x="1149789" y="5602041"/>
            <a:ext cx="1720160" cy="1006989"/>
            <a:chOff x="6052974" y="1012716"/>
            <a:chExt cx="3735679" cy="1006989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3C12777-C513-A0D0-1A18-79D45D6C4242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25B0E56-F5B8-1D3E-2743-6A61CC5B9ADB}"/>
                </a:ext>
              </a:extLst>
            </p:cNvPr>
            <p:cNvSpPr/>
            <p:nvPr/>
          </p:nvSpPr>
          <p:spPr>
            <a:xfrm>
              <a:off x="6052974" y="1012716"/>
              <a:ext cx="3735679" cy="10069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DABA7DE8-553F-0F33-392E-21933647D40F}"/>
              </a:ext>
            </a:extLst>
          </p:cNvPr>
          <p:cNvCxnSpPr>
            <a:cxnSpLocks/>
          </p:cNvCxnSpPr>
          <p:nvPr/>
        </p:nvCxnSpPr>
        <p:spPr>
          <a:xfrm flipH="1">
            <a:off x="5469153" y="842874"/>
            <a:ext cx="3" cy="942763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DA078BD4-FB8F-2E59-CF3D-03B1A5518D7D}"/>
              </a:ext>
            </a:extLst>
          </p:cNvPr>
          <p:cNvCxnSpPr>
            <a:cxnSpLocks/>
          </p:cNvCxnSpPr>
          <p:nvPr/>
        </p:nvCxnSpPr>
        <p:spPr>
          <a:xfrm flipH="1">
            <a:off x="3384337" y="784372"/>
            <a:ext cx="9542" cy="1011831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C804A9A5-3250-C382-0B7C-17D57A966081}"/>
              </a:ext>
            </a:extLst>
          </p:cNvPr>
          <p:cNvCxnSpPr>
            <a:cxnSpLocks/>
            <a:stCxn id="14" idx="2"/>
            <a:endCxn id="135" idx="0"/>
          </p:cNvCxnSpPr>
          <p:nvPr/>
        </p:nvCxnSpPr>
        <p:spPr>
          <a:xfrm rot="5400000">
            <a:off x="2985225" y="1530367"/>
            <a:ext cx="658718" cy="2577909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BF08F2D-CA5C-D12B-59BD-D5852B25A2FB}"/>
              </a:ext>
            </a:extLst>
          </p:cNvPr>
          <p:cNvSpPr txBox="1"/>
          <p:nvPr/>
        </p:nvSpPr>
        <p:spPr>
          <a:xfrm>
            <a:off x="1923895" y="4796507"/>
            <a:ext cx="1366955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GB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7FEA71-F2C6-E3AD-9C0B-461EBC4D94EE}"/>
              </a:ext>
            </a:extLst>
          </p:cNvPr>
          <p:cNvGrpSpPr/>
          <p:nvPr/>
        </p:nvGrpSpPr>
        <p:grpSpPr>
          <a:xfrm>
            <a:off x="3103276" y="1796203"/>
            <a:ext cx="5825944" cy="683556"/>
            <a:chOff x="4455758" y="3216390"/>
            <a:chExt cx="2989631" cy="683556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4EEFDD3-78C0-EB94-B47D-E68A863324E9}"/>
                </a:ext>
              </a:extLst>
            </p:cNvPr>
            <p:cNvSpPr/>
            <p:nvPr/>
          </p:nvSpPr>
          <p:spPr>
            <a:xfrm>
              <a:off x="4455758" y="3216390"/>
              <a:ext cx="2989631" cy="6835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C8E00B5-B125-14BC-1155-944E830EE298}"/>
                </a:ext>
              </a:extLst>
            </p:cNvPr>
            <p:cNvSpPr/>
            <p:nvPr/>
          </p:nvSpPr>
          <p:spPr>
            <a:xfrm>
              <a:off x="4494342" y="3273509"/>
              <a:ext cx="29188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 algn="ctr"/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listeners.nlweb.org</a:t>
              </a: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30575F4D-D584-9445-F1C9-392D179F5F55}"/>
              </a:ext>
            </a:extLst>
          </p:cNvPr>
          <p:cNvSpPr txBox="1"/>
          <p:nvPr/>
        </p:nvSpPr>
        <p:spPr>
          <a:xfrm>
            <a:off x="5731581" y="429750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</a:t>
            </a:r>
            <a:endParaRPr lang="en-GB" sz="2800" baseline="-17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4366AC3-9072-2625-BF8F-B1EF029D5347}"/>
              </a:ext>
            </a:extLst>
          </p:cNvPr>
          <p:cNvGrpSpPr/>
          <p:nvPr/>
        </p:nvGrpSpPr>
        <p:grpSpPr>
          <a:xfrm>
            <a:off x="1065968" y="3148680"/>
            <a:ext cx="1919322" cy="988753"/>
            <a:chOff x="6139541" y="1010602"/>
            <a:chExt cx="3444792" cy="988753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88C93DD-234D-3969-DD60-BD61417EE5D1}"/>
                </a:ext>
              </a:extLst>
            </p:cNvPr>
            <p:cNvSpPr/>
            <p:nvPr/>
          </p:nvSpPr>
          <p:spPr>
            <a:xfrm>
              <a:off x="6139541" y="1010602"/>
              <a:ext cx="3444792" cy="9887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58643CED-AD84-B60C-9CBE-CD4C62109424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Listener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027C19F-A527-7726-D9BE-038B28243031}"/>
              </a:ext>
            </a:extLst>
          </p:cNvPr>
          <p:cNvSpPr/>
          <p:nvPr/>
        </p:nvSpPr>
        <p:spPr>
          <a:xfrm>
            <a:off x="5168697" y="332767"/>
            <a:ext cx="55491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922080-B4F0-A175-9E4C-A890E1DECA65}"/>
              </a:ext>
            </a:extLst>
          </p:cNvPr>
          <p:cNvSpPr/>
          <p:nvPr/>
        </p:nvSpPr>
        <p:spPr>
          <a:xfrm>
            <a:off x="3050746" y="331502"/>
            <a:ext cx="175912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3998B-BAE9-7D16-5073-0EA9040F2F8F}"/>
              </a:ext>
            </a:extLst>
          </p:cNvPr>
          <p:cNvSpPr txBox="1"/>
          <p:nvPr/>
        </p:nvSpPr>
        <p:spPr>
          <a:xfrm flipH="1">
            <a:off x="4494714" y="1796203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84F5BA-FB0E-5402-FEBD-42C85C393ECD}"/>
              </a:ext>
            </a:extLst>
          </p:cNvPr>
          <p:cNvSpPr txBox="1"/>
          <p:nvPr/>
        </p:nvSpPr>
        <p:spPr>
          <a:xfrm>
            <a:off x="5984288" y="1106692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updated</a:t>
            </a:r>
            <a:r>
              <a:rPr lang="en-GB" sz="20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 </a:t>
            </a:r>
          </a:p>
        </p:txBody>
      </p:sp>
      <p:cxnSp>
        <p:nvCxnSpPr>
          <p:cNvPr id="31" name="Straight Arrow Connector 12">
            <a:extLst>
              <a:ext uri="{FF2B5EF4-FFF2-40B4-BE49-F238E27FC236}">
                <a16:creationId xmlns:a16="http://schemas.microsoft.com/office/drawing/2014/main" id="{98DAFFC2-2446-52A6-06A9-3A99772F34B2}"/>
              </a:ext>
            </a:extLst>
          </p:cNvPr>
          <p:cNvCxnSpPr>
            <a:cxnSpLocks/>
            <a:stCxn id="32" idx="1"/>
            <a:endCxn id="55" idx="0"/>
          </p:cNvCxnSpPr>
          <p:nvPr/>
        </p:nvCxnSpPr>
        <p:spPr>
          <a:xfrm rot="10800000" flipV="1">
            <a:off x="8518714" y="650671"/>
            <a:ext cx="1839798" cy="1149709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C35D0D1-8DE7-A453-14B9-D44A25CEF8A6}"/>
              </a:ext>
            </a:extLst>
          </p:cNvPr>
          <p:cNvSpPr/>
          <p:nvPr/>
        </p:nvSpPr>
        <p:spPr>
          <a:xfrm>
            <a:off x="10358512" y="369580"/>
            <a:ext cx="55491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3D74FB-1C9D-A544-69B4-B77DA15AD630}"/>
              </a:ext>
            </a:extLst>
          </p:cNvPr>
          <p:cNvSpPr txBox="1"/>
          <p:nvPr/>
        </p:nvSpPr>
        <p:spPr>
          <a:xfrm>
            <a:off x="3401036" y="1057502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228EC1-E3D6-ACCE-2B82-A67688C0B505}"/>
              </a:ext>
            </a:extLst>
          </p:cNvPr>
          <p:cNvSpPr txBox="1"/>
          <p:nvPr/>
        </p:nvSpPr>
        <p:spPr>
          <a:xfrm>
            <a:off x="8510743" y="1012492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E0D8F6-2DFB-B3EE-479E-0E6FFCB97DE2}"/>
              </a:ext>
            </a:extLst>
          </p:cNvPr>
          <p:cNvGrpSpPr/>
          <p:nvPr/>
        </p:nvGrpSpPr>
        <p:grpSpPr>
          <a:xfrm>
            <a:off x="5970642" y="3883333"/>
            <a:ext cx="734400" cy="993617"/>
            <a:chOff x="5780568" y="1038192"/>
            <a:chExt cx="4136743" cy="99361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3F9511C-6DA6-48F3-3F67-CD627FFF01BB}"/>
                </a:ext>
              </a:extLst>
            </p:cNvPr>
            <p:cNvSpPr/>
            <p:nvPr/>
          </p:nvSpPr>
          <p:spPr>
            <a:xfrm>
              <a:off x="5780568" y="1038192"/>
              <a:ext cx="4136743" cy="9936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BC24231-1D6A-726D-D913-81F3410232D6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DD649F-DF64-52B1-EEA7-FAFF9DDCFF86}"/>
              </a:ext>
            </a:extLst>
          </p:cNvPr>
          <p:cNvGrpSpPr/>
          <p:nvPr/>
        </p:nvGrpSpPr>
        <p:grpSpPr>
          <a:xfrm>
            <a:off x="9821174" y="3148680"/>
            <a:ext cx="685549" cy="988753"/>
            <a:chOff x="6139541" y="1010602"/>
            <a:chExt cx="1016877" cy="98875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CE37080-8792-78FB-9F20-276DFC20F750}"/>
                </a:ext>
              </a:extLst>
            </p:cNvPr>
            <p:cNvSpPr/>
            <p:nvPr/>
          </p:nvSpPr>
          <p:spPr>
            <a:xfrm>
              <a:off x="6139541" y="1010602"/>
              <a:ext cx="1016877" cy="9887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8457377-60FB-C85F-73D3-C7C0221E5B53}"/>
                </a:ext>
              </a:extLst>
            </p:cNvPr>
            <p:cNvSpPr/>
            <p:nvPr/>
          </p:nvSpPr>
          <p:spPr>
            <a:xfrm>
              <a:off x="6236556" y="1375596"/>
              <a:ext cx="82128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4272CB2-105D-69EA-BDDF-7F2EEE4EE211}"/>
              </a:ext>
            </a:extLst>
          </p:cNvPr>
          <p:cNvSpPr txBox="1"/>
          <p:nvPr/>
        </p:nvSpPr>
        <p:spPr>
          <a:xfrm flipH="1">
            <a:off x="8409890" y="1800381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8C2E78F3-3219-47FF-C7C9-27FEEAA0A454}"/>
              </a:ext>
            </a:extLst>
          </p:cNvPr>
          <p:cNvCxnSpPr>
            <a:cxnSpLocks/>
            <a:stCxn id="55" idx="2"/>
            <a:endCxn id="51" idx="0"/>
          </p:cNvCxnSpPr>
          <p:nvPr/>
        </p:nvCxnSpPr>
        <p:spPr>
          <a:xfrm rot="16200000" flipH="1">
            <a:off x="9014061" y="1998792"/>
            <a:ext cx="654540" cy="1645235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4E8011E-641B-A786-7BAF-A0C4C9FB5954}"/>
              </a:ext>
            </a:extLst>
          </p:cNvPr>
          <p:cNvSpPr txBox="1"/>
          <p:nvPr/>
        </p:nvSpPr>
        <p:spPr>
          <a:xfrm flipH="1">
            <a:off x="6058364" y="4491790"/>
            <a:ext cx="111688" cy="38878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E4E099-D23D-5E27-028F-CE0974FA4874}"/>
              </a:ext>
            </a:extLst>
          </p:cNvPr>
          <p:cNvSpPr txBox="1"/>
          <p:nvPr/>
        </p:nvSpPr>
        <p:spPr>
          <a:xfrm flipH="1">
            <a:off x="6478650" y="4491790"/>
            <a:ext cx="239414" cy="388786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68" name="Straight Arrow Connector 12">
            <a:extLst>
              <a:ext uri="{FF2B5EF4-FFF2-40B4-BE49-F238E27FC236}">
                <a16:creationId xmlns:a16="http://schemas.microsoft.com/office/drawing/2014/main" id="{1CC97E5D-F451-70F0-061F-823DB6187153}"/>
              </a:ext>
            </a:extLst>
          </p:cNvPr>
          <p:cNvCxnSpPr>
            <a:cxnSpLocks/>
            <a:stCxn id="62" idx="3"/>
            <a:endCxn id="73" idx="2"/>
          </p:cNvCxnSpPr>
          <p:nvPr/>
        </p:nvCxnSpPr>
        <p:spPr>
          <a:xfrm rot="10800000">
            <a:off x="2714706" y="4120217"/>
            <a:ext cx="3343658" cy="56596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F15729D-0F45-D497-6BAD-9BB39B81A11F}"/>
              </a:ext>
            </a:extLst>
          </p:cNvPr>
          <p:cNvSpPr txBox="1"/>
          <p:nvPr/>
        </p:nvSpPr>
        <p:spPr>
          <a:xfrm flipH="1">
            <a:off x="2260117" y="3156328"/>
            <a:ext cx="909178" cy="963888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B714D6C-76F4-43A2-65B8-A3A7849F298B}"/>
              </a:ext>
            </a:extLst>
          </p:cNvPr>
          <p:cNvSpPr txBox="1"/>
          <p:nvPr/>
        </p:nvSpPr>
        <p:spPr>
          <a:xfrm flipH="1">
            <a:off x="9570220" y="3151983"/>
            <a:ext cx="909178" cy="963888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cxnSp>
        <p:nvCxnSpPr>
          <p:cNvPr id="76" name="Straight Arrow Connector 12">
            <a:extLst>
              <a:ext uri="{FF2B5EF4-FFF2-40B4-BE49-F238E27FC236}">
                <a16:creationId xmlns:a16="http://schemas.microsoft.com/office/drawing/2014/main" id="{31F33671-9DBE-F8F6-2F4E-99B864A2C0A8}"/>
              </a:ext>
            </a:extLst>
          </p:cNvPr>
          <p:cNvCxnSpPr>
            <a:cxnSpLocks/>
            <a:stCxn id="64" idx="1"/>
            <a:endCxn id="75" idx="2"/>
          </p:cNvCxnSpPr>
          <p:nvPr/>
        </p:nvCxnSpPr>
        <p:spPr>
          <a:xfrm flipV="1">
            <a:off x="6718064" y="4115871"/>
            <a:ext cx="3306745" cy="570312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B2BEDC3-F1AE-B9CC-A958-2B7077B68937}"/>
              </a:ext>
            </a:extLst>
          </p:cNvPr>
          <p:cNvSpPr txBox="1"/>
          <p:nvPr/>
        </p:nvSpPr>
        <p:spPr>
          <a:xfrm flipH="1">
            <a:off x="6579530" y="1750801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84" name="Straight Arrow Connector 12">
            <a:extLst>
              <a:ext uri="{FF2B5EF4-FFF2-40B4-BE49-F238E27FC236}">
                <a16:creationId xmlns:a16="http://schemas.microsoft.com/office/drawing/2014/main" id="{F3C207CB-C2C4-F310-C122-289FF7DE0D69}"/>
              </a:ext>
            </a:extLst>
          </p:cNvPr>
          <p:cNvCxnSpPr>
            <a:cxnSpLocks/>
          </p:cNvCxnSpPr>
          <p:nvPr/>
        </p:nvCxnSpPr>
        <p:spPr>
          <a:xfrm flipH="1">
            <a:off x="2985290" y="3638272"/>
            <a:ext cx="6796749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53F001B-09F1-BD66-D604-CDAF981A664E}"/>
              </a:ext>
            </a:extLst>
          </p:cNvPr>
          <p:cNvGrpSpPr/>
          <p:nvPr/>
        </p:nvGrpSpPr>
        <p:grpSpPr>
          <a:xfrm>
            <a:off x="9838532" y="5610750"/>
            <a:ext cx="701642" cy="998280"/>
            <a:chOff x="5762276" y="1021425"/>
            <a:chExt cx="4347468" cy="99828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1C65F65-A410-0C21-8DBF-37960AC22A61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0A45397-53F3-AE54-9B6E-F68177B8DA84}"/>
                </a:ext>
              </a:extLst>
            </p:cNvPr>
            <p:cNvSpPr/>
            <p:nvPr/>
          </p:nvSpPr>
          <p:spPr>
            <a:xfrm>
              <a:off x="5762276" y="1021425"/>
              <a:ext cx="4347468" cy="998280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6673ADF7-BDDA-D815-C1DB-C99818E37BC8}"/>
              </a:ext>
            </a:extLst>
          </p:cNvPr>
          <p:cNvCxnSpPr>
            <a:cxnSpLocks/>
            <a:stCxn id="134" idx="2"/>
            <a:endCxn id="144" idx="0"/>
          </p:cNvCxnSpPr>
          <p:nvPr/>
        </p:nvCxnSpPr>
        <p:spPr>
          <a:xfrm flipH="1">
            <a:off x="2009869" y="4075857"/>
            <a:ext cx="17263" cy="1526184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2">
            <a:extLst>
              <a:ext uri="{FF2B5EF4-FFF2-40B4-BE49-F238E27FC236}">
                <a16:creationId xmlns:a16="http://schemas.microsoft.com/office/drawing/2014/main" id="{C4BF1B39-D286-0E0C-D4C2-0046DA68A181}"/>
              </a:ext>
            </a:extLst>
          </p:cNvPr>
          <p:cNvCxnSpPr>
            <a:cxnSpLocks/>
            <a:stCxn id="51" idx="2"/>
            <a:endCxn id="101" idx="0"/>
          </p:cNvCxnSpPr>
          <p:nvPr/>
        </p:nvCxnSpPr>
        <p:spPr>
          <a:xfrm>
            <a:off x="10163949" y="4137433"/>
            <a:ext cx="25404" cy="1473317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B88C8899-C2D3-2A6A-E1B5-2ACF5ADB02B0}"/>
              </a:ext>
            </a:extLst>
          </p:cNvPr>
          <p:cNvCxnSpPr>
            <a:cxnSpLocks/>
            <a:stCxn id="46" idx="2"/>
            <a:endCxn id="100" idx="1"/>
          </p:cNvCxnSpPr>
          <p:nvPr/>
        </p:nvCxnSpPr>
        <p:spPr>
          <a:xfrm rot="16200000" flipH="1">
            <a:off x="7441928" y="3772863"/>
            <a:ext cx="1369063" cy="3577235"/>
          </a:xfrm>
          <a:prstGeom prst="bentConnector2">
            <a:avLst/>
          </a:prstGeom>
          <a:ln w="19050" cap="rnd">
            <a:solidFill>
              <a:schemeClr val="accent1"/>
            </a:solidFill>
            <a:prstDash val="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5040332B-F235-7263-0972-6584D07C49CB}"/>
              </a:ext>
            </a:extLst>
          </p:cNvPr>
          <p:cNvSpPr txBox="1"/>
          <p:nvPr/>
        </p:nvSpPr>
        <p:spPr>
          <a:xfrm>
            <a:off x="6259894" y="4927665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D3D8AA2-9114-EDCF-B56F-714AAD3C59D9}"/>
              </a:ext>
            </a:extLst>
          </p:cNvPr>
          <p:cNvSpPr txBox="1"/>
          <p:nvPr/>
        </p:nvSpPr>
        <p:spPr>
          <a:xfrm>
            <a:off x="10098687" y="4923675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1CEDF8D-E393-CD4A-8B04-B6B574BB233A}"/>
              </a:ext>
            </a:extLst>
          </p:cNvPr>
          <p:cNvSpPr txBox="1"/>
          <p:nvPr/>
        </p:nvSpPr>
        <p:spPr>
          <a:xfrm>
            <a:off x="2619357" y="4241792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13101E5-39C4-78BD-8820-6153DD2A7F83}"/>
              </a:ext>
            </a:extLst>
          </p:cNvPr>
          <p:cNvSpPr txBox="1"/>
          <p:nvPr/>
        </p:nvSpPr>
        <p:spPr>
          <a:xfrm>
            <a:off x="6621411" y="4184160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44514B0-0AFB-260F-A916-69486D8093FC}"/>
              </a:ext>
            </a:extLst>
          </p:cNvPr>
          <p:cNvSpPr txBox="1"/>
          <p:nvPr/>
        </p:nvSpPr>
        <p:spPr>
          <a:xfrm>
            <a:off x="2905389" y="3174434"/>
            <a:ext cx="136695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stream</a:t>
            </a:r>
          </a:p>
        </p:txBody>
      </p:sp>
      <p:cxnSp>
        <p:nvCxnSpPr>
          <p:cNvPr id="154" name="Straight Arrow Connector 12">
            <a:extLst>
              <a:ext uri="{FF2B5EF4-FFF2-40B4-BE49-F238E27FC236}">
                <a16:creationId xmlns:a16="http://schemas.microsoft.com/office/drawing/2014/main" id="{9842C5EF-2CCA-BD62-D612-797E8F839D3D}"/>
              </a:ext>
            </a:extLst>
          </p:cNvPr>
          <p:cNvCxnSpPr>
            <a:cxnSpLocks/>
            <a:stCxn id="32" idx="3"/>
            <a:endCxn id="51" idx="3"/>
          </p:cNvCxnSpPr>
          <p:nvPr/>
        </p:nvCxnSpPr>
        <p:spPr>
          <a:xfrm flipH="1">
            <a:off x="10506723" y="650672"/>
            <a:ext cx="406702" cy="2992385"/>
          </a:xfrm>
          <a:prstGeom prst="bentConnector3">
            <a:avLst>
              <a:gd name="adj1" fmla="val -56208"/>
            </a:avLst>
          </a:prstGeom>
          <a:ln w="19050" cap="rnd">
            <a:solidFill>
              <a:schemeClr val="accent1"/>
            </a:solidFill>
            <a:prstDash val="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A3C426CE-7E0F-FA10-BCEE-EBEF9D056398}"/>
              </a:ext>
            </a:extLst>
          </p:cNvPr>
          <p:cNvSpPr txBox="1"/>
          <p:nvPr/>
        </p:nvSpPr>
        <p:spPr>
          <a:xfrm>
            <a:off x="10373893" y="1353900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20C2A81-2299-7291-63C9-A45ADD69E92F}"/>
              </a:ext>
            </a:extLst>
          </p:cNvPr>
          <p:cNvSpPr txBox="1"/>
          <p:nvPr/>
        </p:nvSpPr>
        <p:spPr>
          <a:xfrm rot="16200000">
            <a:off x="10120137" y="1162393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fallback</a:t>
            </a: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849E1463-C289-63C4-1090-C16BBAFA88F3}"/>
              </a:ext>
            </a:extLst>
          </p:cNvPr>
          <p:cNvSpPr/>
          <p:nvPr/>
        </p:nvSpPr>
        <p:spPr>
          <a:xfrm>
            <a:off x="5615396" y="113933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05C96E79-81F9-0770-0FB5-36DFA81DAEB4}"/>
              </a:ext>
            </a:extLst>
          </p:cNvPr>
          <p:cNvSpPr/>
          <p:nvPr/>
        </p:nvSpPr>
        <p:spPr>
          <a:xfrm>
            <a:off x="4726620" y="258536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8FCB9F5-90A9-20D3-5FDF-4D3E54EFE371}"/>
              </a:ext>
            </a:extLst>
          </p:cNvPr>
          <p:cNvSpPr txBox="1"/>
          <p:nvPr/>
        </p:nvSpPr>
        <p:spPr>
          <a:xfrm>
            <a:off x="5072691" y="2568346"/>
            <a:ext cx="2462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route by latency </a:t>
            </a:r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🔀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F30D76CD-9BFF-39A5-A764-9B5E9A87CC55}"/>
              </a:ext>
            </a:extLst>
          </p:cNvPr>
          <p:cNvSpPr/>
          <p:nvPr/>
        </p:nvSpPr>
        <p:spPr>
          <a:xfrm>
            <a:off x="3683365" y="400005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FA93A9E-EE15-D151-7A65-619E44802207}"/>
              </a:ext>
            </a:extLst>
          </p:cNvPr>
          <p:cNvSpPr txBox="1"/>
          <p:nvPr/>
        </p:nvSpPr>
        <p:spPr>
          <a:xfrm>
            <a:off x="4029436" y="3983036"/>
            <a:ext cx="21836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replicate</a:t>
            </a:r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AFDB5476-EB69-E96B-1F28-C3A224DED0B0}"/>
              </a:ext>
            </a:extLst>
          </p:cNvPr>
          <p:cNvSpPr/>
          <p:nvPr/>
        </p:nvSpPr>
        <p:spPr>
          <a:xfrm>
            <a:off x="2404149" y="512062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AA69115-C4C7-1CF2-CD9F-32FF18500F2E}"/>
              </a:ext>
            </a:extLst>
          </p:cNvPr>
          <p:cNvSpPr txBox="1"/>
          <p:nvPr/>
        </p:nvSpPr>
        <p:spPr>
          <a:xfrm>
            <a:off x="2750221" y="5103611"/>
            <a:ext cx="1081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fan-out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B832C39-0038-D42A-22B5-3B7C08192199}"/>
              </a:ext>
            </a:extLst>
          </p:cNvPr>
          <p:cNvSpPr txBox="1"/>
          <p:nvPr/>
        </p:nvSpPr>
        <p:spPr>
          <a:xfrm>
            <a:off x="6369504" y="5850681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fallback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2285079-DA05-D70E-DE02-26C2687BE296}"/>
              </a:ext>
            </a:extLst>
          </p:cNvPr>
          <p:cNvSpPr txBox="1"/>
          <p:nvPr/>
        </p:nvSpPr>
        <p:spPr>
          <a:xfrm>
            <a:off x="8512508" y="2452037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64513AC-D228-C61C-681C-760A54795AB9}"/>
              </a:ext>
            </a:extLst>
          </p:cNvPr>
          <p:cNvSpPr txBox="1"/>
          <p:nvPr/>
        </p:nvSpPr>
        <p:spPr>
          <a:xfrm>
            <a:off x="4157370" y="2466983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81C668C-5693-2576-A290-3B4D33D8BF75}"/>
              </a:ext>
            </a:extLst>
          </p:cNvPr>
          <p:cNvSpPr txBox="1"/>
          <p:nvPr/>
        </p:nvSpPr>
        <p:spPr>
          <a:xfrm>
            <a:off x="1497769" y="2296542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glow>
                    <a:schemeClr val="bg1"/>
                  </a:glow>
                </a:effectLst>
              </a:rPr>
              <a:t>cluster</a:t>
            </a:r>
            <a:endParaRPr lang="en-GB" sz="2800" baseline="-17000" dirty="0">
              <a:solidFill>
                <a:schemeClr val="bg1">
                  <a:lumMod val="50000"/>
                  <a:lumOff val="5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105020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B1992-3F52-E4F3-7FFE-0E3DCA722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Straight Arrow Connector 12">
            <a:extLst>
              <a:ext uri="{FF2B5EF4-FFF2-40B4-BE49-F238E27FC236}">
                <a16:creationId xmlns:a16="http://schemas.microsoft.com/office/drawing/2014/main" id="{BD88FAF7-F6AC-7376-5E8A-060911070CE5}"/>
              </a:ext>
            </a:extLst>
          </p:cNvPr>
          <p:cNvCxnSpPr>
            <a:cxnSpLocks/>
            <a:stCxn id="431" idx="1"/>
            <a:endCxn id="501" idx="0"/>
          </p:cNvCxnSpPr>
          <p:nvPr/>
        </p:nvCxnSpPr>
        <p:spPr>
          <a:xfrm rot="10800000" flipV="1">
            <a:off x="3722909" y="4189542"/>
            <a:ext cx="2293046" cy="61155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6" name="Straight Arrow Connector 12">
            <a:extLst>
              <a:ext uri="{FF2B5EF4-FFF2-40B4-BE49-F238E27FC236}">
                <a16:creationId xmlns:a16="http://schemas.microsoft.com/office/drawing/2014/main" id="{9E6CE603-DD1B-025B-78DF-14158B053886}"/>
              </a:ext>
            </a:extLst>
          </p:cNvPr>
          <p:cNvCxnSpPr>
            <a:cxnSpLocks/>
            <a:stCxn id="392" idx="2"/>
            <a:endCxn id="82" idx="0"/>
          </p:cNvCxnSpPr>
          <p:nvPr/>
        </p:nvCxnSpPr>
        <p:spPr>
          <a:xfrm flipH="1">
            <a:off x="7026823" y="2514119"/>
            <a:ext cx="1200" cy="33828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30" name="Group 29" descr="Region group.">
            <a:extLst>
              <a:ext uri="{FF2B5EF4-FFF2-40B4-BE49-F238E27FC236}">
                <a16:creationId xmlns:a16="http://schemas.microsoft.com/office/drawing/2014/main" id="{C47A33C8-BD40-9F8E-0A76-37ABB43148EB}"/>
              </a:ext>
            </a:extLst>
          </p:cNvPr>
          <p:cNvGrpSpPr/>
          <p:nvPr/>
        </p:nvGrpSpPr>
        <p:grpSpPr>
          <a:xfrm>
            <a:off x="3062813" y="1477560"/>
            <a:ext cx="7722791" cy="5001617"/>
            <a:chOff x="4215621" y="1281843"/>
            <a:chExt cx="7722791" cy="5001617"/>
          </a:xfrm>
        </p:grpSpPr>
        <p:sp>
          <p:nvSpPr>
            <p:cNvPr id="31" name="Rectangle 30" descr="Region group">
              <a:extLst>
                <a:ext uri="{FF2B5EF4-FFF2-40B4-BE49-F238E27FC236}">
                  <a16:creationId xmlns:a16="http://schemas.microsoft.com/office/drawing/2014/main" id="{555C04C3-332C-B424-B8AD-FC42DCC03F40}"/>
                </a:ext>
              </a:extLst>
            </p:cNvPr>
            <p:cNvSpPr/>
            <p:nvPr/>
          </p:nvSpPr>
          <p:spPr>
            <a:xfrm>
              <a:off x="4215621" y="1281843"/>
              <a:ext cx="7722791" cy="5001617"/>
            </a:xfrm>
            <a:prstGeom prst="rect">
              <a:avLst/>
            </a:prstGeom>
            <a:noFill/>
            <a:ln w="15875" cap="flat" cmpd="sng" algn="ctr">
              <a:solidFill>
                <a:srgbClr val="00A4A6"/>
              </a:solidFill>
              <a:prstDash val="sysDash"/>
              <a:miter lim="800000"/>
            </a:ln>
            <a:effectLst/>
          </p:spPr>
          <p:txBody>
            <a:bodyPr lIns="502920" tIns="9144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Ingestion Region #1</a:t>
              </a:r>
            </a:p>
          </p:txBody>
        </p:sp>
        <p:pic>
          <p:nvPicPr>
            <p:cNvPr id="32" name="Graphic 31" descr="Region group icon.">
              <a:extLst>
                <a:ext uri="{FF2B5EF4-FFF2-40B4-BE49-F238E27FC236}">
                  <a16:creationId xmlns:a16="http://schemas.microsoft.com/office/drawing/2014/main" id="{0207BC94-4DB0-AC6F-73E0-22F8443B7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215623" y="1281844"/>
              <a:ext cx="381000" cy="381000"/>
            </a:xfrm>
            <a:prstGeom prst="rect">
              <a:avLst/>
            </a:prstGeom>
          </p:spPr>
        </p:pic>
      </p:grpSp>
      <p:cxnSp>
        <p:nvCxnSpPr>
          <p:cNvPr id="36" name="Straight Arrow Connector 12">
            <a:extLst>
              <a:ext uri="{FF2B5EF4-FFF2-40B4-BE49-F238E27FC236}">
                <a16:creationId xmlns:a16="http://schemas.microsoft.com/office/drawing/2014/main" id="{AAA9FD43-BC55-50B7-EEEA-7B03CAD4EF48}"/>
              </a:ext>
            </a:extLst>
          </p:cNvPr>
          <p:cNvCxnSpPr>
            <a:cxnSpLocks/>
            <a:stCxn id="342" idx="3"/>
          </p:cNvCxnSpPr>
          <p:nvPr/>
        </p:nvCxnSpPr>
        <p:spPr>
          <a:xfrm flipV="1">
            <a:off x="2393617" y="2497477"/>
            <a:ext cx="975870" cy="5109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12">
            <a:extLst>
              <a:ext uri="{FF2B5EF4-FFF2-40B4-BE49-F238E27FC236}">
                <a16:creationId xmlns:a16="http://schemas.microsoft.com/office/drawing/2014/main" id="{131E5C3A-EBDE-D8AE-32C2-F312BAC24631}"/>
              </a:ext>
            </a:extLst>
          </p:cNvPr>
          <p:cNvCxnSpPr>
            <a:cxnSpLocks/>
            <a:stCxn id="342" idx="2"/>
            <a:endCxn id="34" idx="0"/>
          </p:cNvCxnSpPr>
          <p:nvPr/>
        </p:nvCxnSpPr>
        <p:spPr>
          <a:xfrm>
            <a:off x="1502174" y="3206705"/>
            <a:ext cx="0" cy="90219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0" name="Straight Arrow Connector 12">
            <a:extLst>
              <a:ext uri="{FF2B5EF4-FFF2-40B4-BE49-F238E27FC236}">
                <a16:creationId xmlns:a16="http://schemas.microsoft.com/office/drawing/2014/main" id="{7F3A9A88-DBD7-A01C-7360-5C56102A9072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5093585" y="3032404"/>
            <a:ext cx="1753238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5" name="Straight Arrow Connector 12">
            <a:extLst>
              <a:ext uri="{FF2B5EF4-FFF2-40B4-BE49-F238E27FC236}">
                <a16:creationId xmlns:a16="http://schemas.microsoft.com/office/drawing/2014/main" id="{81B8B21C-19EB-A365-140E-D2B952230600}"/>
              </a:ext>
            </a:extLst>
          </p:cNvPr>
          <p:cNvCxnSpPr>
            <a:cxnSpLocks/>
            <a:stCxn id="2" idx="2"/>
            <a:endCxn id="342" idx="0"/>
          </p:cNvCxnSpPr>
          <p:nvPr/>
        </p:nvCxnSpPr>
        <p:spPr>
          <a:xfrm flipH="1">
            <a:off x="1502174" y="827457"/>
            <a:ext cx="636" cy="198267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47695F4-16CD-8C15-BF20-0039453B9DEA}"/>
              </a:ext>
            </a:extLst>
          </p:cNvPr>
          <p:cNvSpPr/>
          <p:nvPr/>
        </p:nvSpPr>
        <p:spPr>
          <a:xfrm>
            <a:off x="238628" y="1352674"/>
            <a:ext cx="11744365" cy="5252219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645D30A-0FCF-7BAB-D049-6CD04C2B3C6D}"/>
              </a:ext>
            </a:extLst>
          </p:cNvPr>
          <p:cNvSpPr/>
          <p:nvPr/>
        </p:nvSpPr>
        <p:spPr>
          <a:xfrm>
            <a:off x="3369487" y="3417355"/>
            <a:ext cx="2274178" cy="30420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ingestion cell #N all domains</a:t>
            </a:r>
            <a:endParaRPr lang="en-US" sz="1600" i="1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59" name="Straight Arrow Connector 12">
            <a:extLst>
              <a:ext uri="{FF2B5EF4-FFF2-40B4-BE49-F238E27FC236}">
                <a16:creationId xmlns:a16="http://schemas.microsoft.com/office/drawing/2014/main" id="{0B7BC491-716C-35D6-A7AE-EE247233B583}"/>
              </a:ext>
            </a:extLst>
          </p:cNvPr>
          <p:cNvCxnSpPr>
            <a:cxnSpLocks/>
            <a:stCxn id="342" idx="3"/>
            <a:endCxn id="158" idx="1"/>
          </p:cNvCxnSpPr>
          <p:nvPr/>
        </p:nvCxnSpPr>
        <p:spPr>
          <a:xfrm>
            <a:off x="2393617" y="3008420"/>
            <a:ext cx="975870" cy="56103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0D976787-2AD4-1ED4-A6CB-4FA177742DEC}"/>
              </a:ext>
            </a:extLst>
          </p:cNvPr>
          <p:cNvGrpSpPr/>
          <p:nvPr/>
        </p:nvGrpSpPr>
        <p:grpSpPr>
          <a:xfrm>
            <a:off x="10358611" y="260467"/>
            <a:ext cx="1485048" cy="864680"/>
            <a:chOff x="9332343" y="639097"/>
            <a:chExt cx="1485048" cy="864680"/>
          </a:xfrm>
        </p:grpSpPr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13E0DB48-F735-F0DC-2814-4280D3895470}"/>
                </a:ext>
              </a:extLst>
            </p:cNvPr>
            <p:cNvSpPr/>
            <p:nvPr/>
          </p:nvSpPr>
          <p:spPr>
            <a:xfrm>
              <a:off x="9332343" y="639097"/>
              <a:ext cx="1485048" cy="864680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D85DDE28-A145-F75D-040F-0052BD6AD4C6}"/>
                </a:ext>
              </a:extLst>
            </p:cNvPr>
            <p:cNvSpPr/>
            <p:nvPr/>
          </p:nvSpPr>
          <p:spPr>
            <a:xfrm>
              <a:off x="9405364" y="981005"/>
              <a:ext cx="1321055" cy="4320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 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Graph</a:t>
              </a:r>
            </a:p>
          </p:txBody>
        </p:sp>
      </p:grpSp>
      <p:sp>
        <p:nvSpPr>
          <p:cNvPr id="228" name="TextBox 12">
            <a:extLst>
              <a:ext uri="{FF2B5EF4-FFF2-40B4-BE49-F238E27FC236}">
                <a16:creationId xmlns:a16="http://schemas.microsoft.com/office/drawing/2014/main" id="{A676C5D0-83E4-1F32-D7DD-99E1699F9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5263" y="1406129"/>
            <a:ext cx="11615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push changed manifest part event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851A0E91-92F3-A6B8-369E-76D96A3E44E3}"/>
              </a:ext>
            </a:extLst>
          </p:cNvPr>
          <p:cNvSpPr txBox="1"/>
          <p:nvPr/>
        </p:nvSpPr>
        <p:spPr>
          <a:xfrm flipV="1">
            <a:off x="11495635" y="886075"/>
            <a:ext cx="222220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6FC7C410-5C49-5AB5-6553-5360ACA2A2E3}"/>
              </a:ext>
            </a:extLst>
          </p:cNvPr>
          <p:cNvSpPr txBox="1"/>
          <p:nvPr/>
        </p:nvSpPr>
        <p:spPr>
          <a:xfrm>
            <a:off x="10386839" y="886075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27" name="Straight Arrow Connector 12">
            <a:extLst>
              <a:ext uri="{FF2B5EF4-FFF2-40B4-BE49-F238E27FC236}">
                <a16:creationId xmlns:a16="http://schemas.microsoft.com/office/drawing/2014/main" id="{BE5F4B0F-DE80-2BC8-64EF-9405CB0C210A}"/>
              </a:ext>
            </a:extLst>
          </p:cNvPr>
          <p:cNvCxnSpPr>
            <a:cxnSpLocks/>
            <a:stCxn id="339" idx="0"/>
            <a:endCxn id="198" idx="1"/>
          </p:cNvCxnSpPr>
          <p:nvPr/>
        </p:nvCxnSpPr>
        <p:spPr>
          <a:xfrm rot="5400000" flipH="1" flipV="1">
            <a:off x="9453331" y="725093"/>
            <a:ext cx="937565" cy="872995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0B6D659-E557-EE61-90B8-D71B65ABC474}"/>
              </a:ext>
            </a:extLst>
          </p:cNvPr>
          <p:cNvGrpSpPr/>
          <p:nvPr/>
        </p:nvGrpSpPr>
        <p:grpSpPr>
          <a:xfrm>
            <a:off x="6677023" y="2852404"/>
            <a:ext cx="722825" cy="823271"/>
            <a:chOff x="6930073" y="4473804"/>
            <a:chExt cx="722825" cy="823271"/>
          </a:xfrm>
        </p:grpSpPr>
        <p:pic>
          <p:nvPicPr>
            <p:cNvPr id="82" name="Graphic 24" descr="Amazon Simple Notification Service (Amazon SNS) service icon.">
              <a:extLst>
                <a:ext uri="{FF2B5EF4-FFF2-40B4-BE49-F238E27FC236}">
                  <a16:creationId xmlns:a16="http://schemas.microsoft.com/office/drawing/2014/main" id="{9093082C-262F-2B9C-5741-F9929F20D3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7099873" y="447380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" name="TextBox 9">
              <a:extLst>
                <a:ext uri="{FF2B5EF4-FFF2-40B4-BE49-F238E27FC236}">
                  <a16:creationId xmlns:a16="http://schemas.microsoft.com/office/drawing/2014/main" id="{95A98F2D-ED5C-CFF1-A17C-AD9651E28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0073" y="4835410"/>
              <a:ext cx="72282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SNS</a:t>
              </a:r>
              <a:b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parts</a:t>
              </a:r>
              <a:endParaRPr lang="en-US" alt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94" name="Straight Arrow Connector 12">
            <a:extLst>
              <a:ext uri="{FF2B5EF4-FFF2-40B4-BE49-F238E27FC236}">
                <a16:creationId xmlns:a16="http://schemas.microsoft.com/office/drawing/2014/main" id="{F07FF7EC-0435-0865-7809-DF94CA787C8A}"/>
              </a:ext>
            </a:extLst>
          </p:cNvPr>
          <p:cNvCxnSpPr>
            <a:cxnSpLocks/>
            <a:stCxn id="82" idx="3"/>
            <a:endCxn id="104" idx="1"/>
          </p:cNvCxnSpPr>
          <p:nvPr/>
        </p:nvCxnSpPr>
        <p:spPr>
          <a:xfrm>
            <a:off x="7206823" y="3032404"/>
            <a:ext cx="1388253" cy="153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F01F8531-7AEA-42D7-F28D-3F039E22ED1F}"/>
              </a:ext>
            </a:extLst>
          </p:cNvPr>
          <p:cNvGrpSpPr/>
          <p:nvPr/>
        </p:nvGrpSpPr>
        <p:grpSpPr>
          <a:xfrm>
            <a:off x="8595076" y="2774507"/>
            <a:ext cx="1818391" cy="518854"/>
            <a:chOff x="6890273" y="2476895"/>
            <a:chExt cx="1818391" cy="518854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926D326-D7BA-A709-3A5E-276BF562A672}"/>
                </a:ext>
              </a:extLst>
            </p:cNvPr>
            <p:cNvSpPr/>
            <p:nvPr/>
          </p:nvSpPr>
          <p:spPr>
            <a:xfrm>
              <a:off x="6890273" y="2476895"/>
              <a:ext cx="1779665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105" name="Graphic 10" descr="AWS Lambda service icon.">
              <a:extLst>
                <a:ext uri="{FF2B5EF4-FFF2-40B4-BE49-F238E27FC236}">
                  <a16:creationId xmlns:a16="http://schemas.microsoft.com/office/drawing/2014/main" id="{CB479886-6613-CB3E-9797-D2465F7056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7412221" y="255119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70BB1AB7-BD48-9D69-3773-ECBC02D12B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6973145" y="255119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1614205-A812-19FD-0DD1-B2BD32A81ADB}"/>
                </a:ext>
              </a:extLst>
            </p:cNvPr>
            <p:cNvSpPr txBox="1"/>
            <p:nvPr/>
          </p:nvSpPr>
          <p:spPr>
            <a:xfrm>
              <a:off x="7759546" y="2495965"/>
              <a:ext cx="94911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send to </a:t>
              </a:r>
              <a:b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subscribers</a:t>
              </a:r>
            </a:p>
          </p:txBody>
        </p:sp>
      </p:grpSp>
      <p:cxnSp>
        <p:nvCxnSpPr>
          <p:cNvPr id="170" name="Straight Arrow Connector 12">
            <a:extLst>
              <a:ext uri="{FF2B5EF4-FFF2-40B4-BE49-F238E27FC236}">
                <a16:creationId xmlns:a16="http://schemas.microsoft.com/office/drawing/2014/main" id="{4476A03D-0A86-2A14-EEA9-25EEC3447098}"/>
              </a:ext>
            </a:extLst>
          </p:cNvPr>
          <p:cNvCxnSpPr>
            <a:cxnSpLocks/>
            <a:stCxn id="468" idx="1"/>
            <a:endCxn id="497" idx="3"/>
          </p:cNvCxnSpPr>
          <p:nvPr/>
        </p:nvCxnSpPr>
        <p:spPr>
          <a:xfrm flipH="1" flipV="1">
            <a:off x="5231866" y="5113701"/>
            <a:ext cx="3361454" cy="5192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8" name="Straight Arrow Connector 12">
            <a:extLst>
              <a:ext uri="{FF2B5EF4-FFF2-40B4-BE49-F238E27FC236}">
                <a16:creationId xmlns:a16="http://schemas.microsoft.com/office/drawing/2014/main" id="{F5F90EDA-FF95-87E3-DA7C-43E18C62F5AC}"/>
              </a:ext>
            </a:extLst>
          </p:cNvPr>
          <p:cNvCxnSpPr>
            <a:cxnSpLocks/>
            <a:stCxn id="198" idx="2"/>
          </p:cNvCxnSpPr>
          <p:nvPr/>
        </p:nvCxnSpPr>
        <p:spPr>
          <a:xfrm>
            <a:off x="11101135" y="1125147"/>
            <a:ext cx="0" cy="480140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4" name="TextBox 12">
            <a:extLst>
              <a:ext uri="{FF2B5EF4-FFF2-40B4-BE49-F238E27FC236}">
                <a16:creationId xmlns:a16="http://schemas.microsoft.com/office/drawing/2014/main" id="{7E65BB7F-CD80-EECB-F71D-6B1A60A0A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2235" y="1384573"/>
            <a:ext cx="87501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replay historical events</a:t>
            </a:r>
          </a:p>
        </p:txBody>
      </p:sp>
      <p:cxnSp>
        <p:nvCxnSpPr>
          <p:cNvPr id="118" name="Straight Arrow Connector 12">
            <a:extLst>
              <a:ext uri="{FF2B5EF4-FFF2-40B4-BE49-F238E27FC236}">
                <a16:creationId xmlns:a16="http://schemas.microsoft.com/office/drawing/2014/main" id="{1068E322-7DD7-216D-CF70-36AE8A48D842}"/>
              </a:ext>
            </a:extLst>
          </p:cNvPr>
          <p:cNvCxnSpPr>
            <a:cxnSpLocks/>
            <a:stCxn id="85" idx="2"/>
            <a:endCxn id="431" idx="0"/>
          </p:cNvCxnSpPr>
          <p:nvPr/>
        </p:nvCxnSpPr>
        <p:spPr>
          <a:xfrm>
            <a:off x="7038436" y="3675675"/>
            <a:ext cx="4078" cy="25444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3" name="Straight Arrow Connector 12">
            <a:extLst>
              <a:ext uri="{FF2B5EF4-FFF2-40B4-BE49-F238E27FC236}">
                <a16:creationId xmlns:a16="http://schemas.microsoft.com/office/drawing/2014/main" id="{D229F8F2-9293-B4C0-73D3-2BC39DDFB055}"/>
              </a:ext>
            </a:extLst>
          </p:cNvPr>
          <p:cNvCxnSpPr>
            <a:cxnSpLocks/>
            <a:stCxn id="104" idx="0"/>
            <a:endCxn id="339" idx="2"/>
          </p:cNvCxnSpPr>
          <p:nvPr/>
        </p:nvCxnSpPr>
        <p:spPr>
          <a:xfrm flipV="1">
            <a:off x="9484909" y="2022772"/>
            <a:ext cx="707" cy="75173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1" name="Rectangle 290">
            <a:extLst>
              <a:ext uri="{FF2B5EF4-FFF2-40B4-BE49-F238E27FC236}">
                <a16:creationId xmlns:a16="http://schemas.microsoft.com/office/drawing/2014/main" id="{79FD6F77-9C1A-31E2-72E5-D5EDAF1A153D}"/>
              </a:ext>
            </a:extLst>
          </p:cNvPr>
          <p:cNvSpPr/>
          <p:nvPr/>
        </p:nvSpPr>
        <p:spPr>
          <a:xfrm>
            <a:off x="9665268" y="5926552"/>
            <a:ext cx="2126137" cy="39388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cxnSp>
        <p:nvCxnSpPr>
          <p:cNvPr id="270" name="Straight Arrow Connector 12">
            <a:extLst>
              <a:ext uri="{FF2B5EF4-FFF2-40B4-BE49-F238E27FC236}">
                <a16:creationId xmlns:a16="http://schemas.microsoft.com/office/drawing/2014/main" id="{BFD6C7DD-E7D9-1C77-BA81-A4078D6CA04C}"/>
              </a:ext>
            </a:extLst>
          </p:cNvPr>
          <p:cNvCxnSpPr>
            <a:cxnSpLocks/>
          </p:cNvCxnSpPr>
          <p:nvPr/>
        </p:nvCxnSpPr>
        <p:spPr>
          <a:xfrm flipV="1">
            <a:off x="9934467" y="5388507"/>
            <a:ext cx="0" cy="538045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3" name="Straight Arrow Connector 12">
            <a:extLst>
              <a:ext uri="{FF2B5EF4-FFF2-40B4-BE49-F238E27FC236}">
                <a16:creationId xmlns:a16="http://schemas.microsoft.com/office/drawing/2014/main" id="{95719015-7437-FA77-A851-B810A4BCB522}"/>
              </a:ext>
            </a:extLst>
          </p:cNvPr>
          <p:cNvCxnSpPr>
            <a:cxnSpLocks/>
            <a:stCxn id="468" idx="3"/>
            <a:endCxn id="339" idx="3"/>
          </p:cNvCxnSpPr>
          <p:nvPr/>
        </p:nvCxnSpPr>
        <p:spPr>
          <a:xfrm flipH="1" flipV="1">
            <a:off x="10343618" y="1826572"/>
            <a:ext cx="29367" cy="3292321"/>
          </a:xfrm>
          <a:prstGeom prst="bentConnector3">
            <a:avLst>
              <a:gd name="adj1" fmla="val -778425"/>
            </a:avLst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1" name="Straight Arrow Connector 12">
            <a:extLst>
              <a:ext uri="{FF2B5EF4-FFF2-40B4-BE49-F238E27FC236}">
                <a16:creationId xmlns:a16="http://schemas.microsoft.com/office/drawing/2014/main" id="{8275887E-2FC3-9C5D-0668-17EB8D44A106}"/>
              </a:ext>
            </a:extLst>
          </p:cNvPr>
          <p:cNvCxnSpPr>
            <a:cxnSpLocks/>
            <a:stCxn id="468" idx="0"/>
            <a:endCxn id="409" idx="2"/>
          </p:cNvCxnSpPr>
          <p:nvPr/>
        </p:nvCxnSpPr>
        <p:spPr>
          <a:xfrm flipV="1">
            <a:off x="9483153" y="4448515"/>
            <a:ext cx="1984" cy="41095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20" name="Straight Arrow Connector 12">
            <a:extLst>
              <a:ext uri="{FF2B5EF4-FFF2-40B4-BE49-F238E27FC236}">
                <a16:creationId xmlns:a16="http://schemas.microsoft.com/office/drawing/2014/main" id="{3F22CCBE-BD3E-8D1C-1D7B-3981CB5114A5}"/>
              </a:ext>
            </a:extLst>
          </p:cNvPr>
          <p:cNvCxnSpPr>
            <a:cxnSpLocks/>
            <a:stCxn id="470" idx="2"/>
            <a:endCxn id="425" idx="3"/>
          </p:cNvCxnSpPr>
          <p:nvPr/>
        </p:nvCxnSpPr>
        <p:spPr>
          <a:xfrm rot="5400000">
            <a:off x="8084799" y="5286878"/>
            <a:ext cx="764507" cy="77828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28" name="Graphic 327">
            <a:extLst>
              <a:ext uri="{FF2B5EF4-FFF2-40B4-BE49-F238E27FC236}">
                <a16:creationId xmlns:a16="http://schemas.microsoft.com/office/drawing/2014/main" id="{5911BE44-D405-90E0-4815-DB7812DC273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31366" y="1345136"/>
            <a:ext cx="381000" cy="381000"/>
          </a:xfrm>
          <a:prstGeom prst="rect">
            <a:avLst/>
          </a:prstGeom>
        </p:spPr>
      </p:pic>
      <p:sp>
        <p:nvSpPr>
          <p:cNvPr id="339" name="Rectangle 338">
            <a:extLst>
              <a:ext uri="{FF2B5EF4-FFF2-40B4-BE49-F238E27FC236}">
                <a16:creationId xmlns:a16="http://schemas.microsoft.com/office/drawing/2014/main" id="{05B87043-EB38-8981-DBE5-147982FC5FF6}"/>
              </a:ext>
            </a:extLst>
          </p:cNvPr>
          <p:cNvSpPr/>
          <p:nvPr/>
        </p:nvSpPr>
        <p:spPr>
          <a:xfrm>
            <a:off x="8627614" y="1630372"/>
            <a:ext cx="1716004" cy="392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async 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EB69EF-4CC5-B8A3-8787-ACB137A9E2E3}"/>
              </a:ext>
            </a:extLst>
          </p:cNvPr>
          <p:cNvSpPr/>
          <p:nvPr/>
        </p:nvSpPr>
        <p:spPr>
          <a:xfrm>
            <a:off x="702627" y="395457"/>
            <a:ext cx="1600365" cy="43200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144000" anchor="ctr"/>
          <a:lstStyle/>
          <a:p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3DD8889-F937-C3A0-35C7-95AF18346574}"/>
              </a:ext>
            </a:extLst>
          </p:cNvPr>
          <p:cNvSpPr/>
          <p:nvPr/>
        </p:nvSpPr>
        <p:spPr>
          <a:xfrm>
            <a:off x="838463" y="6043993"/>
            <a:ext cx="1322729" cy="363771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sz="1200" i="1" dirty="0">
                <a:solidFill>
                  <a:schemeClr val="tx1">
                    <a:lumMod val="75000"/>
                  </a:schemeClr>
                </a:solidFill>
              </a:rPr>
              <a:t>ingestion cells</a:t>
            </a:r>
            <a:endParaRPr lang="en-US" sz="1600" i="1" dirty="0">
              <a:solidFill>
                <a:schemeClr val="tx1">
                  <a:lumMod val="75000"/>
                </a:schemeClr>
              </a:solidFill>
            </a:endParaRPr>
          </a:p>
        </p:txBody>
      </p:sp>
      <p:grpSp>
        <p:nvGrpSpPr>
          <p:cNvPr id="33" name="Group 32" descr="Region group.">
            <a:extLst>
              <a:ext uri="{FF2B5EF4-FFF2-40B4-BE49-F238E27FC236}">
                <a16:creationId xmlns:a16="http://schemas.microsoft.com/office/drawing/2014/main" id="{7AA23B70-D64E-4260-E932-AF48C9B3DAE9}"/>
              </a:ext>
            </a:extLst>
          </p:cNvPr>
          <p:cNvGrpSpPr/>
          <p:nvPr/>
        </p:nvGrpSpPr>
        <p:grpSpPr>
          <a:xfrm>
            <a:off x="772974" y="4108900"/>
            <a:ext cx="1458399" cy="2370277"/>
            <a:chOff x="4215623" y="1512744"/>
            <a:chExt cx="1458399" cy="2370277"/>
          </a:xfrm>
        </p:grpSpPr>
        <p:sp>
          <p:nvSpPr>
            <p:cNvPr id="34" name="Rectangle 33" descr="Region group">
              <a:extLst>
                <a:ext uri="{FF2B5EF4-FFF2-40B4-BE49-F238E27FC236}">
                  <a16:creationId xmlns:a16="http://schemas.microsoft.com/office/drawing/2014/main" id="{77FAA377-5C6B-65A4-DCE6-3BDBC509DE83}"/>
                </a:ext>
              </a:extLst>
            </p:cNvPr>
            <p:cNvSpPr/>
            <p:nvPr/>
          </p:nvSpPr>
          <p:spPr>
            <a:xfrm>
              <a:off x="4215623" y="1512744"/>
              <a:ext cx="1458399" cy="2370277"/>
            </a:xfrm>
            <a:prstGeom prst="rect">
              <a:avLst/>
            </a:prstGeom>
            <a:noFill/>
            <a:ln w="15875" cap="flat" cmpd="sng" algn="ctr">
              <a:solidFill>
                <a:srgbClr val="00A4A6"/>
              </a:solidFill>
              <a:prstDash val="sysDash"/>
              <a:miter lim="800000"/>
            </a:ln>
            <a:effectLst/>
          </p:spPr>
          <p:txBody>
            <a:bodyPr lIns="502920" tIns="9144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Ingestion Region #N</a:t>
              </a:r>
            </a:p>
          </p:txBody>
        </p:sp>
        <p:pic>
          <p:nvPicPr>
            <p:cNvPr id="35" name="Graphic 34" descr="Region group icon.">
              <a:extLst>
                <a:ext uri="{FF2B5EF4-FFF2-40B4-BE49-F238E27FC236}">
                  <a16:creationId xmlns:a16="http://schemas.microsoft.com/office/drawing/2014/main" id="{FF27ED21-D1FB-3063-578D-E86A6F9A2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4215623" y="1512745"/>
              <a:ext cx="381000" cy="381000"/>
            </a:xfrm>
            <a:prstGeom prst="rect">
              <a:avLst/>
            </a:prstGeom>
          </p:spPr>
        </p:pic>
      </p:grpSp>
      <p:sp>
        <p:nvSpPr>
          <p:cNvPr id="342" name="Rectangle 341">
            <a:extLst>
              <a:ext uri="{FF2B5EF4-FFF2-40B4-BE49-F238E27FC236}">
                <a16:creationId xmlns:a16="http://schemas.microsoft.com/office/drawing/2014/main" id="{293D38B5-AD2B-F1A3-EE87-FE8DCEAFE572}"/>
              </a:ext>
            </a:extLst>
          </p:cNvPr>
          <p:cNvSpPr/>
          <p:nvPr/>
        </p:nvSpPr>
        <p:spPr>
          <a:xfrm>
            <a:off x="610730" y="2810134"/>
            <a:ext cx="1782887" cy="396571"/>
          </a:xfrm>
          <a:prstGeom prst="rect">
            <a:avLst/>
          </a:prstGeom>
          <a:solidFill>
            <a:srgbClr val="002060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US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🏌️‍♂️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distributor </a:t>
            </a:r>
          </a:p>
        </p:txBody>
      </p:sp>
      <p:grpSp>
        <p:nvGrpSpPr>
          <p:cNvPr id="379" name="Group 378">
            <a:extLst>
              <a:ext uri="{FF2B5EF4-FFF2-40B4-BE49-F238E27FC236}">
                <a16:creationId xmlns:a16="http://schemas.microsoft.com/office/drawing/2014/main" id="{75D41D47-979F-FC1E-7EF2-859E45924DA5}"/>
              </a:ext>
            </a:extLst>
          </p:cNvPr>
          <p:cNvGrpSpPr/>
          <p:nvPr/>
        </p:nvGrpSpPr>
        <p:grpSpPr>
          <a:xfrm>
            <a:off x="3376749" y="1997980"/>
            <a:ext cx="2745921" cy="1293154"/>
            <a:chOff x="4230192" y="1997980"/>
            <a:chExt cx="2745921" cy="1293154"/>
          </a:xfrm>
        </p:grpSpPr>
        <p:grpSp>
          <p:nvGrpSpPr>
            <p:cNvPr id="345" name="Group 344">
              <a:extLst>
                <a:ext uri="{FF2B5EF4-FFF2-40B4-BE49-F238E27FC236}">
                  <a16:creationId xmlns:a16="http://schemas.microsoft.com/office/drawing/2014/main" id="{4A1F638F-ED3A-BF67-CC7E-D113D69792CE}"/>
                </a:ext>
              </a:extLst>
            </p:cNvPr>
            <p:cNvGrpSpPr/>
            <p:nvPr/>
          </p:nvGrpSpPr>
          <p:grpSpPr>
            <a:xfrm>
              <a:off x="4230192" y="1997980"/>
              <a:ext cx="2745921" cy="1293154"/>
              <a:chOff x="3299814" y="2096018"/>
              <a:chExt cx="2745921" cy="1293154"/>
            </a:xfrm>
          </p:grpSpPr>
          <p:sp>
            <p:nvSpPr>
              <p:cNvPr id="346" name="Rectangle 345">
                <a:extLst>
                  <a:ext uri="{FF2B5EF4-FFF2-40B4-BE49-F238E27FC236}">
                    <a16:creationId xmlns:a16="http://schemas.microsoft.com/office/drawing/2014/main" id="{CA9FEA37-2359-5542-E557-8FF205A527B2}"/>
                  </a:ext>
                </a:extLst>
              </p:cNvPr>
              <p:cNvSpPr/>
              <p:nvPr/>
            </p:nvSpPr>
            <p:spPr>
              <a:xfrm>
                <a:off x="3299814" y="2096018"/>
                <a:ext cx="2274178" cy="12931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ingestion cell #1 all domains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F234A627-7CCC-DF82-8A13-872438C25748}"/>
                  </a:ext>
                </a:extLst>
              </p:cNvPr>
              <p:cNvSpPr/>
              <p:nvPr/>
            </p:nvSpPr>
            <p:spPr>
              <a:xfrm>
                <a:off x="3406243" y="2428550"/>
                <a:ext cx="2045853" cy="396571"/>
              </a:xfrm>
              <a:prstGeom prst="rect">
                <a:avLst/>
              </a:prstGeom>
              <a:solidFill>
                <a:schemeClr val="accent4">
                  <a:lumMod val="50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144000" rIns="144000" bIns="144000" anchor="ctr"/>
              <a:lstStyle/>
              <a:p>
                <a:r>
                  <a:rPr lang="en-US" sz="2800" baseline="-9000" dirty="0">
                    <a:solidFill>
                      <a:schemeClr val="tx1"/>
                    </a:solidFill>
                    <a:effectLst>
                      <a:glow>
                        <a:schemeClr val="bg1"/>
                      </a:glow>
                    </a:effectLst>
                  </a:rPr>
                  <a:t>⛳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  <a:cs typeface="Arial" panose="020B0604020202020204" pitchFamily="34" charset="0"/>
                  </a:rPr>
                  <a:t>endpoint</a:t>
                </a:r>
              </a:p>
            </p:txBody>
          </p:sp>
          <p:sp>
            <p:nvSpPr>
              <p:cNvPr id="351" name="TextBox 20">
                <a:extLst>
                  <a:ext uri="{FF2B5EF4-FFF2-40B4-BE49-F238E27FC236}">
                    <a16:creationId xmlns:a16="http://schemas.microsoft.com/office/drawing/2014/main" id="{6F96CD99-19B4-1FC2-DC97-B3E572F47C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6933" y="2884105"/>
                <a:ext cx="183880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  <a:latin typeface="+mn-lt"/>
                  </a:rPr>
                  <a:t>push to topic</a:t>
                </a:r>
                <a:endParaRPr lang="en-US" altLang="en-US" sz="1200" i="1" dirty="0">
                  <a:solidFill>
                    <a:schemeClr val="tx1">
                      <a:lumMod val="75000"/>
                    </a:schemeClr>
                  </a:solidFill>
                  <a:latin typeface="+mn-lt"/>
                </a:endParaRPr>
              </a:p>
            </p:txBody>
          </p:sp>
        </p:grpSp>
        <p:pic>
          <p:nvPicPr>
            <p:cNvPr id="377" name="Graphic 10" descr="AWS Lambda service icon.">
              <a:extLst>
                <a:ext uri="{FF2B5EF4-FFF2-40B4-BE49-F238E27FC236}">
                  <a16:creationId xmlns:a16="http://schemas.microsoft.com/office/drawing/2014/main" id="{993FB7AC-AC7C-A7B3-A89B-CFC307AF01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4782269" y="2836843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E1DE49EF-6F09-5C35-2072-8EC7C34347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4334484" y="2836843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055A23F2-3222-7916-0EDB-0B2F12295800}"/>
              </a:ext>
            </a:extLst>
          </p:cNvPr>
          <p:cNvGrpSpPr/>
          <p:nvPr/>
        </p:nvGrpSpPr>
        <p:grpSpPr>
          <a:xfrm>
            <a:off x="5996964" y="1995265"/>
            <a:ext cx="2199875" cy="518854"/>
            <a:chOff x="6890273" y="2476895"/>
            <a:chExt cx="2199875" cy="518854"/>
          </a:xfrm>
        </p:grpSpPr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F4CEDBBD-6D86-B14B-79B2-C5C96F41BE23}"/>
                </a:ext>
              </a:extLst>
            </p:cNvPr>
            <p:cNvSpPr/>
            <p:nvPr/>
          </p:nvSpPr>
          <p:spPr>
            <a:xfrm>
              <a:off x="6890273" y="2476895"/>
              <a:ext cx="2062117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393" name="Graphic 10" descr="AWS Lambda service icon.">
              <a:extLst>
                <a:ext uri="{FF2B5EF4-FFF2-40B4-BE49-F238E27FC236}">
                  <a16:creationId xmlns:a16="http://schemas.microsoft.com/office/drawing/2014/main" id="{42C6EDB0-61F5-5E43-327E-71715938A5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7412221" y="255119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94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A4BF69C8-A45E-EF7C-846E-70F388E6F0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6973145" y="255119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1B532668-11D8-3129-4BFB-450C7E5F3193}"/>
                </a:ext>
              </a:extLst>
            </p:cNvPr>
            <p:cNvSpPr txBox="1"/>
            <p:nvPr/>
          </p:nvSpPr>
          <p:spPr>
            <a:xfrm>
              <a:off x="7759545" y="2495965"/>
              <a:ext cx="133060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SQS, Lambda</a:t>
              </a:r>
              <a:b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reset manifest</a:t>
              </a:r>
            </a:p>
          </p:txBody>
        </p:sp>
      </p:grpSp>
      <p:cxnSp>
        <p:nvCxnSpPr>
          <p:cNvPr id="403" name="Straight Arrow Connector 12">
            <a:extLst>
              <a:ext uri="{FF2B5EF4-FFF2-40B4-BE49-F238E27FC236}">
                <a16:creationId xmlns:a16="http://schemas.microsoft.com/office/drawing/2014/main" id="{906BEB2B-9672-3078-36CE-BC99189A83C0}"/>
              </a:ext>
            </a:extLst>
          </p:cNvPr>
          <p:cNvCxnSpPr>
            <a:cxnSpLocks/>
            <a:endCxn id="392" idx="1"/>
          </p:cNvCxnSpPr>
          <p:nvPr/>
        </p:nvCxnSpPr>
        <p:spPr>
          <a:xfrm>
            <a:off x="5658189" y="2254692"/>
            <a:ext cx="338775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965685B6-52C8-CDBB-0C2C-498C093E3D6A}"/>
              </a:ext>
            </a:extLst>
          </p:cNvPr>
          <p:cNvGrpSpPr/>
          <p:nvPr/>
        </p:nvGrpSpPr>
        <p:grpSpPr>
          <a:xfrm>
            <a:off x="8595532" y="3930115"/>
            <a:ext cx="1779209" cy="518400"/>
            <a:chOff x="612366" y="4202686"/>
            <a:chExt cx="1779209" cy="518400"/>
          </a:xfrm>
        </p:grpSpPr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27B9E369-1E94-D672-1DC4-F3B8578223B8}"/>
                </a:ext>
              </a:extLst>
            </p:cNvPr>
            <p:cNvGrpSpPr/>
            <p:nvPr/>
          </p:nvGrpSpPr>
          <p:grpSpPr>
            <a:xfrm>
              <a:off x="612366" y="4202686"/>
              <a:ext cx="1779209" cy="518400"/>
              <a:chOff x="6838092" y="3987527"/>
              <a:chExt cx="1779209" cy="518400"/>
            </a:xfrm>
          </p:grpSpPr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5CB66719-21F4-B016-1545-D8ED45ABE4F8}"/>
                  </a:ext>
                </a:extLst>
              </p:cNvPr>
              <p:cNvSpPr/>
              <p:nvPr/>
            </p:nvSpPr>
            <p:spPr>
              <a:xfrm>
                <a:off x="6838092" y="3987527"/>
                <a:ext cx="1779209" cy="518400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45720" rtlCol="0" anchor="t"/>
              <a:lstStyle/>
              <a:p>
                <a:r>
                  <a:rPr lang="en-US" sz="1200" i="1" dirty="0">
                    <a:solidFill>
                      <a:schemeClr val="tx1">
                        <a:lumMod val="75000"/>
                      </a:schemeClr>
                    </a:solidFill>
                  </a:rPr>
                  <a:t> </a:t>
                </a:r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410" name="TextBox 11">
                <a:extLst>
                  <a:ext uri="{FF2B5EF4-FFF2-40B4-BE49-F238E27FC236}">
                    <a16:creationId xmlns:a16="http://schemas.microsoft.com/office/drawing/2014/main" id="{0D7010DB-BD38-A903-4B51-D67E5993A6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45030" y="4022422"/>
                <a:ext cx="129589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DynamoDB</a:t>
                </a:r>
                <a:b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latin typeface="+mn-lt"/>
                    <a:ea typeface="Amazon Ember" panose="020B0603020204020204" pitchFamily="34" charset="0"/>
                    <a:cs typeface="Arial" panose="020B0604020202020204" pitchFamily="34" charset="0"/>
                  </a:rPr>
                  <a:t>subscribers</a:t>
                </a:r>
                <a:endPara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  <a:ea typeface="Amazon Ember" panose="020B0603020204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408" name="Graphic 23" descr="Amazon DynamoDB service icon.">
              <a:extLst>
                <a:ext uri="{FF2B5EF4-FFF2-40B4-BE49-F238E27FC236}">
                  <a16:creationId xmlns:a16="http://schemas.microsoft.com/office/drawing/2014/main" id="{85341712-0E14-8AA6-1D73-F207FDA8F6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/>
          </p:blipFill>
          <p:spPr bwMode="auto">
            <a:xfrm>
              <a:off x="688948" y="4288038"/>
              <a:ext cx="360000" cy="360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420" name="Straight Arrow Connector 12">
            <a:extLst>
              <a:ext uri="{FF2B5EF4-FFF2-40B4-BE49-F238E27FC236}">
                <a16:creationId xmlns:a16="http://schemas.microsoft.com/office/drawing/2014/main" id="{F9A282E0-5811-61D4-759A-5AE141663563}"/>
              </a:ext>
            </a:extLst>
          </p:cNvPr>
          <p:cNvCxnSpPr>
            <a:cxnSpLocks/>
            <a:stCxn id="392" idx="0"/>
            <a:endCxn id="2" idx="3"/>
          </p:cNvCxnSpPr>
          <p:nvPr/>
        </p:nvCxnSpPr>
        <p:spPr>
          <a:xfrm rot="16200000" flipV="1">
            <a:off x="3973604" y="-1059155"/>
            <a:ext cx="1383808" cy="4725031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9B5AEBBA-B246-2E86-EA7B-A42448D1D784}"/>
              </a:ext>
            </a:extLst>
          </p:cNvPr>
          <p:cNvGrpSpPr/>
          <p:nvPr/>
        </p:nvGrpSpPr>
        <p:grpSpPr>
          <a:xfrm>
            <a:off x="6017279" y="5798845"/>
            <a:ext cx="2199101" cy="518854"/>
            <a:chOff x="6890273" y="2476895"/>
            <a:chExt cx="2199101" cy="518854"/>
          </a:xfrm>
        </p:grpSpPr>
        <p:sp>
          <p:nvSpPr>
            <p:cNvPr id="425" name="Rectangle 424">
              <a:extLst>
                <a:ext uri="{FF2B5EF4-FFF2-40B4-BE49-F238E27FC236}">
                  <a16:creationId xmlns:a16="http://schemas.microsoft.com/office/drawing/2014/main" id="{26F315B9-1F47-7E78-3FCC-145B594FB594}"/>
                </a:ext>
              </a:extLst>
            </p:cNvPr>
            <p:cNvSpPr/>
            <p:nvPr/>
          </p:nvSpPr>
          <p:spPr>
            <a:xfrm>
              <a:off x="6890273" y="2476895"/>
              <a:ext cx="2060632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426" name="Graphic 10" descr="AWS Lambda service icon.">
              <a:extLst>
                <a:ext uri="{FF2B5EF4-FFF2-40B4-BE49-F238E27FC236}">
                  <a16:creationId xmlns:a16="http://schemas.microsoft.com/office/drawing/2014/main" id="{32601A8D-E227-A7BE-28CE-B6D76E9A8B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7412221" y="255119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27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325A6268-E148-641E-6919-2CE5C2B8CE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6973145" y="255119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A1721F8C-F7B1-0F07-00A0-7D0EDEB96107}"/>
                </a:ext>
              </a:extLst>
            </p:cNvPr>
            <p:cNvSpPr txBox="1"/>
            <p:nvPr/>
          </p:nvSpPr>
          <p:spPr>
            <a:xfrm>
              <a:off x="7759546" y="2495965"/>
              <a:ext cx="132982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SQS, Lambda</a:t>
              </a:r>
              <a:b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send to biller</a:t>
              </a:r>
            </a:p>
          </p:txBody>
        </p:sp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2DB9281B-3230-07B2-5121-8E306C2B56C0}"/>
              </a:ext>
            </a:extLst>
          </p:cNvPr>
          <p:cNvGrpSpPr/>
          <p:nvPr/>
        </p:nvGrpSpPr>
        <p:grpSpPr>
          <a:xfrm>
            <a:off x="6015955" y="3930115"/>
            <a:ext cx="2322351" cy="518854"/>
            <a:chOff x="6890273" y="2476895"/>
            <a:chExt cx="2322351" cy="518854"/>
          </a:xfrm>
        </p:grpSpPr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2B0CAC17-A974-9B2C-AA96-7E7A398D3E16}"/>
                </a:ext>
              </a:extLst>
            </p:cNvPr>
            <p:cNvSpPr/>
            <p:nvPr/>
          </p:nvSpPr>
          <p:spPr>
            <a:xfrm>
              <a:off x="6890273" y="2476895"/>
              <a:ext cx="2053118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432" name="Graphic 10" descr="AWS Lambda service icon.">
              <a:extLst>
                <a:ext uri="{FF2B5EF4-FFF2-40B4-BE49-F238E27FC236}">
                  <a16:creationId xmlns:a16="http://schemas.microsoft.com/office/drawing/2014/main" id="{57BC3D0E-92DE-DF2C-7802-B69A9DC986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7412221" y="255119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33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74166A05-1780-5DBD-369F-2CA6A1DA2B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6973145" y="255119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4" name="TextBox 433">
              <a:extLst>
                <a:ext uri="{FF2B5EF4-FFF2-40B4-BE49-F238E27FC236}">
                  <a16:creationId xmlns:a16="http://schemas.microsoft.com/office/drawing/2014/main" id="{D90D665E-3E14-8529-3A4B-6F2B6194F5AE}"/>
                </a:ext>
              </a:extLst>
            </p:cNvPr>
            <p:cNvSpPr txBox="1"/>
            <p:nvPr/>
          </p:nvSpPr>
          <p:spPr>
            <a:xfrm>
              <a:off x="7759545" y="2495965"/>
              <a:ext cx="145307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SQS, Lambda</a:t>
              </a:r>
              <a:b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replay archiver</a:t>
              </a:r>
            </a:p>
          </p:txBody>
        </p:sp>
      </p:grpSp>
      <p:sp>
        <p:nvSpPr>
          <p:cNvPr id="437" name="TextBox 12">
            <a:extLst>
              <a:ext uri="{FF2B5EF4-FFF2-40B4-BE49-F238E27FC236}">
                <a16:creationId xmlns:a16="http://schemas.microsoft.com/office/drawing/2014/main" id="{8FBF40CE-067A-4BBD-3250-8B29C726F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5595" y="645640"/>
            <a:ext cx="41308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download the entire manifest from the given URL,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then break it into 100KB parts to fit into SNS messages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E8058FC5-6EF0-0D87-A97A-F10A0A3E61CA}"/>
              </a:ext>
            </a:extLst>
          </p:cNvPr>
          <p:cNvGrpSpPr/>
          <p:nvPr/>
        </p:nvGrpSpPr>
        <p:grpSpPr>
          <a:xfrm>
            <a:off x="8593320" y="4859466"/>
            <a:ext cx="1779665" cy="518854"/>
            <a:chOff x="6890273" y="2476895"/>
            <a:chExt cx="1779665" cy="518854"/>
          </a:xfrm>
        </p:grpSpPr>
        <p:sp>
          <p:nvSpPr>
            <p:cNvPr id="468" name="Rectangle 467">
              <a:extLst>
                <a:ext uri="{FF2B5EF4-FFF2-40B4-BE49-F238E27FC236}">
                  <a16:creationId xmlns:a16="http://schemas.microsoft.com/office/drawing/2014/main" id="{D5985B8B-1114-4509-3B72-BE50D091A0CA}"/>
                </a:ext>
              </a:extLst>
            </p:cNvPr>
            <p:cNvSpPr/>
            <p:nvPr/>
          </p:nvSpPr>
          <p:spPr>
            <a:xfrm>
              <a:off x="6890273" y="2476895"/>
              <a:ext cx="1779665" cy="518854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bIns="72000" rtlCol="0" anchor="b"/>
            <a:lstStyle/>
            <a:p>
              <a:pPr algn="ctr"/>
              <a:endParaRPr lang="en-US" sz="1600" i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  <p:pic>
          <p:nvPicPr>
            <p:cNvPr id="469" name="Graphic 10" descr="AWS Lambda service icon.">
              <a:extLst>
                <a:ext uri="{FF2B5EF4-FFF2-40B4-BE49-F238E27FC236}">
                  <a16:creationId xmlns:a16="http://schemas.microsoft.com/office/drawing/2014/main" id="{7E8C5995-2D48-48D7-D04C-D2909D8542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7412221" y="255119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70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6E33EBA5-9375-2D71-FDFB-7987B1878A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6973145" y="2551194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" name="TextBox 470">
              <a:extLst>
                <a:ext uri="{FF2B5EF4-FFF2-40B4-BE49-F238E27FC236}">
                  <a16:creationId xmlns:a16="http://schemas.microsoft.com/office/drawing/2014/main" id="{86F60EF8-C0DD-76C5-A9C3-F54CF498AE0B}"/>
                </a:ext>
              </a:extLst>
            </p:cNvPr>
            <p:cNvSpPr txBox="1"/>
            <p:nvPr/>
          </p:nvSpPr>
          <p:spPr>
            <a:xfrm>
              <a:off x="7759546" y="2504674"/>
              <a:ext cx="7438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replay handler</a:t>
              </a:r>
            </a:p>
          </p:txBody>
        </p:sp>
      </p:grp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9069DEF8-8132-5158-63F3-2E54F3FEC4B7}"/>
              </a:ext>
            </a:extLst>
          </p:cNvPr>
          <p:cNvGrpSpPr/>
          <p:nvPr/>
        </p:nvGrpSpPr>
        <p:grpSpPr>
          <a:xfrm>
            <a:off x="1215348" y="4812471"/>
            <a:ext cx="4243342" cy="723763"/>
            <a:chOff x="917169" y="5385484"/>
            <a:chExt cx="4243342" cy="723763"/>
          </a:xfrm>
        </p:grpSpPr>
        <p:grpSp>
          <p:nvGrpSpPr>
            <p:cNvPr id="491" name="Group 490">
              <a:extLst>
                <a:ext uri="{FF2B5EF4-FFF2-40B4-BE49-F238E27FC236}">
                  <a16:creationId xmlns:a16="http://schemas.microsoft.com/office/drawing/2014/main" id="{8E184F6A-7994-FEAC-0954-F996784F2A66}"/>
                </a:ext>
              </a:extLst>
            </p:cNvPr>
            <p:cNvGrpSpPr/>
            <p:nvPr/>
          </p:nvGrpSpPr>
          <p:grpSpPr>
            <a:xfrm>
              <a:off x="917169" y="5385484"/>
              <a:ext cx="4016518" cy="602460"/>
              <a:chOff x="4676867" y="5366272"/>
              <a:chExt cx="4016518" cy="602460"/>
            </a:xfrm>
          </p:grpSpPr>
          <p:grpSp>
            <p:nvGrpSpPr>
              <p:cNvPr id="493" name="Group 492">
                <a:extLst>
                  <a:ext uri="{FF2B5EF4-FFF2-40B4-BE49-F238E27FC236}">
                    <a16:creationId xmlns:a16="http://schemas.microsoft.com/office/drawing/2014/main" id="{2A2663F7-736F-AB93-BE1E-2AACEA6A1A4C}"/>
                  </a:ext>
                </a:extLst>
              </p:cNvPr>
              <p:cNvGrpSpPr/>
              <p:nvPr/>
            </p:nvGrpSpPr>
            <p:grpSpPr>
              <a:xfrm>
                <a:off x="4676867" y="5366272"/>
                <a:ext cx="4016518" cy="602460"/>
                <a:chOff x="4676867" y="5366272"/>
                <a:chExt cx="4016518" cy="602460"/>
              </a:xfrm>
            </p:grpSpPr>
            <p:grpSp>
              <p:nvGrpSpPr>
                <p:cNvPr id="495" name="Group 494">
                  <a:extLst>
                    <a:ext uri="{FF2B5EF4-FFF2-40B4-BE49-F238E27FC236}">
                      <a16:creationId xmlns:a16="http://schemas.microsoft.com/office/drawing/2014/main" id="{32806A1B-D443-73BC-D763-7F43F25DE7FB}"/>
                    </a:ext>
                  </a:extLst>
                </p:cNvPr>
                <p:cNvGrpSpPr/>
                <p:nvPr/>
              </p:nvGrpSpPr>
              <p:grpSpPr>
                <a:xfrm>
                  <a:off x="4676867" y="5366272"/>
                  <a:ext cx="4016518" cy="602460"/>
                  <a:chOff x="4732901" y="5361747"/>
                  <a:chExt cx="4016518" cy="602460"/>
                </a:xfrm>
              </p:grpSpPr>
              <p:sp>
                <p:nvSpPr>
                  <p:cNvPr id="497" name="Rectangle 496">
                    <a:extLst>
                      <a:ext uri="{FF2B5EF4-FFF2-40B4-BE49-F238E27FC236}">
                        <a16:creationId xmlns:a16="http://schemas.microsoft.com/office/drawing/2014/main" id="{DBF4B3FD-FA94-0E6A-5D01-D9DCC529C84A}"/>
                      </a:ext>
                    </a:extLst>
                  </p:cNvPr>
                  <p:cNvSpPr/>
                  <p:nvPr/>
                </p:nvSpPr>
                <p:spPr>
                  <a:xfrm>
                    <a:off x="4732901" y="5361747"/>
                    <a:ext cx="4016518" cy="602460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  <a:lumOff val="1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tIns="72000" rIns="45720" rtlCol="0" anchor="ctr"/>
                  <a:lstStyle/>
                  <a:p>
                    <a:endParaRPr lang="en-US" sz="1200" dirty="0">
                      <a:solidFill>
                        <a:srgbClr val="FFFFFF"/>
                      </a:solidFill>
                      <a:latin typeface="Arial" panose="020B0604020202020204" pitchFamily="34" charset="0"/>
                      <a:ea typeface="Amazon Ember" panose="020B0603020204020204" pitchFamily="34" charset="0"/>
                      <a:cs typeface="Arial" panose="020B0604020202020204" pitchFamily="34" charset="0"/>
                    </a:endParaRPr>
                  </a:p>
                </p:txBody>
              </p:sp>
              <p:pic>
                <p:nvPicPr>
                  <p:cNvPr id="498" name="Graphic 23" descr="Amazon DynamoDB service icon.">
                    <a:extLst>
                      <a:ext uri="{FF2B5EF4-FFF2-40B4-BE49-F238E27FC236}">
                        <a16:creationId xmlns:a16="http://schemas.microsoft.com/office/drawing/2014/main" id="{A0AF92E0-429B-5ABF-C5E2-B442AE34C1F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3">
                    <a:extLs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4849637" y="5488033"/>
                    <a:ext cx="360000" cy="3607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99" name="Graphic 23" descr="Amazon DynamoDB service icon.">
                    <a:extLst>
                      <a:ext uri="{FF2B5EF4-FFF2-40B4-BE49-F238E27FC236}">
                        <a16:creationId xmlns:a16="http://schemas.microsoft.com/office/drawing/2014/main" id="{B0A1DA5F-0319-C0D8-3691-77859EA47AC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3">
                    <a:extLst>
                      <a:ext uri="{96DAC541-7B7A-43D3-8B79-37D633B846F1}">
                        <asvg:svgBlip xmlns:asvg="http://schemas.microsoft.com/office/drawing/2016/SVG/main" r:embed="rId14"/>
                      </a:ext>
                    </a:extLst>
                  </a:blip>
                  <a:srcRect/>
                  <a:stretch/>
                </p:blipFill>
                <p:spPr bwMode="auto">
                  <a:xfrm>
                    <a:off x="7056241" y="5484797"/>
                    <a:ext cx="360000" cy="3607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</p:grpSp>
            <p:sp>
              <p:nvSpPr>
                <p:cNvPr id="496" name="TextBox 495">
                  <a:extLst>
                    <a:ext uri="{FF2B5EF4-FFF2-40B4-BE49-F238E27FC236}">
                      <a16:creationId xmlns:a16="http://schemas.microsoft.com/office/drawing/2014/main" id="{F78B4E76-1E05-D084-1C60-ED1875B325ED}"/>
                    </a:ext>
                  </a:extLst>
                </p:cNvPr>
                <p:cNvSpPr txBox="1"/>
                <p:nvPr/>
              </p:nvSpPr>
              <p:spPr>
                <a:xfrm>
                  <a:off x="4793602" y="5684848"/>
                  <a:ext cx="1904749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altLang="en-US" sz="12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global table</a:t>
                  </a:r>
                  <a:endParaRPr 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endParaRPr>
                </a:p>
              </p:txBody>
            </p:sp>
          </p:grpSp>
          <p:cxnSp>
            <p:nvCxnSpPr>
              <p:cNvPr id="494" name="Straight Arrow Connector 12">
                <a:extLst>
                  <a:ext uri="{FF2B5EF4-FFF2-40B4-BE49-F238E27FC236}">
                    <a16:creationId xmlns:a16="http://schemas.microsoft.com/office/drawing/2014/main" id="{EC3BEBC7-DBD1-FBEE-E5DD-1D1138A22B1A}"/>
                  </a:ext>
                </a:extLst>
              </p:cNvPr>
              <p:cNvCxnSpPr>
                <a:cxnSpLocks/>
                <a:stCxn id="498" idx="3"/>
                <a:endCxn id="499" idx="1"/>
              </p:cNvCxnSpPr>
              <p:nvPr/>
            </p:nvCxnSpPr>
            <p:spPr>
              <a:xfrm flipV="1">
                <a:off x="5153603" y="5669697"/>
                <a:ext cx="1846604" cy="32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 w="lg" len="lg"/>
                <a:tailEnd type="triangle" w="lg" len="lg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492" name="TextBox 491">
              <a:extLst>
                <a:ext uri="{FF2B5EF4-FFF2-40B4-BE49-F238E27FC236}">
                  <a16:creationId xmlns:a16="http://schemas.microsoft.com/office/drawing/2014/main" id="{2E034133-CB64-4384-4747-CBD7C395AF90}"/>
                </a:ext>
              </a:extLst>
            </p:cNvPr>
            <p:cNvSpPr txBox="1"/>
            <p:nvPr/>
          </p:nvSpPr>
          <p:spPr>
            <a:xfrm>
              <a:off x="3600508" y="5462916"/>
              <a:ext cx="156000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DynamoDB</a:t>
              </a:r>
              <a:br>
                <a:rPr lang="en-US" sz="18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+mn-lt"/>
                </a:rPr>
                <a:t>historical events</a:t>
              </a:r>
              <a:endParaRPr lang="en-US" alt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endParaRPr>
            </a:p>
            <a:p>
              <a:endParaRPr 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501" name="TextBox 500">
            <a:extLst>
              <a:ext uri="{FF2B5EF4-FFF2-40B4-BE49-F238E27FC236}">
                <a16:creationId xmlns:a16="http://schemas.microsoft.com/office/drawing/2014/main" id="{A64EE555-3F53-58BC-5FF5-E7A4ED1E90DE}"/>
              </a:ext>
            </a:extLst>
          </p:cNvPr>
          <p:cNvSpPr txBox="1"/>
          <p:nvPr/>
        </p:nvSpPr>
        <p:spPr>
          <a:xfrm>
            <a:off x="3570623" y="4801096"/>
            <a:ext cx="304571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 </a:t>
            </a:r>
          </a:p>
        </p:txBody>
      </p:sp>
      <p:cxnSp>
        <p:nvCxnSpPr>
          <p:cNvPr id="507" name="Straight Arrow Connector 12">
            <a:extLst>
              <a:ext uri="{FF2B5EF4-FFF2-40B4-BE49-F238E27FC236}">
                <a16:creationId xmlns:a16="http://schemas.microsoft.com/office/drawing/2014/main" id="{AA27DA64-5A1C-14DC-8046-2413839F2E85}"/>
              </a:ext>
            </a:extLst>
          </p:cNvPr>
          <p:cNvCxnSpPr>
            <a:cxnSpLocks/>
            <a:stCxn id="104" idx="2"/>
            <a:endCxn id="409" idx="0"/>
          </p:cNvCxnSpPr>
          <p:nvPr/>
        </p:nvCxnSpPr>
        <p:spPr>
          <a:xfrm>
            <a:off x="9484909" y="3293361"/>
            <a:ext cx="228" cy="636754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38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0111-DE78-29F5-8538-19174A02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241DB7F7-946B-FFB1-1317-352F94525A5C}"/>
              </a:ext>
            </a:extLst>
          </p:cNvPr>
          <p:cNvCxnSpPr>
            <a:cxnSpLocks/>
            <a:endCxn id="122" idx="3"/>
          </p:cNvCxnSpPr>
          <p:nvPr/>
        </p:nvCxnSpPr>
        <p:spPr>
          <a:xfrm rot="10800000" flipV="1">
            <a:off x="7443914" y="3591828"/>
            <a:ext cx="2199616" cy="1218463"/>
          </a:xfrm>
          <a:prstGeom prst="curvedConnector3">
            <a:avLst>
              <a:gd name="adj1" fmla="val -39"/>
            </a:avLst>
          </a:prstGeom>
          <a:ln w="19050" cap="rnd">
            <a:solidFill>
              <a:schemeClr val="accent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46EF235-25EA-5D25-3EAD-677FB3DAC622}"/>
              </a:ext>
            </a:extLst>
          </p:cNvPr>
          <p:cNvGrpSpPr/>
          <p:nvPr/>
        </p:nvGrpSpPr>
        <p:grpSpPr>
          <a:xfrm>
            <a:off x="9370229" y="2621364"/>
            <a:ext cx="2202055" cy="970465"/>
            <a:chOff x="6139540" y="1012716"/>
            <a:chExt cx="3592946" cy="970465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BC64CCD-FE6B-3C43-8991-E6A4E4EB6C78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45D78D1-CE3A-FE91-27D7-D15D4BB4B56A}"/>
                </a:ext>
              </a:extLst>
            </p:cNvPr>
            <p:cNvSpPr/>
            <p:nvPr/>
          </p:nvSpPr>
          <p:spPr>
            <a:xfrm>
              <a:off x="6139540" y="1012716"/>
              <a:ext cx="3592946" cy="970465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34CFCF0-7091-1231-6FAA-96E642173A77}"/>
              </a:ext>
            </a:extLst>
          </p:cNvPr>
          <p:cNvSpPr/>
          <p:nvPr/>
        </p:nvSpPr>
        <p:spPr>
          <a:xfrm>
            <a:off x="4524864" y="2977094"/>
            <a:ext cx="201719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👂</a:t>
            </a:r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Listeners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1F12C9-9988-A5A3-5C2E-D456F870E152}"/>
              </a:ext>
            </a:extLst>
          </p:cNvPr>
          <p:cNvSpPr/>
          <p:nvPr/>
        </p:nvSpPr>
        <p:spPr>
          <a:xfrm>
            <a:off x="6685397" y="2977093"/>
            <a:ext cx="28135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99F26B-B6AF-B074-9290-BE541738F029}"/>
              </a:ext>
            </a:extLst>
          </p:cNvPr>
          <p:cNvSpPr/>
          <p:nvPr/>
        </p:nvSpPr>
        <p:spPr>
          <a:xfrm>
            <a:off x="7110090" y="2977093"/>
            <a:ext cx="28135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13EAA0C1-780C-52F5-2388-3A689F49192B}"/>
              </a:ext>
            </a:extLst>
          </p:cNvPr>
          <p:cNvCxnSpPr>
            <a:cxnSpLocks/>
            <a:endCxn id="135" idx="0"/>
          </p:cNvCxnSpPr>
          <p:nvPr/>
        </p:nvCxnSpPr>
        <p:spPr>
          <a:xfrm rot="10800000" flipV="1">
            <a:off x="1677087" y="1618664"/>
            <a:ext cx="1543377" cy="1002700"/>
          </a:xfrm>
          <a:prstGeom prst="curved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0E190EED-2508-94F6-30ED-56021A094E5D}"/>
              </a:ext>
            </a:extLst>
          </p:cNvPr>
          <p:cNvCxnSpPr>
            <a:cxnSpLocks/>
            <a:endCxn id="144" idx="0"/>
          </p:cNvCxnSpPr>
          <p:nvPr/>
        </p:nvCxnSpPr>
        <p:spPr>
          <a:xfrm>
            <a:off x="8521477" y="1621554"/>
            <a:ext cx="1949780" cy="999810"/>
          </a:xfrm>
          <a:prstGeom prst="curved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0D933808-F9F7-C471-F320-EE09EC9296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03391" y="-227714"/>
            <a:ext cx="2890" cy="2290081"/>
          </a:xfrm>
          <a:prstGeom prst="curvedConnector3">
            <a:avLst>
              <a:gd name="adj1" fmla="val -15717405"/>
            </a:avLst>
          </a:prstGeom>
          <a:ln w="19050" cap="rnd">
            <a:solidFill>
              <a:schemeClr val="accent4"/>
            </a:solidFill>
            <a:prstDash val="sysDash"/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7FCC8460-DB5D-6DC6-AD1A-828C7539AFDE}"/>
              </a:ext>
            </a:extLst>
          </p:cNvPr>
          <p:cNvCxnSpPr>
            <a:cxnSpLocks/>
          </p:cNvCxnSpPr>
          <p:nvPr/>
        </p:nvCxnSpPr>
        <p:spPr>
          <a:xfrm>
            <a:off x="5330348" y="1920619"/>
            <a:ext cx="0" cy="99096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3DC4383D-7AD0-E382-37FB-FEE80E47BAFF}"/>
              </a:ext>
            </a:extLst>
          </p:cNvPr>
          <p:cNvCxnSpPr>
            <a:cxnSpLocks/>
          </p:cNvCxnSpPr>
          <p:nvPr/>
        </p:nvCxnSpPr>
        <p:spPr>
          <a:xfrm>
            <a:off x="6445882" y="1899755"/>
            <a:ext cx="0" cy="1011831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12">
            <a:extLst>
              <a:ext uri="{FF2B5EF4-FFF2-40B4-BE49-F238E27FC236}">
                <a16:creationId xmlns:a16="http://schemas.microsoft.com/office/drawing/2014/main" id="{DC323DC1-60CC-2D5C-8897-394ECFEC8404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2743975" y="3253364"/>
            <a:ext cx="1711783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E59415F0-D9E4-A639-F54F-D608B55C57C9}"/>
              </a:ext>
            </a:extLst>
          </p:cNvPr>
          <p:cNvSpPr txBox="1">
            <a:spLocks/>
          </p:cNvSpPr>
          <p:nvPr/>
        </p:nvSpPr>
        <p:spPr>
          <a:xfrm>
            <a:off x="5174311" y="57946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1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4F60E9A-B3FF-12E3-FA70-B9139A3AC2E0}"/>
              </a:ext>
            </a:extLst>
          </p:cNvPr>
          <p:cNvSpPr txBox="1">
            <a:spLocks/>
          </p:cNvSpPr>
          <p:nvPr/>
        </p:nvSpPr>
        <p:spPr>
          <a:xfrm>
            <a:off x="377240" y="2147824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7C7BA872-3E94-374B-E442-F54B4966D55A}"/>
              </a:ext>
            </a:extLst>
          </p:cNvPr>
          <p:cNvSpPr txBox="1">
            <a:spLocks/>
          </p:cNvSpPr>
          <p:nvPr/>
        </p:nvSpPr>
        <p:spPr>
          <a:xfrm>
            <a:off x="10276448" y="2147824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E8AC6A27-FBD6-EEB6-C199-D4EF889CAF71}"/>
              </a:ext>
            </a:extLst>
          </p:cNvPr>
          <p:cNvCxnSpPr>
            <a:cxnSpLocks/>
            <a:endCxn id="121" idx="3"/>
          </p:cNvCxnSpPr>
          <p:nvPr/>
        </p:nvCxnSpPr>
        <p:spPr>
          <a:xfrm flipH="1">
            <a:off x="7445389" y="3253364"/>
            <a:ext cx="1924840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78692D88-F4E8-213D-AEEB-3869F90AAF80}"/>
              </a:ext>
            </a:extLst>
          </p:cNvPr>
          <p:cNvCxnSpPr>
            <a:cxnSpLocks/>
          </p:cNvCxnSpPr>
          <p:nvPr/>
        </p:nvCxnSpPr>
        <p:spPr>
          <a:xfrm>
            <a:off x="5529888" y="3631946"/>
            <a:ext cx="0" cy="836568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EFABCE1-038E-95E2-D347-9B1AD61CA0D7}"/>
              </a:ext>
            </a:extLst>
          </p:cNvPr>
          <p:cNvSpPr txBox="1"/>
          <p:nvPr/>
        </p:nvSpPr>
        <p:spPr>
          <a:xfrm>
            <a:off x="3840624" y="3114166"/>
            <a:ext cx="401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93F26F-544A-2459-FC7E-2FF96C525897}"/>
              </a:ext>
            </a:extLst>
          </p:cNvPr>
          <p:cNvSpPr txBox="1"/>
          <p:nvPr/>
        </p:nvSpPr>
        <p:spPr>
          <a:xfrm>
            <a:off x="5130979" y="2096384"/>
            <a:ext cx="650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4B9807-7A4B-0B4B-C9D8-316D35720A56}"/>
              </a:ext>
            </a:extLst>
          </p:cNvPr>
          <p:cNvSpPr txBox="1"/>
          <p:nvPr/>
        </p:nvSpPr>
        <p:spPr>
          <a:xfrm>
            <a:off x="7679328" y="3078711"/>
            <a:ext cx="650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F4F570-64F4-F1DA-7BEE-4573A78866D5}"/>
              </a:ext>
            </a:extLst>
          </p:cNvPr>
          <p:cNvSpPr txBox="1"/>
          <p:nvPr/>
        </p:nvSpPr>
        <p:spPr>
          <a:xfrm>
            <a:off x="5456327" y="3660649"/>
            <a:ext cx="210600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fan-out</a:t>
            </a:r>
          </a:p>
        </p:txBody>
      </p:sp>
      <p:cxnSp>
        <p:nvCxnSpPr>
          <p:cNvPr id="54" name="Straight Arrow Connector 12">
            <a:extLst>
              <a:ext uri="{FF2B5EF4-FFF2-40B4-BE49-F238E27FC236}">
                <a16:creationId xmlns:a16="http://schemas.microsoft.com/office/drawing/2014/main" id="{8757FFC6-D62B-057E-C65C-440CB088D9DE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965200" y="3591829"/>
            <a:ext cx="4365148" cy="2414549"/>
          </a:xfrm>
          <a:prstGeom prst="bentConnector3">
            <a:avLst>
              <a:gd name="adj1" fmla="val -42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5974F03D-B72A-EAB9-4C57-62A7D4D432B3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2548470" y="3631948"/>
            <a:ext cx="1905813" cy="1178344"/>
          </a:xfrm>
          <a:prstGeom prst="curvedConnector3">
            <a:avLst>
              <a:gd name="adj1" fmla="val 244"/>
            </a:avLst>
          </a:prstGeom>
          <a:ln w="19050" cap="rnd">
            <a:solidFill>
              <a:schemeClr val="accent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C6A56C07-32E6-718E-86C1-D52B643FE714}"/>
              </a:ext>
            </a:extLst>
          </p:cNvPr>
          <p:cNvSpPr txBox="1">
            <a:spLocks/>
          </p:cNvSpPr>
          <p:nvPr/>
        </p:nvSpPr>
        <p:spPr>
          <a:xfrm>
            <a:off x="1553227" y="4031458"/>
            <a:ext cx="1747586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trust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receiver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with this type of info? </a:t>
            </a:r>
            <a:r>
              <a:rPr lang="en-GB" sz="2000"/>
              <a:t>🤔</a:t>
            </a:r>
            <a:endParaRPr lang="en-GB" sz="1400"/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A282A6FC-050C-5672-1F39-8B72E65FB4BD}"/>
              </a:ext>
            </a:extLst>
          </p:cNvPr>
          <p:cNvSpPr txBox="1">
            <a:spLocks/>
          </p:cNvSpPr>
          <p:nvPr/>
        </p:nvSpPr>
        <p:spPr>
          <a:xfrm>
            <a:off x="8722044" y="4031458"/>
            <a:ext cx="2031750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trust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this type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of info from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this sender?</a:t>
            </a:r>
            <a:r>
              <a:rPr lang="en-GB" sz="2000"/>
              <a:t> 🤔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3F8E4CF-B37B-C589-E047-C5E079E7DFD9}"/>
              </a:ext>
            </a:extLst>
          </p:cNvPr>
          <p:cNvSpPr txBox="1"/>
          <p:nvPr/>
        </p:nvSpPr>
        <p:spPr>
          <a:xfrm>
            <a:off x="5330348" y="5806323"/>
            <a:ext cx="161481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ℹ️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info</a:t>
            </a:r>
          </a:p>
        </p:txBody>
      </p:sp>
      <p:cxnSp>
        <p:nvCxnSpPr>
          <p:cNvPr id="96" name="Straight Arrow Connector 12">
            <a:extLst>
              <a:ext uri="{FF2B5EF4-FFF2-40B4-BE49-F238E27FC236}">
                <a16:creationId xmlns:a16="http://schemas.microsoft.com/office/drawing/2014/main" id="{C684FB2E-52EB-C41E-4AA2-CF1331D4501C}"/>
              </a:ext>
            </a:extLst>
          </p:cNvPr>
          <p:cNvCxnSpPr>
            <a:cxnSpLocks/>
            <a:stCxn id="92" idx="3"/>
          </p:cNvCxnSpPr>
          <p:nvPr/>
        </p:nvCxnSpPr>
        <p:spPr>
          <a:xfrm flipV="1">
            <a:off x="6945158" y="3611934"/>
            <a:ext cx="4365148" cy="2394444"/>
          </a:xfrm>
          <a:prstGeom prst="bentConnector3">
            <a:avLst>
              <a:gd name="adj1" fmla="val 99848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41FBB3B-490C-D31F-2A8B-9BB74BBFE6E9}"/>
              </a:ext>
            </a:extLst>
          </p:cNvPr>
          <p:cNvSpPr/>
          <p:nvPr/>
        </p:nvSpPr>
        <p:spPr>
          <a:xfrm>
            <a:off x="4455758" y="2911586"/>
            <a:ext cx="2989631" cy="68355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9904ABF-4BB6-F289-FF4D-43CC3404087F}"/>
              </a:ext>
            </a:extLst>
          </p:cNvPr>
          <p:cNvGrpSpPr/>
          <p:nvPr/>
        </p:nvGrpSpPr>
        <p:grpSpPr>
          <a:xfrm>
            <a:off x="4454283" y="4468514"/>
            <a:ext cx="2989631" cy="683556"/>
            <a:chOff x="4454283" y="4536250"/>
            <a:chExt cx="2989631" cy="6835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C19C4C-4B2D-690B-5702-7A9D268A329C}"/>
                </a:ext>
              </a:extLst>
            </p:cNvPr>
            <p:cNvSpPr/>
            <p:nvPr/>
          </p:nvSpPr>
          <p:spPr>
            <a:xfrm>
              <a:off x="4524864" y="4596937"/>
              <a:ext cx="201719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65CC8D-B9B7-820D-ACB0-1BE10124CF88}"/>
                </a:ext>
              </a:extLst>
            </p:cNvPr>
            <p:cNvSpPr/>
            <p:nvPr/>
          </p:nvSpPr>
          <p:spPr>
            <a:xfrm>
              <a:off x="6685397" y="4596937"/>
              <a:ext cx="28135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BB4BD32-578D-E1E7-D470-BEFFB44188B0}"/>
                </a:ext>
              </a:extLst>
            </p:cNvPr>
            <p:cNvSpPr/>
            <p:nvPr/>
          </p:nvSpPr>
          <p:spPr>
            <a:xfrm>
              <a:off x="7110090" y="4596937"/>
              <a:ext cx="28135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E2829EE-8825-8937-C5A8-8D59C31A701C}"/>
                </a:ext>
              </a:extLst>
            </p:cNvPr>
            <p:cNvSpPr/>
            <p:nvPr/>
          </p:nvSpPr>
          <p:spPr>
            <a:xfrm>
              <a:off x="4454283" y="4536250"/>
              <a:ext cx="2989631" cy="683556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47973E04-FAE8-8A25-359D-42CB7B037732}"/>
              </a:ext>
            </a:extLst>
          </p:cNvPr>
          <p:cNvSpPr txBox="1"/>
          <p:nvPr/>
        </p:nvSpPr>
        <p:spPr>
          <a:xfrm>
            <a:off x="6244409" y="2070603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/>
              <a:t>📜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35FEC24-2832-CDAF-EC46-81B0B54B46B3}"/>
              </a:ext>
            </a:extLst>
          </p:cNvPr>
          <p:cNvGrpSpPr/>
          <p:nvPr/>
        </p:nvGrpSpPr>
        <p:grpSpPr>
          <a:xfrm>
            <a:off x="629425" y="2621364"/>
            <a:ext cx="2095322" cy="972578"/>
            <a:chOff x="6139542" y="1010603"/>
            <a:chExt cx="3418797" cy="972578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73F09FC-8191-EA5E-590A-76A4008E3745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Vault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55C4204-210C-D4E8-2A92-BC94AD4D758D}"/>
                </a:ext>
              </a:extLst>
            </p:cNvPr>
            <p:cNvSpPr/>
            <p:nvPr/>
          </p:nvSpPr>
          <p:spPr>
            <a:xfrm>
              <a:off x="6139542" y="1010603"/>
              <a:ext cx="3418797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4351AC-5C62-920C-D8E5-A0D2E18471C8}"/>
              </a:ext>
            </a:extLst>
          </p:cNvPr>
          <p:cNvGrpSpPr/>
          <p:nvPr/>
        </p:nvGrpSpPr>
        <p:grpSpPr>
          <a:xfrm>
            <a:off x="3339523" y="921494"/>
            <a:ext cx="2390860" cy="972578"/>
            <a:chOff x="6139542" y="1010603"/>
            <a:chExt cx="3901006" cy="97257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A7D2C26-87E5-9430-C6B6-8EEB81783160}"/>
                </a:ext>
              </a:extLst>
            </p:cNvPr>
            <p:cNvSpPr/>
            <p:nvPr/>
          </p:nvSpPr>
          <p:spPr>
            <a:xfrm>
              <a:off x="6236554" y="1375596"/>
              <a:ext cx="373657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🏛️ Authority A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47D41C8-DE65-A9B6-D1A2-A6458AFB6DA0}"/>
                </a:ext>
              </a:extLst>
            </p:cNvPr>
            <p:cNvSpPr/>
            <p:nvPr/>
          </p:nvSpPr>
          <p:spPr>
            <a:xfrm>
              <a:off x="6139542" y="1010603"/>
              <a:ext cx="3901006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198E1C9-62BC-5615-1E91-7A2C517D7AFC}"/>
              </a:ext>
            </a:extLst>
          </p:cNvPr>
          <p:cNvGrpSpPr/>
          <p:nvPr/>
        </p:nvGrpSpPr>
        <p:grpSpPr>
          <a:xfrm>
            <a:off x="6219465" y="921494"/>
            <a:ext cx="2390860" cy="972578"/>
            <a:chOff x="6139542" y="1010603"/>
            <a:chExt cx="3901006" cy="97257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6D907B1-BF26-6AF1-508A-0240A39A1172}"/>
                </a:ext>
              </a:extLst>
            </p:cNvPr>
            <p:cNvSpPr/>
            <p:nvPr/>
          </p:nvSpPr>
          <p:spPr>
            <a:xfrm>
              <a:off x="6236554" y="1375596"/>
              <a:ext cx="373657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🏛️ Authority A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15A5A3-96F4-BE0A-3547-85718540583C}"/>
                </a:ext>
              </a:extLst>
            </p:cNvPr>
            <p:cNvSpPr/>
            <p:nvPr/>
          </p:nvSpPr>
          <p:spPr>
            <a:xfrm>
              <a:off x="6139542" y="1010603"/>
              <a:ext cx="3901006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ED0907-1584-8525-EABF-0A169819E5AF}"/>
              </a:ext>
            </a:extLst>
          </p:cNvPr>
          <p:cNvSpPr txBox="1"/>
          <p:nvPr/>
        </p:nvSpPr>
        <p:spPr>
          <a:xfrm>
            <a:off x="206409" y="6409189"/>
            <a:ext cx="75501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2878879174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1" name="Straight Arrow Connector 12">
            <a:extLst>
              <a:ext uri="{FF2B5EF4-FFF2-40B4-BE49-F238E27FC236}">
                <a16:creationId xmlns:a16="http://schemas.microsoft.com/office/drawing/2014/main" id="{9C81D3AD-DED8-7AF9-4697-FDDBE3A5B79B}"/>
              </a:ext>
            </a:extLst>
          </p:cNvPr>
          <p:cNvCxnSpPr>
            <a:cxnSpLocks/>
            <a:endCxn id="195" idx="2"/>
          </p:cNvCxnSpPr>
          <p:nvPr/>
        </p:nvCxnSpPr>
        <p:spPr>
          <a:xfrm flipV="1">
            <a:off x="9246123" y="2804791"/>
            <a:ext cx="0" cy="1573286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2">
            <a:extLst>
              <a:ext uri="{FF2B5EF4-FFF2-40B4-BE49-F238E27FC236}">
                <a16:creationId xmlns:a16="http://schemas.microsoft.com/office/drawing/2014/main" id="{6D4AE100-4AF6-ADEB-C3D8-346FBFF95886}"/>
              </a:ext>
            </a:extLst>
          </p:cNvPr>
          <p:cNvCxnSpPr>
            <a:cxnSpLocks/>
            <a:stCxn id="191" idx="0"/>
            <a:endCxn id="140" idx="1"/>
          </p:cNvCxnSpPr>
          <p:nvPr/>
        </p:nvCxnSpPr>
        <p:spPr>
          <a:xfrm rot="5400000" flipH="1" flipV="1">
            <a:off x="7443429" y="1499047"/>
            <a:ext cx="3266550" cy="199651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2">
            <a:extLst>
              <a:ext uri="{FF2B5EF4-FFF2-40B4-BE49-F238E27FC236}">
                <a16:creationId xmlns:a16="http://schemas.microsoft.com/office/drawing/2014/main" id="{85411690-E981-B4D0-AB63-7D5B889DED0F}"/>
              </a:ext>
            </a:extLst>
          </p:cNvPr>
          <p:cNvCxnSpPr>
            <a:cxnSpLocks/>
            <a:stCxn id="214" idx="2"/>
            <a:endCxn id="31" idx="1"/>
          </p:cNvCxnSpPr>
          <p:nvPr/>
        </p:nvCxnSpPr>
        <p:spPr>
          <a:xfrm rot="16200000" flipH="1">
            <a:off x="939813" y="3656882"/>
            <a:ext cx="968507" cy="495969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prstDash val="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D5EF7B-69B4-4F2B-DB08-ABD8F7A79AA5}"/>
              </a:ext>
            </a:extLst>
          </p:cNvPr>
          <p:cNvGrpSpPr/>
          <p:nvPr/>
        </p:nvGrpSpPr>
        <p:grpSpPr>
          <a:xfrm>
            <a:off x="2272076" y="253665"/>
            <a:ext cx="1498732" cy="818292"/>
            <a:chOff x="3761246" y="271083"/>
            <a:chExt cx="1498732" cy="81829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70A7E51-C619-6435-5710-28C8B7FD0612}"/>
                </a:ext>
              </a:extLst>
            </p:cNvPr>
            <p:cNvSpPr/>
            <p:nvPr/>
          </p:nvSpPr>
          <p:spPr>
            <a:xfrm>
              <a:off x="3761246" y="271083"/>
              <a:ext cx="1498732" cy="8182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B4C7A34-E426-F69D-0A84-84C701D1B2A5}"/>
                </a:ext>
              </a:extLst>
            </p:cNvPr>
            <p:cNvSpPr/>
            <p:nvPr/>
          </p:nvSpPr>
          <p:spPr>
            <a:xfrm>
              <a:off x="3852191" y="583265"/>
              <a:ext cx="1338025" cy="43117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⌛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Buffer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4C4417F-8E07-4D93-4234-E529FB5A5255}"/>
              </a:ext>
            </a:extLst>
          </p:cNvPr>
          <p:cNvSpPr/>
          <p:nvPr/>
        </p:nvSpPr>
        <p:spPr>
          <a:xfrm>
            <a:off x="238628" y="1309129"/>
            <a:ext cx="11744365" cy="4653506"/>
          </a:xfrm>
          <a:prstGeom prst="rect">
            <a:avLst/>
          </a:prstGeom>
          <a:noFill/>
          <a:ln w="15875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lIns="502920" tIns="9144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EE4F08E-FA47-7DFF-62AA-A499CC817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31366" y="1301591"/>
            <a:ext cx="381000" cy="381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4057933-0A68-6BF9-FC97-826BAE508744}"/>
              </a:ext>
            </a:extLst>
          </p:cNvPr>
          <p:cNvGrpSpPr/>
          <p:nvPr/>
        </p:nvGrpSpPr>
        <p:grpSpPr>
          <a:xfrm>
            <a:off x="238628" y="253107"/>
            <a:ext cx="1554755" cy="818292"/>
            <a:chOff x="6139541" y="1010603"/>
            <a:chExt cx="2790469" cy="8182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4B529D-49D5-D6FF-7753-E644C9C662CF}"/>
                </a:ext>
              </a:extLst>
            </p:cNvPr>
            <p:cNvSpPr/>
            <p:nvPr/>
          </p:nvSpPr>
          <p:spPr>
            <a:xfrm>
              <a:off x="6139541" y="1010603"/>
              <a:ext cx="2790469" cy="81829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E0215C4-05AA-6A78-34F8-FA1796EBA524}"/>
                </a:ext>
              </a:extLst>
            </p:cNvPr>
            <p:cNvSpPr/>
            <p:nvPr/>
          </p:nvSpPr>
          <p:spPr>
            <a:xfrm>
              <a:off x="6236555" y="1340761"/>
              <a:ext cx="2584044" cy="432000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144000" rIns="144000" bIns="144000" anchor="ctr"/>
            <a:lstStyle/>
            <a:p>
              <a:r>
                <a:rPr lang="en-GB" sz="2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0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Listener</a:t>
              </a: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74A371-B4A5-74AD-1B38-A1D3F41833E4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1793383" y="662253"/>
            <a:ext cx="478693" cy="558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 descr="Region group.">
            <a:extLst>
              <a:ext uri="{FF2B5EF4-FFF2-40B4-BE49-F238E27FC236}">
                <a16:creationId xmlns:a16="http://schemas.microsoft.com/office/drawing/2014/main" id="{BFA255EA-3939-A02F-089F-4F1667406ACA}"/>
              </a:ext>
            </a:extLst>
          </p:cNvPr>
          <p:cNvGrpSpPr/>
          <p:nvPr/>
        </p:nvGrpSpPr>
        <p:grpSpPr>
          <a:xfrm>
            <a:off x="421866" y="2065102"/>
            <a:ext cx="1939600" cy="3743515"/>
            <a:chOff x="4215623" y="1512744"/>
            <a:chExt cx="1939600" cy="3743515"/>
          </a:xfrm>
        </p:grpSpPr>
        <p:sp>
          <p:nvSpPr>
            <p:cNvPr id="21" name="Rectangle 20" descr="Region group">
              <a:extLst>
                <a:ext uri="{FF2B5EF4-FFF2-40B4-BE49-F238E27FC236}">
                  <a16:creationId xmlns:a16="http://schemas.microsoft.com/office/drawing/2014/main" id="{89B1239D-BF2C-83DF-0BDC-72DA1591D693}"/>
                </a:ext>
              </a:extLst>
            </p:cNvPr>
            <p:cNvSpPr/>
            <p:nvPr/>
          </p:nvSpPr>
          <p:spPr>
            <a:xfrm>
              <a:off x="4215623" y="1512744"/>
              <a:ext cx="1939600" cy="3743515"/>
            </a:xfrm>
            <a:prstGeom prst="rect">
              <a:avLst/>
            </a:prstGeom>
            <a:noFill/>
            <a:ln w="15875" cap="flat" cmpd="sng" algn="ctr">
              <a:solidFill>
                <a:srgbClr val="00A4A6"/>
              </a:solidFill>
              <a:prstDash val="sysDash"/>
              <a:miter lim="800000"/>
            </a:ln>
            <a:effectLst/>
          </p:spPr>
          <p:txBody>
            <a:bodyPr lIns="502920" tIns="9144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Region #1</a:t>
              </a:r>
            </a:p>
          </p:txBody>
        </p:sp>
        <p:pic>
          <p:nvPicPr>
            <p:cNvPr id="22" name="Graphic 21" descr="Region group icon.">
              <a:extLst>
                <a:ext uri="{FF2B5EF4-FFF2-40B4-BE49-F238E27FC236}">
                  <a16:creationId xmlns:a16="http://schemas.microsoft.com/office/drawing/2014/main" id="{2D6EC4CF-B26F-DEC5-5CF7-B04863F0C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4215623" y="1512745"/>
              <a:ext cx="381000" cy="381000"/>
            </a:xfrm>
            <a:prstGeom prst="rect">
              <a:avLst/>
            </a:prstGeom>
          </p:spPr>
        </p:pic>
      </p:grpSp>
      <p:grpSp>
        <p:nvGrpSpPr>
          <p:cNvPr id="23" name="Group 22" descr="Region group.">
            <a:extLst>
              <a:ext uri="{FF2B5EF4-FFF2-40B4-BE49-F238E27FC236}">
                <a16:creationId xmlns:a16="http://schemas.microsoft.com/office/drawing/2014/main" id="{E2C18E1C-C51C-3156-1BF5-EAEB3455F2BD}"/>
              </a:ext>
            </a:extLst>
          </p:cNvPr>
          <p:cNvGrpSpPr/>
          <p:nvPr/>
        </p:nvGrpSpPr>
        <p:grpSpPr>
          <a:xfrm>
            <a:off x="2863053" y="2067791"/>
            <a:ext cx="7500146" cy="3740826"/>
            <a:chOff x="5015173" y="1512744"/>
            <a:chExt cx="7500146" cy="3740826"/>
          </a:xfrm>
        </p:grpSpPr>
        <p:sp>
          <p:nvSpPr>
            <p:cNvPr id="24" name="Rectangle 23" descr="Region group">
              <a:extLst>
                <a:ext uri="{FF2B5EF4-FFF2-40B4-BE49-F238E27FC236}">
                  <a16:creationId xmlns:a16="http://schemas.microsoft.com/office/drawing/2014/main" id="{7E5E3781-8BBB-7B4F-F573-6094ACD2735F}"/>
                </a:ext>
              </a:extLst>
            </p:cNvPr>
            <p:cNvSpPr/>
            <p:nvPr/>
          </p:nvSpPr>
          <p:spPr>
            <a:xfrm>
              <a:off x="5015173" y="1512744"/>
              <a:ext cx="7500146" cy="3740826"/>
            </a:xfrm>
            <a:prstGeom prst="rect">
              <a:avLst/>
            </a:prstGeom>
            <a:noFill/>
            <a:ln w="15875" cap="flat" cmpd="sng" algn="ctr">
              <a:solidFill>
                <a:srgbClr val="00A4A6"/>
              </a:solidFill>
              <a:prstDash val="sysDash"/>
              <a:miter lim="800000"/>
            </a:ln>
            <a:effectLst/>
          </p:spPr>
          <p:txBody>
            <a:bodyPr lIns="502920" tIns="9144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Region #N</a:t>
              </a:r>
            </a:p>
          </p:txBody>
        </p:sp>
        <p:pic>
          <p:nvPicPr>
            <p:cNvPr id="25" name="Graphic 24" descr="Region group icon.">
              <a:extLst>
                <a:ext uri="{FF2B5EF4-FFF2-40B4-BE49-F238E27FC236}">
                  <a16:creationId xmlns:a16="http://schemas.microsoft.com/office/drawing/2014/main" id="{DD93353E-C4A4-E2F8-3719-17B3E1000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5016812" y="1512745"/>
              <a:ext cx="381000" cy="381000"/>
            </a:xfrm>
            <a:prstGeom prst="rect">
              <a:avLst/>
            </a:prstGeom>
          </p:spPr>
        </p:pic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6F8225A7-E5F7-37AA-2B07-B635289681D9}"/>
              </a:ext>
            </a:extLst>
          </p:cNvPr>
          <p:cNvSpPr/>
          <p:nvPr/>
        </p:nvSpPr>
        <p:spPr>
          <a:xfrm>
            <a:off x="1672051" y="3857894"/>
            <a:ext cx="2821580" cy="106245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45720" rtlCol="0" anchor="ctr"/>
          <a:lstStyle/>
          <a:p>
            <a:endParaRPr lang="en-US" sz="1200" dirty="0">
              <a:solidFill>
                <a:srgbClr val="FFFFFF"/>
              </a:solidFill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BF0473F-2527-6D0A-21A4-DA1CA5C5BCEE}"/>
              </a:ext>
            </a:extLst>
          </p:cNvPr>
          <p:cNvCxnSpPr>
            <a:cxnSpLocks/>
            <a:stCxn id="51" idx="2"/>
            <a:endCxn id="214" idx="3"/>
          </p:cNvCxnSpPr>
          <p:nvPr/>
        </p:nvCxnSpPr>
        <p:spPr>
          <a:xfrm rot="5400000">
            <a:off x="1218589" y="1617645"/>
            <a:ext cx="1943307" cy="868079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38">
            <a:extLst>
              <a:ext uri="{FF2B5EF4-FFF2-40B4-BE49-F238E27FC236}">
                <a16:creationId xmlns:a16="http://schemas.microsoft.com/office/drawing/2014/main" id="{517FD30C-67F3-2BF7-6A7E-FA4DCC125BBA}"/>
              </a:ext>
            </a:extLst>
          </p:cNvPr>
          <p:cNvCxnSpPr>
            <a:cxnSpLocks/>
            <a:stCxn id="51" idx="2"/>
            <a:endCxn id="210" idx="1"/>
          </p:cNvCxnSpPr>
          <p:nvPr/>
        </p:nvCxnSpPr>
        <p:spPr>
          <a:xfrm rot="16200000" flipH="1">
            <a:off x="2023542" y="1680769"/>
            <a:ext cx="1942388" cy="740911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A6C9FF6B-6B6A-37BB-1341-F755BE0E8869}"/>
              </a:ext>
            </a:extLst>
          </p:cNvPr>
          <p:cNvSpPr txBox="1"/>
          <p:nvPr/>
        </p:nvSpPr>
        <p:spPr>
          <a:xfrm>
            <a:off x="2441538" y="710699"/>
            <a:ext cx="365485" cy="369332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dirty="0"/>
              <a:t>      </a:t>
            </a:r>
          </a:p>
        </p:txBody>
      </p:sp>
      <p:sp>
        <p:nvSpPr>
          <p:cNvPr id="58" name="TextBox 12">
            <a:extLst>
              <a:ext uri="{FF2B5EF4-FFF2-40B4-BE49-F238E27FC236}">
                <a16:creationId xmlns:a16="http://schemas.microsoft.com/office/drawing/2014/main" id="{FB94B6F9-19ED-D9BF-18E8-1F82EA3C8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6165" y="1331489"/>
            <a:ext cx="23233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wake up, you’ve got messages!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(sent in duplicate for resilience)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1A8C759-FACC-DB02-BBBE-B0E42E6BE4EE}"/>
              </a:ext>
            </a:extLst>
          </p:cNvPr>
          <p:cNvGrpSpPr/>
          <p:nvPr/>
        </p:nvGrpSpPr>
        <p:grpSpPr>
          <a:xfrm>
            <a:off x="5290244" y="2764858"/>
            <a:ext cx="2060095" cy="518854"/>
            <a:chOff x="4537167" y="5246272"/>
            <a:chExt cx="2060095" cy="518854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16F1A76-A7BC-8ADA-3AE9-A35F9148FA63}"/>
                </a:ext>
              </a:extLst>
            </p:cNvPr>
            <p:cNvGrpSpPr/>
            <p:nvPr/>
          </p:nvGrpSpPr>
          <p:grpSpPr>
            <a:xfrm>
              <a:off x="4537167" y="5246272"/>
              <a:ext cx="2060095" cy="518854"/>
              <a:chOff x="6440267" y="2476895"/>
              <a:chExt cx="2060095" cy="518854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A233DE2F-8350-DA26-2237-C5178E40CC81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73" name="Graphic 10" descr="AWS Lambda service icon.">
                <a:extLst>
                  <a:ext uri="{FF2B5EF4-FFF2-40B4-BE49-F238E27FC236}">
                    <a16:creationId xmlns:a16="http://schemas.microsoft.com/office/drawing/2014/main" id="{B44D620A-9F32-FDE1-2453-856212F81B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1D53660-4032-881E-BFFE-C45F6B4F30C0}"/>
                  </a:ext>
                </a:extLst>
              </p:cNvPr>
              <p:cNvSpPr txBox="1"/>
              <p:nvPr/>
            </p:nvSpPr>
            <p:spPr>
              <a:xfrm>
                <a:off x="7316200" y="2513383"/>
                <a:ext cx="11841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item handler</a:t>
                </a:r>
              </a:p>
            </p:txBody>
          </p:sp>
        </p:grpSp>
        <p:pic>
          <p:nvPicPr>
            <p:cNvPr id="71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9BE393EF-8DE2-4888-2E3B-0BECDD001B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9" name="TextBox 12">
            <a:extLst>
              <a:ext uri="{FF2B5EF4-FFF2-40B4-BE49-F238E27FC236}">
                <a16:creationId xmlns:a16="http://schemas.microsoft.com/office/drawing/2014/main" id="{470B58D7-AD7C-A19B-C280-9C4ABFD17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5575" y="2551816"/>
            <a:ext cx="7201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single items</a:t>
            </a:r>
          </a:p>
        </p:txBody>
      </p:sp>
      <p:cxnSp>
        <p:nvCxnSpPr>
          <p:cNvPr id="92" name="Straight Arrow Connector 12">
            <a:extLst>
              <a:ext uri="{FF2B5EF4-FFF2-40B4-BE49-F238E27FC236}">
                <a16:creationId xmlns:a16="http://schemas.microsoft.com/office/drawing/2014/main" id="{3193F68C-B1D7-3F3C-9917-32FC740A8D95}"/>
              </a:ext>
            </a:extLst>
          </p:cNvPr>
          <p:cNvCxnSpPr>
            <a:cxnSpLocks/>
            <a:stCxn id="210" idx="3"/>
            <a:endCxn id="72" idx="1"/>
          </p:cNvCxnSpPr>
          <p:nvPr/>
        </p:nvCxnSpPr>
        <p:spPr>
          <a:xfrm>
            <a:off x="4493631" y="3022419"/>
            <a:ext cx="796613" cy="1866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8028B57-A236-598F-DD96-5977AFF3977D}"/>
              </a:ext>
            </a:extLst>
          </p:cNvPr>
          <p:cNvGrpSpPr/>
          <p:nvPr/>
        </p:nvGrpSpPr>
        <p:grpSpPr>
          <a:xfrm>
            <a:off x="5289158" y="3339179"/>
            <a:ext cx="2052832" cy="518854"/>
            <a:chOff x="4537167" y="5246272"/>
            <a:chExt cx="2052832" cy="518854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A71AB669-3310-9D20-B252-E50015A29DBB}"/>
                </a:ext>
              </a:extLst>
            </p:cNvPr>
            <p:cNvGrpSpPr/>
            <p:nvPr/>
          </p:nvGrpSpPr>
          <p:grpSpPr>
            <a:xfrm>
              <a:off x="4537167" y="5246272"/>
              <a:ext cx="2052832" cy="518854"/>
              <a:chOff x="6440267" y="2476895"/>
              <a:chExt cx="2052832" cy="518854"/>
            </a:xfrm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CCA8DE58-E216-FB9E-4FEA-9D90AC875D02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01" name="Graphic 10" descr="AWS Lambda service icon.">
                <a:extLst>
                  <a:ext uri="{FF2B5EF4-FFF2-40B4-BE49-F238E27FC236}">
                    <a16:creationId xmlns:a16="http://schemas.microsoft.com/office/drawing/2014/main" id="{3AABEBA8-6BC4-6EC4-FCB2-C12A00DF73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1092A5BE-4D5D-F63E-7328-D6461FE75645}"/>
                  </a:ext>
                </a:extLst>
              </p:cNvPr>
              <p:cNvSpPr txBox="1"/>
              <p:nvPr/>
            </p:nvSpPr>
            <p:spPr>
              <a:xfrm>
                <a:off x="7316200" y="2513383"/>
                <a:ext cx="117689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table inserters </a:t>
                </a:r>
              </a:p>
            </p:txBody>
          </p:sp>
        </p:grpSp>
        <p:pic>
          <p:nvPicPr>
            <p:cNvPr id="99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3206846E-1251-C9D2-410E-A9511E1DDD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0571818E-C83B-ACA7-DF5A-F29385CACB60}"/>
              </a:ext>
            </a:extLst>
          </p:cNvPr>
          <p:cNvSpPr txBox="1"/>
          <p:nvPr/>
        </p:nvSpPr>
        <p:spPr>
          <a:xfrm>
            <a:off x="1695504" y="3913528"/>
            <a:ext cx="21014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DynamoDB</a:t>
            </a:r>
            <a:b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global tables</a:t>
            </a:r>
            <a:endParaRPr lang="en-US" sz="12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pic>
        <p:nvPicPr>
          <p:cNvPr id="112" name="Graphic 23" descr="Amazon DynamoDB service icon.">
            <a:extLst>
              <a:ext uri="{FF2B5EF4-FFF2-40B4-BE49-F238E27FC236}">
                <a16:creationId xmlns:a16="http://schemas.microsoft.com/office/drawing/2014/main" id="{D00CDEB2-AAEE-4C44-F0E8-10B3E9862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1774140" y="4458176"/>
            <a:ext cx="360000" cy="3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3" name="Graphic 23" descr="Amazon DynamoDB service icon.">
            <a:extLst>
              <a:ext uri="{FF2B5EF4-FFF2-40B4-BE49-F238E27FC236}">
                <a16:creationId xmlns:a16="http://schemas.microsoft.com/office/drawing/2014/main" id="{084D97BA-5158-E093-8EB8-DDA072F1E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3118595" y="4458176"/>
            <a:ext cx="360000" cy="36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96983E58-98C6-6899-8E15-DAFE8423627B}"/>
              </a:ext>
            </a:extLst>
          </p:cNvPr>
          <p:cNvCxnSpPr>
            <a:cxnSpLocks/>
            <a:stCxn id="112" idx="3"/>
            <a:endCxn id="113" idx="1"/>
          </p:cNvCxnSpPr>
          <p:nvPr/>
        </p:nvCxnSpPr>
        <p:spPr>
          <a:xfrm>
            <a:off x="2134140" y="4638551"/>
            <a:ext cx="984455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6049DBDC-3B29-AC88-8E76-8060D790BDB9}"/>
              </a:ext>
            </a:extLst>
          </p:cNvPr>
          <p:cNvSpPr txBox="1"/>
          <p:nvPr/>
        </p:nvSpPr>
        <p:spPr>
          <a:xfrm>
            <a:off x="3469886" y="3891277"/>
            <a:ext cx="9802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parts</a:t>
            </a:r>
            <a:br>
              <a:rPr 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domains</a:t>
            </a:r>
            <a:br>
              <a:rPr 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codes</a:t>
            </a:r>
            <a:br>
              <a:rPr 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trusts</a:t>
            </a:r>
            <a:br>
              <a:rPr 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integrations</a:t>
            </a:r>
            <a:endParaRPr lang="en-US" sz="12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6D16B96-D4B9-4B84-0B46-02E7342D0E2F}"/>
              </a:ext>
            </a:extLst>
          </p:cNvPr>
          <p:cNvSpPr txBox="1"/>
          <p:nvPr/>
        </p:nvSpPr>
        <p:spPr>
          <a:xfrm>
            <a:off x="4189034" y="3908692"/>
            <a:ext cx="182742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</a:t>
            </a:r>
          </a:p>
        </p:txBody>
      </p:sp>
      <p:cxnSp>
        <p:nvCxnSpPr>
          <p:cNvPr id="134" name="Straight Arrow Connector 12">
            <a:extLst>
              <a:ext uri="{FF2B5EF4-FFF2-40B4-BE49-F238E27FC236}">
                <a16:creationId xmlns:a16="http://schemas.microsoft.com/office/drawing/2014/main" id="{CEC039D9-A5D6-2629-6EC3-D56545DBDC03}"/>
              </a:ext>
            </a:extLst>
          </p:cNvPr>
          <p:cNvCxnSpPr>
            <a:cxnSpLocks/>
            <a:stCxn id="100" idx="1"/>
            <a:endCxn id="31" idx="3"/>
          </p:cNvCxnSpPr>
          <p:nvPr/>
        </p:nvCxnSpPr>
        <p:spPr>
          <a:xfrm rot="10800000" flipV="1">
            <a:off x="4493632" y="3598605"/>
            <a:ext cx="795527" cy="790515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9D10F038-3E54-4A9C-C532-04B76CE58069}"/>
              </a:ext>
            </a:extLst>
          </p:cNvPr>
          <p:cNvSpPr/>
          <p:nvPr/>
        </p:nvSpPr>
        <p:spPr>
          <a:xfrm>
            <a:off x="10074963" y="648030"/>
            <a:ext cx="1498732" cy="43200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144000" anchor="ctr"/>
          <a:lstStyle/>
          <a:p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9FB7561-5DE3-20B0-2250-E27D54D47749}"/>
              </a:ext>
            </a:extLst>
          </p:cNvPr>
          <p:cNvSpPr/>
          <p:nvPr/>
        </p:nvSpPr>
        <p:spPr>
          <a:xfrm>
            <a:off x="9881996" y="4192852"/>
            <a:ext cx="1356709" cy="393887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cxnSp>
        <p:nvCxnSpPr>
          <p:cNvPr id="142" name="Straight Arrow Connector 38">
            <a:extLst>
              <a:ext uri="{FF2B5EF4-FFF2-40B4-BE49-F238E27FC236}">
                <a16:creationId xmlns:a16="http://schemas.microsoft.com/office/drawing/2014/main" id="{CD9D3401-F195-E62C-0FFD-6D67E634CBE7}"/>
              </a:ext>
            </a:extLst>
          </p:cNvPr>
          <p:cNvCxnSpPr>
            <a:cxnSpLocks/>
            <a:stCxn id="140" idx="2"/>
          </p:cNvCxnSpPr>
          <p:nvPr/>
        </p:nvCxnSpPr>
        <p:spPr>
          <a:xfrm>
            <a:off x="10824329" y="1080030"/>
            <a:ext cx="425" cy="3100084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C594BB76-F53C-3210-DF9E-895B73034222}"/>
              </a:ext>
            </a:extLst>
          </p:cNvPr>
          <p:cNvGrpSpPr/>
          <p:nvPr/>
        </p:nvGrpSpPr>
        <p:grpSpPr>
          <a:xfrm>
            <a:off x="7394528" y="4130581"/>
            <a:ext cx="2134129" cy="518854"/>
            <a:chOff x="4537167" y="5246272"/>
            <a:chExt cx="2134129" cy="518854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EEE97C19-19EF-5EC3-7717-5A897D7E6563}"/>
                </a:ext>
              </a:extLst>
            </p:cNvPr>
            <p:cNvGrpSpPr/>
            <p:nvPr/>
          </p:nvGrpSpPr>
          <p:grpSpPr>
            <a:xfrm>
              <a:off x="4537167" y="5246272"/>
              <a:ext cx="2134129" cy="518854"/>
              <a:chOff x="6440267" y="2476895"/>
              <a:chExt cx="2134129" cy="518854"/>
            </a:xfrm>
          </p:grpSpPr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68D82DCA-CAB7-88BA-43D5-A5B640378EEB}"/>
                  </a:ext>
                </a:extLst>
              </p:cNvPr>
              <p:cNvSpPr/>
              <p:nvPr/>
            </p:nvSpPr>
            <p:spPr>
              <a:xfrm>
                <a:off x="6440267" y="2476895"/>
                <a:ext cx="2052832" cy="518854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45720" rIns="45720" bIns="72000" rtlCol="0" anchor="b"/>
              <a:lstStyle/>
              <a:p>
                <a:pPr algn="ctr"/>
                <a:endParaRPr lang="en-US" sz="1600" i="1" dirty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  <p:pic>
            <p:nvPicPr>
              <p:cNvPr id="158" name="Graphic 10" descr="AWS Lambda service icon.">
                <a:extLst>
                  <a:ext uri="{FF2B5EF4-FFF2-40B4-BE49-F238E27FC236}">
                    <a16:creationId xmlns:a16="http://schemas.microsoft.com/office/drawing/2014/main" id="{5419093D-16D6-269C-5F56-D77C8F4C47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rcRect/>
              <a:stretch/>
            </p:blipFill>
            <p:spPr bwMode="auto">
              <a:xfrm>
                <a:off x="6956201" y="2556322"/>
                <a:ext cx="360000" cy="36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0058C80B-3158-4A79-8116-A86A740AB7F9}"/>
                  </a:ext>
                </a:extLst>
              </p:cNvPr>
              <p:cNvSpPr txBox="1"/>
              <p:nvPr/>
            </p:nvSpPr>
            <p:spPr>
              <a:xfrm>
                <a:off x="7316200" y="2513383"/>
                <a:ext cx="125819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altLang="en-US" sz="1200" dirty="0">
                    <a:solidFill>
                      <a:srgbClr val="FFFFFF"/>
                    </a:solidFill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SQS, Lambda</a:t>
                </a:r>
                <a:b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</a:br>
                <a:r>
                  <a:rPr lang="en-US" altLang="en-US" sz="12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  <a:ea typeface="Amazon Ember" panose="020B0603020204020204" pitchFamily="34" charset="0"/>
                    <a:cs typeface="Arial" panose="020B0604020202020204" pitchFamily="34" charset="0"/>
                  </a:rPr>
                  <a:t>drift handler</a:t>
                </a:r>
              </a:p>
            </p:txBody>
          </p:sp>
        </p:grpSp>
        <p:pic>
          <p:nvPicPr>
            <p:cNvPr id="156" name="Graphic 26" descr="Amazon Simple Queue Service (Amazon SQS) service icon.">
              <a:extLst>
                <a:ext uri="{FF2B5EF4-FFF2-40B4-BE49-F238E27FC236}">
                  <a16:creationId xmlns:a16="http://schemas.microsoft.com/office/drawing/2014/main" id="{9B933475-0E18-DCB0-654C-EC1CB90DEA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 bwMode="auto">
            <a:xfrm>
              <a:off x="4618464" y="5325699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160" name="Straight Arrow Connector 12">
            <a:extLst>
              <a:ext uri="{FF2B5EF4-FFF2-40B4-BE49-F238E27FC236}">
                <a16:creationId xmlns:a16="http://schemas.microsoft.com/office/drawing/2014/main" id="{A8C2C640-7C09-FE11-2D38-F51E5BF28116}"/>
              </a:ext>
            </a:extLst>
          </p:cNvPr>
          <p:cNvCxnSpPr>
            <a:cxnSpLocks/>
            <a:stCxn id="141" idx="1"/>
            <a:endCxn id="157" idx="3"/>
          </p:cNvCxnSpPr>
          <p:nvPr/>
        </p:nvCxnSpPr>
        <p:spPr>
          <a:xfrm flipH="1">
            <a:off x="9447360" y="4389796"/>
            <a:ext cx="434636" cy="212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2">
            <a:extLst>
              <a:ext uri="{FF2B5EF4-FFF2-40B4-BE49-F238E27FC236}">
                <a16:creationId xmlns:a16="http://schemas.microsoft.com/office/drawing/2014/main" id="{D515FCF7-2C3E-A63A-5662-276C7456FC79}"/>
              </a:ext>
            </a:extLst>
          </p:cNvPr>
          <p:cNvCxnSpPr>
            <a:cxnSpLocks/>
            <a:stCxn id="157" idx="1"/>
            <a:endCxn id="31" idx="3"/>
          </p:cNvCxnSpPr>
          <p:nvPr/>
        </p:nvCxnSpPr>
        <p:spPr>
          <a:xfrm flipH="1" flipV="1">
            <a:off x="4493631" y="4389121"/>
            <a:ext cx="2900897" cy="88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849FB4F-6B7A-2491-0D23-BD39BBB91AFC}"/>
              </a:ext>
            </a:extLst>
          </p:cNvPr>
          <p:cNvSpPr txBox="1"/>
          <p:nvPr/>
        </p:nvSpPr>
        <p:spPr>
          <a:xfrm>
            <a:off x="681038" y="3075947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90" name="TextBox 12">
            <a:extLst>
              <a:ext uri="{FF2B5EF4-FFF2-40B4-BE49-F238E27FC236}">
                <a16:creationId xmlns:a16="http://schemas.microsoft.com/office/drawing/2014/main" id="{3FAC91F8-76EC-A6D6-1571-A96FAB5C7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385" y="2918558"/>
            <a:ext cx="118989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inform drifts or errors in manifest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EAD0D8FE-44BE-AA0B-1971-90494E73394E}"/>
              </a:ext>
            </a:extLst>
          </p:cNvPr>
          <p:cNvSpPr txBox="1"/>
          <p:nvPr/>
        </p:nvSpPr>
        <p:spPr>
          <a:xfrm>
            <a:off x="7956618" y="4130580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1F8D1614-3AAA-751F-B06D-C648BB160060}"/>
              </a:ext>
            </a:extLst>
          </p:cNvPr>
          <p:cNvSpPr txBox="1"/>
          <p:nvPr/>
        </p:nvSpPr>
        <p:spPr>
          <a:xfrm>
            <a:off x="8864558" y="4135512"/>
            <a:ext cx="243656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/>
              <a:t>    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C2DB73F8-87A5-FE5F-A9A4-E4978B1E8840}"/>
              </a:ext>
            </a:extLst>
          </p:cNvPr>
          <p:cNvSpPr/>
          <p:nvPr/>
        </p:nvSpPr>
        <p:spPr>
          <a:xfrm>
            <a:off x="8388121" y="2412391"/>
            <a:ext cx="1716004" cy="392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📮 </a:t>
            </a:r>
            <a:r>
              <a:rPr lang="en-US" sz="20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async post</a:t>
            </a:r>
            <a:endParaRPr lang="en-US" sz="16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96" name="Straight Arrow Connector 12">
            <a:extLst>
              <a:ext uri="{FF2B5EF4-FFF2-40B4-BE49-F238E27FC236}">
                <a16:creationId xmlns:a16="http://schemas.microsoft.com/office/drawing/2014/main" id="{F4CEE6F3-491A-1F98-CE69-0A25CB340ECA}"/>
              </a:ext>
            </a:extLst>
          </p:cNvPr>
          <p:cNvCxnSpPr>
            <a:cxnSpLocks/>
            <a:stCxn id="195" idx="0"/>
          </p:cNvCxnSpPr>
          <p:nvPr/>
        </p:nvCxnSpPr>
        <p:spPr>
          <a:xfrm flipV="1">
            <a:off x="9246123" y="895365"/>
            <a:ext cx="0" cy="1517026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12">
            <a:extLst>
              <a:ext uri="{FF2B5EF4-FFF2-40B4-BE49-F238E27FC236}">
                <a16:creationId xmlns:a16="http://schemas.microsoft.com/office/drawing/2014/main" id="{6FC4D71E-D58F-55E1-6350-9A6BEDCB2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8798" y="1337519"/>
            <a:ext cx="10197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verify drift in projection URL (slow)</a:t>
            </a:r>
          </a:p>
        </p:txBody>
      </p:sp>
      <p:sp>
        <p:nvSpPr>
          <p:cNvPr id="208" name="TextBox 12">
            <a:extLst>
              <a:ext uri="{FF2B5EF4-FFF2-40B4-BE49-F238E27FC236}">
                <a16:creationId xmlns:a16="http://schemas.microsoft.com/office/drawing/2014/main" id="{E2BDD3AA-3238-B61E-3A76-63977B417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2890" y="3472378"/>
            <a:ext cx="10512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download manifest file from URL</a:t>
            </a:r>
          </a:p>
        </p:txBody>
      </p:sp>
      <p:sp>
        <p:nvSpPr>
          <p:cNvPr id="209" name="TextBox 12">
            <a:extLst>
              <a:ext uri="{FF2B5EF4-FFF2-40B4-BE49-F238E27FC236}">
                <a16:creationId xmlns:a16="http://schemas.microsoft.com/office/drawing/2014/main" id="{B7607EE6-58FD-560C-0352-54733AF4E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1670" y="4413758"/>
            <a:ext cx="137866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2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  <a:latin typeface="+mn-lt"/>
              </a:rPr>
              <a:t>get parts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5AA8D80C-F1FA-EF41-FBA7-5E127C59E5ED}"/>
              </a:ext>
            </a:extLst>
          </p:cNvPr>
          <p:cNvSpPr/>
          <p:nvPr/>
        </p:nvSpPr>
        <p:spPr>
          <a:xfrm>
            <a:off x="3365192" y="2626061"/>
            <a:ext cx="1128439" cy="792715"/>
          </a:xfrm>
          <a:prstGeom prst="rect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⌛ 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buffer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puller</a:t>
            </a:r>
            <a:endParaRPr lang="en-US" sz="1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C8A3366-2B4A-534A-1E82-A9FB0A9FFB25}"/>
              </a:ext>
            </a:extLst>
          </p:cNvPr>
          <p:cNvSpPr/>
          <p:nvPr/>
        </p:nvSpPr>
        <p:spPr>
          <a:xfrm>
            <a:off x="595962" y="2626062"/>
            <a:ext cx="1160240" cy="794552"/>
          </a:xfrm>
          <a:prstGeom prst="rect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44000" rIns="0" bIns="144000" anchor="ctr"/>
          <a:lstStyle/>
          <a:p>
            <a:pPr algn="ctr"/>
            <a:r>
              <a:rPr lang="en-GB" sz="2800" baseline="-9000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⌛ 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buffer puller</a:t>
            </a:r>
            <a:endParaRPr lang="en-US" sz="1600" dirty="0">
              <a:solidFill>
                <a:schemeClr val="tx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CEDBD88D-894D-E311-85CD-5990722C6967}"/>
              </a:ext>
            </a:extLst>
          </p:cNvPr>
          <p:cNvSpPr/>
          <p:nvPr/>
        </p:nvSpPr>
        <p:spPr>
          <a:xfrm>
            <a:off x="2952205" y="5367626"/>
            <a:ext cx="1679450" cy="34789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1A7CEB1-503A-18CA-C2E5-90A47F03ECA1}"/>
              </a:ext>
            </a:extLst>
          </p:cNvPr>
          <p:cNvGrpSpPr/>
          <p:nvPr/>
        </p:nvGrpSpPr>
        <p:grpSpPr>
          <a:xfrm>
            <a:off x="4711739" y="5308440"/>
            <a:ext cx="2292601" cy="461665"/>
            <a:chOff x="6973619" y="2504674"/>
            <a:chExt cx="2292601" cy="461665"/>
          </a:xfrm>
        </p:grpSpPr>
        <p:pic>
          <p:nvPicPr>
            <p:cNvPr id="253" name="Graphic 10" descr="AWS Lambda service icon.">
              <a:extLst>
                <a:ext uri="{FF2B5EF4-FFF2-40B4-BE49-F238E27FC236}">
                  <a16:creationId xmlns:a16="http://schemas.microsoft.com/office/drawing/2014/main" id="{642481AE-7D56-4D55-283C-B19079054B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 bwMode="auto">
            <a:xfrm>
              <a:off x="6973619" y="2556322"/>
              <a:ext cx="360000" cy="36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4" name="TextBox 253">
              <a:extLst>
                <a:ext uri="{FF2B5EF4-FFF2-40B4-BE49-F238E27FC236}">
                  <a16:creationId xmlns:a16="http://schemas.microsoft.com/office/drawing/2014/main" id="{10CF1F87-3B1C-6FFD-F55E-A3EF703ACE87}"/>
                </a:ext>
              </a:extLst>
            </p:cNvPr>
            <p:cNvSpPr txBox="1"/>
            <p:nvPr/>
          </p:nvSpPr>
          <p:spPr>
            <a:xfrm>
              <a:off x="7324908" y="2504674"/>
              <a:ext cx="194131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1200" dirty="0">
                  <a:solidFill>
                    <a:srgbClr val="FFFFFF"/>
                  </a:solidFill>
                  <a:latin typeface="Arial" panose="020B0604020202020204" pitchFamily="34" charset="0"/>
                  <a:ea typeface="Amazon Ember" panose="020B0603020204020204" pitchFamily="34" charset="0"/>
                  <a:cs typeface="Arial" panose="020B0604020202020204" pitchFamily="34" charset="0"/>
                </a:rPr>
                <a:t>Lambda</a:t>
              </a:r>
              <a:b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</a:br>
              <a:r>
                <a:rPr lang="en-US" altLang="en-US" sz="12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  <a:ea typeface="Amazon Ember" panose="020B0603020204020204" pitchFamily="34" charset="0"/>
                  <a:cs typeface="Arial" panose="020B0604020202020204" pitchFamily="34" charset="0"/>
                </a:rPr>
                <a:t>synchronous handlers</a:t>
              </a:r>
            </a:p>
          </p:txBody>
        </p:sp>
      </p:grpSp>
      <p:cxnSp>
        <p:nvCxnSpPr>
          <p:cNvPr id="255" name="Straight Arrow Connector 12">
            <a:extLst>
              <a:ext uri="{FF2B5EF4-FFF2-40B4-BE49-F238E27FC236}">
                <a16:creationId xmlns:a16="http://schemas.microsoft.com/office/drawing/2014/main" id="{A77E9404-45BD-78A6-4891-6D4E818DF994}"/>
              </a:ext>
            </a:extLst>
          </p:cNvPr>
          <p:cNvCxnSpPr>
            <a:cxnSpLocks/>
            <a:stCxn id="253" idx="0"/>
            <a:endCxn id="31" idx="3"/>
          </p:cNvCxnSpPr>
          <p:nvPr/>
        </p:nvCxnSpPr>
        <p:spPr>
          <a:xfrm rot="16200000" flipV="1">
            <a:off x="4207202" y="4675551"/>
            <a:ext cx="970967" cy="398108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Rectangle 258">
            <a:extLst>
              <a:ext uri="{FF2B5EF4-FFF2-40B4-BE49-F238E27FC236}">
                <a16:creationId xmlns:a16="http://schemas.microsoft.com/office/drawing/2014/main" id="{53AF08DD-7BA0-9354-AB4B-DA90C7D2F4F2}"/>
              </a:ext>
            </a:extLst>
          </p:cNvPr>
          <p:cNvSpPr/>
          <p:nvPr/>
        </p:nvSpPr>
        <p:spPr>
          <a:xfrm>
            <a:off x="507252" y="5367626"/>
            <a:ext cx="1756977" cy="34789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pPr algn="ctr"/>
            <a:r>
              <a:rPr lang="en-GB" sz="2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📨</a:t>
            </a:r>
            <a:r>
              <a:rPr lang="en-GB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Inbox</a:t>
            </a:r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A4EB5283-852E-EEF8-2111-AB8673BDD8E7}"/>
              </a:ext>
            </a:extLst>
          </p:cNvPr>
          <p:cNvSpPr/>
          <p:nvPr/>
        </p:nvSpPr>
        <p:spPr>
          <a:xfrm>
            <a:off x="1866460" y="6113760"/>
            <a:ext cx="1498732" cy="432000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144000" anchor="ctr"/>
          <a:lstStyle/>
          <a:p>
            <a:r>
              <a:rPr lang="en-GB" sz="20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cxnSp>
        <p:nvCxnSpPr>
          <p:cNvPr id="267" name="Straight Arrow Connector 12">
            <a:extLst>
              <a:ext uri="{FF2B5EF4-FFF2-40B4-BE49-F238E27FC236}">
                <a16:creationId xmlns:a16="http://schemas.microsoft.com/office/drawing/2014/main" id="{792F5A27-7562-0E64-C8C7-E3AB92F58987}"/>
              </a:ext>
            </a:extLst>
          </p:cNvPr>
          <p:cNvCxnSpPr>
            <a:cxnSpLocks/>
            <a:stCxn id="265" idx="0"/>
            <a:endCxn id="244" idx="1"/>
          </p:cNvCxnSpPr>
          <p:nvPr/>
        </p:nvCxnSpPr>
        <p:spPr>
          <a:xfrm rot="5400000" flipH="1" flipV="1">
            <a:off x="2497921" y="5659477"/>
            <a:ext cx="572189" cy="336379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Straight Arrow Connector 12">
            <a:extLst>
              <a:ext uri="{FF2B5EF4-FFF2-40B4-BE49-F238E27FC236}">
                <a16:creationId xmlns:a16="http://schemas.microsoft.com/office/drawing/2014/main" id="{8AA77459-51A0-4267-DF82-33B19CC41F86}"/>
              </a:ext>
            </a:extLst>
          </p:cNvPr>
          <p:cNvCxnSpPr>
            <a:cxnSpLocks/>
            <a:stCxn id="265" idx="0"/>
            <a:endCxn id="259" idx="3"/>
          </p:cNvCxnSpPr>
          <p:nvPr/>
        </p:nvCxnSpPr>
        <p:spPr>
          <a:xfrm rot="16200000" flipV="1">
            <a:off x="2153934" y="5651867"/>
            <a:ext cx="572189" cy="35159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4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47361</TotalTime>
  <Words>545</Words>
  <Application>Microsoft Macintosh PowerPoint</Application>
  <PresentationFormat>Widescreen</PresentationFormat>
  <Paragraphs>190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Amazon Ember</vt:lpstr>
      <vt:lpstr>Amazon Ember Display</vt:lpstr>
      <vt:lpstr>Segoe UI</vt:lpstr>
      <vt:lpstr>Wingdings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155</cp:revision>
  <dcterms:created xsi:type="dcterms:W3CDTF">2022-10-07T16:14:37Z</dcterms:created>
  <dcterms:modified xsi:type="dcterms:W3CDTF">2025-04-22T20:24:11Z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2025-04-22T20:24:11Z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0273951c-fd53-413d-88cd-89e7cfbec521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