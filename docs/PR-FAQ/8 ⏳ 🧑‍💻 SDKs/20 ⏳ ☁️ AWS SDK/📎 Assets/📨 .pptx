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847" r:id="rId2"/>
    <p:sldId id="1849" r:id="rId3"/>
    <p:sldId id="1848" r:id="rId4"/>
  </p:sldIdLst>
  <p:sldSz cx="12192000" cy="6858000"/>
  <p:notesSz cx="6858000" cy="9144000"/>
  <p:embeddedFontLst>
    <p:embeddedFont>
      <p:font typeface="Amazon Ember" panose="020B0603020204020204" pitchFamily="34" charset="0"/>
      <p:regular r:id="rId7"/>
      <p:bold r:id="rId8"/>
      <p:italic r:id="rId9"/>
      <p:boldItalic r:id="rId10"/>
    </p:embeddedFont>
    <p:embeddedFont>
      <p:font typeface="Amazon Ember Display" panose="020B060302020402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47790E-766C-144A-829B-7966F370A959}">
          <p14:sldIdLst>
            <p14:sldId id="1847"/>
            <p14:sldId id="1849"/>
            <p14:sldId id="184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96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92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commentAuthors" Target="commentAuthors.xml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96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4F38-FD17-F4C7-B33C-DF24E7C4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15059-166E-80F6-205D-BD1E3FDB8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45B78-37A0-237C-A524-5292ECE2E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93959-F4CC-6266-EED4-3930F0C74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28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665D2-CF9F-8AC7-B562-C213F83E4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26B4B-6540-CAAB-40D9-01DCD29C2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4A683-8650-E1E4-1ACD-23BB2DAAB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164EC-4D5D-609C-FB72-372BFEC11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81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2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18.svg"/><Relationship Id="rId4" Type="http://schemas.openxmlformats.org/officeDocument/2006/relationships/image" Target="../media/image2.sv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2.svg"/><Relationship Id="rId26" Type="http://schemas.openxmlformats.org/officeDocument/2006/relationships/image" Target="../media/image17.png"/><Relationship Id="rId3" Type="http://schemas.openxmlformats.org/officeDocument/2006/relationships/image" Target="../media/image19.png"/><Relationship Id="rId21" Type="http://schemas.openxmlformats.org/officeDocument/2006/relationships/image" Target="../media/image29.png"/><Relationship Id="rId7" Type="http://schemas.openxmlformats.org/officeDocument/2006/relationships/image" Target="../media/image5.png"/><Relationship Id="rId12" Type="http://schemas.openxmlformats.org/officeDocument/2006/relationships/image" Target="../media/image24.svg"/><Relationship Id="rId17" Type="http://schemas.openxmlformats.org/officeDocument/2006/relationships/image" Target="../media/image1.png"/><Relationship Id="rId25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6.svg"/><Relationship Id="rId20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3.png"/><Relationship Id="rId24" Type="http://schemas.openxmlformats.org/officeDocument/2006/relationships/image" Target="../media/image3.png"/><Relationship Id="rId5" Type="http://schemas.openxmlformats.org/officeDocument/2006/relationships/image" Target="../media/image21.png"/><Relationship Id="rId15" Type="http://schemas.openxmlformats.org/officeDocument/2006/relationships/image" Target="../media/image25.png"/><Relationship Id="rId23" Type="http://schemas.openxmlformats.org/officeDocument/2006/relationships/image" Target="../media/image31.png"/><Relationship Id="rId10" Type="http://schemas.openxmlformats.org/officeDocument/2006/relationships/image" Target="../media/image10.svg"/><Relationship Id="rId19" Type="http://schemas.openxmlformats.org/officeDocument/2006/relationships/image" Target="../media/image27.png"/><Relationship Id="rId4" Type="http://schemas.openxmlformats.org/officeDocument/2006/relationships/image" Target="../media/image20.svg"/><Relationship Id="rId9" Type="http://schemas.openxmlformats.org/officeDocument/2006/relationships/image" Target="../media/image9.png"/><Relationship Id="rId14" Type="http://schemas.openxmlformats.org/officeDocument/2006/relationships/image" Target="../media/image12.svg"/><Relationship Id="rId22" Type="http://schemas.openxmlformats.org/officeDocument/2006/relationships/image" Target="../media/image30.svg"/><Relationship Id="rId27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Rectangle 1293">
            <a:extLst>
              <a:ext uri="{FF2B5EF4-FFF2-40B4-BE49-F238E27FC236}">
                <a16:creationId xmlns:a16="http://schemas.microsoft.com/office/drawing/2014/main" id="{7E83A2E8-1391-0BA7-37FA-BF467399F208}"/>
              </a:ext>
            </a:extLst>
          </p:cNvPr>
          <p:cNvSpPr/>
          <p:nvPr/>
        </p:nvSpPr>
        <p:spPr>
          <a:xfrm>
            <a:off x="5657680" y="2198024"/>
            <a:ext cx="1653762" cy="47010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b"/>
          <a:lstStyle/>
          <a:p>
            <a:pPr algn="ctr"/>
            <a:endParaRPr lang="en-US" sz="1600" i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3DD8D77-827B-A127-2B2F-88340F42DD60}"/>
              </a:ext>
            </a:extLst>
          </p:cNvPr>
          <p:cNvSpPr/>
          <p:nvPr/>
        </p:nvSpPr>
        <p:spPr>
          <a:xfrm>
            <a:off x="202101" y="194357"/>
            <a:ext cx="9661565" cy="4682444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49" name="Graphic 1048">
            <a:extLst>
              <a:ext uri="{FF2B5EF4-FFF2-40B4-BE49-F238E27FC236}">
                <a16:creationId xmlns:a16="http://schemas.microsoft.com/office/drawing/2014/main" id="{D24360C9-B619-8E76-8CC7-3DCABD093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1907" y="203762"/>
            <a:ext cx="381000" cy="381000"/>
          </a:xfrm>
          <a:prstGeom prst="rect">
            <a:avLst/>
          </a:prstGeom>
        </p:spPr>
      </p:pic>
      <p:sp>
        <p:nvSpPr>
          <p:cNvPr id="1080" name="Rectangle 1079">
            <a:extLst>
              <a:ext uri="{FF2B5EF4-FFF2-40B4-BE49-F238E27FC236}">
                <a16:creationId xmlns:a16="http://schemas.microsoft.com/office/drawing/2014/main" id="{AE322E64-3ECB-2A3B-A99F-0252193CA48A}"/>
              </a:ext>
            </a:extLst>
          </p:cNvPr>
          <p:cNvSpPr/>
          <p:nvPr/>
        </p:nvSpPr>
        <p:spPr>
          <a:xfrm>
            <a:off x="1778000" y="5526045"/>
            <a:ext cx="7924799" cy="43306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US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📤 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outbox</a:t>
            </a:r>
          </a:p>
        </p:txBody>
      </p: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F01D92AD-B6DC-66C2-9AC3-96212041D2F8}"/>
              </a:ext>
            </a:extLst>
          </p:cNvPr>
          <p:cNvGrpSpPr/>
          <p:nvPr/>
        </p:nvGrpSpPr>
        <p:grpSpPr>
          <a:xfrm>
            <a:off x="355855" y="3363926"/>
            <a:ext cx="803455" cy="1233176"/>
            <a:chOff x="10922499" y="1466444"/>
            <a:chExt cx="803455" cy="1233176"/>
          </a:xfrm>
        </p:grpSpPr>
        <p:pic>
          <p:nvPicPr>
            <p:cNvPr id="1098" name="Graphic 7" descr="Compute standard category icon.">
              <a:extLst>
                <a:ext uri="{FF2B5EF4-FFF2-40B4-BE49-F238E27FC236}">
                  <a16:creationId xmlns:a16="http://schemas.microsoft.com/office/drawing/2014/main" id="{68B0D1C5-1938-BA89-B66E-A2EF6B5DD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10943227" y="1466444"/>
              <a:ext cx="761999" cy="761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9" name="TextBox 20">
              <a:extLst>
                <a:ext uri="{FF2B5EF4-FFF2-40B4-BE49-F238E27FC236}">
                  <a16:creationId xmlns:a16="http://schemas.microsoft.com/office/drawing/2014/main" id="{BB2D2CE5-3F86-6695-EB0A-5125BFD89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2499" y="2237955"/>
              <a:ext cx="8034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Compute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rPr>
                <a:t>sender</a:t>
              </a:r>
              <a:endPara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89F33FDB-AFEE-BF15-288E-1B06D50AD99A}"/>
              </a:ext>
            </a:extLst>
          </p:cNvPr>
          <p:cNvSpPr/>
          <p:nvPr/>
        </p:nvSpPr>
        <p:spPr>
          <a:xfrm>
            <a:off x="1778000" y="4982138"/>
            <a:ext cx="7924799" cy="4330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🚀 </a:t>
            </a:r>
            <a:r>
              <a:rPr lang="en-US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synchronous call</a:t>
            </a:r>
            <a:endParaRPr lang="en-US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1139" name="Group 1138">
            <a:extLst>
              <a:ext uri="{FF2B5EF4-FFF2-40B4-BE49-F238E27FC236}">
                <a16:creationId xmlns:a16="http://schemas.microsoft.com/office/drawing/2014/main" id="{F81E4283-E039-754D-909E-F9BBEDC84C28}"/>
              </a:ext>
            </a:extLst>
          </p:cNvPr>
          <p:cNvGrpSpPr/>
          <p:nvPr/>
        </p:nvGrpSpPr>
        <p:grpSpPr>
          <a:xfrm>
            <a:off x="3788455" y="3363926"/>
            <a:ext cx="1565706" cy="1222871"/>
            <a:chOff x="4851185" y="1185069"/>
            <a:chExt cx="1565706" cy="1222871"/>
          </a:xfrm>
        </p:grpSpPr>
        <p:pic>
          <p:nvPicPr>
            <p:cNvPr id="1137" name="Graphic 10" descr="AWS Lambda service icon.">
              <a:extLst>
                <a:ext uri="{FF2B5EF4-FFF2-40B4-BE49-F238E27FC236}">
                  <a16:creationId xmlns:a16="http://schemas.microsoft.com/office/drawing/2014/main" id="{17C1F5CB-32EC-92BE-E16B-A27D0A3D6D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5253038" y="1185069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8" name="TextBox 20">
              <a:extLst>
                <a:ext uri="{FF2B5EF4-FFF2-40B4-BE49-F238E27FC236}">
                  <a16:creationId xmlns:a16="http://schemas.microsoft.com/office/drawing/2014/main" id="{CE934ACA-939B-72A1-074E-4D81E9C0C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185" y="1946275"/>
              <a:ext cx="15657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tx1">
                      <a:lumMod val="75000"/>
                    </a:schemeClr>
                  </a:solidFill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rPr>
                <a:t>synchronous </a:t>
              </a:r>
              <a:r>
                <a:rPr lang="en-US" sz="1200" i="1" dirty="0">
                  <a:solidFill>
                    <a:schemeClr val="tx1">
                      <a:lumMod val="75000"/>
                    </a:schemeClr>
                  </a:solidFill>
                  <a:latin typeface="+mn-lt"/>
                </a:rPr>
                <a:t>caller</a:t>
              </a:r>
              <a:endPara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87370B33-264E-2358-5897-F7BC6D4BDC35}"/>
              </a:ext>
            </a:extLst>
          </p:cNvPr>
          <p:cNvSpPr/>
          <p:nvPr/>
        </p:nvSpPr>
        <p:spPr>
          <a:xfrm>
            <a:off x="10105629" y="3463833"/>
            <a:ext cx="188316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4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Receiver</a:t>
            </a:r>
          </a:p>
        </p:txBody>
      </p:sp>
      <p:cxnSp>
        <p:nvCxnSpPr>
          <p:cNvPr id="1147" name="Straight Arrow Connector 12">
            <a:extLst>
              <a:ext uri="{FF2B5EF4-FFF2-40B4-BE49-F238E27FC236}">
                <a16:creationId xmlns:a16="http://schemas.microsoft.com/office/drawing/2014/main" id="{EBFF3BBD-A981-489B-7784-99989EE54C9D}"/>
              </a:ext>
            </a:extLst>
          </p:cNvPr>
          <p:cNvCxnSpPr>
            <a:cxnSpLocks/>
            <a:stCxn id="1137" idx="3"/>
            <a:endCxn id="1146" idx="1"/>
          </p:cNvCxnSpPr>
          <p:nvPr/>
        </p:nvCxnSpPr>
        <p:spPr>
          <a:xfrm flipV="1">
            <a:off x="4952308" y="3744925"/>
            <a:ext cx="5153321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68" name="TextBox 1167">
            <a:extLst>
              <a:ext uri="{FF2B5EF4-FFF2-40B4-BE49-F238E27FC236}">
                <a16:creationId xmlns:a16="http://schemas.microsoft.com/office/drawing/2014/main" id="{BA919AA0-8165-8338-610F-8E7C993AC855}"/>
              </a:ext>
            </a:extLst>
          </p:cNvPr>
          <p:cNvSpPr txBox="1"/>
          <p:nvPr/>
        </p:nvSpPr>
        <p:spPr>
          <a:xfrm>
            <a:off x="4950788" y="3450094"/>
            <a:ext cx="1706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HTTPS POST request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871E1B9F-1B84-4976-157E-09DCAB820495}"/>
              </a:ext>
            </a:extLst>
          </p:cNvPr>
          <p:cNvSpPr txBox="1"/>
          <p:nvPr/>
        </p:nvSpPr>
        <p:spPr>
          <a:xfrm>
            <a:off x="1142512" y="3448824"/>
            <a:ext cx="1877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Lambda API request</a:t>
            </a:r>
          </a:p>
        </p:txBody>
      </p:sp>
      <p:grpSp>
        <p:nvGrpSpPr>
          <p:cNvPr id="1205" name="Group 1204">
            <a:extLst>
              <a:ext uri="{FF2B5EF4-FFF2-40B4-BE49-F238E27FC236}">
                <a16:creationId xmlns:a16="http://schemas.microsoft.com/office/drawing/2014/main" id="{B9619B2C-B574-82D0-5F77-89A98C0FDECF}"/>
              </a:ext>
            </a:extLst>
          </p:cNvPr>
          <p:cNvGrpSpPr/>
          <p:nvPr/>
        </p:nvGrpSpPr>
        <p:grpSpPr>
          <a:xfrm>
            <a:off x="2507480" y="1089560"/>
            <a:ext cx="1293972" cy="476650"/>
            <a:chOff x="2803720" y="1961749"/>
            <a:chExt cx="1293972" cy="476650"/>
          </a:xfrm>
        </p:grpSpPr>
        <p:sp>
          <p:nvSpPr>
            <p:cNvPr id="1201" name="Rectangle 1200">
              <a:extLst>
                <a:ext uri="{FF2B5EF4-FFF2-40B4-BE49-F238E27FC236}">
                  <a16:creationId xmlns:a16="http://schemas.microsoft.com/office/drawing/2014/main" id="{50194445-3AFA-67FF-09D0-DF9983759E5F}"/>
                </a:ext>
              </a:extLst>
            </p:cNvPr>
            <p:cNvSpPr/>
            <p:nvPr/>
          </p:nvSpPr>
          <p:spPr>
            <a:xfrm>
              <a:off x="2803720" y="1968290"/>
              <a:ext cx="1293972" cy="47010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B78DC07D-2F78-34CD-7E6A-D1E3205848FB}"/>
                </a:ext>
              </a:extLst>
            </p:cNvPr>
            <p:cNvGrpSpPr/>
            <p:nvPr/>
          </p:nvGrpSpPr>
          <p:grpSpPr>
            <a:xfrm>
              <a:off x="2867996" y="1961749"/>
              <a:ext cx="1221404" cy="461665"/>
              <a:chOff x="5269972" y="1134110"/>
              <a:chExt cx="1221404" cy="461665"/>
            </a:xfrm>
          </p:grpSpPr>
          <p:pic>
            <p:nvPicPr>
              <p:cNvPr id="1183" name="Graphic 10" descr="AWS Lambda service icon.">
                <a:extLst>
                  <a:ext uri="{FF2B5EF4-FFF2-40B4-BE49-F238E27FC236}">
                    <a16:creationId xmlns:a16="http://schemas.microsoft.com/office/drawing/2014/main" id="{F4137854-243C-5F10-8DE2-97A6E281F0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5269972" y="1193536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84" name="TextBox 20">
                <a:extLst>
                  <a:ext uri="{FF2B5EF4-FFF2-40B4-BE49-F238E27FC236}">
                    <a16:creationId xmlns:a16="http://schemas.microsoft.com/office/drawing/2014/main" id="{6C06C044-5B57-7C90-9057-895B62A45E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113" y="1134110"/>
                <a:ext cx="89826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Lambda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key rotator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185" name="Straight Arrow Connector 12">
            <a:extLst>
              <a:ext uri="{FF2B5EF4-FFF2-40B4-BE49-F238E27FC236}">
                <a16:creationId xmlns:a16="http://schemas.microsoft.com/office/drawing/2014/main" id="{644F43E3-F990-7EAE-A019-B634DDAF2B9C}"/>
              </a:ext>
            </a:extLst>
          </p:cNvPr>
          <p:cNvCxnSpPr>
            <a:cxnSpLocks/>
            <a:stCxn id="1201" idx="1"/>
            <a:endCxn id="1213" idx="0"/>
          </p:cNvCxnSpPr>
          <p:nvPr/>
        </p:nvCxnSpPr>
        <p:spPr>
          <a:xfrm rot="10800000" flipV="1">
            <a:off x="2100938" y="1331156"/>
            <a:ext cx="406543" cy="31944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88" name="TextBox 1187">
            <a:extLst>
              <a:ext uri="{FF2B5EF4-FFF2-40B4-BE49-F238E27FC236}">
                <a16:creationId xmlns:a16="http://schemas.microsoft.com/office/drawing/2014/main" id="{6701235D-15F3-84BC-4EB6-0182F92A1589}"/>
              </a:ext>
            </a:extLst>
          </p:cNvPr>
          <p:cNvSpPr txBox="1"/>
          <p:nvPr/>
        </p:nvSpPr>
        <p:spPr>
          <a:xfrm>
            <a:off x="1802133" y="851821"/>
            <a:ext cx="704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private key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C2645548-85FA-4021-BC05-787CCE8A3F75}"/>
              </a:ext>
            </a:extLst>
          </p:cNvPr>
          <p:cNvSpPr txBox="1"/>
          <p:nvPr/>
        </p:nvSpPr>
        <p:spPr>
          <a:xfrm>
            <a:off x="4571308" y="3077495"/>
            <a:ext cx="1208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sign message</a:t>
            </a:r>
          </a:p>
        </p:txBody>
      </p:sp>
      <p:cxnSp>
        <p:nvCxnSpPr>
          <p:cNvPr id="1190" name="Straight Arrow Connector 12">
            <a:extLst>
              <a:ext uri="{FF2B5EF4-FFF2-40B4-BE49-F238E27FC236}">
                <a16:creationId xmlns:a16="http://schemas.microsoft.com/office/drawing/2014/main" id="{226BC0A8-5830-432B-A1FA-ADD68785F5DB}"/>
              </a:ext>
            </a:extLst>
          </p:cNvPr>
          <p:cNvCxnSpPr>
            <a:cxnSpLocks/>
            <a:stCxn id="1307" idx="0"/>
            <a:endCxn id="1223" idx="0"/>
          </p:cNvCxnSpPr>
          <p:nvPr/>
        </p:nvCxnSpPr>
        <p:spPr>
          <a:xfrm rot="5400000" flipH="1" flipV="1">
            <a:off x="6712783" y="78229"/>
            <a:ext cx="1785" cy="2014789"/>
          </a:xfrm>
          <a:prstGeom prst="bentConnector3">
            <a:avLst>
              <a:gd name="adj1" fmla="val 12906723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3" name="TextBox 1192">
            <a:extLst>
              <a:ext uri="{FF2B5EF4-FFF2-40B4-BE49-F238E27FC236}">
                <a16:creationId xmlns:a16="http://schemas.microsoft.com/office/drawing/2014/main" id="{7C8C5E14-B63C-95EE-A31F-A65FEE4F6FDA}"/>
              </a:ext>
            </a:extLst>
          </p:cNvPr>
          <p:cNvSpPr txBox="1"/>
          <p:nvPr/>
        </p:nvSpPr>
        <p:spPr>
          <a:xfrm>
            <a:off x="3799949" y="855562"/>
            <a:ext cx="707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public key</a:t>
            </a:r>
          </a:p>
        </p:txBody>
      </p:sp>
      <p:grpSp>
        <p:nvGrpSpPr>
          <p:cNvPr id="1220" name="Group 1219">
            <a:extLst>
              <a:ext uri="{FF2B5EF4-FFF2-40B4-BE49-F238E27FC236}">
                <a16:creationId xmlns:a16="http://schemas.microsoft.com/office/drawing/2014/main" id="{9027DD10-7A79-A1E2-F14C-8D351D26460A}"/>
              </a:ext>
            </a:extLst>
          </p:cNvPr>
          <p:cNvGrpSpPr/>
          <p:nvPr/>
        </p:nvGrpSpPr>
        <p:grpSpPr>
          <a:xfrm>
            <a:off x="1873045" y="1643485"/>
            <a:ext cx="1839596" cy="473609"/>
            <a:chOff x="1533840" y="2600171"/>
            <a:chExt cx="1839596" cy="473609"/>
          </a:xfrm>
        </p:grpSpPr>
        <p:grpSp>
          <p:nvGrpSpPr>
            <p:cNvPr id="1212" name="Group 1211">
              <a:extLst>
                <a:ext uri="{FF2B5EF4-FFF2-40B4-BE49-F238E27FC236}">
                  <a16:creationId xmlns:a16="http://schemas.microsoft.com/office/drawing/2014/main" id="{2E5D47C8-6F82-C3C9-C986-2B1F76F8BA96}"/>
                </a:ext>
              </a:extLst>
            </p:cNvPr>
            <p:cNvGrpSpPr/>
            <p:nvPr/>
          </p:nvGrpSpPr>
          <p:grpSpPr>
            <a:xfrm>
              <a:off x="1533840" y="2600171"/>
              <a:ext cx="1839596" cy="473609"/>
              <a:chOff x="1533840" y="2600171"/>
              <a:chExt cx="1839596" cy="473609"/>
            </a:xfrm>
          </p:grpSpPr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4A4198FC-0A69-DC7C-062B-6C69817EF4DE}"/>
                  </a:ext>
                </a:extLst>
              </p:cNvPr>
              <p:cNvSpPr/>
              <p:nvPr/>
            </p:nvSpPr>
            <p:spPr>
              <a:xfrm>
                <a:off x="1533840" y="2603671"/>
                <a:ext cx="1839596" cy="470109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grpSp>
            <p:nvGrpSpPr>
              <p:cNvPr id="1135" name="Group 1134">
                <a:extLst>
                  <a:ext uri="{FF2B5EF4-FFF2-40B4-BE49-F238E27FC236}">
                    <a16:creationId xmlns:a16="http://schemas.microsoft.com/office/drawing/2014/main" id="{21EAF851-0E9A-665F-DB2A-001C9BC02155}"/>
                  </a:ext>
                </a:extLst>
              </p:cNvPr>
              <p:cNvGrpSpPr/>
              <p:nvPr/>
            </p:nvGrpSpPr>
            <p:grpSpPr>
              <a:xfrm>
                <a:off x="1589301" y="2600171"/>
                <a:ext cx="1668930" cy="461665"/>
                <a:chOff x="5253038" y="1122831"/>
                <a:chExt cx="1668930" cy="461665"/>
              </a:xfrm>
            </p:grpSpPr>
            <p:pic>
              <p:nvPicPr>
                <p:cNvPr id="1133" name="Graphic 17" descr="AWS Secrets Manager service icon.">
                  <a:extLst>
                    <a:ext uri="{FF2B5EF4-FFF2-40B4-BE49-F238E27FC236}">
                      <a16:creationId xmlns:a16="http://schemas.microsoft.com/office/drawing/2014/main" id="{672CB8C1-19A6-E84B-37F8-6429BF2AE0C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/>
                <a:stretch/>
              </p:blipFill>
              <p:spPr bwMode="auto">
                <a:xfrm>
                  <a:off x="5253038" y="1184275"/>
                  <a:ext cx="360000" cy="360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34" name="TextBox 11">
                  <a:extLst>
                    <a:ext uri="{FF2B5EF4-FFF2-40B4-BE49-F238E27FC236}">
                      <a16:creationId xmlns:a16="http://schemas.microsoft.com/office/drawing/2014/main" id="{2D3D3831-EAAF-0414-21B9-E140ED6FC5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20519" y="1122831"/>
                  <a:ext cx="130144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rIns="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Secrets Manager</a:t>
                  </a:r>
                  <a:b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</a:br>
                  <a:r>
                    <a:rPr lang="en-US" altLang="en-US" sz="12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  <a:latin typeface="+mn-lt"/>
                      <a:ea typeface="Amazon Ember" panose="020B0603020204020204" pitchFamily="34" charset="0"/>
                      <a:cs typeface="Arial" panose="020B0604020202020204" pitchFamily="34" charset="0"/>
                    </a:rPr>
                    <a:t>private key secret</a:t>
                  </a:r>
                  <a:endPara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13" name="TextBox 1212">
              <a:extLst>
                <a:ext uri="{FF2B5EF4-FFF2-40B4-BE49-F238E27FC236}">
                  <a16:creationId xmlns:a16="http://schemas.microsoft.com/office/drawing/2014/main" id="{BD93C210-035C-253C-F77A-A37F48055355}"/>
                </a:ext>
              </a:extLst>
            </p:cNvPr>
            <p:cNvSpPr txBox="1"/>
            <p:nvPr/>
          </p:nvSpPr>
          <p:spPr>
            <a:xfrm>
              <a:off x="1634732" y="2607286"/>
              <a:ext cx="254000" cy="454550"/>
            </a:xfrm>
            <a:prstGeom prst="rect">
              <a:avLst/>
            </a:prstGeom>
            <a:noFill/>
          </p:spPr>
          <p:txBody>
            <a:bodyPr wrap="none" lIns="0" rIns="0" rtlCol="0">
              <a:noAutofit/>
            </a:bodyPr>
            <a:lstStyle/>
            <a:p>
              <a:pPr algn="l"/>
              <a:r>
                <a:rPr lang="en-US" dirty="0"/>
                <a:t>   </a:t>
              </a:r>
            </a:p>
          </p:txBody>
        </p:sp>
        <p:sp>
          <p:nvSpPr>
            <p:cNvPr id="1214" name="TextBox 1213">
              <a:extLst>
                <a:ext uri="{FF2B5EF4-FFF2-40B4-BE49-F238E27FC236}">
                  <a16:creationId xmlns:a16="http://schemas.microsoft.com/office/drawing/2014/main" id="{E8D3E44C-6D8E-44A5-EF12-874DC13513F5}"/>
                </a:ext>
              </a:extLst>
            </p:cNvPr>
            <p:cNvSpPr txBox="1"/>
            <p:nvPr/>
          </p:nvSpPr>
          <p:spPr>
            <a:xfrm>
              <a:off x="3016457" y="2607286"/>
              <a:ext cx="254000" cy="466493"/>
            </a:xfrm>
            <a:prstGeom prst="rect">
              <a:avLst/>
            </a:prstGeom>
            <a:noFill/>
          </p:spPr>
          <p:txBody>
            <a:bodyPr wrap="none" lIns="0" rIns="0" rtlCol="0">
              <a:noAutofit/>
            </a:bodyPr>
            <a:lstStyle/>
            <a:p>
              <a:pPr algn="l"/>
              <a:r>
                <a:rPr lang="en-US" dirty="0"/>
                <a:t>   </a:t>
              </a:r>
            </a:p>
          </p:txBody>
        </p:sp>
      </p:grpSp>
      <p:grpSp>
        <p:nvGrpSpPr>
          <p:cNvPr id="1231" name="Group 1230">
            <a:extLst>
              <a:ext uri="{FF2B5EF4-FFF2-40B4-BE49-F238E27FC236}">
                <a16:creationId xmlns:a16="http://schemas.microsoft.com/office/drawing/2014/main" id="{8C0CC760-CB4F-AF44-C4F9-3C86387ACAA3}"/>
              </a:ext>
            </a:extLst>
          </p:cNvPr>
          <p:cNvGrpSpPr/>
          <p:nvPr/>
        </p:nvGrpSpPr>
        <p:grpSpPr>
          <a:xfrm>
            <a:off x="8128000" y="1631996"/>
            <a:ext cx="1474773" cy="476650"/>
            <a:chOff x="2803720" y="1961749"/>
            <a:chExt cx="1474773" cy="476650"/>
          </a:xfrm>
        </p:grpSpPr>
        <p:sp>
          <p:nvSpPr>
            <p:cNvPr id="1232" name="Rectangle 1231">
              <a:extLst>
                <a:ext uri="{FF2B5EF4-FFF2-40B4-BE49-F238E27FC236}">
                  <a16:creationId xmlns:a16="http://schemas.microsoft.com/office/drawing/2014/main" id="{4E56D1A7-6906-FD57-0CF7-844C7D9BEB3C}"/>
                </a:ext>
              </a:extLst>
            </p:cNvPr>
            <p:cNvSpPr/>
            <p:nvPr/>
          </p:nvSpPr>
          <p:spPr>
            <a:xfrm>
              <a:off x="2803720" y="1968290"/>
              <a:ext cx="1474773" cy="47010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AD89E83D-474E-6006-EC96-C0128437F073}"/>
                </a:ext>
              </a:extLst>
            </p:cNvPr>
            <p:cNvGrpSpPr/>
            <p:nvPr/>
          </p:nvGrpSpPr>
          <p:grpSpPr>
            <a:xfrm>
              <a:off x="2867996" y="1961749"/>
              <a:ext cx="1221404" cy="461665"/>
              <a:chOff x="5269972" y="1134110"/>
              <a:chExt cx="1221404" cy="461665"/>
            </a:xfrm>
          </p:grpSpPr>
          <p:pic>
            <p:nvPicPr>
              <p:cNvPr id="1234" name="Graphic 10" descr="AWS Lambda service icon.">
                <a:extLst>
                  <a:ext uri="{FF2B5EF4-FFF2-40B4-BE49-F238E27FC236}">
                    <a16:creationId xmlns:a16="http://schemas.microsoft.com/office/drawing/2014/main" id="{E1B0FB0F-7413-302E-F906-C1901C317B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5269972" y="1193536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5" name="TextBox 20">
                <a:extLst>
                  <a:ext uri="{FF2B5EF4-FFF2-40B4-BE49-F238E27FC236}">
                    <a16:creationId xmlns:a16="http://schemas.microsoft.com/office/drawing/2014/main" id="{135D82D3-5A2F-72F5-B1FF-822BFBE087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113" y="1134110"/>
                <a:ext cx="89826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Lambda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DKIM setter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241" name="Straight Arrow Connector 12">
            <a:extLst>
              <a:ext uri="{FF2B5EF4-FFF2-40B4-BE49-F238E27FC236}">
                <a16:creationId xmlns:a16="http://schemas.microsoft.com/office/drawing/2014/main" id="{30D9B9EF-A1BF-7868-F165-202F832DE69E}"/>
              </a:ext>
            </a:extLst>
          </p:cNvPr>
          <p:cNvCxnSpPr>
            <a:cxnSpLocks/>
            <a:stCxn id="1232" idx="1"/>
            <a:endCxn id="1240" idx="1"/>
          </p:cNvCxnSpPr>
          <p:nvPr/>
        </p:nvCxnSpPr>
        <p:spPr>
          <a:xfrm rot="10800000" flipV="1">
            <a:off x="8128000" y="1873591"/>
            <a:ext cx="12700" cy="566461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49" name="Group 1248">
            <a:extLst>
              <a:ext uri="{FF2B5EF4-FFF2-40B4-BE49-F238E27FC236}">
                <a16:creationId xmlns:a16="http://schemas.microsoft.com/office/drawing/2014/main" id="{74C3D8DC-C3ED-D7F9-A66B-145C823C531B}"/>
              </a:ext>
            </a:extLst>
          </p:cNvPr>
          <p:cNvGrpSpPr/>
          <p:nvPr/>
        </p:nvGrpSpPr>
        <p:grpSpPr>
          <a:xfrm>
            <a:off x="8128000" y="2204998"/>
            <a:ext cx="1474773" cy="470855"/>
            <a:chOff x="6773333" y="2628324"/>
            <a:chExt cx="1474773" cy="470855"/>
          </a:xfrm>
        </p:grpSpPr>
        <p:sp>
          <p:nvSpPr>
            <p:cNvPr id="1240" name="Rectangle 1239">
              <a:extLst>
                <a:ext uri="{FF2B5EF4-FFF2-40B4-BE49-F238E27FC236}">
                  <a16:creationId xmlns:a16="http://schemas.microsoft.com/office/drawing/2014/main" id="{51EE8163-C679-FF3D-AF64-986716906E50}"/>
                </a:ext>
              </a:extLst>
            </p:cNvPr>
            <p:cNvSpPr/>
            <p:nvPr/>
          </p:nvSpPr>
          <p:spPr>
            <a:xfrm>
              <a:off x="6773333" y="2628324"/>
              <a:ext cx="1474773" cy="47010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1181" name="Group 1180">
              <a:extLst>
                <a:ext uri="{FF2B5EF4-FFF2-40B4-BE49-F238E27FC236}">
                  <a16:creationId xmlns:a16="http://schemas.microsoft.com/office/drawing/2014/main" id="{1FA38132-03EB-0248-708E-0AB7F298E594}"/>
                </a:ext>
              </a:extLst>
            </p:cNvPr>
            <p:cNvGrpSpPr/>
            <p:nvPr/>
          </p:nvGrpSpPr>
          <p:grpSpPr>
            <a:xfrm>
              <a:off x="6843448" y="2632687"/>
              <a:ext cx="1404658" cy="461665"/>
              <a:chOff x="5536593" y="37320"/>
              <a:chExt cx="1404658" cy="461665"/>
            </a:xfrm>
          </p:grpSpPr>
          <p:pic>
            <p:nvPicPr>
              <p:cNvPr id="1176" name="Graphic 21" descr="Amazon Route 53 service icon.">
                <a:extLst>
                  <a:ext uri="{FF2B5EF4-FFF2-40B4-BE49-F238E27FC236}">
                    <a16:creationId xmlns:a16="http://schemas.microsoft.com/office/drawing/2014/main" id="{D85DFE1E-EF37-871F-C091-5E3E6C7E50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 bwMode="auto">
              <a:xfrm>
                <a:off x="5536593" y="8803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77" name="TextBox 12">
                <a:extLst>
                  <a:ext uri="{FF2B5EF4-FFF2-40B4-BE49-F238E27FC236}">
                    <a16:creationId xmlns:a16="http://schemas.microsoft.com/office/drawing/2014/main" id="{97E53A85-B3E9-038F-3C26-675C99A71F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73753" y="37320"/>
                <a:ext cx="106749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Route 53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DKIM record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47" name="TextBox 1246">
              <a:extLst>
                <a:ext uri="{FF2B5EF4-FFF2-40B4-BE49-F238E27FC236}">
                  <a16:creationId xmlns:a16="http://schemas.microsoft.com/office/drawing/2014/main" id="{27E53C4A-4EE4-B643-B63E-0277B1F51435}"/>
                </a:ext>
              </a:extLst>
            </p:cNvPr>
            <p:cNvSpPr txBox="1"/>
            <p:nvPr/>
          </p:nvSpPr>
          <p:spPr>
            <a:xfrm>
              <a:off x="6896448" y="2632687"/>
              <a:ext cx="254000" cy="466492"/>
            </a:xfrm>
            <a:prstGeom prst="rect">
              <a:avLst/>
            </a:prstGeom>
            <a:noFill/>
          </p:spPr>
          <p:txBody>
            <a:bodyPr wrap="none" lIns="0" rIns="0" rtlCol="0">
              <a:noAutofit/>
            </a:bodyPr>
            <a:lstStyle/>
            <a:p>
              <a:pPr algn="l"/>
              <a:r>
                <a:rPr lang="en-US" dirty="0"/>
                <a:t>   </a:t>
              </a:r>
            </a:p>
          </p:txBody>
        </p:sp>
      </p:grpSp>
      <p:sp>
        <p:nvSpPr>
          <p:cNvPr id="1268" name="Rectangle 1267">
            <a:extLst>
              <a:ext uri="{FF2B5EF4-FFF2-40B4-BE49-F238E27FC236}">
                <a16:creationId xmlns:a16="http://schemas.microsoft.com/office/drawing/2014/main" id="{7C31631E-766E-3648-11D4-B9E2F793B6E4}"/>
              </a:ext>
            </a:extLst>
          </p:cNvPr>
          <p:cNvSpPr/>
          <p:nvPr/>
        </p:nvSpPr>
        <p:spPr>
          <a:xfrm>
            <a:off x="1778000" y="723920"/>
            <a:ext cx="7924799" cy="207854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69" name="TextBox 1268">
            <a:extLst>
              <a:ext uri="{FF2B5EF4-FFF2-40B4-BE49-F238E27FC236}">
                <a16:creationId xmlns:a16="http://schemas.microsoft.com/office/drawing/2014/main" id="{E995EE91-7BFF-9CD6-ACC9-1194FB24DB4E}"/>
              </a:ext>
            </a:extLst>
          </p:cNvPr>
          <p:cNvSpPr txBox="1"/>
          <p:nvPr/>
        </p:nvSpPr>
        <p:spPr>
          <a:xfrm>
            <a:off x="4040612" y="446920"/>
            <a:ext cx="20050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key-pair periodic rotation</a:t>
            </a:r>
          </a:p>
        </p:txBody>
      </p:sp>
      <p:cxnSp>
        <p:nvCxnSpPr>
          <p:cNvPr id="1279" name="Straight Arrow Connector 12">
            <a:extLst>
              <a:ext uri="{FF2B5EF4-FFF2-40B4-BE49-F238E27FC236}">
                <a16:creationId xmlns:a16="http://schemas.microsoft.com/office/drawing/2014/main" id="{0A3361B6-3900-7AE0-684B-DC875E198EF8}"/>
              </a:ext>
            </a:extLst>
          </p:cNvPr>
          <p:cNvCxnSpPr>
            <a:cxnSpLocks/>
            <a:stCxn id="1225" idx="3"/>
            <a:endCxn id="1235" idx="0"/>
          </p:cNvCxnSpPr>
          <p:nvPr/>
        </p:nvCxnSpPr>
        <p:spPr>
          <a:xfrm>
            <a:off x="8758767" y="1328252"/>
            <a:ext cx="205782" cy="30374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82" name="Group 1281">
            <a:extLst>
              <a:ext uri="{FF2B5EF4-FFF2-40B4-BE49-F238E27FC236}">
                <a16:creationId xmlns:a16="http://schemas.microsoft.com/office/drawing/2014/main" id="{C391CFEF-5C6D-3310-E943-E0F1F0C8A585}"/>
              </a:ext>
            </a:extLst>
          </p:cNvPr>
          <p:cNvGrpSpPr/>
          <p:nvPr/>
        </p:nvGrpSpPr>
        <p:grpSpPr>
          <a:xfrm>
            <a:off x="5657680" y="1639565"/>
            <a:ext cx="1653762" cy="476650"/>
            <a:chOff x="2803720" y="1961749"/>
            <a:chExt cx="1653762" cy="476650"/>
          </a:xfrm>
        </p:grpSpPr>
        <p:sp>
          <p:nvSpPr>
            <p:cNvPr id="1283" name="Rectangle 1282">
              <a:extLst>
                <a:ext uri="{FF2B5EF4-FFF2-40B4-BE49-F238E27FC236}">
                  <a16:creationId xmlns:a16="http://schemas.microsoft.com/office/drawing/2014/main" id="{88736511-D4B4-BAD3-E482-DB9719513CC6}"/>
                </a:ext>
              </a:extLst>
            </p:cNvPr>
            <p:cNvSpPr/>
            <p:nvPr/>
          </p:nvSpPr>
          <p:spPr>
            <a:xfrm>
              <a:off x="2803720" y="1968290"/>
              <a:ext cx="1653762" cy="47010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1284" name="Group 1283">
              <a:extLst>
                <a:ext uri="{FF2B5EF4-FFF2-40B4-BE49-F238E27FC236}">
                  <a16:creationId xmlns:a16="http://schemas.microsoft.com/office/drawing/2014/main" id="{16A3CBEA-CD29-B6F0-CB2D-5EB4952B3730}"/>
                </a:ext>
              </a:extLst>
            </p:cNvPr>
            <p:cNvGrpSpPr/>
            <p:nvPr/>
          </p:nvGrpSpPr>
          <p:grpSpPr>
            <a:xfrm>
              <a:off x="2867996" y="1961749"/>
              <a:ext cx="1547993" cy="461665"/>
              <a:chOff x="5269972" y="1134110"/>
              <a:chExt cx="1547993" cy="461665"/>
            </a:xfrm>
          </p:grpSpPr>
          <p:pic>
            <p:nvPicPr>
              <p:cNvPr id="1285" name="Graphic 10" descr="AWS Lambda service icon.">
                <a:extLst>
                  <a:ext uri="{FF2B5EF4-FFF2-40B4-BE49-F238E27FC236}">
                    <a16:creationId xmlns:a16="http://schemas.microsoft.com/office/drawing/2014/main" id="{FD4438D7-B294-C028-0ABC-8B84112C5E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5269972" y="1193536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6" name="TextBox 20">
                <a:extLst>
                  <a:ext uri="{FF2B5EF4-FFF2-40B4-BE49-F238E27FC236}">
                    <a16:creationId xmlns:a16="http://schemas.microsoft.com/office/drawing/2014/main" id="{F7895B26-1F98-292B-BC15-F632B802BB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113" y="1134110"/>
                <a:ext cx="122485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Lambda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manifest setter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1289" name="Graphic 23" descr="Amazon DynamoDB service icon.">
            <a:extLst>
              <a:ext uri="{FF2B5EF4-FFF2-40B4-BE49-F238E27FC236}">
                <a16:creationId xmlns:a16="http://schemas.microsoft.com/office/drawing/2014/main" id="{4D01745F-EE0F-5023-7A51-B07CE9A87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5715945" y="2249668"/>
            <a:ext cx="360000" cy="3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" name="TextBox 20">
            <a:extLst>
              <a:ext uri="{FF2B5EF4-FFF2-40B4-BE49-F238E27FC236}">
                <a16:creationId xmlns:a16="http://schemas.microsoft.com/office/drawing/2014/main" id="{9BA80608-AE37-0BAC-C273-2AE8B2744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097" y="2201500"/>
            <a:ext cx="12248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DynamoDB</a:t>
            </a:r>
            <a:br>
              <a: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i="1" dirty="0">
                <a:solidFill>
                  <a:schemeClr val="tx1">
                    <a:lumMod val="75000"/>
                  </a:schemeClr>
                </a:solidFill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manifest parts</a:t>
            </a:r>
            <a:endParaRPr lang="en-US" altLang="en-US" sz="1200" dirty="0">
              <a:solidFill>
                <a:srgbClr val="FFFFFF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1291" name="Straight Arrow Connector 12">
            <a:extLst>
              <a:ext uri="{FF2B5EF4-FFF2-40B4-BE49-F238E27FC236}">
                <a16:creationId xmlns:a16="http://schemas.microsoft.com/office/drawing/2014/main" id="{DCEE93BF-99BA-263F-EB63-0B2094358EE0}"/>
              </a:ext>
            </a:extLst>
          </p:cNvPr>
          <p:cNvCxnSpPr>
            <a:cxnSpLocks/>
            <a:stCxn id="1283" idx="1"/>
            <a:endCxn id="1294" idx="1"/>
          </p:cNvCxnSpPr>
          <p:nvPr/>
        </p:nvCxnSpPr>
        <p:spPr>
          <a:xfrm rot="10800000" flipV="1">
            <a:off x="5657680" y="1881161"/>
            <a:ext cx="12700" cy="551918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97" name="Straight Arrow Connector 12">
            <a:extLst>
              <a:ext uri="{FF2B5EF4-FFF2-40B4-BE49-F238E27FC236}">
                <a16:creationId xmlns:a16="http://schemas.microsoft.com/office/drawing/2014/main" id="{D62C598D-C250-D6B3-FC08-4AD2F69C7F54}"/>
              </a:ext>
            </a:extLst>
          </p:cNvPr>
          <p:cNvCxnSpPr>
            <a:cxnSpLocks/>
            <a:stCxn id="1225" idx="1"/>
            <a:endCxn id="1286" idx="0"/>
          </p:cNvCxnSpPr>
          <p:nvPr/>
        </p:nvCxnSpPr>
        <p:spPr>
          <a:xfrm rot="10800000" flipV="1">
            <a:off x="6657523" y="1328251"/>
            <a:ext cx="207394" cy="31131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01" name="TextBox 1300">
            <a:extLst>
              <a:ext uri="{FF2B5EF4-FFF2-40B4-BE49-F238E27FC236}">
                <a16:creationId xmlns:a16="http://schemas.microsoft.com/office/drawing/2014/main" id="{A39C1847-70C7-BC22-D7CC-C6EA70663C48}"/>
              </a:ext>
            </a:extLst>
          </p:cNvPr>
          <p:cNvSpPr txBox="1"/>
          <p:nvPr/>
        </p:nvSpPr>
        <p:spPr>
          <a:xfrm>
            <a:off x="9871147" y="2133226"/>
            <a:ext cx="14223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get public key</a:t>
            </a:r>
          </a:p>
        </p:txBody>
      </p:sp>
      <p:sp>
        <p:nvSpPr>
          <p:cNvPr id="1302" name="TextBox 1301">
            <a:extLst>
              <a:ext uri="{FF2B5EF4-FFF2-40B4-BE49-F238E27FC236}">
                <a16:creationId xmlns:a16="http://schemas.microsoft.com/office/drawing/2014/main" id="{E76BB15D-0D0D-5D82-EC26-F79E236351B3}"/>
              </a:ext>
            </a:extLst>
          </p:cNvPr>
          <p:cNvSpPr txBox="1"/>
          <p:nvPr/>
        </p:nvSpPr>
        <p:spPr>
          <a:xfrm>
            <a:off x="10034120" y="4058220"/>
            <a:ext cx="1909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- verify signature</a:t>
            </a:r>
            <a:br>
              <a:rPr lang="en-US" sz="1200" i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- respond synchronously</a:t>
            </a:r>
          </a:p>
        </p:txBody>
      </p:sp>
      <p:grpSp>
        <p:nvGrpSpPr>
          <p:cNvPr id="1303" name="Group 1302">
            <a:extLst>
              <a:ext uri="{FF2B5EF4-FFF2-40B4-BE49-F238E27FC236}">
                <a16:creationId xmlns:a16="http://schemas.microsoft.com/office/drawing/2014/main" id="{1CA8E9B8-FF05-3A3A-C933-07271D07D5CE}"/>
              </a:ext>
            </a:extLst>
          </p:cNvPr>
          <p:cNvGrpSpPr/>
          <p:nvPr/>
        </p:nvGrpSpPr>
        <p:grpSpPr>
          <a:xfrm>
            <a:off x="4400404" y="1076263"/>
            <a:ext cx="2191761" cy="478576"/>
            <a:chOff x="3988800" y="2607286"/>
            <a:chExt cx="2191761" cy="478576"/>
          </a:xfrm>
        </p:grpSpPr>
        <p:grpSp>
          <p:nvGrpSpPr>
            <p:cNvPr id="1304" name="Group 1303">
              <a:extLst>
                <a:ext uri="{FF2B5EF4-FFF2-40B4-BE49-F238E27FC236}">
                  <a16:creationId xmlns:a16="http://schemas.microsoft.com/office/drawing/2014/main" id="{60B90C09-CE85-135C-5A5C-DABDBD71D071}"/>
                </a:ext>
              </a:extLst>
            </p:cNvPr>
            <p:cNvGrpSpPr/>
            <p:nvPr/>
          </p:nvGrpSpPr>
          <p:grpSpPr>
            <a:xfrm>
              <a:off x="3988800" y="2607286"/>
              <a:ext cx="2024288" cy="478576"/>
              <a:chOff x="6936302" y="3283309"/>
              <a:chExt cx="2024288" cy="478576"/>
            </a:xfrm>
          </p:grpSpPr>
          <p:sp>
            <p:nvSpPr>
              <p:cNvPr id="1308" name="TextBox 1307">
                <a:extLst>
                  <a:ext uri="{FF2B5EF4-FFF2-40B4-BE49-F238E27FC236}">
                    <a16:creationId xmlns:a16="http://schemas.microsoft.com/office/drawing/2014/main" id="{52084890-6F00-A386-8989-705753283E35}"/>
                  </a:ext>
                </a:extLst>
              </p:cNvPr>
              <p:cNvSpPr txBox="1"/>
              <p:nvPr/>
            </p:nvSpPr>
            <p:spPr>
              <a:xfrm>
                <a:off x="8369843" y="3283310"/>
                <a:ext cx="254000" cy="466492"/>
              </a:xfrm>
              <a:prstGeom prst="rect">
                <a:avLst/>
              </a:prstGeom>
              <a:noFill/>
            </p:spPr>
            <p:txBody>
              <a:bodyPr wrap="none" lIns="0" rIns="0" rtlCol="0">
                <a:noAutofit/>
              </a:bodyPr>
              <a:lstStyle/>
              <a:p>
                <a:pPr algn="l"/>
                <a:r>
                  <a:rPr lang="en-US" dirty="0"/>
                  <a:t>   </a:t>
                </a:r>
              </a:p>
            </p:txBody>
          </p:sp>
          <p:sp>
            <p:nvSpPr>
              <p:cNvPr id="1309" name="Rectangle 1308">
                <a:extLst>
                  <a:ext uri="{FF2B5EF4-FFF2-40B4-BE49-F238E27FC236}">
                    <a16:creationId xmlns:a16="http://schemas.microsoft.com/office/drawing/2014/main" id="{153EE08C-D664-F367-6232-09781E8A30D1}"/>
                  </a:ext>
                </a:extLst>
              </p:cNvPr>
              <p:cNvSpPr/>
              <p:nvPr/>
            </p:nvSpPr>
            <p:spPr>
              <a:xfrm>
                <a:off x="6936302" y="3291776"/>
                <a:ext cx="2024288" cy="470109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310" name="TextBox 1309">
                <a:extLst>
                  <a:ext uri="{FF2B5EF4-FFF2-40B4-BE49-F238E27FC236}">
                    <a16:creationId xmlns:a16="http://schemas.microsoft.com/office/drawing/2014/main" id="{10C6515C-FC3D-5003-6535-EC83E689B45A}"/>
                  </a:ext>
                </a:extLst>
              </p:cNvPr>
              <p:cNvSpPr txBox="1"/>
              <p:nvPr/>
            </p:nvSpPr>
            <p:spPr>
              <a:xfrm>
                <a:off x="7665455" y="3283309"/>
                <a:ext cx="254000" cy="466492"/>
              </a:xfrm>
              <a:prstGeom prst="rect">
                <a:avLst/>
              </a:prstGeom>
              <a:noFill/>
            </p:spPr>
            <p:txBody>
              <a:bodyPr wrap="none" lIns="0" rIns="0" rtlCol="0">
                <a:noAutofit/>
              </a:bodyPr>
              <a:lstStyle/>
              <a:p>
                <a:pPr algn="l"/>
                <a:r>
                  <a:rPr lang="en-US" dirty="0"/>
                  <a:t>   </a:t>
                </a:r>
              </a:p>
            </p:txBody>
          </p:sp>
        </p:grpSp>
        <p:grpSp>
          <p:nvGrpSpPr>
            <p:cNvPr id="1305" name="Group 1304">
              <a:extLst>
                <a:ext uri="{FF2B5EF4-FFF2-40B4-BE49-F238E27FC236}">
                  <a16:creationId xmlns:a16="http://schemas.microsoft.com/office/drawing/2014/main" id="{8CAC32F2-85E6-A2BC-704D-1E84E0839D1E}"/>
                </a:ext>
              </a:extLst>
            </p:cNvPr>
            <p:cNvGrpSpPr/>
            <p:nvPr/>
          </p:nvGrpSpPr>
          <p:grpSpPr>
            <a:xfrm>
              <a:off x="4048154" y="2617538"/>
              <a:ext cx="2132407" cy="461665"/>
              <a:chOff x="1005133" y="1213483"/>
              <a:chExt cx="2132407" cy="461665"/>
            </a:xfrm>
          </p:grpSpPr>
          <p:pic>
            <p:nvPicPr>
              <p:cNvPr id="1306" name="Graphic 15" descr="AWS Systems Manager service icon.">
                <a:extLst>
                  <a:ext uri="{FF2B5EF4-FFF2-40B4-BE49-F238E27FC236}">
                    <a16:creationId xmlns:a16="http://schemas.microsoft.com/office/drawing/2014/main" id="{0DEE8BD2-C1D6-7282-ECEE-5BC52A0AAC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 bwMode="auto">
              <a:xfrm>
                <a:off x="1005133" y="1264195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07" name="TextBox 11">
                <a:extLst>
                  <a:ext uri="{FF2B5EF4-FFF2-40B4-BE49-F238E27FC236}">
                    <a16:creationId xmlns:a16="http://schemas.microsoft.com/office/drawing/2014/main" id="{F00600F3-7D11-715E-60D7-2D2377B521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5772" y="1213483"/>
                <a:ext cx="17717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Systems Manager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public key parameter</a:t>
                </a:r>
              </a:p>
            </p:txBody>
          </p:sp>
        </p:grpSp>
      </p:grpSp>
      <p:cxnSp>
        <p:nvCxnSpPr>
          <p:cNvPr id="1311" name="Straight Arrow Connector 12">
            <a:extLst>
              <a:ext uri="{FF2B5EF4-FFF2-40B4-BE49-F238E27FC236}">
                <a16:creationId xmlns:a16="http://schemas.microsoft.com/office/drawing/2014/main" id="{846B4F76-C0FF-1088-3ABF-6C4CC175F74B}"/>
              </a:ext>
            </a:extLst>
          </p:cNvPr>
          <p:cNvCxnSpPr>
            <a:cxnSpLocks/>
            <a:stCxn id="1184" idx="3"/>
            <a:endCxn id="1309" idx="1"/>
          </p:cNvCxnSpPr>
          <p:nvPr/>
        </p:nvCxnSpPr>
        <p:spPr>
          <a:xfrm flipV="1">
            <a:off x="3793160" y="1319785"/>
            <a:ext cx="607244" cy="60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23" name="Group 1322">
            <a:extLst>
              <a:ext uri="{FF2B5EF4-FFF2-40B4-BE49-F238E27FC236}">
                <a16:creationId xmlns:a16="http://schemas.microsoft.com/office/drawing/2014/main" id="{69975085-7CD0-74D8-431B-49383AAD474B}"/>
              </a:ext>
            </a:extLst>
          </p:cNvPr>
          <p:cNvGrpSpPr/>
          <p:nvPr/>
        </p:nvGrpSpPr>
        <p:grpSpPr>
          <a:xfrm>
            <a:off x="6864917" y="1084730"/>
            <a:ext cx="2033172" cy="478576"/>
            <a:chOff x="6822582" y="1084730"/>
            <a:chExt cx="2033172" cy="478576"/>
          </a:xfrm>
        </p:grpSpPr>
        <p:grpSp>
          <p:nvGrpSpPr>
            <p:cNvPr id="1267" name="Group 1266">
              <a:extLst>
                <a:ext uri="{FF2B5EF4-FFF2-40B4-BE49-F238E27FC236}">
                  <a16:creationId xmlns:a16="http://schemas.microsoft.com/office/drawing/2014/main" id="{B9E21A6B-1CF8-4665-F7C0-39BFCD3F59DE}"/>
                </a:ext>
              </a:extLst>
            </p:cNvPr>
            <p:cNvGrpSpPr/>
            <p:nvPr/>
          </p:nvGrpSpPr>
          <p:grpSpPr>
            <a:xfrm>
              <a:off x="6822582" y="1084730"/>
              <a:ext cx="2033172" cy="478576"/>
              <a:chOff x="3988800" y="2607286"/>
              <a:chExt cx="2033172" cy="478576"/>
            </a:xfrm>
          </p:grpSpPr>
          <p:grpSp>
            <p:nvGrpSpPr>
              <p:cNvPr id="1222" name="Group 1221">
                <a:extLst>
                  <a:ext uri="{FF2B5EF4-FFF2-40B4-BE49-F238E27FC236}">
                    <a16:creationId xmlns:a16="http://schemas.microsoft.com/office/drawing/2014/main" id="{18B35104-8C8B-C5D9-90A7-78C9562E5229}"/>
                  </a:ext>
                </a:extLst>
              </p:cNvPr>
              <p:cNvGrpSpPr/>
              <p:nvPr/>
            </p:nvGrpSpPr>
            <p:grpSpPr>
              <a:xfrm>
                <a:off x="3988800" y="2607286"/>
                <a:ext cx="1893850" cy="478576"/>
                <a:chOff x="6936302" y="3283309"/>
                <a:chExt cx="1893850" cy="478576"/>
              </a:xfrm>
            </p:grpSpPr>
            <p:sp>
              <p:nvSpPr>
                <p:cNvPr id="1224" name="TextBox 1223">
                  <a:extLst>
                    <a:ext uri="{FF2B5EF4-FFF2-40B4-BE49-F238E27FC236}">
                      <a16:creationId xmlns:a16="http://schemas.microsoft.com/office/drawing/2014/main" id="{5D56EA92-1D61-7CB6-C54C-D3DB9550FCA8}"/>
                    </a:ext>
                  </a:extLst>
                </p:cNvPr>
                <p:cNvSpPr txBox="1"/>
                <p:nvPr/>
              </p:nvSpPr>
              <p:spPr>
                <a:xfrm>
                  <a:off x="8369843" y="3283310"/>
                  <a:ext cx="254000" cy="46649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noAutofit/>
                </a:bodyPr>
                <a:lstStyle/>
                <a:p>
                  <a:pPr algn="l"/>
                  <a:r>
                    <a:rPr lang="en-US" dirty="0"/>
                    <a:t>   </a:t>
                  </a:r>
                </a:p>
              </p:txBody>
            </p:sp>
            <p:sp>
              <p:nvSpPr>
                <p:cNvPr id="1225" name="Rectangle 1224">
                  <a:extLst>
                    <a:ext uri="{FF2B5EF4-FFF2-40B4-BE49-F238E27FC236}">
                      <a16:creationId xmlns:a16="http://schemas.microsoft.com/office/drawing/2014/main" id="{5F49AEBF-9FF7-AFAC-DD44-5CE7915CA496}"/>
                    </a:ext>
                  </a:extLst>
                </p:cNvPr>
                <p:cNvSpPr/>
                <p:nvPr/>
              </p:nvSpPr>
              <p:spPr>
                <a:xfrm>
                  <a:off x="6936302" y="3291776"/>
                  <a:ext cx="1893850" cy="470109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b"/>
                <a:lstStyle/>
                <a:p>
                  <a:pPr algn="ctr"/>
                  <a:endParaRPr lang="en-US" sz="1600" i="1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223" name="TextBox 1222">
                  <a:extLst>
                    <a:ext uri="{FF2B5EF4-FFF2-40B4-BE49-F238E27FC236}">
                      <a16:creationId xmlns:a16="http://schemas.microsoft.com/office/drawing/2014/main" id="{CB3E241E-707C-1463-2613-C08DA09459C0}"/>
                    </a:ext>
                  </a:extLst>
                </p:cNvPr>
                <p:cNvSpPr txBox="1"/>
                <p:nvPr/>
              </p:nvSpPr>
              <p:spPr>
                <a:xfrm>
                  <a:off x="7665455" y="3283309"/>
                  <a:ext cx="254000" cy="46649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noAutofit/>
                </a:bodyPr>
                <a:lstStyle/>
                <a:p>
                  <a:pPr algn="l"/>
                  <a:r>
                    <a:rPr lang="en-US" dirty="0"/>
                    <a:t>   </a:t>
                  </a:r>
                </a:p>
              </p:txBody>
            </p:sp>
          </p:grpSp>
          <p:sp>
            <p:nvSpPr>
              <p:cNvPr id="1173" name="TextBox 11">
                <a:extLst>
                  <a:ext uri="{FF2B5EF4-FFF2-40B4-BE49-F238E27FC236}">
                    <a16:creationId xmlns:a16="http://schemas.microsoft.com/office/drawing/2014/main" id="{190E35EE-E22A-02BE-0300-700D53DCB0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08794" y="2617538"/>
                <a:ext cx="16131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EventBridge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public key changed</a:t>
                </a:r>
              </a:p>
            </p:txBody>
          </p:sp>
        </p:grpSp>
        <p:pic>
          <p:nvPicPr>
            <p:cNvPr id="1316" name="Graphic 19" descr="Amazon EventBridge service icon.">
              <a:extLst>
                <a:ext uri="{FF2B5EF4-FFF2-40B4-BE49-F238E27FC236}">
                  <a16:creationId xmlns:a16="http://schemas.microsoft.com/office/drawing/2014/main" id="{725FD01A-AA78-5A16-B2D0-E4B71B1805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 bwMode="auto">
            <a:xfrm>
              <a:off x="6896056" y="1148986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24" name="TextBox 1323">
            <a:extLst>
              <a:ext uri="{FF2B5EF4-FFF2-40B4-BE49-F238E27FC236}">
                <a16:creationId xmlns:a16="http://schemas.microsoft.com/office/drawing/2014/main" id="{57C689D8-385E-D3BE-CD8A-8A483124276E}"/>
              </a:ext>
            </a:extLst>
          </p:cNvPr>
          <p:cNvSpPr txBox="1"/>
          <p:nvPr/>
        </p:nvSpPr>
        <p:spPr>
          <a:xfrm>
            <a:off x="206409" y="6409189"/>
            <a:ext cx="289822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SYNCHRONOUS MESSAGES</a:t>
            </a:r>
          </a:p>
        </p:txBody>
      </p:sp>
      <p:sp>
        <p:nvSpPr>
          <p:cNvPr id="1332" name="Rectangle 1331">
            <a:extLst>
              <a:ext uri="{FF2B5EF4-FFF2-40B4-BE49-F238E27FC236}">
                <a16:creationId xmlns:a16="http://schemas.microsoft.com/office/drawing/2014/main" id="{575F4A46-FE96-E776-A3D5-86811BB6973E}"/>
              </a:ext>
            </a:extLst>
          </p:cNvPr>
          <p:cNvSpPr/>
          <p:nvPr/>
        </p:nvSpPr>
        <p:spPr>
          <a:xfrm>
            <a:off x="1779911" y="2891090"/>
            <a:ext cx="7924799" cy="178768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333" name="TextBox 1332">
            <a:extLst>
              <a:ext uri="{FF2B5EF4-FFF2-40B4-BE49-F238E27FC236}">
                <a16:creationId xmlns:a16="http://schemas.microsoft.com/office/drawing/2014/main" id="{117F497B-689E-1677-9463-3A611EF1550A}"/>
              </a:ext>
            </a:extLst>
          </p:cNvPr>
          <p:cNvSpPr txBox="1"/>
          <p:nvPr/>
        </p:nvSpPr>
        <p:spPr>
          <a:xfrm>
            <a:off x="1124257" y="3786832"/>
            <a:ext cx="1877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aseline="-9000" dirty="0">
                <a:effectLst>
                  <a:glow>
                    <a:schemeClr val="bg1"/>
                  </a:glow>
                </a:effectLst>
              </a:rPr>
              <a:t>⏳</a:t>
            </a:r>
            <a:r>
              <a:rPr lang="en-GB" sz="1200" dirty="0"/>
              <a:t> </a:t>
            </a:r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wait for response…</a:t>
            </a:r>
          </a:p>
        </p:txBody>
      </p:sp>
      <p:sp>
        <p:nvSpPr>
          <p:cNvPr id="1334" name="TextBox 1333">
            <a:extLst>
              <a:ext uri="{FF2B5EF4-FFF2-40B4-BE49-F238E27FC236}">
                <a16:creationId xmlns:a16="http://schemas.microsoft.com/office/drawing/2014/main" id="{7D9D95E7-7407-36D1-7160-6A80E7AFFF3C}"/>
              </a:ext>
            </a:extLst>
          </p:cNvPr>
          <p:cNvSpPr txBox="1"/>
          <p:nvPr/>
        </p:nvSpPr>
        <p:spPr>
          <a:xfrm>
            <a:off x="4934700" y="3767864"/>
            <a:ext cx="1877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aseline="-9000" dirty="0">
                <a:effectLst>
                  <a:glow>
                    <a:schemeClr val="bg1"/>
                  </a:glow>
                </a:effectLst>
              </a:rPr>
              <a:t>⏳</a:t>
            </a:r>
            <a:r>
              <a:rPr lang="en-GB" sz="1200" dirty="0"/>
              <a:t> </a:t>
            </a:r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wait for response…</a:t>
            </a:r>
          </a:p>
        </p:txBody>
      </p:sp>
      <p:grpSp>
        <p:nvGrpSpPr>
          <p:cNvPr id="1338" name="Group 1337">
            <a:extLst>
              <a:ext uri="{FF2B5EF4-FFF2-40B4-BE49-F238E27FC236}">
                <a16:creationId xmlns:a16="http://schemas.microsoft.com/office/drawing/2014/main" id="{1922C166-D94C-34E8-9709-084ED0417DCB}"/>
              </a:ext>
            </a:extLst>
          </p:cNvPr>
          <p:cNvGrpSpPr/>
          <p:nvPr/>
        </p:nvGrpSpPr>
        <p:grpSpPr>
          <a:xfrm>
            <a:off x="2517147" y="2208145"/>
            <a:ext cx="1653762" cy="476650"/>
            <a:chOff x="2803720" y="1961749"/>
            <a:chExt cx="1653762" cy="476650"/>
          </a:xfrm>
        </p:grpSpPr>
        <p:sp>
          <p:nvSpPr>
            <p:cNvPr id="1339" name="Rectangle 1338">
              <a:extLst>
                <a:ext uri="{FF2B5EF4-FFF2-40B4-BE49-F238E27FC236}">
                  <a16:creationId xmlns:a16="http://schemas.microsoft.com/office/drawing/2014/main" id="{C6FD9D5D-9374-72D7-575F-F401437098C9}"/>
                </a:ext>
              </a:extLst>
            </p:cNvPr>
            <p:cNvSpPr/>
            <p:nvPr/>
          </p:nvSpPr>
          <p:spPr>
            <a:xfrm>
              <a:off x="2803720" y="1968290"/>
              <a:ext cx="1653762" cy="47010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1340" name="Group 1339">
              <a:extLst>
                <a:ext uri="{FF2B5EF4-FFF2-40B4-BE49-F238E27FC236}">
                  <a16:creationId xmlns:a16="http://schemas.microsoft.com/office/drawing/2014/main" id="{B8E9DECA-F604-713B-F17B-874DF33248E6}"/>
                </a:ext>
              </a:extLst>
            </p:cNvPr>
            <p:cNvGrpSpPr/>
            <p:nvPr/>
          </p:nvGrpSpPr>
          <p:grpSpPr>
            <a:xfrm>
              <a:off x="2867996" y="1961749"/>
              <a:ext cx="1547993" cy="461665"/>
              <a:chOff x="5269972" y="1134110"/>
              <a:chExt cx="1547993" cy="461665"/>
            </a:xfrm>
          </p:grpSpPr>
          <p:pic>
            <p:nvPicPr>
              <p:cNvPr id="1341" name="Graphic 10" descr="AWS Lambda service icon.">
                <a:extLst>
                  <a:ext uri="{FF2B5EF4-FFF2-40B4-BE49-F238E27FC236}">
                    <a16:creationId xmlns:a16="http://schemas.microsoft.com/office/drawing/2014/main" id="{E9BD7629-8447-E68E-539E-EFD5D5FF6C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5269972" y="1193536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2" name="TextBox 20">
                <a:extLst>
                  <a:ext uri="{FF2B5EF4-FFF2-40B4-BE49-F238E27FC236}">
                    <a16:creationId xmlns:a16="http://schemas.microsoft.com/office/drawing/2014/main" id="{6460C51B-C5CC-FB0B-A449-3E33D3F840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113" y="1134110"/>
                <a:ext cx="122485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Lambda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envelope signer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343" name="Straight Arrow Connector 12">
            <a:extLst>
              <a:ext uri="{FF2B5EF4-FFF2-40B4-BE49-F238E27FC236}">
                <a16:creationId xmlns:a16="http://schemas.microsoft.com/office/drawing/2014/main" id="{9362D6A5-BE57-A12E-874E-6C6BC22E66DB}"/>
              </a:ext>
            </a:extLst>
          </p:cNvPr>
          <p:cNvCxnSpPr>
            <a:cxnSpLocks/>
            <a:stCxn id="1339" idx="1"/>
            <a:endCxn id="1213" idx="2"/>
          </p:cNvCxnSpPr>
          <p:nvPr/>
        </p:nvCxnSpPr>
        <p:spPr>
          <a:xfrm rot="10800000">
            <a:off x="2100937" y="2105151"/>
            <a:ext cx="416210" cy="34459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46" name="TextBox 1345">
            <a:extLst>
              <a:ext uri="{FF2B5EF4-FFF2-40B4-BE49-F238E27FC236}">
                <a16:creationId xmlns:a16="http://schemas.microsoft.com/office/drawing/2014/main" id="{D6D8901E-2596-BA30-E6E6-010C4A526BCF}"/>
              </a:ext>
            </a:extLst>
          </p:cNvPr>
          <p:cNvSpPr txBox="1"/>
          <p:nvPr/>
        </p:nvSpPr>
        <p:spPr>
          <a:xfrm>
            <a:off x="1818228" y="2468703"/>
            <a:ext cx="7047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read</a:t>
            </a:r>
          </a:p>
        </p:txBody>
      </p:sp>
      <p:cxnSp>
        <p:nvCxnSpPr>
          <p:cNvPr id="1140" name="Straight Arrow Connector 12">
            <a:extLst>
              <a:ext uri="{FF2B5EF4-FFF2-40B4-BE49-F238E27FC236}">
                <a16:creationId xmlns:a16="http://schemas.microsoft.com/office/drawing/2014/main" id="{4C379964-0092-80CF-4016-8CC22DC21B92}"/>
              </a:ext>
            </a:extLst>
          </p:cNvPr>
          <p:cNvCxnSpPr>
            <a:cxnSpLocks/>
            <a:stCxn id="1137" idx="0"/>
            <a:endCxn id="1339" idx="3"/>
          </p:cNvCxnSpPr>
          <p:nvPr/>
        </p:nvCxnSpPr>
        <p:spPr>
          <a:xfrm rot="16200000" flipV="1">
            <a:off x="3914017" y="2706634"/>
            <a:ext cx="914185" cy="40039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3" name="Straight Arrow Connector 12">
            <a:extLst>
              <a:ext uri="{FF2B5EF4-FFF2-40B4-BE49-F238E27FC236}">
                <a16:creationId xmlns:a16="http://schemas.microsoft.com/office/drawing/2014/main" id="{94485684-FB1F-8C8B-5256-193377BA2EDB}"/>
              </a:ext>
            </a:extLst>
          </p:cNvPr>
          <p:cNvCxnSpPr>
            <a:cxnSpLocks/>
            <a:stCxn id="1098" idx="3"/>
            <a:endCxn id="1137" idx="1"/>
          </p:cNvCxnSpPr>
          <p:nvPr/>
        </p:nvCxnSpPr>
        <p:spPr>
          <a:xfrm>
            <a:off x="1138582" y="3744926"/>
            <a:ext cx="3051726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61" name="Straight Arrow Connector 12">
            <a:extLst>
              <a:ext uri="{FF2B5EF4-FFF2-40B4-BE49-F238E27FC236}">
                <a16:creationId xmlns:a16="http://schemas.microsoft.com/office/drawing/2014/main" id="{20855EC5-2F1F-3ABF-077F-F5C490B03427}"/>
              </a:ext>
            </a:extLst>
          </p:cNvPr>
          <p:cNvCxnSpPr>
            <a:cxnSpLocks/>
            <a:stCxn id="1146" idx="0"/>
            <a:endCxn id="1240" idx="3"/>
          </p:cNvCxnSpPr>
          <p:nvPr/>
        </p:nvCxnSpPr>
        <p:spPr>
          <a:xfrm rot="16200000" flipV="1">
            <a:off x="9813103" y="2229723"/>
            <a:ext cx="1023780" cy="144444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03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436FD-2F00-84DE-320E-0650E401D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A9B1CD83-9B79-77C0-E72A-8CF4C617A924}"/>
              </a:ext>
            </a:extLst>
          </p:cNvPr>
          <p:cNvSpPr/>
          <p:nvPr/>
        </p:nvSpPr>
        <p:spPr>
          <a:xfrm>
            <a:off x="209947" y="244070"/>
            <a:ext cx="9610765" cy="2641976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49" name="Graphic 1048">
            <a:extLst>
              <a:ext uri="{FF2B5EF4-FFF2-40B4-BE49-F238E27FC236}">
                <a16:creationId xmlns:a16="http://schemas.microsoft.com/office/drawing/2014/main" id="{78AF45E5-2D99-681A-3DFF-B9982A6FC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9752" y="253474"/>
            <a:ext cx="381000" cy="381000"/>
          </a:xfrm>
          <a:prstGeom prst="rect">
            <a:avLst/>
          </a:prstGeom>
        </p:spPr>
      </p:pic>
      <p:sp>
        <p:nvSpPr>
          <p:cNvPr id="1050" name="TextBox 1049">
            <a:extLst>
              <a:ext uri="{FF2B5EF4-FFF2-40B4-BE49-F238E27FC236}">
                <a16:creationId xmlns:a16="http://schemas.microsoft.com/office/drawing/2014/main" id="{2A43562B-F66B-B3F4-6669-38A4277DA48E}"/>
              </a:ext>
            </a:extLst>
          </p:cNvPr>
          <p:cNvSpPr txBox="1"/>
          <p:nvPr/>
        </p:nvSpPr>
        <p:spPr>
          <a:xfrm>
            <a:off x="2414445" y="434054"/>
            <a:ext cx="27633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EE789B42-A98D-B5AA-DAD5-407F45165ADB}"/>
              </a:ext>
            </a:extLst>
          </p:cNvPr>
          <p:cNvSpPr/>
          <p:nvPr/>
        </p:nvSpPr>
        <p:spPr>
          <a:xfrm>
            <a:off x="1764407" y="3520026"/>
            <a:ext cx="7924799" cy="43306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US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📤 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outbox</a:t>
            </a:r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D3B47F1C-107E-891D-742E-2C5D60DED953}"/>
              </a:ext>
            </a:extLst>
          </p:cNvPr>
          <p:cNvSpPr/>
          <p:nvPr/>
        </p:nvSpPr>
        <p:spPr>
          <a:xfrm>
            <a:off x="1764407" y="2982682"/>
            <a:ext cx="7924799" cy="43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async post</a:t>
            </a:r>
            <a:endParaRPr lang="en-US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C4D872-4278-BC62-E4D3-718324FB42BF}"/>
              </a:ext>
            </a:extLst>
          </p:cNvPr>
          <p:cNvGrpSpPr/>
          <p:nvPr/>
        </p:nvGrpSpPr>
        <p:grpSpPr>
          <a:xfrm>
            <a:off x="340353" y="1428193"/>
            <a:ext cx="803455" cy="1233176"/>
            <a:chOff x="10922499" y="1466444"/>
            <a:chExt cx="803455" cy="1233176"/>
          </a:xfrm>
        </p:grpSpPr>
        <p:pic>
          <p:nvPicPr>
            <p:cNvPr id="14" name="Graphic 7" descr="Compute standard category icon.">
              <a:extLst>
                <a:ext uri="{FF2B5EF4-FFF2-40B4-BE49-F238E27FC236}">
                  <a16:creationId xmlns:a16="http://schemas.microsoft.com/office/drawing/2014/main" id="{6F185800-C9B0-83A8-E268-1F6135192F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10943227" y="1466444"/>
              <a:ext cx="761999" cy="761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20">
              <a:extLst>
                <a:ext uri="{FF2B5EF4-FFF2-40B4-BE49-F238E27FC236}">
                  <a16:creationId xmlns:a16="http://schemas.microsoft.com/office/drawing/2014/main" id="{0FCD706B-45A3-B8DB-D58D-077460740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2499" y="2237955"/>
              <a:ext cx="8034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Compute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rPr>
                <a:t>sender</a:t>
              </a:r>
              <a:endPara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058F0C-D627-1778-3263-6B6961F9EDE1}"/>
              </a:ext>
            </a:extLst>
          </p:cNvPr>
          <p:cNvGrpSpPr/>
          <p:nvPr/>
        </p:nvGrpSpPr>
        <p:grpSpPr>
          <a:xfrm>
            <a:off x="3908424" y="1428193"/>
            <a:ext cx="1565706" cy="1222871"/>
            <a:chOff x="4851185" y="1185069"/>
            <a:chExt cx="1565706" cy="1222871"/>
          </a:xfrm>
        </p:grpSpPr>
        <p:pic>
          <p:nvPicPr>
            <p:cNvPr id="17" name="Graphic 10" descr="AWS Lambda service icon.">
              <a:extLst>
                <a:ext uri="{FF2B5EF4-FFF2-40B4-BE49-F238E27FC236}">
                  <a16:creationId xmlns:a16="http://schemas.microsoft.com/office/drawing/2014/main" id="{0F2CF6F8-D3B9-4DA3-61CF-4C4072CCB2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5253038" y="1185069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Box 20">
              <a:extLst>
                <a:ext uri="{FF2B5EF4-FFF2-40B4-BE49-F238E27FC236}">
                  <a16:creationId xmlns:a16="http://schemas.microsoft.com/office/drawing/2014/main" id="{FAE4CDF2-E782-1D66-1340-3F4E81932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185" y="1946275"/>
              <a:ext cx="15657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tx1">
                      <a:lumMod val="75000"/>
                    </a:schemeClr>
                  </a:solidFill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rPr>
                <a:t>signer</a:t>
              </a:r>
              <a:endPara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D11BEE63-F7F3-CF6D-E79C-9B9D8275EB5E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995645" y="1809193"/>
            <a:ext cx="314632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1292AC6-710B-3ED2-8283-B3F2760EF12D}"/>
              </a:ext>
            </a:extLst>
          </p:cNvPr>
          <p:cNvSpPr/>
          <p:nvPr/>
        </p:nvSpPr>
        <p:spPr>
          <a:xfrm>
            <a:off x="10073193" y="1528100"/>
            <a:ext cx="188316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4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Receiver</a:t>
            </a:r>
          </a:p>
        </p:txBody>
      </p: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4E1FC764-3077-4192-5F2F-E482227A1FF9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072277" y="1809193"/>
            <a:ext cx="360081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32B16F1-E44D-8211-B730-64AC74965AC1}"/>
              </a:ext>
            </a:extLst>
          </p:cNvPr>
          <p:cNvSpPr txBox="1"/>
          <p:nvPr/>
        </p:nvSpPr>
        <p:spPr>
          <a:xfrm>
            <a:off x="8323830" y="1524685"/>
            <a:ext cx="14223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HTTPS POST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2FE830-0334-B74E-77BF-B6C77904FD72}"/>
              </a:ext>
            </a:extLst>
          </p:cNvPr>
          <p:cNvSpPr txBox="1"/>
          <p:nvPr/>
        </p:nvSpPr>
        <p:spPr>
          <a:xfrm>
            <a:off x="1127010" y="1513091"/>
            <a:ext cx="1877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push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0A9634-8FF9-F3C5-BE0C-017CD93CF191}"/>
              </a:ext>
            </a:extLst>
          </p:cNvPr>
          <p:cNvSpPr txBox="1"/>
          <p:nvPr/>
        </p:nvSpPr>
        <p:spPr>
          <a:xfrm>
            <a:off x="4701473" y="877277"/>
            <a:ext cx="1208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sign message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959AA2-8657-F8EA-4113-E5A588E2F2C4}"/>
              </a:ext>
            </a:extLst>
          </p:cNvPr>
          <p:cNvSpPr txBox="1"/>
          <p:nvPr/>
        </p:nvSpPr>
        <p:spPr>
          <a:xfrm>
            <a:off x="10001684" y="2122487"/>
            <a:ext cx="1909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- verify signature</a:t>
            </a:r>
            <a:br>
              <a:rPr lang="en-US" sz="1200" i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- respond quickly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7BA6AF-6B08-E06A-0D85-2DD9CA3E5EE8}"/>
              </a:ext>
            </a:extLst>
          </p:cNvPr>
          <p:cNvSpPr/>
          <p:nvPr/>
        </p:nvSpPr>
        <p:spPr>
          <a:xfrm>
            <a:off x="1764409" y="1278382"/>
            <a:ext cx="7924799" cy="144138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F2198D-7311-8457-5A2F-553A9C0F8AFF}"/>
              </a:ext>
            </a:extLst>
          </p:cNvPr>
          <p:cNvSpPr txBox="1"/>
          <p:nvPr/>
        </p:nvSpPr>
        <p:spPr>
          <a:xfrm>
            <a:off x="8307742" y="1842455"/>
            <a:ext cx="1877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aseline="-9000" dirty="0">
                <a:effectLst>
                  <a:glow>
                    <a:schemeClr val="bg1"/>
                  </a:glow>
                </a:effectLst>
              </a:rPr>
              <a:t>⏳</a:t>
            </a:r>
            <a:r>
              <a:rPr lang="en-GB" sz="1200" dirty="0"/>
              <a:t> </a:t>
            </a:r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expect a quick </a:t>
            </a:r>
            <a:br>
              <a:rPr lang="en-US" sz="1200" i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    HTTP 200 OK</a:t>
            </a:r>
          </a:p>
        </p:txBody>
      </p: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5F11CB00-E4A4-A6A2-72E6-2F76124FFBB0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123080" y="1809193"/>
            <a:ext cx="11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7BDAC6D-21E1-0DA8-43BB-D8DA1364BD0A}"/>
              </a:ext>
            </a:extLst>
          </p:cNvPr>
          <p:cNvGrpSpPr/>
          <p:nvPr/>
        </p:nvGrpSpPr>
        <p:grpSpPr>
          <a:xfrm>
            <a:off x="1925995" y="554112"/>
            <a:ext cx="1653762" cy="476650"/>
            <a:chOff x="2803720" y="1961749"/>
            <a:chExt cx="1653762" cy="47665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0FFAAA8-9E1F-E1E9-FCFA-A4F595ADCAE9}"/>
                </a:ext>
              </a:extLst>
            </p:cNvPr>
            <p:cNvSpPr/>
            <p:nvPr/>
          </p:nvSpPr>
          <p:spPr>
            <a:xfrm>
              <a:off x="2803720" y="1968290"/>
              <a:ext cx="1653762" cy="47010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35544C3-2832-2BFE-92D2-557C850A6AE8}"/>
                </a:ext>
              </a:extLst>
            </p:cNvPr>
            <p:cNvGrpSpPr/>
            <p:nvPr/>
          </p:nvGrpSpPr>
          <p:grpSpPr>
            <a:xfrm>
              <a:off x="2867996" y="1961749"/>
              <a:ext cx="1547993" cy="461665"/>
              <a:chOff x="5269972" y="1134110"/>
              <a:chExt cx="1547993" cy="461665"/>
            </a:xfrm>
          </p:grpSpPr>
          <p:pic>
            <p:nvPicPr>
              <p:cNvPr id="50" name="Graphic 10" descr="AWS Lambda service icon.">
                <a:extLst>
                  <a:ext uri="{FF2B5EF4-FFF2-40B4-BE49-F238E27FC236}">
                    <a16:creationId xmlns:a16="http://schemas.microsoft.com/office/drawing/2014/main" id="{A3F12D05-F9CE-7A4D-360B-C31609F288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5269972" y="1193536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" name="TextBox 20">
                <a:extLst>
                  <a:ext uri="{FF2B5EF4-FFF2-40B4-BE49-F238E27FC236}">
                    <a16:creationId xmlns:a16="http://schemas.microsoft.com/office/drawing/2014/main" id="{238987A2-9B10-03A4-C7A9-B3BAB0A854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113" y="1134110"/>
                <a:ext cx="122485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Lambda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envelope signer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53" name="Straight Arrow Connector 12">
            <a:extLst>
              <a:ext uri="{FF2B5EF4-FFF2-40B4-BE49-F238E27FC236}">
                <a16:creationId xmlns:a16="http://schemas.microsoft.com/office/drawing/2014/main" id="{E9378AAA-8DD8-83AF-E049-149E4DC19466}"/>
              </a:ext>
            </a:extLst>
          </p:cNvPr>
          <p:cNvCxnSpPr>
            <a:cxnSpLocks/>
            <a:stCxn id="17" idx="0"/>
            <a:endCxn id="48" idx="3"/>
          </p:cNvCxnSpPr>
          <p:nvPr/>
        </p:nvCxnSpPr>
        <p:spPr>
          <a:xfrm rot="16200000" flipV="1">
            <a:off x="3819275" y="556191"/>
            <a:ext cx="632485" cy="111152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EF500A10-A523-3C98-D7A0-14B65AD8D025}"/>
              </a:ext>
            </a:extLst>
          </p:cNvPr>
          <p:cNvSpPr/>
          <p:nvPr/>
        </p:nvSpPr>
        <p:spPr>
          <a:xfrm>
            <a:off x="1764408" y="395605"/>
            <a:ext cx="7924799" cy="799953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60" name="Straight Arrow Connector 12">
            <a:extLst>
              <a:ext uri="{FF2B5EF4-FFF2-40B4-BE49-F238E27FC236}">
                <a16:creationId xmlns:a16="http://schemas.microsoft.com/office/drawing/2014/main" id="{E08F9A6D-BBE8-24F9-44C5-6E03F0664DC9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7157115" y="1809193"/>
            <a:ext cx="388583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7C79D89-39E7-F6CC-86E3-4E509651E989}"/>
              </a:ext>
            </a:extLst>
          </p:cNvPr>
          <p:cNvGrpSpPr/>
          <p:nvPr/>
        </p:nvGrpSpPr>
        <p:grpSpPr>
          <a:xfrm>
            <a:off x="7143845" y="1428193"/>
            <a:ext cx="1565706" cy="1222871"/>
            <a:chOff x="4851185" y="1185069"/>
            <a:chExt cx="1565706" cy="1222871"/>
          </a:xfrm>
        </p:grpSpPr>
        <p:pic>
          <p:nvPicPr>
            <p:cNvPr id="1025" name="Graphic 10" descr="AWS Lambda service icon.">
              <a:extLst>
                <a:ext uri="{FF2B5EF4-FFF2-40B4-BE49-F238E27FC236}">
                  <a16:creationId xmlns:a16="http://schemas.microsoft.com/office/drawing/2014/main" id="{A470576C-C090-CB3E-6D22-5ECA15B4C5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5253038" y="1185069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6" name="TextBox 20">
              <a:extLst>
                <a:ext uri="{FF2B5EF4-FFF2-40B4-BE49-F238E27FC236}">
                  <a16:creationId xmlns:a16="http://schemas.microsoft.com/office/drawing/2014/main" id="{93AD64A2-D0E4-D39D-B9EC-6B6C8074D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185" y="1946275"/>
              <a:ext cx="15657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tx1">
                      <a:lumMod val="75000"/>
                    </a:schemeClr>
                  </a:solidFill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rPr>
                <a:t>sender</a:t>
              </a:r>
              <a:endPara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028" name="Straight Arrow Connector 12">
            <a:extLst>
              <a:ext uri="{FF2B5EF4-FFF2-40B4-BE49-F238E27FC236}">
                <a16:creationId xmlns:a16="http://schemas.microsoft.com/office/drawing/2014/main" id="{90205206-CCA3-0378-36AB-427AB19095F9}"/>
              </a:ext>
            </a:extLst>
          </p:cNvPr>
          <p:cNvCxnSpPr>
            <a:cxnSpLocks/>
            <a:stCxn id="1025" idx="3"/>
            <a:endCxn id="20" idx="1"/>
          </p:cNvCxnSpPr>
          <p:nvPr/>
        </p:nvCxnSpPr>
        <p:spPr>
          <a:xfrm flipV="1">
            <a:off x="8307698" y="1809192"/>
            <a:ext cx="1765495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F7ABD74B-267F-0CAA-4D97-994DCDD51DC7}"/>
              </a:ext>
            </a:extLst>
          </p:cNvPr>
          <p:cNvGrpSpPr/>
          <p:nvPr/>
        </p:nvGrpSpPr>
        <p:grpSpPr>
          <a:xfrm>
            <a:off x="2254627" y="1571881"/>
            <a:ext cx="1799411" cy="930400"/>
            <a:chOff x="6884207" y="4244361"/>
            <a:chExt cx="1799411" cy="930400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F000253F-CE4C-36D9-D54F-0CED64F85339}"/>
                </a:ext>
              </a:extLst>
            </p:cNvPr>
            <p:cNvSpPr/>
            <p:nvPr/>
          </p:nvSpPr>
          <p:spPr>
            <a:xfrm>
              <a:off x="6884207" y="4244361"/>
              <a:ext cx="1761068" cy="930400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45720" rtlCol="0" anchor="t"/>
            <a:lstStyle/>
            <a:p>
              <a:r>
                <a:rPr lang="en-US" sz="1200" i="1" dirty="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385F14E1-C2C4-1117-87A2-34B909B98861}"/>
                </a:ext>
              </a:extLst>
            </p:cNvPr>
            <p:cNvGrpSpPr/>
            <p:nvPr/>
          </p:nvGrpSpPr>
          <p:grpSpPr>
            <a:xfrm>
              <a:off x="6952250" y="4244361"/>
              <a:ext cx="1659100" cy="461665"/>
              <a:chOff x="6777168" y="1751197"/>
              <a:chExt cx="1659100" cy="461665"/>
            </a:xfrm>
          </p:grpSpPr>
          <p:pic>
            <p:nvPicPr>
              <p:cNvPr id="1037" name="Graphic 26" descr="Amazon Simple Queue Service (Amazon SQS) service icon.">
                <a:extLst>
                  <a:ext uri="{FF2B5EF4-FFF2-40B4-BE49-F238E27FC236}">
                    <a16:creationId xmlns:a16="http://schemas.microsoft.com/office/drawing/2014/main" id="{40EB8BC3-936E-0C86-505F-CCC0CD3F85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 bwMode="auto">
              <a:xfrm>
                <a:off x="6777168" y="1805950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8" name="TextBox 11">
                <a:extLst>
                  <a:ext uri="{FF2B5EF4-FFF2-40B4-BE49-F238E27FC236}">
                    <a16:creationId xmlns:a16="http://schemas.microsoft.com/office/drawing/2014/main" id="{EAB56B1F-E171-82C5-10EB-DB25629216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9589" y="1751197"/>
                <a:ext cx="132667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</a:rPr>
                  <a:t>queue to sign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A3484BD5-618D-E278-BC22-7B563DB0B357}"/>
                </a:ext>
              </a:extLst>
            </p:cNvPr>
            <p:cNvGrpSpPr/>
            <p:nvPr/>
          </p:nvGrpSpPr>
          <p:grpSpPr>
            <a:xfrm>
              <a:off x="6952250" y="4692287"/>
              <a:ext cx="1731368" cy="461665"/>
              <a:chOff x="6777168" y="1751197"/>
              <a:chExt cx="1731368" cy="461665"/>
            </a:xfrm>
          </p:grpSpPr>
          <p:pic>
            <p:nvPicPr>
              <p:cNvPr id="1035" name="Graphic 26" descr="Amazon Simple Queue Service (Amazon SQS) service icon.">
                <a:extLst>
                  <a:ext uri="{FF2B5EF4-FFF2-40B4-BE49-F238E27FC236}">
                    <a16:creationId xmlns:a16="http://schemas.microsoft.com/office/drawing/2014/main" id="{BA4A726B-2413-7735-6522-39B272A39F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 bwMode="auto">
              <a:xfrm>
                <a:off x="6777168" y="1805950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6" name="TextBox 11">
                <a:extLst>
                  <a:ext uri="{FF2B5EF4-FFF2-40B4-BE49-F238E27FC236}">
                    <a16:creationId xmlns:a16="http://schemas.microsoft.com/office/drawing/2014/main" id="{F46682F3-E835-DA0E-CF3C-4D37E3BD81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9589" y="1751197"/>
                <a:ext cx="139894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 DLQ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</a:rPr>
                  <a:t>dead-letter queue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487AB544-DC83-4E54-760D-8F5DC14F5F99}"/>
              </a:ext>
            </a:extLst>
          </p:cNvPr>
          <p:cNvGrpSpPr/>
          <p:nvPr/>
        </p:nvGrpSpPr>
        <p:grpSpPr>
          <a:xfrm>
            <a:off x="5429972" y="1571881"/>
            <a:ext cx="1799411" cy="928020"/>
            <a:chOff x="6884207" y="4244361"/>
            <a:chExt cx="1799411" cy="928020"/>
          </a:xfrm>
        </p:grpSpPr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DA098336-18C5-AD20-92FF-C8DACD06E216}"/>
                </a:ext>
              </a:extLst>
            </p:cNvPr>
            <p:cNvSpPr/>
            <p:nvPr/>
          </p:nvSpPr>
          <p:spPr>
            <a:xfrm>
              <a:off x="6884207" y="4244361"/>
              <a:ext cx="1761068" cy="928020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45720" rtlCol="0" anchor="t"/>
            <a:lstStyle/>
            <a:p>
              <a:r>
                <a:rPr lang="en-US" sz="1200" i="1" dirty="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1043" name="Group 1042">
              <a:extLst>
                <a:ext uri="{FF2B5EF4-FFF2-40B4-BE49-F238E27FC236}">
                  <a16:creationId xmlns:a16="http://schemas.microsoft.com/office/drawing/2014/main" id="{60F4053C-DFB0-ACA3-C002-C0C181086936}"/>
                </a:ext>
              </a:extLst>
            </p:cNvPr>
            <p:cNvGrpSpPr/>
            <p:nvPr/>
          </p:nvGrpSpPr>
          <p:grpSpPr>
            <a:xfrm>
              <a:off x="6952250" y="4244361"/>
              <a:ext cx="1659100" cy="461665"/>
              <a:chOff x="6777168" y="1751197"/>
              <a:chExt cx="1659100" cy="461665"/>
            </a:xfrm>
          </p:grpSpPr>
          <p:pic>
            <p:nvPicPr>
              <p:cNvPr id="1047" name="Graphic 26" descr="Amazon Simple Queue Service (Amazon SQS) service icon.">
                <a:extLst>
                  <a:ext uri="{FF2B5EF4-FFF2-40B4-BE49-F238E27FC236}">
                    <a16:creationId xmlns:a16="http://schemas.microsoft.com/office/drawing/2014/main" id="{F8843F37-93A8-1F5E-560B-B44B1D779E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 bwMode="auto">
              <a:xfrm>
                <a:off x="6777168" y="1805950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8" name="TextBox 11">
                <a:extLst>
                  <a:ext uri="{FF2B5EF4-FFF2-40B4-BE49-F238E27FC236}">
                    <a16:creationId xmlns:a16="http://schemas.microsoft.com/office/drawing/2014/main" id="{8E78425A-3E19-E6C5-37A0-7840A1DFDB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9589" y="1751197"/>
                <a:ext cx="132667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</a:rPr>
                  <a:t>queue to send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44" name="Group 1043">
              <a:extLst>
                <a:ext uri="{FF2B5EF4-FFF2-40B4-BE49-F238E27FC236}">
                  <a16:creationId xmlns:a16="http://schemas.microsoft.com/office/drawing/2014/main" id="{FBCA9FF6-BDBD-F832-CEA5-6A2B996F95CC}"/>
                </a:ext>
              </a:extLst>
            </p:cNvPr>
            <p:cNvGrpSpPr/>
            <p:nvPr/>
          </p:nvGrpSpPr>
          <p:grpSpPr>
            <a:xfrm>
              <a:off x="6952250" y="4692287"/>
              <a:ext cx="1731368" cy="461665"/>
              <a:chOff x="6777168" y="1751197"/>
              <a:chExt cx="1731368" cy="461665"/>
            </a:xfrm>
          </p:grpSpPr>
          <p:pic>
            <p:nvPicPr>
              <p:cNvPr id="1045" name="Graphic 26" descr="Amazon Simple Queue Service (Amazon SQS) service icon.">
                <a:extLst>
                  <a:ext uri="{FF2B5EF4-FFF2-40B4-BE49-F238E27FC236}">
                    <a16:creationId xmlns:a16="http://schemas.microsoft.com/office/drawing/2014/main" id="{9381C6BD-1CEB-02F9-DD5C-6A89227A86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 bwMode="auto">
              <a:xfrm>
                <a:off x="6777168" y="1805950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6" name="TextBox 11">
                <a:extLst>
                  <a:ext uri="{FF2B5EF4-FFF2-40B4-BE49-F238E27FC236}">
                    <a16:creationId xmlns:a16="http://schemas.microsoft.com/office/drawing/2014/main" id="{65C959A9-B244-3E80-91CF-9633A7B9CC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9589" y="1751197"/>
                <a:ext cx="139894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 DLQ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</a:rPr>
                  <a:t>dead-letter queue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053" name="Straight Arrow Connector 12">
            <a:extLst>
              <a:ext uri="{FF2B5EF4-FFF2-40B4-BE49-F238E27FC236}">
                <a16:creationId xmlns:a16="http://schemas.microsoft.com/office/drawing/2014/main" id="{13861345-2AD3-1C77-5BE8-5DEE4E46D249}"/>
              </a:ext>
            </a:extLst>
          </p:cNvPr>
          <p:cNvCxnSpPr>
            <a:cxnSpLocks/>
            <a:stCxn id="1025" idx="0"/>
            <a:endCxn id="1048" idx="0"/>
          </p:cNvCxnSpPr>
          <p:nvPr/>
        </p:nvCxnSpPr>
        <p:spPr>
          <a:xfrm rot="16200000" flipH="1" flipV="1">
            <a:off x="7138393" y="783576"/>
            <a:ext cx="143688" cy="1432922"/>
          </a:xfrm>
          <a:prstGeom prst="bentConnector3">
            <a:avLst>
              <a:gd name="adj1" fmla="val -159095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6" name="TextBox 1055">
            <a:extLst>
              <a:ext uri="{FF2B5EF4-FFF2-40B4-BE49-F238E27FC236}">
                <a16:creationId xmlns:a16="http://schemas.microsoft.com/office/drawing/2014/main" id="{E25ABCF8-85AA-7A79-5FED-013CDA0901CE}"/>
              </a:ext>
            </a:extLst>
          </p:cNvPr>
          <p:cNvSpPr txBox="1"/>
          <p:nvPr/>
        </p:nvSpPr>
        <p:spPr>
          <a:xfrm>
            <a:off x="6384299" y="902570"/>
            <a:ext cx="1550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give up on 4XX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F4735E68-9B52-8508-12F3-C118B02BDB4F}"/>
              </a:ext>
            </a:extLst>
          </p:cNvPr>
          <p:cNvSpPr txBox="1"/>
          <p:nvPr/>
        </p:nvSpPr>
        <p:spPr>
          <a:xfrm>
            <a:off x="206409" y="6409189"/>
            <a:ext cx="192360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ASYNC MESSAGES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73E91558-1BCF-1765-15F0-822D5BFF42BD}"/>
              </a:ext>
            </a:extLst>
          </p:cNvPr>
          <p:cNvSpPr txBox="1"/>
          <p:nvPr/>
        </p:nvSpPr>
        <p:spPr>
          <a:xfrm>
            <a:off x="6386105" y="721575"/>
            <a:ext cx="1550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retry on 5XX</a:t>
            </a:r>
          </a:p>
        </p:txBody>
      </p: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E8FEBF1C-710F-0FAD-AAEE-6CE54FD6B15F}"/>
              </a:ext>
            </a:extLst>
          </p:cNvPr>
          <p:cNvGrpSpPr/>
          <p:nvPr/>
        </p:nvGrpSpPr>
        <p:grpSpPr>
          <a:xfrm>
            <a:off x="8052667" y="560653"/>
            <a:ext cx="1474773" cy="470855"/>
            <a:chOff x="6773333" y="2628324"/>
            <a:chExt cx="1474773" cy="470855"/>
          </a:xfrm>
        </p:grpSpPr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D2F95F5D-8ECE-D4DB-D82F-BF6BE0CAF41E}"/>
                </a:ext>
              </a:extLst>
            </p:cNvPr>
            <p:cNvSpPr/>
            <p:nvPr/>
          </p:nvSpPr>
          <p:spPr>
            <a:xfrm>
              <a:off x="6773333" y="2628324"/>
              <a:ext cx="1474773" cy="47010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1064" name="Group 1063">
              <a:extLst>
                <a:ext uri="{FF2B5EF4-FFF2-40B4-BE49-F238E27FC236}">
                  <a16:creationId xmlns:a16="http://schemas.microsoft.com/office/drawing/2014/main" id="{EE1FA7A8-D1F9-87D6-5472-55B67BE1B8D4}"/>
                </a:ext>
              </a:extLst>
            </p:cNvPr>
            <p:cNvGrpSpPr/>
            <p:nvPr/>
          </p:nvGrpSpPr>
          <p:grpSpPr>
            <a:xfrm>
              <a:off x="6843448" y="2632687"/>
              <a:ext cx="1404658" cy="461665"/>
              <a:chOff x="5536593" y="37320"/>
              <a:chExt cx="1404658" cy="461665"/>
            </a:xfrm>
          </p:grpSpPr>
          <p:pic>
            <p:nvPicPr>
              <p:cNvPr id="1066" name="Graphic 21" descr="Amazon Route 53 service icon.">
                <a:extLst>
                  <a:ext uri="{FF2B5EF4-FFF2-40B4-BE49-F238E27FC236}">
                    <a16:creationId xmlns:a16="http://schemas.microsoft.com/office/drawing/2014/main" id="{9B3D5676-68B3-4765-4B09-64221893F3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 bwMode="auto">
              <a:xfrm>
                <a:off x="5536593" y="8803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7" name="TextBox 12">
                <a:extLst>
                  <a:ext uri="{FF2B5EF4-FFF2-40B4-BE49-F238E27FC236}">
                    <a16:creationId xmlns:a16="http://schemas.microsoft.com/office/drawing/2014/main" id="{3B760DE9-F074-2552-9EDE-9CFCAA83E5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73753" y="37320"/>
                <a:ext cx="106749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Route 53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DKIM record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15DC0E5C-17F6-7635-85BE-B132A3E0EE1F}"/>
                </a:ext>
              </a:extLst>
            </p:cNvPr>
            <p:cNvSpPr txBox="1"/>
            <p:nvPr/>
          </p:nvSpPr>
          <p:spPr>
            <a:xfrm>
              <a:off x="6896448" y="2632687"/>
              <a:ext cx="254000" cy="466492"/>
            </a:xfrm>
            <a:prstGeom prst="rect">
              <a:avLst/>
            </a:prstGeom>
            <a:noFill/>
          </p:spPr>
          <p:txBody>
            <a:bodyPr wrap="none" lIns="0" rIns="0" rtlCol="0">
              <a:noAutofit/>
            </a:bodyPr>
            <a:lstStyle/>
            <a:p>
              <a:pPr algn="l"/>
              <a:r>
                <a:rPr lang="en-US" dirty="0"/>
                <a:t>   </a:t>
              </a:r>
            </a:p>
          </p:txBody>
        </p:sp>
      </p:grp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58AEBBD-27F2-3525-1DFB-C71926DDE3E3}"/>
              </a:ext>
            </a:extLst>
          </p:cNvPr>
          <p:cNvSpPr txBox="1"/>
          <p:nvPr/>
        </p:nvSpPr>
        <p:spPr>
          <a:xfrm>
            <a:off x="9795814" y="488881"/>
            <a:ext cx="14223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get public key</a:t>
            </a:r>
          </a:p>
        </p:txBody>
      </p:sp>
      <p:cxnSp>
        <p:nvCxnSpPr>
          <p:cNvPr id="1069" name="Straight Arrow Connector 12">
            <a:extLst>
              <a:ext uri="{FF2B5EF4-FFF2-40B4-BE49-F238E27FC236}">
                <a16:creationId xmlns:a16="http://schemas.microsoft.com/office/drawing/2014/main" id="{E7EC7312-FFC5-3FF6-2B19-573D035B8E96}"/>
              </a:ext>
            </a:extLst>
          </p:cNvPr>
          <p:cNvCxnSpPr>
            <a:cxnSpLocks/>
            <a:stCxn id="20" idx="0"/>
            <a:endCxn id="1063" idx="3"/>
          </p:cNvCxnSpPr>
          <p:nvPr/>
        </p:nvCxnSpPr>
        <p:spPr>
          <a:xfrm rot="16200000" flipV="1">
            <a:off x="9904913" y="418235"/>
            <a:ext cx="732392" cy="1487337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32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EE4C6-2FB0-ED30-4B97-BEC8088D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Rectangle 1105">
            <a:extLst>
              <a:ext uri="{FF2B5EF4-FFF2-40B4-BE49-F238E27FC236}">
                <a16:creationId xmlns:a16="http://schemas.microsoft.com/office/drawing/2014/main" id="{F5EAB2FF-A770-6149-3A74-FD386096C9B9}"/>
              </a:ext>
            </a:extLst>
          </p:cNvPr>
          <p:cNvSpPr/>
          <p:nvPr/>
        </p:nvSpPr>
        <p:spPr>
          <a:xfrm>
            <a:off x="8470642" y="1271451"/>
            <a:ext cx="3382940" cy="408030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b"/>
          <a:lstStyle/>
          <a:p>
            <a:pPr algn="ctr"/>
            <a:endParaRPr lang="en-US" sz="1600" i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073D0F26-F20C-5EC1-7236-5D11830C78A1}"/>
              </a:ext>
            </a:extLst>
          </p:cNvPr>
          <p:cNvSpPr/>
          <p:nvPr/>
        </p:nvSpPr>
        <p:spPr>
          <a:xfrm>
            <a:off x="657518" y="3692433"/>
            <a:ext cx="3279215" cy="165462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b"/>
          <a:lstStyle/>
          <a:p>
            <a:pPr algn="ctr"/>
            <a:endParaRPr lang="en-US" sz="1600" i="1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046" name="Straight Arrow Connector 12">
            <a:extLst>
              <a:ext uri="{FF2B5EF4-FFF2-40B4-BE49-F238E27FC236}">
                <a16:creationId xmlns:a16="http://schemas.microsoft.com/office/drawing/2014/main" id="{029C0144-5CF5-EF97-DF38-1F3C49B62530}"/>
              </a:ext>
            </a:extLst>
          </p:cNvPr>
          <p:cNvCxnSpPr>
            <a:cxnSpLocks/>
            <a:stCxn id="1050" idx="2"/>
            <a:endCxn id="88" idx="0"/>
          </p:cNvCxnSpPr>
          <p:nvPr/>
        </p:nvCxnSpPr>
        <p:spPr>
          <a:xfrm flipH="1">
            <a:off x="2552613" y="803386"/>
            <a:ext cx="1" cy="119085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8B648998-8B5C-3A5C-EDE7-FF61ABCDF3B4}"/>
              </a:ext>
            </a:extLst>
          </p:cNvPr>
          <p:cNvSpPr/>
          <p:nvPr/>
        </p:nvSpPr>
        <p:spPr>
          <a:xfrm>
            <a:off x="4719949" y="3692433"/>
            <a:ext cx="3378322" cy="165462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b"/>
          <a:lstStyle/>
          <a:p>
            <a:pPr algn="ctr"/>
            <a:endParaRPr lang="en-US" sz="1600" i="1" dirty="0">
              <a:solidFill>
                <a:schemeClr val="tx1">
                  <a:lumMod val="75000"/>
                </a:schemeClr>
              </a:solidFill>
            </a:endParaRPr>
          </a:p>
        </p:txBody>
      </p:sp>
      <p:grpSp>
        <p:nvGrpSpPr>
          <p:cNvPr id="16" name="Group 15" descr="Region group.">
            <a:extLst>
              <a:ext uri="{FF2B5EF4-FFF2-40B4-BE49-F238E27FC236}">
                <a16:creationId xmlns:a16="http://schemas.microsoft.com/office/drawing/2014/main" id="{A160E8D1-D297-644F-F8BF-C352DCCF8625}"/>
              </a:ext>
            </a:extLst>
          </p:cNvPr>
          <p:cNvGrpSpPr/>
          <p:nvPr/>
        </p:nvGrpSpPr>
        <p:grpSpPr>
          <a:xfrm>
            <a:off x="4430063" y="1165911"/>
            <a:ext cx="7518085" cy="4294362"/>
            <a:chOff x="4215623" y="1281843"/>
            <a:chExt cx="7518085" cy="4294362"/>
          </a:xfrm>
        </p:grpSpPr>
        <p:sp>
          <p:nvSpPr>
            <p:cNvPr id="17" name="Rectangle 16" descr="Region group">
              <a:extLst>
                <a:ext uri="{FF2B5EF4-FFF2-40B4-BE49-F238E27FC236}">
                  <a16:creationId xmlns:a16="http://schemas.microsoft.com/office/drawing/2014/main" id="{A0B18B0F-FB8C-17A4-5EBE-DA409E5AAEC9}"/>
                </a:ext>
              </a:extLst>
            </p:cNvPr>
            <p:cNvSpPr/>
            <p:nvPr/>
          </p:nvSpPr>
          <p:spPr>
            <a:xfrm>
              <a:off x="4215623" y="1281843"/>
              <a:ext cx="7518085" cy="4294362"/>
            </a:xfrm>
            <a:prstGeom prst="rect">
              <a:avLst/>
            </a:prstGeom>
            <a:noFill/>
            <a:ln w="15875" cap="flat" cmpd="sng" algn="ctr">
              <a:solidFill>
                <a:srgbClr val="00A4A6"/>
              </a:solidFill>
              <a:prstDash val="sysDash"/>
              <a:miter lim="800000"/>
            </a:ln>
            <a:effectLst/>
          </p:spPr>
          <p:txBody>
            <a:bodyPr lIns="502920" tIns="9144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Region</a:t>
              </a:r>
            </a:p>
          </p:txBody>
        </p:sp>
        <p:pic>
          <p:nvPicPr>
            <p:cNvPr id="18" name="Graphic 17" descr="Region group icon.">
              <a:extLst>
                <a:ext uri="{FF2B5EF4-FFF2-40B4-BE49-F238E27FC236}">
                  <a16:creationId xmlns:a16="http://schemas.microsoft.com/office/drawing/2014/main" id="{61B843CD-54A1-50F8-E1BA-57E556FF7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215623" y="1281844"/>
              <a:ext cx="381000" cy="381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4DC5CE8-2EB0-46B0-A5D3-7124D4F39B25}"/>
              </a:ext>
            </a:extLst>
          </p:cNvPr>
          <p:cNvGrpSpPr/>
          <p:nvPr/>
        </p:nvGrpSpPr>
        <p:grpSpPr>
          <a:xfrm>
            <a:off x="4594664" y="1994240"/>
            <a:ext cx="1151085" cy="1223665"/>
            <a:chOff x="4453162" y="1952462"/>
            <a:chExt cx="1151085" cy="1223665"/>
          </a:xfrm>
        </p:grpSpPr>
        <p:pic>
          <p:nvPicPr>
            <p:cNvPr id="25" name="Graphic 7" descr="Amazon API Gateway service icon.">
              <a:extLst>
                <a:ext uri="{FF2B5EF4-FFF2-40B4-BE49-F238E27FC236}">
                  <a16:creationId xmlns:a16="http://schemas.microsoft.com/office/drawing/2014/main" id="{B854F162-A269-1CBC-85E4-921EAE580D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4646911" y="1952462"/>
              <a:ext cx="763200" cy="76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EC4A2C8E-0175-80F3-22EE-AA72AC22A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3162" y="2714462"/>
              <a:ext cx="11510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API Gateway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endpoint</a:t>
              </a:r>
              <a:endPara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A337D7-C11F-1150-B1B1-9178E21B15A1}"/>
              </a:ext>
            </a:extLst>
          </p:cNvPr>
          <p:cNvGrpSpPr/>
          <p:nvPr/>
        </p:nvGrpSpPr>
        <p:grpSpPr>
          <a:xfrm>
            <a:off x="6016287" y="1994239"/>
            <a:ext cx="803455" cy="1194880"/>
            <a:chOff x="5766054" y="1952461"/>
            <a:chExt cx="803455" cy="1194880"/>
          </a:xfrm>
        </p:grpSpPr>
        <p:pic>
          <p:nvPicPr>
            <p:cNvPr id="28" name="Graphic 10" descr="AWS Lambda service icon.">
              <a:extLst>
                <a:ext uri="{FF2B5EF4-FFF2-40B4-BE49-F238E27FC236}">
                  <a16:creationId xmlns:a16="http://schemas.microsoft.com/office/drawing/2014/main" id="{D523A8A6-FB7B-2EFD-2AF3-C1836C8D3A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5780431" y="1952461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TextBox 20">
              <a:extLst>
                <a:ext uri="{FF2B5EF4-FFF2-40B4-BE49-F238E27FC236}">
                  <a16:creationId xmlns:a16="http://schemas.microsoft.com/office/drawing/2014/main" id="{FA28315A-F390-CC06-75ED-A8FCEB227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6054" y="2713667"/>
              <a:ext cx="803455" cy="433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180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opener</a:t>
              </a:r>
              <a:endPara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534EF2F1-C33D-C6AE-EC14-7B54390E0895}"/>
              </a:ext>
            </a:extLst>
          </p:cNvPr>
          <p:cNvSpPr/>
          <p:nvPr/>
        </p:nvSpPr>
        <p:spPr>
          <a:xfrm>
            <a:off x="142835" y="1041024"/>
            <a:ext cx="11916525" cy="5629739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C8286B1-E567-DC3C-C2E5-359DD94AAF6E}"/>
              </a:ext>
            </a:extLst>
          </p:cNvPr>
          <p:cNvGrpSpPr/>
          <p:nvPr/>
        </p:nvGrpSpPr>
        <p:grpSpPr>
          <a:xfrm>
            <a:off x="245576" y="1998273"/>
            <a:ext cx="1169823" cy="1225252"/>
            <a:chOff x="670333" y="3681505"/>
            <a:chExt cx="1169823" cy="1225252"/>
          </a:xfrm>
        </p:grpSpPr>
        <p:pic>
          <p:nvPicPr>
            <p:cNvPr id="85" name="Graphic 21" descr="Amazon Route 53 service icon.">
              <a:extLst>
                <a:ext uri="{FF2B5EF4-FFF2-40B4-BE49-F238E27FC236}">
                  <a16:creationId xmlns:a16="http://schemas.microsoft.com/office/drawing/2014/main" id="{D248027D-7AEC-1FCF-1083-D6C9AB8D7E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863131" y="3681505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TextBox 12">
              <a:extLst>
                <a:ext uri="{FF2B5EF4-FFF2-40B4-BE49-F238E27FC236}">
                  <a16:creationId xmlns:a16="http://schemas.microsoft.com/office/drawing/2014/main" id="{BBFBA70D-4140-E64A-7BF8-894C44392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333" y="4445092"/>
              <a:ext cx="116982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Route 53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domain name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9BCA809-F9D4-0406-9FF4-5F4CE634E520}"/>
              </a:ext>
            </a:extLst>
          </p:cNvPr>
          <p:cNvGrpSpPr/>
          <p:nvPr/>
        </p:nvGrpSpPr>
        <p:grpSpPr>
          <a:xfrm>
            <a:off x="2066523" y="1994240"/>
            <a:ext cx="972180" cy="1195674"/>
            <a:chOff x="2396532" y="1952677"/>
            <a:chExt cx="972180" cy="1195674"/>
          </a:xfrm>
        </p:grpSpPr>
        <p:pic>
          <p:nvPicPr>
            <p:cNvPr id="88" name="Graphic 19" descr="Amazon CloudFront service icon.">
              <a:extLst>
                <a:ext uri="{FF2B5EF4-FFF2-40B4-BE49-F238E27FC236}">
                  <a16:creationId xmlns:a16="http://schemas.microsoft.com/office/drawing/2014/main" id="{AC5D5729-4A90-A28C-49AC-44670BA38F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2501622" y="1952677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TextBox 11">
              <a:extLst>
                <a:ext uri="{FF2B5EF4-FFF2-40B4-BE49-F238E27FC236}">
                  <a16:creationId xmlns:a16="http://schemas.microsoft.com/office/drawing/2014/main" id="{BB4DB45B-55D7-5965-5CB8-DE5E7DFFF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532" y="2714677"/>
              <a:ext cx="972180" cy="433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180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CloudFront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distribution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7E18B4B-FED0-7B1D-07FA-8E82D7F11D2A}"/>
              </a:ext>
            </a:extLst>
          </p:cNvPr>
          <p:cNvGrpSpPr/>
          <p:nvPr/>
        </p:nvGrpSpPr>
        <p:grpSpPr>
          <a:xfrm>
            <a:off x="2595218" y="3874392"/>
            <a:ext cx="1557032" cy="1409918"/>
            <a:chOff x="2104106" y="3681505"/>
            <a:chExt cx="1557032" cy="1409918"/>
          </a:xfrm>
        </p:grpSpPr>
        <p:pic>
          <p:nvPicPr>
            <p:cNvPr id="91" name="Graphic 21" descr="Amazon Route 53 service icon.">
              <a:extLst>
                <a:ext uri="{FF2B5EF4-FFF2-40B4-BE49-F238E27FC236}">
                  <a16:creationId xmlns:a16="http://schemas.microsoft.com/office/drawing/2014/main" id="{A6CB2382-2E08-E2B0-136F-514CA3F30E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2501622" y="3681505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TextBox 12">
              <a:extLst>
                <a:ext uri="{FF2B5EF4-FFF2-40B4-BE49-F238E27FC236}">
                  <a16:creationId xmlns:a16="http://schemas.microsoft.com/office/drawing/2014/main" id="{1CA16FE2-3846-4D05-5227-F8634ADF0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4106" y="4445092"/>
              <a:ext cx="155703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Route 53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latency-base routing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DD2E9E2-1A44-C424-8933-39E029C80256}"/>
              </a:ext>
            </a:extLst>
          </p:cNvPr>
          <p:cNvGrpSpPr/>
          <p:nvPr/>
        </p:nvGrpSpPr>
        <p:grpSpPr>
          <a:xfrm>
            <a:off x="4790668" y="3882190"/>
            <a:ext cx="1063476" cy="1402120"/>
            <a:chOff x="6636554" y="3628024"/>
            <a:chExt cx="1063476" cy="1402120"/>
          </a:xfrm>
        </p:grpSpPr>
        <p:pic>
          <p:nvPicPr>
            <p:cNvPr id="124" name="Graphic 23" descr="Amazon DynamoDB service icon.">
              <a:extLst>
                <a:ext uri="{FF2B5EF4-FFF2-40B4-BE49-F238E27FC236}">
                  <a16:creationId xmlns:a16="http://schemas.microsoft.com/office/drawing/2014/main" id="{96D99124-9C54-24A2-7A39-8BB6DF02FB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6776179" y="3628024"/>
              <a:ext cx="762000" cy="763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TextBox 12">
              <a:extLst>
                <a:ext uri="{FF2B5EF4-FFF2-40B4-BE49-F238E27FC236}">
                  <a16:creationId xmlns:a16="http://schemas.microsoft.com/office/drawing/2014/main" id="{A31AA838-C154-8A63-634C-4A506783C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6554" y="4383813"/>
              <a:ext cx="106347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DynamoDB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de-duplicate requests</a:t>
              </a:r>
              <a:endParaRPr lang="en-US" alt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endParaRPr>
            </a:p>
          </p:txBody>
        </p:sp>
      </p:grpSp>
      <p:cxnSp>
        <p:nvCxnSpPr>
          <p:cNvPr id="126" name="Straight Arrow Connector 12">
            <a:extLst>
              <a:ext uri="{FF2B5EF4-FFF2-40B4-BE49-F238E27FC236}">
                <a16:creationId xmlns:a16="http://schemas.microsoft.com/office/drawing/2014/main" id="{3B581673-5ED2-7354-CD73-AA341E5903D3}"/>
              </a:ext>
            </a:extLst>
          </p:cNvPr>
          <p:cNvCxnSpPr>
            <a:cxnSpLocks/>
            <a:stCxn id="29" idx="2"/>
            <a:endCxn id="124" idx="0"/>
          </p:cNvCxnSpPr>
          <p:nvPr/>
        </p:nvCxnSpPr>
        <p:spPr>
          <a:xfrm rot="5400000">
            <a:off x="5518119" y="2982293"/>
            <a:ext cx="693071" cy="11067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93E05AB-5ED6-6340-93F8-D42EFADCDD00}"/>
              </a:ext>
            </a:extLst>
          </p:cNvPr>
          <p:cNvGrpSpPr/>
          <p:nvPr/>
        </p:nvGrpSpPr>
        <p:grpSpPr>
          <a:xfrm>
            <a:off x="6999959" y="3882190"/>
            <a:ext cx="1063476" cy="1402120"/>
            <a:chOff x="6636554" y="3628024"/>
            <a:chExt cx="1063476" cy="1402120"/>
          </a:xfrm>
        </p:grpSpPr>
        <p:pic>
          <p:nvPicPr>
            <p:cNvPr id="130" name="Graphic 23" descr="Amazon DynamoDB service icon.">
              <a:extLst>
                <a:ext uri="{FF2B5EF4-FFF2-40B4-BE49-F238E27FC236}">
                  <a16:creationId xmlns:a16="http://schemas.microsoft.com/office/drawing/2014/main" id="{3EEAE723-F2F5-61CD-6688-2720D4D31A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6776179" y="3628024"/>
              <a:ext cx="762000" cy="763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" name="TextBox 12">
              <a:extLst>
                <a:ext uri="{FF2B5EF4-FFF2-40B4-BE49-F238E27FC236}">
                  <a16:creationId xmlns:a16="http://schemas.microsoft.com/office/drawing/2014/main" id="{3384093E-BB37-971B-0EF5-0C320CA42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6554" y="4383813"/>
              <a:ext cx="106347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DynamoDB</a:t>
              </a:r>
              <a:br>
                <a:rPr lang="en-US" altLang="en-US" sz="5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map to  handlers</a:t>
              </a:r>
              <a:endParaRPr lang="en-US" alt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endParaRPr>
            </a:p>
          </p:txBody>
        </p:sp>
      </p:grpSp>
      <p:cxnSp>
        <p:nvCxnSpPr>
          <p:cNvPr id="132" name="Straight Arrow Connector 12">
            <a:extLst>
              <a:ext uri="{FF2B5EF4-FFF2-40B4-BE49-F238E27FC236}">
                <a16:creationId xmlns:a16="http://schemas.microsoft.com/office/drawing/2014/main" id="{534BA280-0012-5B84-BCF7-3F40A24207EA}"/>
              </a:ext>
            </a:extLst>
          </p:cNvPr>
          <p:cNvCxnSpPr>
            <a:cxnSpLocks/>
            <a:stCxn id="29" idx="2"/>
            <a:endCxn id="130" idx="0"/>
          </p:cNvCxnSpPr>
          <p:nvPr/>
        </p:nvCxnSpPr>
        <p:spPr>
          <a:xfrm rot="16200000" flipH="1">
            <a:off x="6622764" y="2984369"/>
            <a:ext cx="693071" cy="110256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E9BAE49-F373-4E19-A7B1-F4B3F398804F}"/>
              </a:ext>
            </a:extLst>
          </p:cNvPr>
          <p:cNvGrpSpPr/>
          <p:nvPr/>
        </p:nvGrpSpPr>
        <p:grpSpPr>
          <a:xfrm>
            <a:off x="5899668" y="3882190"/>
            <a:ext cx="1063476" cy="1402120"/>
            <a:chOff x="6636554" y="3628024"/>
            <a:chExt cx="1063476" cy="1402120"/>
          </a:xfrm>
        </p:grpSpPr>
        <p:pic>
          <p:nvPicPr>
            <p:cNvPr id="136" name="Graphic 23" descr="Amazon DynamoDB service icon.">
              <a:extLst>
                <a:ext uri="{FF2B5EF4-FFF2-40B4-BE49-F238E27FC236}">
                  <a16:creationId xmlns:a16="http://schemas.microsoft.com/office/drawing/2014/main" id="{32903D93-E7CB-6923-60BA-00AF821F54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6776179" y="3628024"/>
              <a:ext cx="762000" cy="763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7" name="TextBox 12">
              <a:extLst>
                <a:ext uri="{FF2B5EF4-FFF2-40B4-BE49-F238E27FC236}">
                  <a16:creationId xmlns:a16="http://schemas.microsoft.com/office/drawing/2014/main" id="{68BA64C2-2B52-5091-1D4E-6F9F7F16E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6554" y="4383813"/>
              <a:ext cx="106347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DynamoDB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public key cache</a:t>
              </a:r>
              <a:endParaRPr lang="en-US" alt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endParaRPr>
            </a:p>
          </p:txBody>
        </p:sp>
      </p:grpSp>
      <p:cxnSp>
        <p:nvCxnSpPr>
          <p:cNvPr id="138" name="Straight Arrow Connector 12">
            <a:extLst>
              <a:ext uri="{FF2B5EF4-FFF2-40B4-BE49-F238E27FC236}">
                <a16:creationId xmlns:a16="http://schemas.microsoft.com/office/drawing/2014/main" id="{A6606947-AE5D-F84F-72F8-06DA54AFC3E6}"/>
              </a:ext>
            </a:extLst>
          </p:cNvPr>
          <p:cNvCxnSpPr>
            <a:cxnSpLocks/>
            <a:stCxn id="29" idx="2"/>
            <a:endCxn id="136" idx="0"/>
          </p:cNvCxnSpPr>
          <p:nvPr/>
        </p:nvCxnSpPr>
        <p:spPr>
          <a:xfrm rot="16200000" flipH="1">
            <a:off x="6072619" y="3534515"/>
            <a:ext cx="693071" cy="227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7" name="Straight Arrow Connector 12">
            <a:extLst>
              <a:ext uri="{FF2B5EF4-FFF2-40B4-BE49-F238E27FC236}">
                <a16:creationId xmlns:a16="http://schemas.microsoft.com/office/drawing/2014/main" id="{FA82DBD8-2442-5FEA-F658-EB741C3392EE}"/>
              </a:ext>
            </a:extLst>
          </p:cNvPr>
          <p:cNvCxnSpPr>
            <a:cxnSpLocks/>
            <a:stCxn id="25" idx="3"/>
            <a:endCxn id="28" idx="1"/>
          </p:cNvCxnSpPr>
          <p:nvPr/>
        </p:nvCxnSpPr>
        <p:spPr>
          <a:xfrm flipV="1">
            <a:off x="5551613" y="2375239"/>
            <a:ext cx="479051" cy="60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B2E5D8E-3542-769D-A7E8-6E6D91D6CE8D}"/>
              </a:ext>
            </a:extLst>
          </p:cNvPr>
          <p:cNvSpPr/>
          <p:nvPr/>
        </p:nvSpPr>
        <p:spPr>
          <a:xfrm>
            <a:off x="3184731" y="238702"/>
            <a:ext cx="124843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📚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DNS</a:t>
            </a:r>
          </a:p>
        </p:txBody>
      </p:sp>
      <p:cxnSp>
        <p:nvCxnSpPr>
          <p:cNvPr id="168" name="Straight Arrow Connector 12">
            <a:extLst>
              <a:ext uri="{FF2B5EF4-FFF2-40B4-BE49-F238E27FC236}">
                <a16:creationId xmlns:a16="http://schemas.microsoft.com/office/drawing/2014/main" id="{DC54FE0E-B212-6DA0-D3BF-21CC02036564}"/>
              </a:ext>
            </a:extLst>
          </p:cNvPr>
          <p:cNvCxnSpPr>
            <a:cxnSpLocks/>
            <a:stCxn id="166" idx="3"/>
            <a:endCxn id="167" idx="1"/>
          </p:cNvCxnSpPr>
          <p:nvPr/>
        </p:nvCxnSpPr>
        <p:spPr>
          <a:xfrm flipV="1">
            <a:off x="2866280" y="519794"/>
            <a:ext cx="318451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32A44D5-592F-2B00-0A55-E6E051999004}"/>
              </a:ext>
            </a:extLst>
          </p:cNvPr>
          <p:cNvSpPr/>
          <p:nvPr/>
        </p:nvSpPr>
        <p:spPr>
          <a:xfrm>
            <a:off x="5460547" y="238702"/>
            <a:ext cx="190959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            API</a:t>
            </a:r>
          </a:p>
        </p:txBody>
      </p:sp>
      <p:cxnSp>
        <p:nvCxnSpPr>
          <p:cNvPr id="172" name="Straight Arrow Connector 12">
            <a:extLst>
              <a:ext uri="{FF2B5EF4-FFF2-40B4-BE49-F238E27FC236}">
                <a16:creationId xmlns:a16="http://schemas.microsoft.com/office/drawing/2014/main" id="{33485937-9965-46F8-E0BA-5BCB60CC024B}"/>
              </a:ext>
            </a:extLst>
          </p:cNvPr>
          <p:cNvCxnSpPr>
            <a:cxnSpLocks/>
            <a:stCxn id="171" idx="1"/>
            <a:endCxn id="167" idx="3"/>
          </p:cNvCxnSpPr>
          <p:nvPr/>
        </p:nvCxnSpPr>
        <p:spPr>
          <a:xfrm flipH="1">
            <a:off x="4433170" y="519794"/>
            <a:ext cx="1027377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7" name="Straight Arrow Connector 12">
            <a:extLst>
              <a:ext uri="{FF2B5EF4-FFF2-40B4-BE49-F238E27FC236}">
                <a16:creationId xmlns:a16="http://schemas.microsoft.com/office/drawing/2014/main" id="{2A994B3C-B58A-5F91-5AFC-48F3C44D848A}"/>
              </a:ext>
            </a:extLst>
          </p:cNvPr>
          <p:cNvCxnSpPr>
            <a:cxnSpLocks/>
            <a:stCxn id="28" idx="0"/>
            <a:endCxn id="171" idx="2"/>
          </p:cNvCxnSpPr>
          <p:nvPr/>
        </p:nvCxnSpPr>
        <p:spPr>
          <a:xfrm flipV="1">
            <a:off x="6411664" y="800885"/>
            <a:ext cx="3682" cy="119335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0" name="Straight Arrow Connector 12">
            <a:extLst>
              <a:ext uri="{FF2B5EF4-FFF2-40B4-BE49-F238E27FC236}">
                <a16:creationId xmlns:a16="http://schemas.microsoft.com/office/drawing/2014/main" id="{2EBDAEA3-1E76-8A53-2AC4-7017D6B72ECF}"/>
              </a:ext>
            </a:extLst>
          </p:cNvPr>
          <p:cNvCxnSpPr>
            <a:cxnSpLocks/>
            <a:stCxn id="28" idx="3"/>
            <a:endCxn id="1098" idx="1"/>
          </p:cNvCxnSpPr>
          <p:nvPr/>
        </p:nvCxnSpPr>
        <p:spPr>
          <a:xfrm flipV="1">
            <a:off x="6792664" y="1847445"/>
            <a:ext cx="4072190" cy="5277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Arrow Connector 12">
            <a:extLst>
              <a:ext uri="{FF2B5EF4-FFF2-40B4-BE49-F238E27FC236}">
                <a16:creationId xmlns:a16="http://schemas.microsoft.com/office/drawing/2014/main" id="{D06474A7-0738-360B-3A7E-93A2049AB74D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>
            <a:off x="6792664" y="2375239"/>
            <a:ext cx="3003903" cy="1099170"/>
          </a:xfrm>
          <a:prstGeom prst="bentConnector3">
            <a:avLst>
              <a:gd name="adj1" fmla="val 6786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3F001AB2-07AB-8EE9-0709-2C1C1FC5E9B6}"/>
              </a:ext>
            </a:extLst>
          </p:cNvPr>
          <p:cNvSpPr txBox="1"/>
          <p:nvPr/>
        </p:nvSpPr>
        <p:spPr>
          <a:xfrm>
            <a:off x="8845408" y="1872845"/>
            <a:ext cx="1096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synchronous handlers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253FB60C-8787-C7CF-5722-7EBF03019FAA}"/>
              </a:ext>
            </a:extLst>
          </p:cNvPr>
          <p:cNvSpPr txBox="1"/>
          <p:nvPr/>
        </p:nvSpPr>
        <p:spPr>
          <a:xfrm>
            <a:off x="8845408" y="2991704"/>
            <a:ext cx="1096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async handlers</a:t>
            </a:r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A0CACFB2-B828-632F-D762-AB3B207922FB}"/>
              </a:ext>
            </a:extLst>
          </p:cNvPr>
          <p:cNvGrpSpPr/>
          <p:nvPr/>
        </p:nvGrpSpPr>
        <p:grpSpPr>
          <a:xfrm>
            <a:off x="1833111" y="3875979"/>
            <a:ext cx="972180" cy="1408331"/>
            <a:chOff x="5037210" y="1910408"/>
            <a:chExt cx="972180" cy="1408331"/>
          </a:xfrm>
        </p:grpSpPr>
        <p:pic>
          <p:nvPicPr>
            <p:cNvPr id="1031" name="Graphic 8" descr="AWS WAF service icon.">
              <a:extLst>
                <a:ext uri="{FF2B5EF4-FFF2-40B4-BE49-F238E27FC236}">
                  <a16:creationId xmlns:a16="http://schemas.microsoft.com/office/drawing/2014/main" id="{D0CF715E-E4C2-CA10-410D-B42D5958C9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 bwMode="auto">
            <a:xfrm>
              <a:off x="5135950" y="1910408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2" name="TextBox 11">
              <a:extLst>
                <a:ext uri="{FF2B5EF4-FFF2-40B4-BE49-F238E27FC236}">
                  <a16:creationId xmlns:a16="http://schemas.microsoft.com/office/drawing/2014/main" id="{D5E4A73B-A8B8-985B-E2C6-C72EF1382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7210" y="2672408"/>
              <a:ext cx="97218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WAF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application firewall</a:t>
              </a:r>
              <a:endPara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033" name="Straight Arrow Connector 12">
            <a:extLst>
              <a:ext uri="{FF2B5EF4-FFF2-40B4-BE49-F238E27FC236}">
                <a16:creationId xmlns:a16="http://schemas.microsoft.com/office/drawing/2014/main" id="{DDF0A16A-C07E-80F7-601E-1296617BE20D}"/>
              </a:ext>
            </a:extLst>
          </p:cNvPr>
          <p:cNvCxnSpPr>
            <a:cxnSpLocks/>
            <a:stCxn id="89" idx="2"/>
            <a:endCxn id="1031" idx="0"/>
          </p:cNvCxnSpPr>
          <p:nvPr/>
        </p:nvCxnSpPr>
        <p:spPr>
          <a:xfrm rot="5400000">
            <a:off x="2089700" y="3413065"/>
            <a:ext cx="686065" cy="23976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2" name="Straight Arrow Connector 12">
            <a:extLst>
              <a:ext uri="{FF2B5EF4-FFF2-40B4-BE49-F238E27FC236}">
                <a16:creationId xmlns:a16="http://schemas.microsoft.com/office/drawing/2014/main" id="{9D3F4FAD-C1F0-E19A-55B3-4DDA02EEB292}"/>
              </a:ext>
            </a:extLst>
          </p:cNvPr>
          <p:cNvCxnSpPr>
            <a:cxnSpLocks/>
            <a:stCxn id="166" idx="1"/>
            <a:endCxn id="85" idx="0"/>
          </p:cNvCxnSpPr>
          <p:nvPr/>
        </p:nvCxnSpPr>
        <p:spPr>
          <a:xfrm rot="10800000" flipV="1">
            <a:off x="819375" y="519795"/>
            <a:ext cx="287779" cy="147847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62B0AAE-3A9C-6A2B-2AF6-B7B1D0460EF3}"/>
              </a:ext>
            </a:extLst>
          </p:cNvPr>
          <p:cNvSpPr/>
          <p:nvPr/>
        </p:nvSpPr>
        <p:spPr>
          <a:xfrm>
            <a:off x="1107153" y="238703"/>
            <a:ext cx="175912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4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Sender</a:t>
            </a:r>
          </a:p>
        </p:txBody>
      </p:sp>
      <p:pic>
        <p:nvPicPr>
          <p:cNvPr id="1049" name="Graphic 1048">
            <a:extLst>
              <a:ext uri="{FF2B5EF4-FFF2-40B4-BE49-F238E27FC236}">
                <a16:creationId xmlns:a16="http://schemas.microsoft.com/office/drawing/2014/main" id="{ACC5A082-1C64-7C50-6686-2B3D44EF74B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32640" y="1050429"/>
            <a:ext cx="381000" cy="381000"/>
          </a:xfrm>
          <a:prstGeom prst="rect">
            <a:avLst/>
          </a:prstGeom>
        </p:spPr>
      </p:pic>
      <p:sp>
        <p:nvSpPr>
          <p:cNvPr id="1050" name="TextBox 1049">
            <a:extLst>
              <a:ext uri="{FF2B5EF4-FFF2-40B4-BE49-F238E27FC236}">
                <a16:creationId xmlns:a16="http://schemas.microsoft.com/office/drawing/2014/main" id="{64C27B6F-AFAC-4670-5547-0866930BFD7D}"/>
              </a:ext>
            </a:extLst>
          </p:cNvPr>
          <p:cNvSpPr txBox="1"/>
          <p:nvPr/>
        </p:nvSpPr>
        <p:spPr>
          <a:xfrm>
            <a:off x="2414445" y="434054"/>
            <a:ext cx="27633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1052" name="Straight Arrow Connector 12">
            <a:extLst>
              <a:ext uri="{FF2B5EF4-FFF2-40B4-BE49-F238E27FC236}">
                <a16:creationId xmlns:a16="http://schemas.microsoft.com/office/drawing/2014/main" id="{2FABEFFF-FF2B-45E9-9ECB-CD3394DB7FBC}"/>
              </a:ext>
            </a:extLst>
          </p:cNvPr>
          <p:cNvCxnSpPr>
            <a:cxnSpLocks/>
            <a:stCxn id="88" idx="3"/>
            <a:endCxn id="25" idx="1"/>
          </p:cNvCxnSpPr>
          <p:nvPr/>
        </p:nvCxnSpPr>
        <p:spPr>
          <a:xfrm>
            <a:off x="2933613" y="2375240"/>
            <a:ext cx="1854800" cy="6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5" name="Straight Arrow Connector 12">
            <a:extLst>
              <a:ext uri="{FF2B5EF4-FFF2-40B4-BE49-F238E27FC236}">
                <a16:creationId xmlns:a16="http://schemas.microsoft.com/office/drawing/2014/main" id="{4AD1884B-88B1-BE80-E2FA-F2B1EF87942C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 rot="16200000" flipH="1">
            <a:off x="2620934" y="3121592"/>
            <a:ext cx="684478" cy="82112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F5B9DAC4-9999-B922-A5F9-6A57A590AE10}"/>
              </a:ext>
            </a:extLst>
          </p:cNvPr>
          <p:cNvGrpSpPr/>
          <p:nvPr/>
        </p:nvGrpSpPr>
        <p:grpSpPr>
          <a:xfrm>
            <a:off x="661589" y="3875979"/>
            <a:ext cx="1169822" cy="1408331"/>
            <a:chOff x="304539" y="4653556"/>
            <a:chExt cx="1169822" cy="1408331"/>
          </a:xfrm>
        </p:grpSpPr>
        <p:pic>
          <p:nvPicPr>
            <p:cNvPr id="1062" name="Graphic 20" descr="AWS Certificate Manager (ACM) service icon.">
              <a:extLst>
                <a:ext uri="{FF2B5EF4-FFF2-40B4-BE49-F238E27FC236}">
                  <a16:creationId xmlns:a16="http://schemas.microsoft.com/office/drawing/2014/main" id="{514DA2BF-DE44-BBA9-C3F4-CC268EA569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 bwMode="auto">
            <a:xfrm>
              <a:off x="498925" y="4653556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3" name="TextBox 12">
              <a:extLst>
                <a:ext uri="{FF2B5EF4-FFF2-40B4-BE49-F238E27FC236}">
                  <a16:creationId xmlns:a16="http://schemas.microsoft.com/office/drawing/2014/main" id="{53CAE7F9-2312-2975-A1EA-119CD680F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39" y="5415556"/>
              <a:ext cx="116982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ACM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domain certificate</a:t>
              </a:r>
              <a:endPara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066" name="Straight Arrow Connector 12">
            <a:extLst>
              <a:ext uri="{FF2B5EF4-FFF2-40B4-BE49-F238E27FC236}">
                <a16:creationId xmlns:a16="http://schemas.microsoft.com/office/drawing/2014/main" id="{B83041AC-E74D-587E-5054-C411375B2857}"/>
              </a:ext>
            </a:extLst>
          </p:cNvPr>
          <p:cNvCxnSpPr>
            <a:cxnSpLocks/>
            <a:stCxn id="89" idx="2"/>
            <a:endCxn id="1062" idx="0"/>
          </p:cNvCxnSpPr>
          <p:nvPr/>
        </p:nvCxnSpPr>
        <p:spPr>
          <a:xfrm rot="5400000">
            <a:off x="1551762" y="2875127"/>
            <a:ext cx="686065" cy="131563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73" name="TextBox 1072">
            <a:extLst>
              <a:ext uri="{FF2B5EF4-FFF2-40B4-BE49-F238E27FC236}">
                <a16:creationId xmlns:a16="http://schemas.microsoft.com/office/drawing/2014/main" id="{08444C32-9181-DDAD-4B01-688903BEA73A}"/>
              </a:ext>
            </a:extLst>
          </p:cNvPr>
          <p:cNvSpPr txBox="1"/>
          <p:nvPr/>
        </p:nvSpPr>
        <p:spPr>
          <a:xfrm>
            <a:off x="6425541" y="1236122"/>
            <a:ext cx="1683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is it DNS SEC?</a:t>
            </a:r>
          </a:p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DKIM public key?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377A20EA-452B-7D30-EF32-37AF3B17EB74}"/>
              </a:ext>
            </a:extLst>
          </p:cNvPr>
          <p:cNvGrpSpPr/>
          <p:nvPr/>
        </p:nvGrpSpPr>
        <p:grpSpPr>
          <a:xfrm>
            <a:off x="2591407" y="1133548"/>
            <a:ext cx="1147049" cy="743648"/>
            <a:chOff x="2809122" y="1656070"/>
            <a:chExt cx="1147049" cy="743648"/>
          </a:xfrm>
        </p:grpSpPr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57184A7D-53CA-AD32-5328-CC7D5E438356}"/>
                </a:ext>
              </a:extLst>
            </p:cNvPr>
            <p:cNvSpPr txBox="1"/>
            <p:nvPr/>
          </p:nvSpPr>
          <p:spPr>
            <a:xfrm>
              <a:off x="2809122" y="1656070"/>
              <a:ext cx="1140667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✉️🔏</a:t>
              </a:r>
              <a:endParaRPr lang="en-US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76" name="TextBox 1075">
              <a:extLst>
                <a:ext uri="{FF2B5EF4-FFF2-40B4-BE49-F238E27FC236}">
                  <a16:creationId xmlns:a16="http://schemas.microsoft.com/office/drawing/2014/main" id="{93204F7B-4631-4DC9-9D49-992FAAD462A9}"/>
                </a:ext>
              </a:extLst>
            </p:cNvPr>
            <p:cNvSpPr txBox="1"/>
            <p:nvPr/>
          </p:nvSpPr>
          <p:spPr>
            <a:xfrm>
              <a:off x="2815504" y="1938053"/>
              <a:ext cx="1140667" cy="461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en-US" i="1" baseline="30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message </a:t>
              </a:r>
              <a:br>
                <a:rPr lang="en-US" altLang="en-US" i="1" baseline="30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</a:br>
              <a:r>
                <a:rPr lang="en-US" altLang="en-US" i="1" baseline="30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envelope</a:t>
              </a:r>
              <a:endParaRPr lang="en-US" sz="1200" baseline="30000" dirty="0"/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4F7C5BB5-DB03-A6E5-C7A7-DD72B958D33E}"/>
              </a:ext>
            </a:extLst>
          </p:cNvPr>
          <p:cNvSpPr/>
          <p:nvPr/>
        </p:nvSpPr>
        <p:spPr>
          <a:xfrm>
            <a:off x="273241" y="5578599"/>
            <a:ext cx="4050498" cy="433063"/>
          </a:xfrm>
          <a:prstGeom prst="rect">
            <a:avLst/>
          </a:prstGeom>
          <a:solidFill>
            <a:srgbClr val="002060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US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🏌️‍♂️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distributor </a:t>
            </a: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36028A47-C14E-C933-E017-A3C289370544}"/>
              </a:ext>
            </a:extLst>
          </p:cNvPr>
          <p:cNvSpPr/>
          <p:nvPr/>
        </p:nvSpPr>
        <p:spPr>
          <a:xfrm>
            <a:off x="4430063" y="5578599"/>
            <a:ext cx="3938873" cy="433063"/>
          </a:xfrm>
          <a:prstGeom prst="rect">
            <a:avLst/>
          </a:prstGeom>
          <a:solidFill>
            <a:schemeClr val="accent4">
              <a:lumMod val="5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US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⛳ 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endpoint</a:t>
            </a:r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34C64A1C-701A-23FC-8FC0-26638021BB83}"/>
              </a:ext>
            </a:extLst>
          </p:cNvPr>
          <p:cNvSpPr/>
          <p:nvPr/>
        </p:nvSpPr>
        <p:spPr>
          <a:xfrm>
            <a:off x="273241" y="6118233"/>
            <a:ext cx="8095695" cy="43306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US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📨 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D11A96AA-E368-9C51-2669-C7C072BF25B8}"/>
              </a:ext>
            </a:extLst>
          </p:cNvPr>
          <p:cNvSpPr/>
          <p:nvPr/>
        </p:nvSpPr>
        <p:spPr>
          <a:xfrm>
            <a:off x="8475260" y="5578598"/>
            <a:ext cx="3472888" cy="9726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US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       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handlers</a:t>
            </a:r>
          </a:p>
        </p:txBody>
      </p:sp>
      <p:pic>
        <p:nvPicPr>
          <p:cNvPr id="1084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CA855D4A-B428-D1D8-30D8-B0BADAED6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9213992" y="585625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7" name="Picture 6" descr="Google logo - Wikipedia">
            <a:extLst>
              <a:ext uri="{FF2B5EF4-FFF2-40B4-BE49-F238E27FC236}">
                <a16:creationId xmlns:a16="http://schemas.microsoft.com/office/drawing/2014/main" id="{DFE0AD3D-AEB7-9661-8919-1094260EE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148" y="365716"/>
            <a:ext cx="1082321" cy="3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336E0072-68FE-BE1C-969F-D2B81ABFB89E}"/>
              </a:ext>
            </a:extLst>
          </p:cNvPr>
          <p:cNvGrpSpPr/>
          <p:nvPr/>
        </p:nvGrpSpPr>
        <p:grpSpPr>
          <a:xfrm>
            <a:off x="10844126" y="1466445"/>
            <a:ext cx="803455" cy="1233176"/>
            <a:chOff x="10922499" y="1466444"/>
            <a:chExt cx="803455" cy="1233176"/>
          </a:xfrm>
        </p:grpSpPr>
        <p:pic>
          <p:nvPicPr>
            <p:cNvPr id="1098" name="Graphic 7" descr="Compute standard category icon.">
              <a:extLst>
                <a:ext uri="{FF2B5EF4-FFF2-40B4-BE49-F238E27FC236}">
                  <a16:creationId xmlns:a16="http://schemas.microsoft.com/office/drawing/2014/main" id="{1A81A40C-714D-9D62-4EC2-DD93C153C4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 bwMode="auto">
            <a:xfrm>
              <a:off x="10943227" y="1466444"/>
              <a:ext cx="761999" cy="761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9" name="TextBox 20">
              <a:extLst>
                <a:ext uri="{FF2B5EF4-FFF2-40B4-BE49-F238E27FC236}">
                  <a16:creationId xmlns:a16="http://schemas.microsoft.com/office/drawing/2014/main" id="{A83EDBB2-6541-ABA7-D6AE-AB4BCDB94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2499" y="2237955"/>
              <a:ext cx="8034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Compute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handler</a:t>
              </a:r>
              <a:endPara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04" name="Group 1103">
            <a:extLst>
              <a:ext uri="{FF2B5EF4-FFF2-40B4-BE49-F238E27FC236}">
                <a16:creationId xmlns:a16="http://schemas.microsoft.com/office/drawing/2014/main" id="{5D132057-8229-0E14-86FB-1E4F90312A61}"/>
              </a:ext>
            </a:extLst>
          </p:cNvPr>
          <p:cNvGrpSpPr/>
          <p:nvPr/>
        </p:nvGrpSpPr>
        <p:grpSpPr>
          <a:xfrm>
            <a:off x="9796567" y="3090131"/>
            <a:ext cx="1863827" cy="1228530"/>
            <a:chOff x="9796567" y="3090131"/>
            <a:chExt cx="1863827" cy="1228530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E015A400-78DF-38EE-C06F-B449139D7749}"/>
                </a:ext>
              </a:extLst>
            </p:cNvPr>
            <p:cNvGrpSpPr/>
            <p:nvPr/>
          </p:nvGrpSpPr>
          <p:grpSpPr>
            <a:xfrm>
              <a:off x="9796567" y="3093409"/>
              <a:ext cx="1863827" cy="1225252"/>
              <a:chOff x="7811004" y="3833643"/>
              <a:chExt cx="1863827" cy="1225252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550FD119-87E6-CBFC-ACBF-B450D20BBE32}"/>
                  </a:ext>
                </a:extLst>
              </p:cNvPr>
              <p:cNvGrpSpPr/>
              <p:nvPr/>
            </p:nvGrpSpPr>
            <p:grpSpPr>
              <a:xfrm>
                <a:off x="7811004" y="3833643"/>
                <a:ext cx="762000" cy="1225252"/>
                <a:chOff x="6777168" y="1805950"/>
                <a:chExt cx="762000" cy="1225252"/>
              </a:xfrm>
            </p:grpSpPr>
            <p:pic>
              <p:nvPicPr>
                <p:cNvPr id="31" name="Graphic 26" descr="Amazon Simple Queue Service (Amazon SQS) service icon.">
                  <a:extLst>
                    <a:ext uri="{FF2B5EF4-FFF2-40B4-BE49-F238E27FC236}">
                      <a16:creationId xmlns:a16="http://schemas.microsoft.com/office/drawing/2014/main" id="{128386D2-A2A9-A046-CB2A-9455AD13CA5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6">
                  <a:extLst>
                    <a:ext uri="{96DAC541-7B7A-43D3-8B79-37D633B846F1}">
                      <asvg:svgBlip xmlns:asvg="http://schemas.microsoft.com/office/drawing/2016/SVG/main" r:embed="rId27"/>
                    </a:ext>
                  </a:extLst>
                </a:blip>
                <a:srcRect/>
                <a:stretch/>
              </p:blipFill>
              <p:spPr bwMode="auto">
                <a:xfrm>
                  <a:off x="6777168" y="1805950"/>
                  <a:ext cx="762000" cy="76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2" name="TextBox 11">
                  <a:extLst>
                    <a:ext uri="{FF2B5EF4-FFF2-40B4-BE49-F238E27FC236}">
                      <a16:creationId xmlns:a16="http://schemas.microsoft.com/office/drawing/2014/main" id="{47849A97-F072-286F-B0DD-137B65EF1E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64282" y="2569537"/>
                  <a:ext cx="60364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SQS</a:t>
                  </a:r>
                  <a:b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</a:br>
                  <a:r>
                    <a:rPr lang="en-US" altLang="en-US" sz="12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  <a:latin typeface="+mn-lt"/>
                    </a:rPr>
                    <a:t>queue</a:t>
                  </a:r>
                  <a:endPara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6" name="TextBox 20">
                <a:extLst>
                  <a:ext uri="{FF2B5EF4-FFF2-40B4-BE49-F238E27FC236}">
                    <a16:creationId xmlns:a16="http://schemas.microsoft.com/office/drawing/2014/main" id="{54095A3E-6E3A-93A5-5FCA-D51FEF0213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71376" y="4594849"/>
                <a:ext cx="80345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Compute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</a:rPr>
                  <a:t>handler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63" name="Straight Arrow Connector 12">
                <a:extLst>
                  <a:ext uri="{FF2B5EF4-FFF2-40B4-BE49-F238E27FC236}">
                    <a16:creationId xmlns:a16="http://schemas.microsoft.com/office/drawing/2014/main" id="{297EC230-D1A0-2747-245A-052369CA8362}"/>
                  </a:ext>
                </a:extLst>
              </p:cNvPr>
              <p:cNvCxnSpPr>
                <a:cxnSpLocks/>
                <a:stCxn id="31" idx="3"/>
              </p:cNvCxnSpPr>
              <p:nvPr/>
            </p:nvCxnSpPr>
            <p:spPr>
              <a:xfrm>
                <a:off x="8573004" y="4214643"/>
                <a:ext cx="31274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pic>
          <p:nvPicPr>
            <p:cNvPr id="1102" name="Graphic 7" descr="Compute standard category icon.">
              <a:extLst>
                <a:ext uri="{FF2B5EF4-FFF2-40B4-BE49-F238E27FC236}">
                  <a16:creationId xmlns:a16="http://schemas.microsoft.com/office/drawing/2014/main" id="{C7BCBAD9-E05D-566D-7210-5DE32725A1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 bwMode="auto">
            <a:xfrm>
              <a:off x="10869769" y="3090131"/>
              <a:ext cx="761999" cy="761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669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47353</TotalTime>
  <Words>268</Words>
  <Application>Microsoft Macintosh PowerPoint</Application>
  <PresentationFormat>Widescreen</PresentationFormat>
  <Paragraphs>91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Amazon Ember</vt:lpstr>
      <vt:lpstr>Amazon Ember Display</vt:lpstr>
      <vt:lpstr>Wingdings</vt:lpstr>
      <vt:lpstr>AWS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154</cp:revision>
  <dcterms:created xsi:type="dcterms:W3CDTF">2022-10-07T16:14:37Z</dcterms:created>
  <dcterms:modified xsi:type="dcterms:W3CDTF">2025-04-22T20:24:47Z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2025-04-22T20:24:47Z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9fcfbb4e-81a3-48a0-9491-2e981c32a01a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