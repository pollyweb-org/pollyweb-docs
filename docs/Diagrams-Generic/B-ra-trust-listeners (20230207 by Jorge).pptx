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5952" userDrawn="1">
          <p15:clr>
            <a:srgbClr val="A4A3A4"/>
          </p15:clr>
        </p15:guide>
        <p15:guide id="3" pos="5664" userDrawn="1">
          <p15:clr>
            <a:srgbClr val="A4A3A4"/>
          </p15:clr>
        </p15:guide>
        <p15:guide id="4" pos="556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nelle Nolan" initials="JN" lastIdx="7" clrIdx="0">
    <p:extLst>
      <p:ext uri="{19B8F6BF-5375-455C-9EA6-DF929625EA0E}">
        <p15:presenceInfo xmlns:p15="http://schemas.microsoft.com/office/powerpoint/2012/main" userId="Janelle Nola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2264"/>
    <a:srgbClr val="232E3C"/>
    <a:srgbClr val="ECEDF0"/>
    <a:srgbClr val="5B9CD5"/>
    <a:srgbClr val="545B64"/>
    <a:srgbClr val="EAEDED"/>
    <a:srgbClr val="D5DBDB"/>
    <a:srgbClr val="FF9900"/>
    <a:srgbClr val="232F3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831" autoAdjust="0"/>
    <p:restoredTop sz="96612"/>
  </p:normalViewPr>
  <p:slideViewPr>
    <p:cSldViewPr>
      <p:cViewPr varScale="1">
        <p:scale>
          <a:sx n="122" d="100"/>
          <a:sy n="122" d="100"/>
        </p:scale>
        <p:origin x="1272" y="200"/>
      </p:cViewPr>
      <p:guideLst>
        <p:guide orient="horz" pos="2160"/>
        <p:guide pos="5952"/>
        <p:guide pos="5664"/>
        <p:guide pos="55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63D1AE-04B2-F147-8122-2A32BD7879DD}" type="datetimeFigureOut">
              <a:rPr lang="en-US" smtClean="0"/>
              <a:t>3/1/23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BC6CBF-D31D-B841-861D-EC168426F20E}" type="slidenum">
              <a:rPr lang="en-US" smtClean="0"/>
              <a:t>‹#›</a:t>
            </a:fld>
            <a:endParaRPr lang="en-US"/>
          </a:p>
        </p:txBody>
      </p:sp>
    </p:spTree>
    <p:extLst>
      <p:ext uri="{BB962C8B-B14F-4D97-AF65-F5344CB8AC3E}">
        <p14:creationId xmlns:p14="http://schemas.microsoft.com/office/powerpoint/2010/main" val="26231545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2BC6CBF-D31D-B841-861D-EC168426F20E}" type="slidenum">
              <a:rPr lang="en-US" smtClean="0"/>
              <a:t>1</a:t>
            </a:fld>
            <a:endParaRPr lang="en-US"/>
          </a:p>
        </p:txBody>
      </p:sp>
    </p:spTree>
    <p:extLst>
      <p:ext uri="{BB962C8B-B14F-4D97-AF65-F5344CB8AC3E}">
        <p14:creationId xmlns:p14="http://schemas.microsoft.com/office/powerpoint/2010/main" val="8202465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416854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65126"/>
            <a:ext cx="10820400" cy="1216270"/>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457200" y="1825625"/>
            <a:ext cx="10820400" cy="4117975"/>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5285551"/>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Rectangle 77">
            <a:extLst>
              <a:ext uri="{FF2B5EF4-FFF2-40B4-BE49-F238E27FC236}">
                <a16:creationId xmlns:a16="http://schemas.microsoft.com/office/drawing/2014/main" id="{A6A4FBBD-8345-784B-8920-BC619CBBCFF6}"/>
              </a:ext>
            </a:extLst>
          </p:cNvPr>
          <p:cNvSpPr/>
          <p:nvPr/>
        </p:nvSpPr>
        <p:spPr>
          <a:xfrm>
            <a:off x="382999" y="2139695"/>
            <a:ext cx="1111200" cy="1179727"/>
          </a:xfrm>
          <a:prstGeom prst="rect">
            <a:avLst/>
          </a:prstGeom>
          <a:solidFill>
            <a:srgbClr val="007CBC">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vert="vert270" lIns="36000" anchor="t"/>
          <a:lstStyle/>
          <a:p>
            <a:pPr algn="ctr"/>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trust backbone</a:t>
            </a:r>
          </a:p>
        </p:txBody>
      </p:sp>
      <p:sp>
        <p:nvSpPr>
          <p:cNvPr id="76" name="Rectangle 75">
            <a:extLst>
              <a:ext uri="{FF2B5EF4-FFF2-40B4-BE49-F238E27FC236}">
                <a16:creationId xmlns:a16="http://schemas.microsoft.com/office/drawing/2014/main" id="{1CA3E9A4-4D97-C84A-9D62-CCD047211028}"/>
              </a:ext>
            </a:extLst>
          </p:cNvPr>
          <p:cNvSpPr/>
          <p:nvPr/>
        </p:nvSpPr>
        <p:spPr>
          <a:xfrm>
            <a:off x="4496566" y="2154819"/>
            <a:ext cx="1147515" cy="1179729"/>
          </a:xfrm>
          <a:prstGeom prst="rect">
            <a:avLst/>
          </a:prstGeom>
          <a:solidFill>
            <a:srgbClr val="007CBC">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vert="vert" lIns="502920" rIns="36000"/>
          <a:lstStyle/>
          <a:p>
            <a:pPr algn="ctr"/>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cloud providers</a:t>
            </a:r>
          </a:p>
        </p:txBody>
      </p:sp>
      <p:sp>
        <p:nvSpPr>
          <p:cNvPr id="37" name="Title text box">
            <a:extLst>
              <a:ext uri="{FF2B5EF4-FFF2-40B4-BE49-F238E27FC236}">
                <a16:creationId xmlns:a16="http://schemas.microsoft.com/office/drawing/2014/main" id="{38DEF82B-A559-1247-8E2D-F3C452A29826}"/>
              </a:ext>
            </a:extLst>
          </p:cNvPr>
          <p:cNvSpPr txBox="1"/>
          <p:nvPr/>
        </p:nvSpPr>
        <p:spPr>
          <a:xfrm>
            <a:off x="207580" y="158447"/>
            <a:ext cx="8641350" cy="892552"/>
          </a:xfrm>
          <a:prstGeom prst="rect">
            <a:avLst/>
          </a:prstGeom>
          <a:noFill/>
        </p:spPr>
        <p:txBody>
          <a:bodyPr wrap="square" rtlCol="0">
            <a:spAutoFit/>
          </a:bodyPr>
          <a:lstStyle/>
          <a:p>
            <a:r>
              <a:rPr lang="en-US" sz="2800" b="1" dirty="0">
                <a:latin typeface="Amazon Ember" panose="020B0603020204020204" pitchFamily="34" charset="0"/>
                <a:ea typeface="Amazon Ember" panose="020B0603020204020204" pitchFamily="34" charset="0"/>
                <a:cs typeface="Amazon Ember" panose="020B0603020204020204" pitchFamily="34" charset="0"/>
              </a:rPr>
              <a:t>Trust Listeners</a:t>
            </a:r>
          </a:p>
          <a:p>
            <a:r>
              <a:rPr lang="en-US" sz="1200" dirty="0">
                <a:solidFill>
                  <a:srgbClr val="232E3C"/>
                </a:solidFill>
                <a:latin typeface="Amazon Ember" panose="020B0603020204020204" pitchFamily="34" charset="0"/>
                <a:ea typeface="Amazon Ember" panose="020B0603020204020204" pitchFamily="34" charset="0"/>
                <a:cs typeface="Amazon Ember" panose="020B0603020204020204" pitchFamily="34" charset="0"/>
              </a:rPr>
              <a:t>Whenever a domain publishes their data models and trust manifest, they should notify Trust Listeners for the later to propagate the changes to Trust Graphs. SaaS proxies may facilitate that work with publish/subscriber push services.</a:t>
            </a:r>
          </a:p>
        </p:txBody>
      </p:sp>
      <p:sp>
        <p:nvSpPr>
          <p:cNvPr id="41" name="Sidebar Background">
            <a:extLst>
              <a:ext uri="{FF2B5EF4-FFF2-40B4-BE49-F238E27FC236}">
                <a16:creationId xmlns:a16="http://schemas.microsoft.com/office/drawing/2014/main" id="{B0A83432-3797-164E-B817-BA71B523944F}"/>
              </a:ext>
            </a:extLst>
          </p:cNvPr>
          <p:cNvSpPr/>
          <p:nvPr/>
        </p:nvSpPr>
        <p:spPr>
          <a:xfrm>
            <a:off x="8981240" y="37069"/>
            <a:ext cx="3177809" cy="6783859"/>
          </a:xfrm>
          <a:prstGeom prst="rect">
            <a:avLst/>
          </a:prstGeom>
          <a:solidFill>
            <a:srgbClr val="EA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NumBox 8">
            <a:extLst>
              <a:ext uri="{FF2B5EF4-FFF2-40B4-BE49-F238E27FC236}">
                <a16:creationId xmlns:a16="http://schemas.microsoft.com/office/drawing/2014/main" id="{3E4874A0-68B7-3F46-930A-3DF954503CB0}"/>
              </a:ext>
            </a:extLst>
          </p:cNvPr>
          <p:cNvSpPr/>
          <p:nvPr/>
        </p:nvSpPr>
        <p:spPr>
          <a:xfrm>
            <a:off x="9133881" y="4679022"/>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5</a:t>
            </a:r>
          </a:p>
        </p:txBody>
      </p:sp>
      <p:sp>
        <p:nvSpPr>
          <p:cNvPr id="45" name="NumBox 7">
            <a:extLst>
              <a:ext uri="{FF2B5EF4-FFF2-40B4-BE49-F238E27FC236}">
                <a16:creationId xmlns:a16="http://schemas.microsoft.com/office/drawing/2014/main" id="{68CCBE0C-C2CD-E347-9CED-CC285006AE94}"/>
              </a:ext>
            </a:extLst>
          </p:cNvPr>
          <p:cNvSpPr/>
          <p:nvPr/>
        </p:nvSpPr>
        <p:spPr>
          <a:xfrm>
            <a:off x="9134573" y="3971043"/>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4</a:t>
            </a:r>
          </a:p>
        </p:txBody>
      </p:sp>
      <p:sp>
        <p:nvSpPr>
          <p:cNvPr id="47" name="NumBox 5">
            <a:extLst>
              <a:ext uri="{FF2B5EF4-FFF2-40B4-BE49-F238E27FC236}">
                <a16:creationId xmlns:a16="http://schemas.microsoft.com/office/drawing/2014/main" id="{A2290CE2-D8F1-634A-905A-BA66C42AEBC9}"/>
              </a:ext>
            </a:extLst>
          </p:cNvPr>
          <p:cNvSpPr/>
          <p:nvPr/>
        </p:nvSpPr>
        <p:spPr>
          <a:xfrm>
            <a:off x="9134573" y="2752127"/>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3</a:t>
            </a:r>
          </a:p>
        </p:txBody>
      </p:sp>
      <p:sp>
        <p:nvSpPr>
          <p:cNvPr id="49" name="NumBox 3">
            <a:extLst>
              <a:ext uri="{FF2B5EF4-FFF2-40B4-BE49-F238E27FC236}">
                <a16:creationId xmlns:a16="http://schemas.microsoft.com/office/drawing/2014/main" id="{FBB6C579-1AAE-E74E-B11A-6E47F977F102}"/>
              </a:ext>
            </a:extLst>
          </p:cNvPr>
          <p:cNvSpPr/>
          <p:nvPr/>
        </p:nvSpPr>
        <p:spPr>
          <a:xfrm>
            <a:off x="9134573" y="1546620"/>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2</a:t>
            </a:r>
          </a:p>
        </p:txBody>
      </p:sp>
      <p:sp>
        <p:nvSpPr>
          <p:cNvPr id="51" name="NumBox 1">
            <a:extLst>
              <a:ext uri="{FF2B5EF4-FFF2-40B4-BE49-F238E27FC236}">
                <a16:creationId xmlns:a16="http://schemas.microsoft.com/office/drawing/2014/main" id="{61A833CA-45E5-DA44-9841-E3816A71ECCE}"/>
              </a:ext>
            </a:extLst>
          </p:cNvPr>
          <p:cNvSpPr/>
          <p:nvPr/>
        </p:nvSpPr>
        <p:spPr>
          <a:xfrm>
            <a:off x="9134573" y="176336"/>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1</a:t>
            </a:r>
          </a:p>
        </p:txBody>
      </p:sp>
      <p:sp>
        <p:nvSpPr>
          <p:cNvPr id="52" name="TextBox 51">
            <a:extLst>
              <a:ext uri="{FF2B5EF4-FFF2-40B4-BE49-F238E27FC236}">
                <a16:creationId xmlns:a16="http://schemas.microsoft.com/office/drawing/2014/main" id="{03393564-6C13-FC4F-8F33-3F02A10C52BC}"/>
              </a:ext>
            </a:extLst>
          </p:cNvPr>
          <p:cNvSpPr txBox="1"/>
          <p:nvPr/>
        </p:nvSpPr>
        <p:spPr>
          <a:xfrm>
            <a:off x="9408893" y="133546"/>
            <a:ext cx="2733426" cy="6855723"/>
          </a:xfrm>
          <a:prstGeom prst="rect">
            <a:avLst/>
          </a:prstGeom>
          <a:noFill/>
        </p:spPr>
        <p:txBody>
          <a:bodyPr wrap="square" rtlCol="0">
            <a:spAutoFit/>
          </a:bodyPr>
          <a:lstStyle/>
          <a:p>
            <a:pPr>
              <a:spcAft>
                <a:spcPts val="6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Domains inform who they trust and don’t trust with each information code (e.g., the Japanese Gov may trust European Union on all IATA.ORG/SSR/* codes). They also publish translations and schemas for codes they manage (e.g., IATA is the Authority that defines SSR/WCHR for wheelchair assistance).</a:t>
            </a:r>
          </a:p>
          <a:p>
            <a:pPr>
              <a:spcAft>
                <a:spcPts val="6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Trust Graphs hold a representation of all trust relationships by querying domain Manifests after an update notification - they read translations, code schemas, and trust relationships from the updated domain, and then reach out to referenced domains to collect additional trusts.</a:t>
            </a:r>
          </a:p>
          <a:p>
            <a:pPr>
              <a:spcAft>
                <a:spcPts val="6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Every time domains change their trusts, code translations, or metadata schemas, they push a mutation event to a queue in one of the well-known Trust Listeners in the Trust Backbone (e.g., Infosys). The Listeners then sync events between them for additional resilience.</a:t>
            </a:r>
          </a:p>
          <a:p>
            <a:pPr>
              <a:spcAft>
                <a:spcPts val="6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Public cloud providers (e.g., AWS, Azure) add webhooks to Listeners to support SaaS Proxies (e.g., AWS uses Amazon EventBridge to propagate SaaS events).</a:t>
            </a:r>
          </a:p>
          <a:p>
            <a:pPr>
              <a:spcAft>
                <a:spcPts val="6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Listeners forward copies of mutation events to every registered SaaS Proxy.</a:t>
            </a:r>
          </a:p>
          <a:p>
            <a:pPr>
              <a:spcAft>
                <a:spcPts val="6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Proxies convert the domains’ mutation events into platform-specific SaaS events that Trust Graphs can consume. Alternative, Graphs may register a webhook directly with a Listener.</a:t>
            </a:r>
          </a:p>
          <a:p>
            <a:pPr>
              <a:spcAft>
                <a:spcPts val="6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Upon receiving a mutation event from a domain, Graphs reach out to that domain requesting the Trust Manifest, then update their internal view of all existing trust relationships.</a:t>
            </a:r>
          </a:p>
        </p:txBody>
      </p:sp>
      <p:cxnSp>
        <p:nvCxnSpPr>
          <p:cNvPr id="36" name="Separator">
            <a:extLst>
              <a:ext uri="{FF2B5EF4-FFF2-40B4-BE49-F238E27FC236}">
                <a16:creationId xmlns:a16="http://schemas.microsoft.com/office/drawing/2014/main" id="{21C15EAE-984B-C241-B4CF-3AB0A0313E3C}"/>
              </a:ext>
            </a:extLst>
          </p:cNvPr>
          <p:cNvCxnSpPr>
            <a:cxnSpLocks/>
          </p:cNvCxnSpPr>
          <p:nvPr/>
        </p:nvCxnSpPr>
        <p:spPr>
          <a:xfrm>
            <a:off x="304800" y="1066800"/>
            <a:ext cx="8544130" cy="0"/>
          </a:xfrm>
          <a:prstGeom prst="line">
            <a:avLst/>
          </a:prstGeom>
          <a:ln w="25400">
            <a:solidFill>
              <a:srgbClr val="545B64"/>
            </a:solidFill>
          </a:ln>
        </p:spPr>
        <p:style>
          <a:lnRef idx="3">
            <a:schemeClr val="dk1"/>
          </a:lnRef>
          <a:fillRef idx="0">
            <a:schemeClr val="dk1"/>
          </a:fillRef>
          <a:effectRef idx="2">
            <a:schemeClr val="dk1"/>
          </a:effectRef>
          <a:fontRef idx="minor">
            <a:schemeClr val="tx1"/>
          </a:fontRef>
        </p:style>
      </p:cxnSp>
      <p:sp>
        <p:nvSpPr>
          <p:cNvPr id="160" name="NumBox 8">
            <a:extLst>
              <a:ext uri="{FF2B5EF4-FFF2-40B4-BE49-F238E27FC236}">
                <a16:creationId xmlns:a16="http://schemas.microsoft.com/office/drawing/2014/main" id="{0D273327-7879-024D-95BD-BF18FEAB46A2}"/>
              </a:ext>
            </a:extLst>
          </p:cNvPr>
          <p:cNvSpPr/>
          <p:nvPr/>
        </p:nvSpPr>
        <p:spPr>
          <a:xfrm>
            <a:off x="9133881" y="5084852"/>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6</a:t>
            </a:r>
          </a:p>
        </p:txBody>
      </p:sp>
      <p:sp>
        <p:nvSpPr>
          <p:cNvPr id="326" name="NumBox 8">
            <a:extLst>
              <a:ext uri="{FF2B5EF4-FFF2-40B4-BE49-F238E27FC236}">
                <a16:creationId xmlns:a16="http://schemas.microsoft.com/office/drawing/2014/main" id="{70869823-279E-BE4F-933C-EA086FF2F5E0}"/>
              </a:ext>
            </a:extLst>
          </p:cNvPr>
          <p:cNvSpPr/>
          <p:nvPr/>
        </p:nvSpPr>
        <p:spPr>
          <a:xfrm>
            <a:off x="9133881" y="5964254"/>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7</a:t>
            </a:r>
          </a:p>
        </p:txBody>
      </p:sp>
      <p:sp>
        <p:nvSpPr>
          <p:cNvPr id="17" name="TextBox 34">
            <a:extLst>
              <a:ext uri="{FF2B5EF4-FFF2-40B4-BE49-F238E27FC236}">
                <a16:creationId xmlns:a16="http://schemas.microsoft.com/office/drawing/2014/main" id="{6E910E1B-F883-934C-AF6E-75FAD79E07A0}"/>
              </a:ext>
            </a:extLst>
          </p:cNvPr>
          <p:cNvSpPr txBox="1">
            <a:spLocks noChangeArrowheads="1"/>
          </p:cNvSpPr>
          <p:nvPr/>
        </p:nvSpPr>
        <p:spPr bwMode="auto">
          <a:xfrm>
            <a:off x="556698" y="4968368"/>
            <a:ext cx="975591"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Domains</a:t>
            </a:r>
            <a:b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br>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e.g., IATA</a:t>
            </a:r>
          </a:p>
        </p:txBody>
      </p:sp>
      <p:pic>
        <p:nvPicPr>
          <p:cNvPr id="19" name="Graphic 19">
            <a:extLst>
              <a:ext uri="{FF2B5EF4-FFF2-40B4-BE49-F238E27FC236}">
                <a16:creationId xmlns:a16="http://schemas.microsoft.com/office/drawing/2014/main" id="{558DC90C-408C-3741-B858-6A6C7A43D6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8693" y="4498468"/>
            <a:ext cx="471600" cy="4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Box 34">
            <a:extLst>
              <a:ext uri="{FF2B5EF4-FFF2-40B4-BE49-F238E27FC236}">
                <a16:creationId xmlns:a16="http://schemas.microsoft.com/office/drawing/2014/main" id="{B04401CF-74B3-7447-89CB-D1E5B8682D06}"/>
              </a:ext>
            </a:extLst>
          </p:cNvPr>
          <p:cNvSpPr txBox="1">
            <a:spLocks noChangeArrowheads="1"/>
          </p:cNvSpPr>
          <p:nvPr/>
        </p:nvSpPr>
        <p:spPr bwMode="auto">
          <a:xfrm>
            <a:off x="4501048" y="4968366"/>
            <a:ext cx="975591" cy="4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Trust </a:t>
            </a:r>
            <a:b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br>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Graphs</a:t>
            </a:r>
          </a:p>
        </p:txBody>
      </p:sp>
      <p:pic>
        <p:nvPicPr>
          <p:cNvPr id="21" name="Graphic 23">
            <a:extLst>
              <a:ext uri="{FF2B5EF4-FFF2-40B4-BE49-F238E27FC236}">
                <a16:creationId xmlns:a16="http://schemas.microsoft.com/office/drawing/2014/main" id="{41099EBB-8EA8-0747-BD29-A8ED90C666B1}"/>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4753043" y="4498468"/>
            <a:ext cx="471600" cy="4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TextBox 23">
            <a:extLst>
              <a:ext uri="{FF2B5EF4-FFF2-40B4-BE49-F238E27FC236}">
                <a16:creationId xmlns:a16="http://schemas.microsoft.com/office/drawing/2014/main" id="{C25E5084-00FB-874A-BEFB-D5CFB9B25E4E}"/>
              </a:ext>
            </a:extLst>
          </p:cNvPr>
          <p:cNvSpPr txBox="1">
            <a:spLocks noChangeArrowheads="1"/>
          </p:cNvSpPr>
          <p:nvPr/>
        </p:nvSpPr>
        <p:spPr bwMode="auto">
          <a:xfrm>
            <a:off x="4547025" y="2709520"/>
            <a:ext cx="883636"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latin typeface="Amazon Ember" panose="020B0603020204020204" pitchFamily="34" charset="0"/>
                <a:ea typeface="Amazon Ember" panose="020B0603020204020204" pitchFamily="34" charset="0"/>
                <a:cs typeface="Amazon Ember" panose="020B0603020204020204" pitchFamily="34" charset="0"/>
              </a:rPr>
              <a:t>Cloud SaaS Proxies</a:t>
            </a:r>
            <a:br>
              <a:rPr lang="en-US" altLang="en-US" sz="1050" dirty="0">
                <a:latin typeface="Amazon Ember" panose="020B0603020204020204" pitchFamily="34" charset="0"/>
                <a:ea typeface="Amazon Ember" panose="020B0603020204020204" pitchFamily="34" charset="0"/>
                <a:cs typeface="Amazon Ember" panose="020B0603020204020204" pitchFamily="34" charset="0"/>
              </a:rPr>
            </a:br>
            <a:r>
              <a:rPr lang="en-US" altLang="en-US" sz="1050" i="1" dirty="0">
                <a:latin typeface="Amazon Ember" panose="020B0603020204020204" pitchFamily="34" charset="0"/>
                <a:ea typeface="Amazon Ember" panose="020B0603020204020204" pitchFamily="34" charset="0"/>
                <a:cs typeface="Amazon Ember" panose="020B0603020204020204" pitchFamily="34" charset="0"/>
              </a:rPr>
              <a:t>e.g., AWS</a:t>
            </a:r>
          </a:p>
        </p:txBody>
      </p:sp>
      <p:pic>
        <p:nvPicPr>
          <p:cNvPr id="23" name="Graphic 6">
            <a:extLst>
              <a:ext uri="{FF2B5EF4-FFF2-40B4-BE49-F238E27FC236}">
                <a16:creationId xmlns:a16="http://schemas.microsoft.com/office/drawing/2014/main" id="{3C5F577D-4CFF-2048-881E-D2CED0857C0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53043" y="2248083"/>
            <a:ext cx="471600" cy="4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Graphic 29">
            <a:extLst>
              <a:ext uri="{FF2B5EF4-FFF2-40B4-BE49-F238E27FC236}">
                <a16:creationId xmlns:a16="http://schemas.microsoft.com/office/drawing/2014/main" id="{79B32582-B7E7-B144-A6F1-10B496FE82C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8693" y="2248083"/>
            <a:ext cx="471600" cy="4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TextBox 34">
            <a:extLst>
              <a:ext uri="{FF2B5EF4-FFF2-40B4-BE49-F238E27FC236}">
                <a16:creationId xmlns:a16="http://schemas.microsoft.com/office/drawing/2014/main" id="{0A3D773F-F82F-8F44-B0E9-7DBF7B3C62CB}"/>
              </a:ext>
            </a:extLst>
          </p:cNvPr>
          <p:cNvSpPr txBox="1">
            <a:spLocks noChangeArrowheads="1"/>
          </p:cNvSpPr>
          <p:nvPr/>
        </p:nvSpPr>
        <p:spPr bwMode="auto">
          <a:xfrm>
            <a:off x="507918" y="2634364"/>
            <a:ext cx="1073150"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Trust </a:t>
            </a:r>
            <a:b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br>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Listeners</a:t>
            </a:r>
            <a:b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br>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e.g., Infosys</a:t>
            </a:r>
          </a:p>
        </p:txBody>
      </p:sp>
      <p:cxnSp>
        <p:nvCxnSpPr>
          <p:cNvPr id="28" name="Straight Arrow Connector 27">
            <a:extLst>
              <a:ext uri="{FF2B5EF4-FFF2-40B4-BE49-F238E27FC236}">
                <a16:creationId xmlns:a16="http://schemas.microsoft.com/office/drawing/2014/main" id="{002802BA-B89E-AE42-A81A-77B920BEA916}"/>
              </a:ext>
            </a:extLst>
          </p:cNvPr>
          <p:cNvCxnSpPr>
            <a:cxnSpLocks/>
            <a:stCxn id="19" idx="0"/>
            <a:endCxn id="25" idx="2"/>
          </p:cNvCxnSpPr>
          <p:nvPr/>
        </p:nvCxnSpPr>
        <p:spPr>
          <a:xfrm flipV="1">
            <a:off x="1044493" y="3211445"/>
            <a:ext cx="0" cy="1287023"/>
          </a:xfrm>
          <a:prstGeom prst="straightConnector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481C4B0E-1575-DE4E-94A3-A4B17AB35613}"/>
              </a:ext>
            </a:extLst>
          </p:cNvPr>
          <p:cNvCxnSpPr>
            <a:cxnSpLocks/>
            <a:stCxn id="24" idx="3"/>
            <a:endCxn id="23" idx="1"/>
          </p:cNvCxnSpPr>
          <p:nvPr/>
        </p:nvCxnSpPr>
        <p:spPr>
          <a:xfrm>
            <a:off x="1280293" y="2483883"/>
            <a:ext cx="3472750" cy="0"/>
          </a:xfrm>
          <a:prstGeom prst="straightConnector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34" name="Straight Arrow Connector 202">
            <a:extLst>
              <a:ext uri="{FF2B5EF4-FFF2-40B4-BE49-F238E27FC236}">
                <a16:creationId xmlns:a16="http://schemas.microsoft.com/office/drawing/2014/main" id="{23B5CC2D-84AE-F442-A631-E890161B8562}"/>
              </a:ext>
            </a:extLst>
          </p:cNvPr>
          <p:cNvCxnSpPr>
            <a:cxnSpLocks/>
            <a:stCxn id="23" idx="0"/>
            <a:endCxn id="24" idx="0"/>
          </p:cNvCxnSpPr>
          <p:nvPr/>
        </p:nvCxnSpPr>
        <p:spPr>
          <a:xfrm rot="16200000" flipV="1">
            <a:off x="3016668" y="275908"/>
            <a:ext cx="12700" cy="3944350"/>
          </a:xfrm>
          <a:prstGeom prst="bentConnector3">
            <a:avLst>
              <a:gd name="adj1" fmla="val 1800000"/>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3029C538-9479-D740-B7F8-903359B9B30B}"/>
              </a:ext>
            </a:extLst>
          </p:cNvPr>
          <p:cNvCxnSpPr>
            <a:cxnSpLocks/>
            <a:stCxn id="22" idx="2"/>
            <a:endCxn id="21" idx="0"/>
          </p:cNvCxnSpPr>
          <p:nvPr/>
        </p:nvCxnSpPr>
        <p:spPr>
          <a:xfrm>
            <a:off x="4988843" y="3286601"/>
            <a:ext cx="0" cy="1211867"/>
          </a:xfrm>
          <a:prstGeom prst="straightConnector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5FE213E6-9076-CE49-9CD8-BF4C9BB1B959}"/>
              </a:ext>
            </a:extLst>
          </p:cNvPr>
          <p:cNvCxnSpPr>
            <a:cxnSpLocks/>
          </p:cNvCxnSpPr>
          <p:nvPr/>
        </p:nvCxnSpPr>
        <p:spPr>
          <a:xfrm>
            <a:off x="1280293" y="2647951"/>
            <a:ext cx="3472750" cy="1850516"/>
          </a:xfrm>
          <a:prstGeom prst="straightConnector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678C7929-1D96-F240-921C-0FA20A3C3753}"/>
              </a:ext>
            </a:extLst>
          </p:cNvPr>
          <p:cNvCxnSpPr>
            <a:cxnSpLocks/>
            <a:stCxn id="21" idx="1"/>
            <a:endCxn id="19" idx="3"/>
          </p:cNvCxnSpPr>
          <p:nvPr/>
        </p:nvCxnSpPr>
        <p:spPr>
          <a:xfrm flipH="1">
            <a:off x="1280293" y="4734268"/>
            <a:ext cx="3472750" cy="0"/>
          </a:xfrm>
          <a:prstGeom prst="straightConnector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sp>
        <p:nvSpPr>
          <p:cNvPr id="53" name="TextBox 9">
            <a:extLst>
              <a:ext uri="{FF2B5EF4-FFF2-40B4-BE49-F238E27FC236}">
                <a16:creationId xmlns:a16="http://schemas.microsoft.com/office/drawing/2014/main" id="{139F61CD-B52C-014A-AD75-E052D9D768B1}"/>
              </a:ext>
            </a:extLst>
          </p:cNvPr>
          <p:cNvSpPr txBox="1">
            <a:spLocks noChangeArrowheads="1"/>
          </p:cNvSpPr>
          <p:nvPr/>
        </p:nvSpPr>
        <p:spPr bwMode="auto">
          <a:xfrm>
            <a:off x="1381684" y="4478859"/>
            <a:ext cx="221370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pPr algn="l"/>
            <a:r>
              <a:rPr lang="en-US" altLang="en-US" dirty="0">
                <a:effectLst>
                  <a:glow rad="321067">
                    <a:schemeClr val="bg1">
                      <a:alpha val="89960"/>
                    </a:schemeClr>
                  </a:glow>
                </a:effectLst>
              </a:rPr>
              <a:t>get domains, codes, and schemas</a:t>
            </a:r>
          </a:p>
        </p:txBody>
      </p:sp>
      <p:pic>
        <p:nvPicPr>
          <p:cNvPr id="55" name="Graphic 8">
            <a:extLst>
              <a:ext uri="{FF2B5EF4-FFF2-40B4-BE49-F238E27FC236}">
                <a16:creationId xmlns:a16="http://schemas.microsoft.com/office/drawing/2014/main" id="{946B1463-F8D2-6143-9855-E81AF424EFC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63588" y="3564430"/>
            <a:ext cx="255600" cy="255600"/>
          </a:xfrm>
          <a:prstGeom prst="rect">
            <a:avLst/>
          </a:prstGeom>
          <a:noFill/>
          <a:ln>
            <a:noFill/>
          </a:ln>
          <a:effectLst>
            <a:glow rad="133719">
              <a:schemeClr val="bg1">
                <a:alpha val="82000"/>
              </a:schemeClr>
            </a:glo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 name="TextBox 9">
            <a:extLst>
              <a:ext uri="{FF2B5EF4-FFF2-40B4-BE49-F238E27FC236}">
                <a16:creationId xmlns:a16="http://schemas.microsoft.com/office/drawing/2014/main" id="{DF36993B-86D0-3740-A27E-3630C6A2DC92}"/>
              </a:ext>
            </a:extLst>
          </p:cNvPr>
          <p:cNvSpPr txBox="1">
            <a:spLocks noChangeArrowheads="1"/>
          </p:cNvSpPr>
          <p:nvPr/>
        </p:nvSpPr>
        <p:spPr bwMode="auto">
          <a:xfrm>
            <a:off x="2668564" y="3697397"/>
            <a:ext cx="861159"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r>
              <a:rPr lang="en-US" altLang="en-US" dirty="0">
                <a:effectLst>
                  <a:glow rad="321067">
                    <a:schemeClr val="bg1">
                      <a:alpha val="89960"/>
                    </a:schemeClr>
                  </a:glow>
                </a:effectLst>
              </a:rPr>
              <a:t>alternative webhook</a:t>
            </a:r>
          </a:p>
        </p:txBody>
      </p:sp>
      <p:pic>
        <p:nvPicPr>
          <p:cNvPr id="57" name="Graphic 24">
            <a:extLst>
              <a:ext uri="{FF2B5EF4-FFF2-40B4-BE49-F238E27FC236}">
                <a16:creationId xmlns:a16="http://schemas.microsoft.com/office/drawing/2014/main" id="{68A16F5D-914F-3944-B629-EEE14B8EA69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73332" y="3505200"/>
            <a:ext cx="255600" cy="255600"/>
          </a:xfrm>
          <a:prstGeom prst="rect">
            <a:avLst/>
          </a:prstGeom>
          <a:noFill/>
          <a:ln>
            <a:noFill/>
          </a:ln>
          <a:effectLst>
            <a:glow rad="133719">
              <a:schemeClr val="bg1">
                <a:alpha val="82000"/>
              </a:schemeClr>
            </a:glo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 name="Graphic 24">
            <a:extLst>
              <a:ext uri="{FF2B5EF4-FFF2-40B4-BE49-F238E27FC236}">
                <a16:creationId xmlns:a16="http://schemas.microsoft.com/office/drawing/2014/main" id="{DE545A85-D7DB-C647-B769-1364F653CEE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36102" y="2355289"/>
            <a:ext cx="255600" cy="255600"/>
          </a:xfrm>
          <a:prstGeom prst="rect">
            <a:avLst/>
          </a:prstGeom>
          <a:noFill/>
          <a:ln>
            <a:noFill/>
          </a:ln>
          <a:effectLst>
            <a:glow rad="133719">
              <a:schemeClr val="bg1">
                <a:alpha val="82000"/>
              </a:schemeClr>
            </a:glo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 name="TextBox 9">
            <a:extLst>
              <a:ext uri="{FF2B5EF4-FFF2-40B4-BE49-F238E27FC236}">
                <a16:creationId xmlns:a16="http://schemas.microsoft.com/office/drawing/2014/main" id="{DE5A042C-A942-C543-A46A-DD40BF22FE7F}"/>
              </a:ext>
            </a:extLst>
          </p:cNvPr>
          <p:cNvSpPr txBox="1">
            <a:spLocks noChangeArrowheads="1"/>
          </p:cNvSpPr>
          <p:nvPr/>
        </p:nvSpPr>
        <p:spPr bwMode="auto">
          <a:xfrm>
            <a:off x="2622949" y="2542695"/>
            <a:ext cx="86115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pPr algn="l"/>
            <a:r>
              <a:rPr lang="en-US" altLang="en-US" dirty="0">
                <a:effectLst>
                  <a:glow rad="321067">
                    <a:schemeClr val="bg1">
                      <a:alpha val="89960"/>
                    </a:schemeClr>
                  </a:glow>
                </a:effectLst>
              </a:rPr>
              <a:t>webhook</a:t>
            </a:r>
          </a:p>
        </p:txBody>
      </p:sp>
      <p:sp>
        <p:nvSpPr>
          <p:cNvPr id="54" name="TextBox 9">
            <a:extLst>
              <a:ext uri="{FF2B5EF4-FFF2-40B4-BE49-F238E27FC236}">
                <a16:creationId xmlns:a16="http://schemas.microsoft.com/office/drawing/2014/main" id="{266CFE0E-5817-A24E-B523-4DCEA5BB9DD3}"/>
              </a:ext>
            </a:extLst>
          </p:cNvPr>
          <p:cNvSpPr txBox="1">
            <a:spLocks noChangeArrowheads="1"/>
          </p:cNvSpPr>
          <p:nvPr/>
        </p:nvSpPr>
        <p:spPr bwMode="auto">
          <a:xfrm>
            <a:off x="5065687" y="3550530"/>
            <a:ext cx="877913"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pPr algn="l"/>
            <a:r>
              <a:rPr lang="en-US" altLang="en-US" dirty="0">
                <a:effectLst>
                  <a:glow rad="321067">
                    <a:schemeClr val="bg1">
                      <a:alpha val="89960"/>
                    </a:schemeClr>
                  </a:glow>
                </a:effectLst>
              </a:rPr>
              <a:t>cloud event</a:t>
            </a:r>
          </a:p>
        </p:txBody>
      </p:sp>
      <p:sp>
        <p:nvSpPr>
          <p:cNvPr id="60" name="TextBox 9">
            <a:extLst>
              <a:ext uri="{FF2B5EF4-FFF2-40B4-BE49-F238E27FC236}">
                <a16:creationId xmlns:a16="http://schemas.microsoft.com/office/drawing/2014/main" id="{982EE996-4C78-2A46-8251-11DE54B0CFE9}"/>
              </a:ext>
            </a:extLst>
          </p:cNvPr>
          <p:cNvSpPr txBox="1">
            <a:spLocks noChangeArrowheads="1"/>
          </p:cNvSpPr>
          <p:nvPr/>
        </p:nvSpPr>
        <p:spPr bwMode="auto">
          <a:xfrm>
            <a:off x="1203243" y="1782872"/>
            <a:ext cx="156066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pPr algn="l"/>
            <a:r>
              <a:rPr lang="en-US" altLang="en-US" dirty="0">
                <a:effectLst>
                  <a:glow rad="321067">
                    <a:schemeClr val="bg1">
                      <a:alpha val="89960"/>
                    </a:schemeClr>
                  </a:glow>
                </a:effectLst>
              </a:rPr>
              <a:t>register proxy webhook</a:t>
            </a:r>
          </a:p>
        </p:txBody>
      </p:sp>
      <p:sp>
        <p:nvSpPr>
          <p:cNvPr id="61" name="TextBox 9">
            <a:extLst>
              <a:ext uri="{FF2B5EF4-FFF2-40B4-BE49-F238E27FC236}">
                <a16:creationId xmlns:a16="http://schemas.microsoft.com/office/drawing/2014/main" id="{43992F2C-C3F4-744F-9A3A-7FA88A9C78C1}"/>
              </a:ext>
            </a:extLst>
          </p:cNvPr>
          <p:cNvSpPr txBox="1">
            <a:spLocks noChangeArrowheads="1"/>
          </p:cNvSpPr>
          <p:nvPr/>
        </p:nvSpPr>
        <p:spPr bwMode="auto">
          <a:xfrm>
            <a:off x="305566" y="3366043"/>
            <a:ext cx="759330"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pPr algn="r"/>
            <a:r>
              <a:rPr lang="en-US" altLang="en-US" dirty="0">
                <a:effectLst>
                  <a:glow rad="321067">
                    <a:schemeClr val="bg1">
                      <a:alpha val="89960"/>
                    </a:schemeClr>
                  </a:glow>
                </a:effectLst>
              </a:rPr>
              <a:t>push mutation events</a:t>
            </a:r>
          </a:p>
        </p:txBody>
      </p:sp>
      <p:grpSp>
        <p:nvGrpSpPr>
          <p:cNvPr id="43" name="Group 42">
            <a:extLst>
              <a:ext uri="{FF2B5EF4-FFF2-40B4-BE49-F238E27FC236}">
                <a16:creationId xmlns:a16="http://schemas.microsoft.com/office/drawing/2014/main" id="{937D9B54-56DC-5E4A-8B91-309EB4AFC7B7}"/>
              </a:ext>
            </a:extLst>
          </p:cNvPr>
          <p:cNvGrpSpPr/>
          <p:nvPr/>
        </p:nvGrpSpPr>
        <p:grpSpPr>
          <a:xfrm>
            <a:off x="2726931" y="1656980"/>
            <a:ext cx="1331123" cy="311709"/>
            <a:chOff x="3055140" y="1442468"/>
            <a:chExt cx="1331123" cy="311709"/>
          </a:xfrm>
        </p:grpSpPr>
        <p:sp>
          <p:nvSpPr>
            <p:cNvPr id="62" name="Rectangle 61">
              <a:extLst>
                <a:ext uri="{FF2B5EF4-FFF2-40B4-BE49-F238E27FC236}">
                  <a16:creationId xmlns:a16="http://schemas.microsoft.com/office/drawing/2014/main" id="{33B0CE75-30FA-664A-BB1E-A51D1334981D}"/>
                </a:ext>
              </a:extLst>
            </p:cNvPr>
            <p:cNvSpPr/>
            <p:nvPr/>
          </p:nvSpPr>
          <p:spPr>
            <a:xfrm>
              <a:off x="3055140" y="1442468"/>
              <a:ext cx="1331123" cy="311709"/>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108000" tIns="36000" rIns="36000" bIns="36000"/>
            <a:lstStyle/>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webhook,</a:t>
              </a:r>
              <a:b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b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filters</a:t>
              </a:r>
            </a:p>
          </p:txBody>
        </p:sp>
        <p:sp>
          <p:nvSpPr>
            <p:cNvPr id="40" name="Double Brace 39">
              <a:extLst>
                <a:ext uri="{FF2B5EF4-FFF2-40B4-BE49-F238E27FC236}">
                  <a16:creationId xmlns:a16="http://schemas.microsoft.com/office/drawing/2014/main" id="{90B8B332-DC97-4E41-AC22-D288084A1370}"/>
                </a:ext>
              </a:extLst>
            </p:cNvPr>
            <p:cNvSpPr/>
            <p:nvPr/>
          </p:nvSpPr>
          <p:spPr>
            <a:xfrm>
              <a:off x="3088480" y="1496665"/>
              <a:ext cx="1258731" cy="198934"/>
            </a:xfrm>
            <a:prstGeom prst="bracePair">
              <a:avLst/>
            </a:prstGeom>
            <a:ln>
              <a:solidFill>
                <a:schemeClr val="bg1">
                  <a:lumMod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grpSp>
        <p:nvGrpSpPr>
          <p:cNvPr id="67" name="Group 66">
            <a:extLst>
              <a:ext uri="{FF2B5EF4-FFF2-40B4-BE49-F238E27FC236}">
                <a16:creationId xmlns:a16="http://schemas.microsoft.com/office/drawing/2014/main" id="{333341FA-34F6-D442-9CE2-E29A454405EE}"/>
              </a:ext>
            </a:extLst>
          </p:cNvPr>
          <p:cNvGrpSpPr/>
          <p:nvPr/>
        </p:nvGrpSpPr>
        <p:grpSpPr>
          <a:xfrm>
            <a:off x="1116018" y="3483902"/>
            <a:ext cx="775287" cy="421630"/>
            <a:chOff x="3055140" y="1442468"/>
            <a:chExt cx="775287" cy="421630"/>
          </a:xfrm>
        </p:grpSpPr>
        <p:sp>
          <p:nvSpPr>
            <p:cNvPr id="68" name="Rectangle 67">
              <a:extLst>
                <a:ext uri="{FF2B5EF4-FFF2-40B4-BE49-F238E27FC236}">
                  <a16:creationId xmlns:a16="http://schemas.microsoft.com/office/drawing/2014/main" id="{DB9D730E-3AB1-6C42-B67B-9E64BEB5EDA1}"/>
                </a:ext>
              </a:extLst>
            </p:cNvPr>
            <p:cNvSpPr/>
            <p:nvPr/>
          </p:nvSpPr>
          <p:spPr>
            <a:xfrm>
              <a:off x="3055140" y="1442468"/>
              <a:ext cx="775287" cy="421630"/>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108000" tIns="36000" rIns="36000" bIns="36000"/>
            <a:lstStyle/>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domain,</a:t>
              </a:r>
            </a:p>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correlation,</a:t>
              </a:r>
            </a:p>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timestamp </a:t>
              </a:r>
            </a:p>
          </p:txBody>
        </p:sp>
        <p:sp>
          <p:nvSpPr>
            <p:cNvPr id="69" name="Double Brace 68">
              <a:extLst>
                <a:ext uri="{FF2B5EF4-FFF2-40B4-BE49-F238E27FC236}">
                  <a16:creationId xmlns:a16="http://schemas.microsoft.com/office/drawing/2014/main" id="{1EE7F85A-5A14-0F46-9C83-B38CD6DD9F04}"/>
                </a:ext>
              </a:extLst>
            </p:cNvPr>
            <p:cNvSpPr/>
            <p:nvPr/>
          </p:nvSpPr>
          <p:spPr>
            <a:xfrm>
              <a:off x="3088481" y="1496665"/>
              <a:ext cx="695516" cy="327772"/>
            </a:xfrm>
            <a:prstGeom prst="bracePair">
              <a:avLst>
                <a:gd name="adj" fmla="val 4230"/>
              </a:avLst>
            </a:prstGeom>
            <a:ln>
              <a:solidFill>
                <a:schemeClr val="bg1">
                  <a:lumMod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grpSp>
        <p:nvGrpSpPr>
          <p:cNvPr id="3" name="Group 2">
            <a:extLst>
              <a:ext uri="{FF2B5EF4-FFF2-40B4-BE49-F238E27FC236}">
                <a16:creationId xmlns:a16="http://schemas.microsoft.com/office/drawing/2014/main" id="{BC20C343-BCF7-6746-9E37-2679E1786384}"/>
              </a:ext>
            </a:extLst>
          </p:cNvPr>
          <p:cNvGrpSpPr/>
          <p:nvPr/>
        </p:nvGrpSpPr>
        <p:grpSpPr>
          <a:xfrm>
            <a:off x="1446698" y="4892744"/>
            <a:ext cx="1199708" cy="1127049"/>
            <a:chOff x="1494198" y="4892744"/>
            <a:chExt cx="1199708" cy="1127049"/>
          </a:xfrm>
        </p:grpSpPr>
        <p:sp>
          <p:nvSpPr>
            <p:cNvPr id="71" name="Rectangle 70">
              <a:extLst>
                <a:ext uri="{FF2B5EF4-FFF2-40B4-BE49-F238E27FC236}">
                  <a16:creationId xmlns:a16="http://schemas.microsoft.com/office/drawing/2014/main" id="{52A47677-5AF5-5145-A29B-86BC33CD5B12}"/>
                </a:ext>
              </a:extLst>
            </p:cNvPr>
            <p:cNvSpPr/>
            <p:nvPr/>
          </p:nvSpPr>
          <p:spPr>
            <a:xfrm>
              <a:off x="1494198" y="4892744"/>
              <a:ext cx="1199708" cy="1127049"/>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144000" tIns="72000" rIns="36000" bIns="36000"/>
            <a:lstStyle/>
            <a:p>
              <a:pPr>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domains: [</a:t>
              </a:r>
            </a:p>
            <a:p>
              <a:pPr>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    domain,</a:t>
              </a:r>
            </a:p>
            <a:p>
              <a:pPr>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    trusts: [ </a:t>
              </a:r>
            </a:p>
            <a:p>
              <a:pPr>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        code,</a:t>
              </a:r>
            </a:p>
            <a:p>
              <a:pPr>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        grant/revoke,</a:t>
              </a:r>
            </a:p>
            <a:p>
              <a:pPr>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        query/response</a:t>
              </a:r>
            </a:p>
            <a:p>
              <a:pPr>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    ]</a:t>
              </a:r>
            </a:p>
            <a:p>
              <a:pPr>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a:t>
              </a:r>
            </a:p>
          </p:txBody>
        </p:sp>
        <p:sp>
          <p:nvSpPr>
            <p:cNvPr id="72" name="Double Brace 71">
              <a:extLst>
                <a:ext uri="{FF2B5EF4-FFF2-40B4-BE49-F238E27FC236}">
                  <a16:creationId xmlns:a16="http://schemas.microsoft.com/office/drawing/2014/main" id="{8E5AA66D-0E6D-5B40-9958-2B54CB6A3E75}"/>
                </a:ext>
              </a:extLst>
            </p:cNvPr>
            <p:cNvSpPr/>
            <p:nvPr/>
          </p:nvSpPr>
          <p:spPr>
            <a:xfrm>
              <a:off x="1534683" y="4946941"/>
              <a:ext cx="1128750" cy="1004948"/>
            </a:xfrm>
            <a:prstGeom prst="bracePair">
              <a:avLst>
                <a:gd name="adj" fmla="val 2637"/>
              </a:avLst>
            </a:prstGeom>
            <a:ln>
              <a:solidFill>
                <a:schemeClr val="bg1">
                  <a:lumMod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grpSp>
        <p:nvGrpSpPr>
          <p:cNvPr id="2" name="Group 1">
            <a:extLst>
              <a:ext uri="{FF2B5EF4-FFF2-40B4-BE49-F238E27FC236}">
                <a16:creationId xmlns:a16="http://schemas.microsoft.com/office/drawing/2014/main" id="{59176BFE-B55A-4649-BBAC-69B72D4713C5}"/>
              </a:ext>
            </a:extLst>
          </p:cNvPr>
          <p:cNvGrpSpPr/>
          <p:nvPr/>
        </p:nvGrpSpPr>
        <p:grpSpPr>
          <a:xfrm>
            <a:off x="2702625" y="4892744"/>
            <a:ext cx="1138331" cy="1127056"/>
            <a:chOff x="2784070" y="4892744"/>
            <a:chExt cx="1199708" cy="1127056"/>
          </a:xfrm>
        </p:grpSpPr>
        <p:sp>
          <p:nvSpPr>
            <p:cNvPr id="74" name="Rectangle 73">
              <a:extLst>
                <a:ext uri="{FF2B5EF4-FFF2-40B4-BE49-F238E27FC236}">
                  <a16:creationId xmlns:a16="http://schemas.microsoft.com/office/drawing/2014/main" id="{2FC80D66-2183-E241-9C43-5957C2E183F3}"/>
                </a:ext>
              </a:extLst>
            </p:cNvPr>
            <p:cNvSpPr/>
            <p:nvPr/>
          </p:nvSpPr>
          <p:spPr>
            <a:xfrm>
              <a:off x="2784070" y="4892744"/>
              <a:ext cx="1199708" cy="1127056"/>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144000" tIns="72000" rIns="36000" bIns="36000"/>
            <a:lstStyle/>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codes: [</a:t>
              </a:r>
            </a:p>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    code,</a:t>
              </a:r>
            </a:p>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    translations: [</a:t>
              </a:r>
            </a:p>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        language,</a:t>
              </a:r>
            </a:p>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        translation</a:t>
              </a:r>
            </a:p>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    ]</a:t>
              </a:r>
            </a:p>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    children: [ codes ]</a:t>
              </a:r>
            </a:p>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a:t>
              </a:r>
            </a:p>
          </p:txBody>
        </p:sp>
        <p:sp>
          <p:nvSpPr>
            <p:cNvPr id="75" name="Double Brace 74">
              <a:extLst>
                <a:ext uri="{FF2B5EF4-FFF2-40B4-BE49-F238E27FC236}">
                  <a16:creationId xmlns:a16="http://schemas.microsoft.com/office/drawing/2014/main" id="{898759CD-F8F6-A446-BBF4-511CC55C7586}"/>
                </a:ext>
              </a:extLst>
            </p:cNvPr>
            <p:cNvSpPr/>
            <p:nvPr/>
          </p:nvSpPr>
          <p:spPr>
            <a:xfrm>
              <a:off x="2824555" y="4946939"/>
              <a:ext cx="1128750" cy="1023507"/>
            </a:xfrm>
            <a:prstGeom prst="bracePair">
              <a:avLst>
                <a:gd name="adj" fmla="val 2637"/>
              </a:avLst>
            </a:prstGeom>
            <a:ln>
              <a:solidFill>
                <a:schemeClr val="bg1">
                  <a:lumMod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sp>
        <p:nvSpPr>
          <p:cNvPr id="79" name="NumBox 1">
            <a:extLst>
              <a:ext uri="{FF2B5EF4-FFF2-40B4-BE49-F238E27FC236}">
                <a16:creationId xmlns:a16="http://schemas.microsoft.com/office/drawing/2014/main" id="{34D36E41-BD1E-FF4B-ADFE-B019D16D57F1}"/>
              </a:ext>
            </a:extLst>
          </p:cNvPr>
          <p:cNvSpPr/>
          <p:nvPr/>
        </p:nvSpPr>
        <p:spPr>
          <a:xfrm>
            <a:off x="411631" y="4605818"/>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1</a:t>
            </a:r>
          </a:p>
        </p:txBody>
      </p:sp>
      <p:sp>
        <p:nvSpPr>
          <p:cNvPr id="83" name="NumBox 1">
            <a:extLst>
              <a:ext uri="{FF2B5EF4-FFF2-40B4-BE49-F238E27FC236}">
                <a16:creationId xmlns:a16="http://schemas.microsoft.com/office/drawing/2014/main" id="{F03A9C91-8114-D54F-BCB1-B2A82A42C27B}"/>
              </a:ext>
            </a:extLst>
          </p:cNvPr>
          <p:cNvSpPr/>
          <p:nvPr/>
        </p:nvSpPr>
        <p:spPr>
          <a:xfrm>
            <a:off x="4037212" y="4601160"/>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2</a:t>
            </a:r>
          </a:p>
        </p:txBody>
      </p:sp>
      <p:sp>
        <p:nvSpPr>
          <p:cNvPr id="84" name="NumBox 1">
            <a:extLst>
              <a:ext uri="{FF2B5EF4-FFF2-40B4-BE49-F238E27FC236}">
                <a16:creationId xmlns:a16="http://schemas.microsoft.com/office/drawing/2014/main" id="{BBA29A86-BBBC-9D49-8D76-915E52D50485}"/>
              </a:ext>
            </a:extLst>
          </p:cNvPr>
          <p:cNvSpPr/>
          <p:nvPr/>
        </p:nvSpPr>
        <p:spPr>
          <a:xfrm>
            <a:off x="4364247" y="4601160"/>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7</a:t>
            </a:r>
          </a:p>
        </p:txBody>
      </p:sp>
      <p:sp>
        <p:nvSpPr>
          <p:cNvPr id="85" name="NumBox 1">
            <a:extLst>
              <a:ext uri="{FF2B5EF4-FFF2-40B4-BE49-F238E27FC236}">
                <a16:creationId xmlns:a16="http://schemas.microsoft.com/office/drawing/2014/main" id="{E73F771D-DFDC-A440-A2EB-4F63D79F9658}"/>
              </a:ext>
            </a:extLst>
          </p:cNvPr>
          <p:cNvSpPr/>
          <p:nvPr/>
        </p:nvSpPr>
        <p:spPr>
          <a:xfrm>
            <a:off x="884050" y="4054136"/>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3</a:t>
            </a:r>
          </a:p>
        </p:txBody>
      </p:sp>
      <p:sp>
        <p:nvSpPr>
          <p:cNvPr id="86" name="NumBox 1">
            <a:extLst>
              <a:ext uri="{FF2B5EF4-FFF2-40B4-BE49-F238E27FC236}">
                <a16:creationId xmlns:a16="http://schemas.microsoft.com/office/drawing/2014/main" id="{613E41FA-B487-2943-8F01-DBE56A4730B6}"/>
              </a:ext>
            </a:extLst>
          </p:cNvPr>
          <p:cNvSpPr/>
          <p:nvPr/>
        </p:nvSpPr>
        <p:spPr>
          <a:xfrm>
            <a:off x="4127654" y="1889499"/>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4</a:t>
            </a:r>
          </a:p>
        </p:txBody>
      </p:sp>
      <p:sp>
        <p:nvSpPr>
          <p:cNvPr id="87" name="NumBox 1">
            <a:extLst>
              <a:ext uri="{FF2B5EF4-FFF2-40B4-BE49-F238E27FC236}">
                <a16:creationId xmlns:a16="http://schemas.microsoft.com/office/drawing/2014/main" id="{20816214-BFAB-B741-9439-D3D745F3E03A}"/>
              </a:ext>
            </a:extLst>
          </p:cNvPr>
          <p:cNvSpPr/>
          <p:nvPr/>
        </p:nvSpPr>
        <p:spPr>
          <a:xfrm>
            <a:off x="2305903" y="2355289"/>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5</a:t>
            </a:r>
          </a:p>
        </p:txBody>
      </p:sp>
      <p:sp>
        <p:nvSpPr>
          <p:cNvPr id="88" name="NumBox 1">
            <a:extLst>
              <a:ext uri="{FF2B5EF4-FFF2-40B4-BE49-F238E27FC236}">
                <a16:creationId xmlns:a16="http://schemas.microsoft.com/office/drawing/2014/main" id="{68F4D535-2807-7D4E-9AD7-9D9D3D07F2AF}"/>
              </a:ext>
            </a:extLst>
          </p:cNvPr>
          <p:cNvSpPr/>
          <p:nvPr/>
        </p:nvSpPr>
        <p:spPr>
          <a:xfrm>
            <a:off x="2591248" y="3296661"/>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6</a:t>
            </a:r>
          </a:p>
        </p:txBody>
      </p:sp>
      <p:sp>
        <p:nvSpPr>
          <p:cNvPr id="89" name="NumBox 1">
            <a:extLst>
              <a:ext uri="{FF2B5EF4-FFF2-40B4-BE49-F238E27FC236}">
                <a16:creationId xmlns:a16="http://schemas.microsoft.com/office/drawing/2014/main" id="{1886C1C6-B334-BB44-BCEC-77420617AF2D}"/>
              </a:ext>
            </a:extLst>
          </p:cNvPr>
          <p:cNvSpPr/>
          <p:nvPr/>
        </p:nvSpPr>
        <p:spPr>
          <a:xfrm>
            <a:off x="4852042" y="3882795"/>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6</a:t>
            </a:r>
          </a:p>
        </p:txBody>
      </p:sp>
      <p:grpSp>
        <p:nvGrpSpPr>
          <p:cNvPr id="90" name="Group 89">
            <a:extLst>
              <a:ext uri="{FF2B5EF4-FFF2-40B4-BE49-F238E27FC236}">
                <a16:creationId xmlns:a16="http://schemas.microsoft.com/office/drawing/2014/main" id="{794AC8EA-D0AD-2B4C-85F4-28EE319FCCCD}"/>
              </a:ext>
            </a:extLst>
          </p:cNvPr>
          <p:cNvGrpSpPr/>
          <p:nvPr/>
        </p:nvGrpSpPr>
        <p:grpSpPr>
          <a:xfrm>
            <a:off x="3288208" y="2527476"/>
            <a:ext cx="775287" cy="421630"/>
            <a:chOff x="3055140" y="1442468"/>
            <a:chExt cx="775287" cy="421630"/>
          </a:xfrm>
        </p:grpSpPr>
        <p:sp>
          <p:nvSpPr>
            <p:cNvPr id="91" name="Rectangle 90">
              <a:extLst>
                <a:ext uri="{FF2B5EF4-FFF2-40B4-BE49-F238E27FC236}">
                  <a16:creationId xmlns:a16="http://schemas.microsoft.com/office/drawing/2014/main" id="{85DB2474-A215-E24E-BDF4-F3728AFD6D3E}"/>
                </a:ext>
              </a:extLst>
            </p:cNvPr>
            <p:cNvSpPr/>
            <p:nvPr/>
          </p:nvSpPr>
          <p:spPr>
            <a:xfrm>
              <a:off x="3055140" y="1442468"/>
              <a:ext cx="775287" cy="421630"/>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108000" tIns="36000" rIns="36000" bIns="36000"/>
            <a:lstStyle/>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domain,</a:t>
              </a:r>
            </a:p>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correlation,</a:t>
              </a:r>
            </a:p>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timestamp </a:t>
              </a:r>
            </a:p>
          </p:txBody>
        </p:sp>
        <p:sp>
          <p:nvSpPr>
            <p:cNvPr id="92" name="Double Brace 91">
              <a:extLst>
                <a:ext uri="{FF2B5EF4-FFF2-40B4-BE49-F238E27FC236}">
                  <a16:creationId xmlns:a16="http://schemas.microsoft.com/office/drawing/2014/main" id="{E39AB470-27FE-DF42-8AB8-35BC172489BB}"/>
                </a:ext>
              </a:extLst>
            </p:cNvPr>
            <p:cNvSpPr/>
            <p:nvPr/>
          </p:nvSpPr>
          <p:spPr>
            <a:xfrm>
              <a:off x="3088481" y="1496665"/>
              <a:ext cx="695516" cy="327772"/>
            </a:xfrm>
            <a:prstGeom prst="bracePair">
              <a:avLst>
                <a:gd name="adj" fmla="val 4230"/>
              </a:avLst>
            </a:prstGeom>
            <a:ln>
              <a:solidFill>
                <a:schemeClr val="bg1">
                  <a:lumMod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grpSp>
        <p:nvGrpSpPr>
          <p:cNvPr id="93" name="Group 92">
            <a:extLst>
              <a:ext uri="{FF2B5EF4-FFF2-40B4-BE49-F238E27FC236}">
                <a16:creationId xmlns:a16="http://schemas.microsoft.com/office/drawing/2014/main" id="{FE8A52EE-A55D-2C42-8D2D-9C7B05A7EF70}"/>
              </a:ext>
            </a:extLst>
          </p:cNvPr>
          <p:cNvGrpSpPr/>
          <p:nvPr/>
        </p:nvGrpSpPr>
        <p:grpSpPr>
          <a:xfrm>
            <a:off x="5160425" y="3792072"/>
            <a:ext cx="775287" cy="421630"/>
            <a:chOff x="3055140" y="1442468"/>
            <a:chExt cx="775287" cy="421630"/>
          </a:xfrm>
        </p:grpSpPr>
        <p:sp>
          <p:nvSpPr>
            <p:cNvPr id="94" name="Rectangle 93">
              <a:extLst>
                <a:ext uri="{FF2B5EF4-FFF2-40B4-BE49-F238E27FC236}">
                  <a16:creationId xmlns:a16="http://schemas.microsoft.com/office/drawing/2014/main" id="{A0F9BCD0-3F41-3345-861B-24CFE545F1A3}"/>
                </a:ext>
              </a:extLst>
            </p:cNvPr>
            <p:cNvSpPr/>
            <p:nvPr/>
          </p:nvSpPr>
          <p:spPr>
            <a:xfrm>
              <a:off x="3055140" y="1442468"/>
              <a:ext cx="775287" cy="421630"/>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108000" tIns="36000" rIns="36000" bIns="36000"/>
            <a:lstStyle/>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domain,</a:t>
              </a:r>
            </a:p>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correlation,</a:t>
              </a:r>
            </a:p>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timestamp </a:t>
              </a:r>
            </a:p>
          </p:txBody>
        </p:sp>
        <p:sp>
          <p:nvSpPr>
            <p:cNvPr id="95" name="Double Brace 94">
              <a:extLst>
                <a:ext uri="{FF2B5EF4-FFF2-40B4-BE49-F238E27FC236}">
                  <a16:creationId xmlns:a16="http://schemas.microsoft.com/office/drawing/2014/main" id="{F39418D9-BA4C-B04C-82B3-9C9100C2EFDA}"/>
                </a:ext>
              </a:extLst>
            </p:cNvPr>
            <p:cNvSpPr/>
            <p:nvPr/>
          </p:nvSpPr>
          <p:spPr>
            <a:xfrm>
              <a:off x="3088481" y="1496665"/>
              <a:ext cx="695516" cy="327772"/>
            </a:xfrm>
            <a:prstGeom prst="bracePair">
              <a:avLst>
                <a:gd name="adj" fmla="val 4230"/>
              </a:avLst>
            </a:prstGeom>
            <a:ln>
              <a:solidFill>
                <a:schemeClr val="bg1">
                  <a:lumMod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sp>
        <p:nvSpPr>
          <p:cNvPr id="96" name="Rectangle 95">
            <a:extLst>
              <a:ext uri="{FF2B5EF4-FFF2-40B4-BE49-F238E27FC236}">
                <a16:creationId xmlns:a16="http://schemas.microsoft.com/office/drawing/2014/main" id="{9A576185-0EDE-C94D-9582-CAA30FA0931D}"/>
              </a:ext>
            </a:extLst>
          </p:cNvPr>
          <p:cNvSpPr/>
          <p:nvPr/>
        </p:nvSpPr>
        <p:spPr>
          <a:xfrm>
            <a:off x="6324602" y="3611092"/>
            <a:ext cx="2504921" cy="838926"/>
          </a:xfrm>
          <a:prstGeom prst="rect">
            <a:avLst/>
          </a:prstGeom>
          <a:solidFill>
            <a:schemeClr val="accent6">
              <a:alpha val="9804"/>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vert="horz" lIns="108000" tIns="72000" anchor="t"/>
          <a:lstStyle/>
          <a:p>
            <a:r>
              <a:rPr lang="en-US" sz="105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SaaS </a:t>
            </a:r>
            <a:br>
              <a:rPr lang="en-US" sz="105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br>
            <a:r>
              <a:rPr lang="en-US" sz="105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Proxies</a:t>
            </a:r>
          </a:p>
        </p:txBody>
      </p:sp>
      <p:sp>
        <p:nvSpPr>
          <p:cNvPr id="97" name="Rectangle 96">
            <a:extLst>
              <a:ext uri="{FF2B5EF4-FFF2-40B4-BE49-F238E27FC236}">
                <a16:creationId xmlns:a16="http://schemas.microsoft.com/office/drawing/2014/main" id="{1DD46FDA-5FF2-CF4B-8A0A-423006264039}"/>
              </a:ext>
            </a:extLst>
          </p:cNvPr>
          <p:cNvSpPr/>
          <p:nvPr/>
        </p:nvSpPr>
        <p:spPr>
          <a:xfrm>
            <a:off x="6324602" y="4593416"/>
            <a:ext cx="2504921" cy="838926"/>
          </a:xfrm>
          <a:prstGeom prst="rect">
            <a:avLst/>
          </a:prstGeom>
          <a:solidFill>
            <a:schemeClr val="accent6">
              <a:alpha val="9804"/>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vert="horz" lIns="108000" tIns="72000" anchor="t"/>
          <a:lstStyle/>
          <a:p>
            <a:r>
              <a:rPr lang="en-US" sz="105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Trust </a:t>
            </a:r>
            <a:br>
              <a:rPr lang="en-US" sz="105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br>
            <a:r>
              <a:rPr lang="en-US" sz="105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Graphs</a:t>
            </a:r>
          </a:p>
        </p:txBody>
      </p:sp>
      <p:sp>
        <p:nvSpPr>
          <p:cNvPr id="98" name="Rectangle 97">
            <a:extLst>
              <a:ext uri="{FF2B5EF4-FFF2-40B4-BE49-F238E27FC236}">
                <a16:creationId xmlns:a16="http://schemas.microsoft.com/office/drawing/2014/main" id="{44350278-98C6-6640-83B3-59D333CF9511}"/>
              </a:ext>
            </a:extLst>
          </p:cNvPr>
          <p:cNvSpPr/>
          <p:nvPr/>
        </p:nvSpPr>
        <p:spPr>
          <a:xfrm>
            <a:off x="6324601" y="2632891"/>
            <a:ext cx="2504921" cy="838926"/>
          </a:xfrm>
          <a:prstGeom prst="rect">
            <a:avLst/>
          </a:prstGeom>
          <a:solidFill>
            <a:schemeClr val="accent6">
              <a:alpha val="9804"/>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vert="horz" lIns="108000" tIns="72000" anchor="t"/>
          <a:lstStyle/>
          <a:p>
            <a:r>
              <a:rPr lang="en-US" sz="105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Trust </a:t>
            </a:r>
            <a:br>
              <a:rPr lang="en-US" sz="105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br>
            <a:r>
              <a:rPr lang="en-US" sz="105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Listeners</a:t>
            </a:r>
          </a:p>
        </p:txBody>
      </p:sp>
      <p:sp>
        <p:nvSpPr>
          <p:cNvPr id="99" name="Rectangle 98">
            <a:extLst>
              <a:ext uri="{FF2B5EF4-FFF2-40B4-BE49-F238E27FC236}">
                <a16:creationId xmlns:a16="http://schemas.microsoft.com/office/drawing/2014/main" id="{605C0E92-AA49-5B47-B6CC-B58F173C01C6}"/>
              </a:ext>
            </a:extLst>
          </p:cNvPr>
          <p:cNvSpPr/>
          <p:nvPr/>
        </p:nvSpPr>
        <p:spPr>
          <a:xfrm>
            <a:off x="6324600" y="1654341"/>
            <a:ext cx="2504921" cy="838926"/>
          </a:xfrm>
          <a:prstGeom prst="rect">
            <a:avLst/>
          </a:prstGeom>
          <a:solidFill>
            <a:schemeClr val="accent6">
              <a:alpha val="9804"/>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vert="horz" lIns="108000" tIns="72000" anchor="t"/>
          <a:lstStyle/>
          <a:p>
            <a:r>
              <a:rPr lang="en-US" sz="105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Trust </a:t>
            </a:r>
            <a:br>
              <a:rPr lang="en-US" sz="105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br>
            <a:r>
              <a:rPr lang="en-US" sz="105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Authorities</a:t>
            </a:r>
          </a:p>
        </p:txBody>
      </p:sp>
      <p:pic>
        <p:nvPicPr>
          <p:cNvPr id="100" name="Graphic 6">
            <a:extLst>
              <a:ext uri="{FF2B5EF4-FFF2-40B4-BE49-F238E27FC236}">
                <a16:creationId xmlns:a16="http://schemas.microsoft.com/office/drawing/2014/main" id="{1A24E205-52CA-9D40-8C30-AE4E0EFC1FA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10234" y="3722179"/>
            <a:ext cx="471600" cy="4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 name="Graphic 6">
            <a:extLst>
              <a:ext uri="{FF2B5EF4-FFF2-40B4-BE49-F238E27FC236}">
                <a16:creationId xmlns:a16="http://schemas.microsoft.com/office/drawing/2014/main" id="{256ACAF1-D013-FE47-AEAE-318911214A7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03286" y="3722179"/>
            <a:ext cx="471600" cy="4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 name="TextBox 23">
            <a:extLst>
              <a:ext uri="{FF2B5EF4-FFF2-40B4-BE49-F238E27FC236}">
                <a16:creationId xmlns:a16="http://schemas.microsoft.com/office/drawing/2014/main" id="{0D0DECCB-55AE-7747-A08D-F78C73CAFD58}"/>
              </a:ext>
            </a:extLst>
          </p:cNvPr>
          <p:cNvSpPr txBox="1">
            <a:spLocks noChangeArrowheads="1"/>
          </p:cNvSpPr>
          <p:nvPr/>
        </p:nvSpPr>
        <p:spPr bwMode="auto">
          <a:xfrm>
            <a:off x="7314090" y="4148951"/>
            <a:ext cx="663888"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latin typeface="Amazon Ember" panose="020B0603020204020204" pitchFamily="34" charset="0"/>
                <a:ea typeface="Amazon Ember" panose="020B0603020204020204" pitchFamily="34" charset="0"/>
                <a:cs typeface="Amazon Ember" panose="020B0603020204020204" pitchFamily="34" charset="0"/>
              </a:rPr>
              <a:t>AWS</a:t>
            </a:r>
            <a:endParaRPr lang="en-US" altLang="en-US" sz="1050" i="1"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103" name="TextBox 23">
            <a:extLst>
              <a:ext uri="{FF2B5EF4-FFF2-40B4-BE49-F238E27FC236}">
                <a16:creationId xmlns:a16="http://schemas.microsoft.com/office/drawing/2014/main" id="{E39A7B70-550F-2742-8E7C-6D6A0A626AD0}"/>
              </a:ext>
            </a:extLst>
          </p:cNvPr>
          <p:cNvSpPr txBox="1">
            <a:spLocks noChangeArrowheads="1"/>
          </p:cNvSpPr>
          <p:nvPr/>
        </p:nvSpPr>
        <p:spPr bwMode="auto">
          <a:xfrm>
            <a:off x="8107142" y="4150225"/>
            <a:ext cx="663888"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latin typeface="Amazon Ember" panose="020B0603020204020204" pitchFamily="34" charset="0"/>
                <a:ea typeface="Amazon Ember" panose="020B0603020204020204" pitchFamily="34" charset="0"/>
                <a:cs typeface="Amazon Ember" panose="020B0603020204020204" pitchFamily="34" charset="0"/>
              </a:rPr>
              <a:t>Azure</a:t>
            </a:r>
            <a:endParaRPr lang="en-US" altLang="en-US" sz="1050" i="1"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104" name="TextBox 34">
            <a:extLst>
              <a:ext uri="{FF2B5EF4-FFF2-40B4-BE49-F238E27FC236}">
                <a16:creationId xmlns:a16="http://schemas.microsoft.com/office/drawing/2014/main" id="{6F0E9B35-EE3C-3445-94A1-74EECD089292}"/>
              </a:ext>
            </a:extLst>
          </p:cNvPr>
          <p:cNvSpPr txBox="1">
            <a:spLocks noChangeArrowheads="1"/>
          </p:cNvSpPr>
          <p:nvPr/>
        </p:nvSpPr>
        <p:spPr bwMode="auto">
          <a:xfrm>
            <a:off x="7279546" y="5130313"/>
            <a:ext cx="732976"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IATA</a:t>
            </a:r>
          </a:p>
        </p:txBody>
      </p:sp>
      <p:pic>
        <p:nvPicPr>
          <p:cNvPr id="105" name="Graphic 23">
            <a:extLst>
              <a:ext uri="{FF2B5EF4-FFF2-40B4-BE49-F238E27FC236}">
                <a16:creationId xmlns:a16="http://schemas.microsoft.com/office/drawing/2014/main" id="{798B76CC-1748-424A-B401-E061BF1C3CAE}"/>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7410234" y="4701901"/>
            <a:ext cx="471600" cy="4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 name="TextBox 34">
            <a:extLst>
              <a:ext uri="{FF2B5EF4-FFF2-40B4-BE49-F238E27FC236}">
                <a16:creationId xmlns:a16="http://schemas.microsoft.com/office/drawing/2014/main" id="{478BC6DD-1BE0-144C-92CD-97FCAAFE326F}"/>
              </a:ext>
            </a:extLst>
          </p:cNvPr>
          <p:cNvSpPr txBox="1">
            <a:spLocks noChangeArrowheads="1"/>
          </p:cNvSpPr>
          <p:nvPr/>
        </p:nvSpPr>
        <p:spPr bwMode="auto">
          <a:xfrm>
            <a:off x="8072598" y="5130313"/>
            <a:ext cx="732976"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Germany</a:t>
            </a:r>
          </a:p>
        </p:txBody>
      </p:sp>
      <p:pic>
        <p:nvPicPr>
          <p:cNvPr id="107" name="Graphic 23">
            <a:extLst>
              <a:ext uri="{FF2B5EF4-FFF2-40B4-BE49-F238E27FC236}">
                <a16:creationId xmlns:a16="http://schemas.microsoft.com/office/drawing/2014/main" id="{832DAAC6-FDDA-F243-9792-3540ED6C070F}"/>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8203286" y="4701901"/>
            <a:ext cx="471600" cy="4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8" name="Graphic 29">
            <a:extLst>
              <a:ext uri="{FF2B5EF4-FFF2-40B4-BE49-F238E27FC236}">
                <a16:creationId xmlns:a16="http://schemas.microsoft.com/office/drawing/2014/main" id="{2FAA6735-98DA-664F-BD27-480E270367D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10234" y="2725845"/>
            <a:ext cx="471600" cy="4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9" name="TextBox 34">
            <a:extLst>
              <a:ext uri="{FF2B5EF4-FFF2-40B4-BE49-F238E27FC236}">
                <a16:creationId xmlns:a16="http://schemas.microsoft.com/office/drawing/2014/main" id="{595F35DB-0590-B94B-86F8-B7B7B28F8C49}"/>
              </a:ext>
            </a:extLst>
          </p:cNvPr>
          <p:cNvSpPr txBox="1">
            <a:spLocks noChangeArrowheads="1"/>
          </p:cNvSpPr>
          <p:nvPr/>
        </p:nvSpPr>
        <p:spPr bwMode="auto">
          <a:xfrm>
            <a:off x="7242897" y="3112126"/>
            <a:ext cx="806274"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AWS</a:t>
            </a:r>
            <a:endPar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110" name="Graphic 29">
            <a:extLst>
              <a:ext uri="{FF2B5EF4-FFF2-40B4-BE49-F238E27FC236}">
                <a16:creationId xmlns:a16="http://schemas.microsoft.com/office/drawing/2014/main" id="{BBC99657-F21F-1745-85DB-9BB7B381668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03286" y="2728122"/>
            <a:ext cx="471600" cy="4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1" name="TextBox 34">
            <a:extLst>
              <a:ext uri="{FF2B5EF4-FFF2-40B4-BE49-F238E27FC236}">
                <a16:creationId xmlns:a16="http://schemas.microsoft.com/office/drawing/2014/main" id="{A0482092-5F45-6043-9679-7A5223BB3E8F}"/>
              </a:ext>
            </a:extLst>
          </p:cNvPr>
          <p:cNvSpPr txBox="1">
            <a:spLocks noChangeArrowheads="1"/>
          </p:cNvSpPr>
          <p:nvPr/>
        </p:nvSpPr>
        <p:spPr bwMode="auto">
          <a:xfrm>
            <a:off x="8035949" y="3114403"/>
            <a:ext cx="806274"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Infosys</a:t>
            </a:r>
            <a:endPar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12" name="TextBox 34">
            <a:extLst>
              <a:ext uri="{FF2B5EF4-FFF2-40B4-BE49-F238E27FC236}">
                <a16:creationId xmlns:a16="http://schemas.microsoft.com/office/drawing/2014/main" id="{0ADDD295-42E0-2D46-9A5A-5DBCD1BFF4ED}"/>
              </a:ext>
            </a:extLst>
          </p:cNvPr>
          <p:cNvSpPr txBox="1">
            <a:spLocks noChangeArrowheads="1"/>
          </p:cNvSpPr>
          <p:nvPr/>
        </p:nvSpPr>
        <p:spPr bwMode="auto">
          <a:xfrm>
            <a:off x="7158239" y="2067959"/>
            <a:ext cx="975591"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European Union (EU)</a:t>
            </a:r>
            <a:endPar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113" name="Graphic 19">
            <a:extLst>
              <a:ext uri="{FF2B5EF4-FFF2-40B4-BE49-F238E27FC236}">
                <a16:creationId xmlns:a16="http://schemas.microsoft.com/office/drawing/2014/main" id="{B998A89A-4ECB-CE43-BF1D-98C21139D8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48034" y="1727739"/>
            <a:ext cx="396000" cy="3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4" name="TextBox 34">
            <a:extLst>
              <a:ext uri="{FF2B5EF4-FFF2-40B4-BE49-F238E27FC236}">
                <a16:creationId xmlns:a16="http://schemas.microsoft.com/office/drawing/2014/main" id="{8439553D-83AB-6340-BE40-847B8F7B6CD7}"/>
              </a:ext>
            </a:extLst>
          </p:cNvPr>
          <p:cNvSpPr txBox="1">
            <a:spLocks noChangeArrowheads="1"/>
          </p:cNvSpPr>
          <p:nvPr/>
        </p:nvSpPr>
        <p:spPr bwMode="auto">
          <a:xfrm>
            <a:off x="7951291" y="2069089"/>
            <a:ext cx="975591"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Japanese Gov </a:t>
            </a:r>
            <a:endPar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115" name="Graphic 19">
            <a:extLst>
              <a:ext uri="{FF2B5EF4-FFF2-40B4-BE49-F238E27FC236}">
                <a16:creationId xmlns:a16="http://schemas.microsoft.com/office/drawing/2014/main" id="{D71D92D2-C9DB-C54B-86A7-2D7676F8DF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41086" y="1728869"/>
            <a:ext cx="396000" cy="3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6" name="Straight Arrow Connector 115">
            <a:extLst>
              <a:ext uri="{FF2B5EF4-FFF2-40B4-BE49-F238E27FC236}">
                <a16:creationId xmlns:a16="http://schemas.microsoft.com/office/drawing/2014/main" id="{974A8BB5-BC58-FF40-9B92-7A30BD782C1A}"/>
              </a:ext>
            </a:extLst>
          </p:cNvPr>
          <p:cNvCxnSpPr>
            <a:cxnSpLocks/>
          </p:cNvCxnSpPr>
          <p:nvPr/>
        </p:nvCxnSpPr>
        <p:spPr>
          <a:xfrm flipH="1">
            <a:off x="7646034" y="2483457"/>
            <a:ext cx="1" cy="242388"/>
          </a:xfrm>
          <a:prstGeom prst="straightConnector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1A30D0A1-0528-3A41-B3B9-97E51CABA57B}"/>
              </a:ext>
            </a:extLst>
          </p:cNvPr>
          <p:cNvCxnSpPr>
            <a:cxnSpLocks/>
            <a:stCxn id="114" idx="2"/>
            <a:endCxn id="110" idx="0"/>
          </p:cNvCxnSpPr>
          <p:nvPr/>
        </p:nvCxnSpPr>
        <p:spPr>
          <a:xfrm flipH="1">
            <a:off x="8439086" y="2484587"/>
            <a:ext cx="1" cy="243535"/>
          </a:xfrm>
          <a:prstGeom prst="straightConnector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B8342BEF-D68C-BB46-86BA-ECC246EDA9E0}"/>
              </a:ext>
            </a:extLst>
          </p:cNvPr>
          <p:cNvCxnSpPr>
            <a:cxnSpLocks/>
            <a:stCxn id="109" idx="2"/>
          </p:cNvCxnSpPr>
          <p:nvPr/>
        </p:nvCxnSpPr>
        <p:spPr>
          <a:xfrm>
            <a:off x="7646034" y="3366042"/>
            <a:ext cx="595052" cy="368300"/>
          </a:xfrm>
          <a:prstGeom prst="straightConnector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B6C84110-F73B-224F-AB26-36ED03E62786}"/>
              </a:ext>
            </a:extLst>
          </p:cNvPr>
          <p:cNvCxnSpPr>
            <a:cxnSpLocks/>
          </p:cNvCxnSpPr>
          <p:nvPr/>
        </p:nvCxnSpPr>
        <p:spPr>
          <a:xfrm>
            <a:off x="7646034" y="3366042"/>
            <a:ext cx="0" cy="356137"/>
          </a:xfrm>
          <a:prstGeom prst="straightConnector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5CA5BF14-0409-304B-A841-3CF3B60BD0FE}"/>
              </a:ext>
            </a:extLst>
          </p:cNvPr>
          <p:cNvCxnSpPr>
            <a:cxnSpLocks/>
            <a:stCxn id="111" idx="2"/>
            <a:endCxn id="101" idx="0"/>
          </p:cNvCxnSpPr>
          <p:nvPr/>
        </p:nvCxnSpPr>
        <p:spPr>
          <a:xfrm>
            <a:off x="8439086" y="3368319"/>
            <a:ext cx="0" cy="353860"/>
          </a:xfrm>
          <a:prstGeom prst="straightConnector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132" name="Straight Arrow Connector 131">
            <a:extLst>
              <a:ext uri="{FF2B5EF4-FFF2-40B4-BE49-F238E27FC236}">
                <a16:creationId xmlns:a16="http://schemas.microsoft.com/office/drawing/2014/main" id="{F5349103-5CAE-8245-9083-A6DBF3850CB8}"/>
              </a:ext>
            </a:extLst>
          </p:cNvPr>
          <p:cNvCxnSpPr>
            <a:cxnSpLocks/>
            <a:stCxn id="111" idx="2"/>
          </p:cNvCxnSpPr>
          <p:nvPr/>
        </p:nvCxnSpPr>
        <p:spPr>
          <a:xfrm flipH="1">
            <a:off x="7890088" y="3368319"/>
            <a:ext cx="548998" cy="375097"/>
          </a:xfrm>
          <a:prstGeom prst="straightConnector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137" name="Straight Arrow Connector 136">
            <a:extLst>
              <a:ext uri="{FF2B5EF4-FFF2-40B4-BE49-F238E27FC236}">
                <a16:creationId xmlns:a16="http://schemas.microsoft.com/office/drawing/2014/main" id="{7EADAC99-5285-DE40-A7F8-B5268596EC5C}"/>
              </a:ext>
            </a:extLst>
          </p:cNvPr>
          <p:cNvCxnSpPr>
            <a:cxnSpLocks/>
            <a:stCxn id="102" idx="2"/>
            <a:endCxn id="105" idx="0"/>
          </p:cNvCxnSpPr>
          <p:nvPr/>
        </p:nvCxnSpPr>
        <p:spPr>
          <a:xfrm>
            <a:off x="7646034" y="4402867"/>
            <a:ext cx="0" cy="299034"/>
          </a:xfrm>
          <a:prstGeom prst="straightConnector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140" name="Straight Arrow Connector 139">
            <a:extLst>
              <a:ext uri="{FF2B5EF4-FFF2-40B4-BE49-F238E27FC236}">
                <a16:creationId xmlns:a16="http://schemas.microsoft.com/office/drawing/2014/main" id="{2F1097FA-D908-9C4C-AE54-4AED3DE3F4DF}"/>
              </a:ext>
            </a:extLst>
          </p:cNvPr>
          <p:cNvCxnSpPr>
            <a:cxnSpLocks/>
            <a:endCxn id="107" idx="0"/>
          </p:cNvCxnSpPr>
          <p:nvPr/>
        </p:nvCxnSpPr>
        <p:spPr>
          <a:xfrm>
            <a:off x="8439086" y="4394611"/>
            <a:ext cx="0" cy="307290"/>
          </a:xfrm>
          <a:prstGeom prst="straightConnector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B0AD0A83-5ED7-EB46-98AE-145A44087A1A}"/>
              </a:ext>
            </a:extLst>
          </p:cNvPr>
          <p:cNvCxnSpPr>
            <a:cxnSpLocks/>
            <a:stCxn id="102" idx="2"/>
          </p:cNvCxnSpPr>
          <p:nvPr/>
        </p:nvCxnSpPr>
        <p:spPr>
          <a:xfrm>
            <a:off x="7646034" y="4402867"/>
            <a:ext cx="595052" cy="327809"/>
          </a:xfrm>
          <a:prstGeom prst="straightConnector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148" name="Straight Arrow Connector 202">
            <a:extLst>
              <a:ext uri="{FF2B5EF4-FFF2-40B4-BE49-F238E27FC236}">
                <a16:creationId xmlns:a16="http://schemas.microsoft.com/office/drawing/2014/main" id="{667AB878-1AAE-5745-A7B3-F70CDFFAE188}"/>
              </a:ext>
            </a:extLst>
          </p:cNvPr>
          <p:cNvCxnSpPr>
            <a:cxnSpLocks/>
            <a:stCxn id="110" idx="3"/>
            <a:endCxn id="107" idx="3"/>
          </p:cNvCxnSpPr>
          <p:nvPr/>
        </p:nvCxnSpPr>
        <p:spPr>
          <a:xfrm>
            <a:off x="8674886" y="2963922"/>
            <a:ext cx="12700" cy="1973779"/>
          </a:xfrm>
          <a:prstGeom prst="bentConnector3">
            <a:avLst>
              <a:gd name="adj1" fmla="val 1800000"/>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sp>
        <p:nvSpPr>
          <p:cNvPr id="155" name="TextBox 9">
            <a:extLst>
              <a:ext uri="{FF2B5EF4-FFF2-40B4-BE49-F238E27FC236}">
                <a16:creationId xmlns:a16="http://schemas.microsoft.com/office/drawing/2014/main" id="{83EFD4BB-86BD-F043-81DF-99E99E281E77}"/>
              </a:ext>
            </a:extLst>
          </p:cNvPr>
          <p:cNvSpPr txBox="1">
            <a:spLocks noChangeArrowheads="1"/>
          </p:cNvSpPr>
          <p:nvPr/>
        </p:nvSpPr>
        <p:spPr bwMode="auto">
          <a:xfrm>
            <a:off x="6312189" y="1341456"/>
            <a:ext cx="2536733"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r>
              <a:rPr lang="en-US" altLang="en-US" i="0" dirty="0">
                <a:effectLst>
                  <a:glow rad="321067">
                    <a:schemeClr val="bg1">
                      <a:alpha val="89960"/>
                    </a:schemeClr>
                  </a:glow>
                </a:effectLst>
              </a:rPr>
              <a:t>Sample scenario</a:t>
            </a:r>
          </a:p>
        </p:txBody>
      </p:sp>
      <p:cxnSp>
        <p:nvCxnSpPr>
          <p:cNvPr id="156" name="Straight Arrow Connector 155">
            <a:extLst>
              <a:ext uri="{FF2B5EF4-FFF2-40B4-BE49-F238E27FC236}">
                <a16:creationId xmlns:a16="http://schemas.microsoft.com/office/drawing/2014/main" id="{C961608C-B532-A148-A6FB-0AC1E66AB703}"/>
              </a:ext>
            </a:extLst>
          </p:cNvPr>
          <p:cNvCxnSpPr>
            <a:cxnSpLocks/>
            <a:stCxn id="110" idx="1"/>
            <a:endCxn id="108" idx="3"/>
          </p:cNvCxnSpPr>
          <p:nvPr/>
        </p:nvCxnSpPr>
        <p:spPr>
          <a:xfrm flipH="1" flipV="1">
            <a:off x="7881834" y="2961645"/>
            <a:ext cx="321452" cy="2277"/>
          </a:xfrm>
          <a:prstGeom prst="straightConnector1">
            <a:avLst/>
          </a:prstGeom>
          <a:ln w="12700">
            <a:solidFill>
              <a:srgbClr val="545B64"/>
            </a:solidFill>
            <a:headEnd type="arrow" w="med" len="med"/>
            <a:tailEnd type="arrow" w="med" len="sm"/>
          </a:ln>
        </p:spPr>
        <p:style>
          <a:lnRef idx="1">
            <a:schemeClr val="accent1"/>
          </a:lnRef>
          <a:fillRef idx="0">
            <a:schemeClr val="accent1"/>
          </a:fillRef>
          <a:effectRef idx="0">
            <a:schemeClr val="accent1"/>
          </a:effectRef>
          <a:fontRef idx="minor">
            <a:schemeClr val="tx1"/>
          </a:fontRef>
        </p:style>
      </p:cxnSp>
      <p:sp>
        <p:nvSpPr>
          <p:cNvPr id="117" name="NumBox 1">
            <a:extLst>
              <a:ext uri="{FF2B5EF4-FFF2-40B4-BE49-F238E27FC236}">
                <a16:creationId xmlns:a16="http://schemas.microsoft.com/office/drawing/2014/main" id="{032C2F42-393B-4641-AECC-ECF638C93B7B}"/>
              </a:ext>
            </a:extLst>
          </p:cNvPr>
          <p:cNvSpPr/>
          <p:nvPr/>
        </p:nvSpPr>
        <p:spPr>
          <a:xfrm>
            <a:off x="6417155" y="2123739"/>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1</a:t>
            </a:r>
          </a:p>
        </p:txBody>
      </p:sp>
      <p:sp>
        <p:nvSpPr>
          <p:cNvPr id="118" name="NumBox 1">
            <a:extLst>
              <a:ext uri="{FF2B5EF4-FFF2-40B4-BE49-F238E27FC236}">
                <a16:creationId xmlns:a16="http://schemas.microsoft.com/office/drawing/2014/main" id="{3AC9C50A-2E25-334E-ABD7-6ADA310B6A9D}"/>
              </a:ext>
            </a:extLst>
          </p:cNvPr>
          <p:cNvSpPr/>
          <p:nvPr/>
        </p:nvSpPr>
        <p:spPr>
          <a:xfrm>
            <a:off x="6428153" y="5036701"/>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2</a:t>
            </a:r>
          </a:p>
        </p:txBody>
      </p:sp>
      <p:sp>
        <p:nvSpPr>
          <p:cNvPr id="120" name="NumBox 1">
            <a:extLst>
              <a:ext uri="{FF2B5EF4-FFF2-40B4-BE49-F238E27FC236}">
                <a16:creationId xmlns:a16="http://schemas.microsoft.com/office/drawing/2014/main" id="{1F4A6CF8-6A27-814D-BF46-DAB227B867A1}"/>
              </a:ext>
            </a:extLst>
          </p:cNvPr>
          <p:cNvSpPr/>
          <p:nvPr/>
        </p:nvSpPr>
        <p:spPr>
          <a:xfrm>
            <a:off x="6755188" y="5036701"/>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7</a:t>
            </a:r>
          </a:p>
        </p:txBody>
      </p:sp>
      <p:sp>
        <p:nvSpPr>
          <p:cNvPr id="121" name="NumBox 1">
            <a:extLst>
              <a:ext uri="{FF2B5EF4-FFF2-40B4-BE49-F238E27FC236}">
                <a16:creationId xmlns:a16="http://schemas.microsoft.com/office/drawing/2014/main" id="{F774A971-7A0B-2043-BFC7-38636F5E0DAE}"/>
              </a:ext>
            </a:extLst>
          </p:cNvPr>
          <p:cNvSpPr/>
          <p:nvPr/>
        </p:nvSpPr>
        <p:spPr>
          <a:xfrm>
            <a:off x="6428461" y="3092442"/>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3</a:t>
            </a:r>
          </a:p>
        </p:txBody>
      </p:sp>
      <p:sp>
        <p:nvSpPr>
          <p:cNvPr id="122" name="NumBox 1">
            <a:extLst>
              <a:ext uri="{FF2B5EF4-FFF2-40B4-BE49-F238E27FC236}">
                <a16:creationId xmlns:a16="http://schemas.microsoft.com/office/drawing/2014/main" id="{5300FDFB-BC4F-3647-92AC-A2E7FCFF920D}"/>
              </a:ext>
            </a:extLst>
          </p:cNvPr>
          <p:cNvSpPr/>
          <p:nvPr/>
        </p:nvSpPr>
        <p:spPr>
          <a:xfrm>
            <a:off x="6429322" y="4071941"/>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4</a:t>
            </a:r>
          </a:p>
        </p:txBody>
      </p:sp>
      <p:sp>
        <p:nvSpPr>
          <p:cNvPr id="124" name="NumBox 1">
            <a:extLst>
              <a:ext uri="{FF2B5EF4-FFF2-40B4-BE49-F238E27FC236}">
                <a16:creationId xmlns:a16="http://schemas.microsoft.com/office/drawing/2014/main" id="{5210188E-A789-E54C-8647-403410F82B13}"/>
              </a:ext>
            </a:extLst>
          </p:cNvPr>
          <p:cNvSpPr/>
          <p:nvPr/>
        </p:nvSpPr>
        <p:spPr>
          <a:xfrm>
            <a:off x="6756357" y="4071941"/>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5</a:t>
            </a:r>
          </a:p>
        </p:txBody>
      </p:sp>
      <p:sp>
        <p:nvSpPr>
          <p:cNvPr id="125" name="NumBox 1">
            <a:extLst>
              <a:ext uri="{FF2B5EF4-FFF2-40B4-BE49-F238E27FC236}">
                <a16:creationId xmlns:a16="http://schemas.microsoft.com/office/drawing/2014/main" id="{BC4091DF-8D1F-CF4B-B11F-C7374CF78F41}"/>
              </a:ext>
            </a:extLst>
          </p:cNvPr>
          <p:cNvSpPr/>
          <p:nvPr/>
        </p:nvSpPr>
        <p:spPr>
          <a:xfrm>
            <a:off x="7078493" y="4072089"/>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6</a:t>
            </a:r>
          </a:p>
        </p:txBody>
      </p:sp>
      <p:cxnSp>
        <p:nvCxnSpPr>
          <p:cNvPr id="127" name="Separator">
            <a:extLst>
              <a:ext uri="{FF2B5EF4-FFF2-40B4-BE49-F238E27FC236}">
                <a16:creationId xmlns:a16="http://schemas.microsoft.com/office/drawing/2014/main" id="{E7880A90-3B68-D24B-B36D-166DA34B29D2}"/>
              </a:ext>
            </a:extLst>
          </p:cNvPr>
          <p:cNvCxnSpPr>
            <a:cxnSpLocks/>
          </p:cNvCxnSpPr>
          <p:nvPr/>
        </p:nvCxnSpPr>
        <p:spPr>
          <a:xfrm flipV="1">
            <a:off x="6160472" y="1278575"/>
            <a:ext cx="0" cy="5453351"/>
          </a:xfrm>
          <a:prstGeom prst="line">
            <a:avLst/>
          </a:prstGeom>
          <a:ln w="25400">
            <a:solidFill>
              <a:srgbClr val="545B64"/>
            </a:solidFill>
          </a:ln>
        </p:spPr>
        <p:style>
          <a:lnRef idx="3">
            <a:schemeClr val="dk1"/>
          </a:lnRef>
          <a:fillRef idx="0">
            <a:schemeClr val="dk1"/>
          </a:fillRef>
          <a:effectRef idx="2">
            <a:schemeClr val="dk1"/>
          </a:effectRef>
          <a:fontRef idx="minor">
            <a:schemeClr val="tx1"/>
          </a:fontRef>
        </p:style>
      </p:cxnSp>
      <p:sp>
        <p:nvSpPr>
          <p:cNvPr id="128" name="TextBox 9">
            <a:extLst>
              <a:ext uri="{FF2B5EF4-FFF2-40B4-BE49-F238E27FC236}">
                <a16:creationId xmlns:a16="http://schemas.microsoft.com/office/drawing/2014/main" id="{7204646C-1B1E-4E47-8A0E-5E0FCED922D7}"/>
              </a:ext>
            </a:extLst>
          </p:cNvPr>
          <p:cNvSpPr txBox="1">
            <a:spLocks noChangeArrowheads="1"/>
          </p:cNvSpPr>
          <p:nvPr/>
        </p:nvSpPr>
        <p:spPr bwMode="auto">
          <a:xfrm>
            <a:off x="228600" y="1343011"/>
            <a:ext cx="1830408"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pPr algn="l"/>
            <a:r>
              <a:rPr lang="en-US" altLang="en-US" i="0" dirty="0">
                <a:effectLst>
                  <a:glow rad="321067">
                    <a:schemeClr val="bg1">
                      <a:alpha val="89960"/>
                    </a:schemeClr>
                  </a:glow>
                </a:effectLst>
              </a:rPr>
              <a:t>Architecture</a:t>
            </a:r>
          </a:p>
        </p:txBody>
      </p:sp>
      <p:grpSp>
        <p:nvGrpSpPr>
          <p:cNvPr id="4" name="Group 3">
            <a:extLst>
              <a:ext uri="{FF2B5EF4-FFF2-40B4-BE49-F238E27FC236}">
                <a16:creationId xmlns:a16="http://schemas.microsoft.com/office/drawing/2014/main" id="{5BA93C95-D50A-FC4B-8669-78E3DE5BB77A}"/>
              </a:ext>
            </a:extLst>
          </p:cNvPr>
          <p:cNvGrpSpPr/>
          <p:nvPr/>
        </p:nvGrpSpPr>
        <p:grpSpPr>
          <a:xfrm>
            <a:off x="3886199" y="4937701"/>
            <a:ext cx="831286" cy="1082100"/>
            <a:chOff x="3886199" y="5310301"/>
            <a:chExt cx="751639" cy="709499"/>
          </a:xfrm>
        </p:grpSpPr>
        <p:sp>
          <p:nvSpPr>
            <p:cNvPr id="130" name="Rectangle 129">
              <a:extLst>
                <a:ext uri="{FF2B5EF4-FFF2-40B4-BE49-F238E27FC236}">
                  <a16:creationId xmlns:a16="http://schemas.microsoft.com/office/drawing/2014/main" id="{EAE98181-691C-904F-A8DC-D7B505624B6A}"/>
                </a:ext>
              </a:extLst>
            </p:cNvPr>
            <p:cNvSpPr/>
            <p:nvPr/>
          </p:nvSpPr>
          <p:spPr>
            <a:xfrm>
              <a:off x="3886199" y="5310301"/>
              <a:ext cx="751639" cy="709499"/>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144000" tIns="72000" rIns="36000" bIns="36000"/>
            <a:lstStyle/>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schemas: [</a:t>
              </a:r>
            </a:p>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    code,</a:t>
              </a:r>
            </a:p>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    version,</a:t>
              </a:r>
            </a:p>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    schema {</a:t>
              </a:r>
            </a:p>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        request,</a:t>
              </a:r>
            </a:p>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        response</a:t>
              </a:r>
            </a:p>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    }</a:t>
              </a:r>
            </a:p>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a:t>
              </a:r>
            </a:p>
          </p:txBody>
        </p:sp>
        <p:sp>
          <p:nvSpPr>
            <p:cNvPr id="131" name="Double Brace 130">
              <a:extLst>
                <a:ext uri="{FF2B5EF4-FFF2-40B4-BE49-F238E27FC236}">
                  <a16:creationId xmlns:a16="http://schemas.microsoft.com/office/drawing/2014/main" id="{54E9C6B1-CDD5-2B4D-B45D-7BB20A0AE1AF}"/>
                </a:ext>
              </a:extLst>
            </p:cNvPr>
            <p:cNvSpPr/>
            <p:nvPr/>
          </p:nvSpPr>
          <p:spPr>
            <a:xfrm>
              <a:off x="3902308" y="5344658"/>
              <a:ext cx="723654" cy="675136"/>
            </a:xfrm>
            <a:prstGeom prst="bracePair">
              <a:avLst>
                <a:gd name="adj" fmla="val 4469"/>
              </a:avLst>
            </a:prstGeom>
            <a:ln>
              <a:solidFill>
                <a:schemeClr val="bg1">
                  <a:lumMod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1309490934"/>
      </p:ext>
    </p:extLst>
  </p:cSld>
  <p:clrMapOvr>
    <a:masterClrMapping/>
  </p:clrMapOvr>
</p:sld>
</file>

<file path=ppt/theme/theme1.xml><?xml version="1.0" encoding="utf-8"?>
<a:theme xmlns:a="http://schemas.openxmlformats.org/drawingml/2006/main" name="Office Theme">
  <a:themeElements>
    <a:clrScheme name="AWS-architecture-icons">
      <a:dk1>
        <a:srgbClr val="232F3C"/>
      </a:dk1>
      <a:lt1>
        <a:srgbClr val="FAFAFA"/>
      </a:lt1>
      <a:dk2>
        <a:srgbClr val="545B63"/>
      </a:dk2>
      <a:lt2>
        <a:srgbClr val="E5ECEF"/>
      </a:lt2>
      <a:accent1>
        <a:srgbClr val="FF9900"/>
      </a:accent1>
      <a:accent2>
        <a:srgbClr val="F0613C"/>
      </a:accent2>
      <a:accent3>
        <a:srgbClr val="007CBD"/>
      </a:accent3>
      <a:accent4>
        <a:srgbClr val="00A0C8"/>
      </a:accent4>
      <a:accent5>
        <a:srgbClr val="1D8900"/>
      </a:accent5>
      <a:accent6>
        <a:srgbClr val="69AE34"/>
      </a:accent6>
      <a:hlink>
        <a:srgbClr val="007CBC"/>
      </a:hlink>
      <a:folHlink>
        <a:srgbClr val="007CB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5300</TotalTime>
  <Words>495</Words>
  <Application>Microsoft Macintosh PowerPoint</Application>
  <PresentationFormat>Widescreen</PresentationFormat>
  <Paragraphs>92</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Amazon Ember</vt:lpstr>
      <vt:lpstr>Arial</vt:lpstr>
      <vt:lpstr>Calibri</vt:lpstr>
      <vt:lpstr>Office Theme</vt:lpstr>
      <vt:lpstr>PowerPoint Presentation</vt:lpstr>
    </vt:vector>
  </TitlesOfParts>
  <Manager/>
  <Company>Amazon.com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Reference Architecture Title</dc:title>
  <dc:subject/>
  <dc:creator>Amazon Web Services</dc:creator>
  <cp:keywords/>
  <dc:description/>
  <cp:lastModifiedBy>Jorge Fonseca</cp:lastModifiedBy>
  <cp:revision>126</cp:revision>
  <dcterms:created xsi:type="dcterms:W3CDTF">2018-02-11T04:20:17Z</dcterms:created>
  <dcterms:modified xsi:type="dcterms:W3CDTF">2023-03-01T00:15:29Z</dcterms:modified>
  <cp:category/>
</cp:coreProperties>
</file>