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952" userDrawn="1">
          <p15:clr>
            <a:srgbClr val="A4A3A4"/>
          </p15:clr>
        </p15:guide>
        <p15:guide id="3" pos="5664" userDrawn="1">
          <p15:clr>
            <a:srgbClr val="A4A3A4"/>
          </p15:clr>
        </p15:guide>
        <p15:guide id="4" pos="55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elle Nolan" initials="JN" lastIdx="7" clrIdx="0">
    <p:extLst>
      <p:ext uri="{19B8F6BF-5375-455C-9EA6-DF929625EA0E}">
        <p15:presenceInfo xmlns:p15="http://schemas.microsoft.com/office/powerpoint/2012/main" userId="Janelle Nol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CD2264"/>
    <a:srgbClr val="232E3C"/>
    <a:srgbClr val="ECEDF0"/>
    <a:srgbClr val="5B9CD5"/>
    <a:srgbClr val="545B64"/>
    <a:srgbClr val="EAEDED"/>
    <a:srgbClr val="D5DBDB"/>
    <a:srgbClr val="232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31" autoAdjust="0"/>
    <p:restoredTop sz="96612"/>
  </p:normalViewPr>
  <p:slideViewPr>
    <p:cSldViewPr>
      <p:cViewPr varScale="1">
        <p:scale>
          <a:sx n="122" d="100"/>
          <a:sy n="122" d="100"/>
        </p:scale>
        <p:origin x="1272" y="200"/>
      </p:cViewPr>
      <p:guideLst>
        <p:guide orient="horz" pos="2160"/>
        <p:guide pos="5952"/>
        <p:guide pos="5664"/>
        <p:guide pos="55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3D1AE-04B2-F147-8122-2A32BD7879DD}" type="datetimeFigureOut">
              <a:rPr lang="en-US" smtClean="0"/>
              <a:t>3/1/23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BC6CBF-D31D-B841-861D-EC168426F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15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C6CBF-D31D-B841-861D-EC168426F2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46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16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10820400" cy="12162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820400" cy="4117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28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mazon Ember" panose="020B0603020204020204" pitchFamily="34" charset="0"/>
          <a:ea typeface="Amazon Ember" panose="020B0603020204020204" pitchFamily="34" charset="0"/>
          <a:cs typeface="Amazon Ember" panose="020B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mazon Ember" panose="020B0603020204020204" pitchFamily="34" charset="0"/>
          <a:ea typeface="Amazon Ember" panose="020B0603020204020204" pitchFamily="34" charset="0"/>
          <a:cs typeface="Amazon Ember" panose="020B06030202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" panose="020B0603020204020204" pitchFamily="34" charset="0"/>
          <a:ea typeface="Amazon Ember" panose="020B0603020204020204" pitchFamily="34" charset="0"/>
          <a:cs typeface="Amazon Ember" panose="020B06030202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mazon Ember" panose="020B0603020204020204" pitchFamily="34" charset="0"/>
          <a:ea typeface="Amazon Ember" panose="020B0603020204020204" pitchFamily="34" charset="0"/>
          <a:cs typeface="Amazon Ember" panose="020B06030202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mazon Ember" panose="020B0603020204020204" pitchFamily="34" charset="0"/>
          <a:ea typeface="Amazon Ember" panose="020B0603020204020204" pitchFamily="34" charset="0"/>
          <a:cs typeface="Amazon Ember" panose="020B06030202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mazon Ember" panose="020B0603020204020204" pitchFamily="34" charset="0"/>
          <a:ea typeface="Amazon Ember" panose="020B0603020204020204" pitchFamily="34" charset="0"/>
          <a:cs typeface="Amazon Ember" panose="020B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 box">
            <a:extLst>
              <a:ext uri="{FF2B5EF4-FFF2-40B4-BE49-F238E27FC236}">
                <a16:creationId xmlns:a16="http://schemas.microsoft.com/office/drawing/2014/main" id="{38DEF82B-A559-1247-8E2D-F3C452A29826}"/>
              </a:ext>
            </a:extLst>
          </p:cNvPr>
          <p:cNvSpPr txBox="1"/>
          <p:nvPr/>
        </p:nvSpPr>
        <p:spPr>
          <a:xfrm>
            <a:off x="207580" y="158447"/>
            <a:ext cx="864135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Consumers (aka 3rd Partiers, 3P)</a:t>
            </a:r>
          </a:p>
          <a:p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Consumers are customer-facing service providers (e.g., airlines, airports, restaurants). On check-in, users give them their anonymous wallet QR codes. They may validate wallet ownership with a face hash. Consumers ask brokers to ask users to share the vaults containing specific info. On user approval, consumers ask brokers to ask vaults to send the info to them. </a:t>
            </a:r>
            <a:br>
              <a:rPr lang="en-US" sz="1200" dirty="0">
                <a:solidFill>
                  <a:schemeClr val="bg1">
                    <a:lumMod val="1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Consumers may create credentials for users to download/print, allowing access on checkpoints within their closed circuits.</a:t>
            </a:r>
          </a:p>
        </p:txBody>
      </p:sp>
      <p:sp>
        <p:nvSpPr>
          <p:cNvPr id="41" name="Sidebar Background">
            <a:extLst>
              <a:ext uri="{FF2B5EF4-FFF2-40B4-BE49-F238E27FC236}">
                <a16:creationId xmlns:a16="http://schemas.microsoft.com/office/drawing/2014/main" id="{B0A83432-3797-164E-B817-BA71B523944F}"/>
              </a:ext>
            </a:extLst>
          </p:cNvPr>
          <p:cNvSpPr/>
          <p:nvPr/>
        </p:nvSpPr>
        <p:spPr>
          <a:xfrm>
            <a:off x="8981240" y="37069"/>
            <a:ext cx="3177809" cy="6783859"/>
          </a:xfrm>
          <a:prstGeom prst="rect">
            <a:avLst/>
          </a:prstGeom>
          <a:solidFill>
            <a:srgbClr val="EA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NumBox 8">
            <a:extLst>
              <a:ext uri="{FF2B5EF4-FFF2-40B4-BE49-F238E27FC236}">
                <a16:creationId xmlns:a16="http://schemas.microsoft.com/office/drawing/2014/main" id="{3E4874A0-68B7-3F46-930A-3DF954503CB0}"/>
              </a:ext>
            </a:extLst>
          </p:cNvPr>
          <p:cNvSpPr/>
          <p:nvPr/>
        </p:nvSpPr>
        <p:spPr>
          <a:xfrm>
            <a:off x="9133881" y="2743200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5</a:t>
            </a:r>
          </a:p>
        </p:txBody>
      </p:sp>
      <p:sp>
        <p:nvSpPr>
          <p:cNvPr id="45" name="NumBox 7">
            <a:extLst>
              <a:ext uri="{FF2B5EF4-FFF2-40B4-BE49-F238E27FC236}">
                <a16:creationId xmlns:a16="http://schemas.microsoft.com/office/drawing/2014/main" id="{68CCBE0C-C2CD-E347-9CED-CC285006AE94}"/>
              </a:ext>
            </a:extLst>
          </p:cNvPr>
          <p:cNvSpPr/>
          <p:nvPr/>
        </p:nvSpPr>
        <p:spPr>
          <a:xfrm>
            <a:off x="9133881" y="2186050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4</a:t>
            </a:r>
          </a:p>
        </p:txBody>
      </p:sp>
      <p:sp>
        <p:nvSpPr>
          <p:cNvPr id="47" name="NumBox 5">
            <a:extLst>
              <a:ext uri="{FF2B5EF4-FFF2-40B4-BE49-F238E27FC236}">
                <a16:creationId xmlns:a16="http://schemas.microsoft.com/office/drawing/2014/main" id="{A2290CE2-D8F1-634A-905A-BA66C42AEBC9}"/>
              </a:ext>
            </a:extLst>
          </p:cNvPr>
          <p:cNvSpPr/>
          <p:nvPr/>
        </p:nvSpPr>
        <p:spPr>
          <a:xfrm>
            <a:off x="9133881" y="1600200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3</a:t>
            </a:r>
          </a:p>
        </p:txBody>
      </p:sp>
      <p:sp>
        <p:nvSpPr>
          <p:cNvPr id="49" name="NumBox 3">
            <a:extLst>
              <a:ext uri="{FF2B5EF4-FFF2-40B4-BE49-F238E27FC236}">
                <a16:creationId xmlns:a16="http://schemas.microsoft.com/office/drawing/2014/main" id="{FBB6C579-1AAE-E74E-B11A-6E47F977F102}"/>
              </a:ext>
            </a:extLst>
          </p:cNvPr>
          <p:cNvSpPr/>
          <p:nvPr/>
        </p:nvSpPr>
        <p:spPr>
          <a:xfrm>
            <a:off x="9133881" y="914400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</a:t>
            </a:r>
          </a:p>
        </p:txBody>
      </p:sp>
      <p:sp>
        <p:nvSpPr>
          <p:cNvPr id="51" name="NumBox 1">
            <a:extLst>
              <a:ext uri="{FF2B5EF4-FFF2-40B4-BE49-F238E27FC236}">
                <a16:creationId xmlns:a16="http://schemas.microsoft.com/office/drawing/2014/main" id="{61A833CA-45E5-DA44-9841-E3816A71ECCE}"/>
              </a:ext>
            </a:extLst>
          </p:cNvPr>
          <p:cNvSpPr/>
          <p:nvPr/>
        </p:nvSpPr>
        <p:spPr>
          <a:xfrm>
            <a:off x="9133881" y="142740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393564-6C13-FC4F-8F33-3F02A10C52BC}"/>
              </a:ext>
            </a:extLst>
          </p:cNvPr>
          <p:cNvSpPr txBox="1"/>
          <p:nvPr/>
        </p:nvSpPr>
        <p:spPr>
          <a:xfrm>
            <a:off x="9408893" y="76200"/>
            <a:ext cx="2733426" cy="6896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05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User shows their wallet’s QR to consumers on a device, on paper, or as an URL. The consumer scans user’s face and validates the hash. </a:t>
            </a:r>
          </a:p>
          <a:p>
            <a:pPr>
              <a:spcAft>
                <a:spcPts val="700"/>
              </a:spcAft>
            </a:pPr>
            <a:r>
              <a:rPr lang="en-US" sz="105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Consumers asks the broker for the vaults that store user info related to a set of required information codes, e.g. IATA.ORG/SSR/*.</a:t>
            </a:r>
          </a:p>
          <a:p>
            <a:pPr>
              <a:spcAft>
                <a:spcPts val="700"/>
              </a:spcAft>
            </a:pPr>
            <a:r>
              <a:rPr lang="en-US" sz="105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The broker maps codes to vaults, then asks the wallet to ask the user to approve sharing the vaults (e.g., in app or via SMS). </a:t>
            </a:r>
          </a:p>
          <a:p>
            <a:pPr>
              <a:spcAft>
                <a:spcPts val="700"/>
              </a:spcAft>
            </a:pPr>
            <a:r>
              <a:rPr lang="en-US" sz="105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Concierges send to the 3P the approved vaults for the codes the 3P requested, including any verifiable credentials.</a:t>
            </a:r>
          </a:p>
          <a:p>
            <a:pPr>
              <a:spcAft>
                <a:spcPts val="700"/>
              </a:spcAft>
            </a:pPr>
            <a:r>
              <a:rPr lang="en-US" sz="105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3Ps ask Trusted Graphs if they can trust the given vault’s code responses, and use their public keys to verify the credentials.</a:t>
            </a:r>
          </a:p>
          <a:p>
            <a:pPr>
              <a:spcAft>
                <a:spcPts val="700"/>
              </a:spcAft>
            </a:pPr>
            <a:r>
              <a:rPr lang="en-US" sz="105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Optionally, 3P asks the broker for the vault’s updated metadata and credentials. </a:t>
            </a:r>
          </a:p>
          <a:p>
            <a:pPr>
              <a:spcAft>
                <a:spcPts val="700"/>
              </a:spcAft>
            </a:pPr>
            <a:r>
              <a:rPr lang="en-US" sz="105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Wallets sign a JWT token with the private key, and concierges send it to the vault.</a:t>
            </a:r>
          </a:p>
          <a:p>
            <a:pPr>
              <a:spcAft>
                <a:spcPts val="700"/>
              </a:spcAft>
            </a:pPr>
            <a:r>
              <a:rPr lang="en-US" sz="105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The vault decodes the JWT token with the user’s public key stored on the vault, then asks a Trusted Graph if can trust requests from the given 3P for the given codes.</a:t>
            </a:r>
          </a:p>
          <a:p>
            <a:pPr>
              <a:spcAft>
                <a:spcPts val="700"/>
              </a:spcAft>
            </a:pPr>
            <a:r>
              <a:rPr lang="en-US" sz="105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The vault sends the requested codes, metadata, and expiration dates to the 3P.</a:t>
            </a:r>
          </a:p>
          <a:p>
            <a:pPr>
              <a:spcAft>
                <a:spcPts val="700"/>
              </a:spcAft>
            </a:pPr>
            <a:r>
              <a:rPr lang="en-US" sz="105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The 3P processes the vault’s response and sends to the broker a new 3P checked-in sticker with the confirmed codes.</a:t>
            </a:r>
          </a:p>
          <a:p>
            <a:pPr>
              <a:spcAft>
                <a:spcPts val="700"/>
              </a:spcAft>
            </a:pPr>
            <a:r>
              <a:rPr lang="en-US" sz="105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The broker sends the 3P sticker to the wallet for offline use (paper, SMS, app).</a:t>
            </a:r>
          </a:p>
          <a:p>
            <a:pPr>
              <a:spcAft>
                <a:spcPts val="700"/>
              </a:spcAft>
            </a:pPr>
            <a:r>
              <a:rPr lang="en-US" sz="105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User shows the sticker on closed circuits. 3Ps check signature fraud, the hash and birth for ownership, and code expirations.</a:t>
            </a:r>
          </a:p>
        </p:txBody>
      </p:sp>
      <p:cxnSp>
        <p:nvCxnSpPr>
          <p:cNvPr id="36" name="Separator">
            <a:extLst>
              <a:ext uri="{FF2B5EF4-FFF2-40B4-BE49-F238E27FC236}">
                <a16:creationId xmlns:a16="http://schemas.microsoft.com/office/drawing/2014/main" id="{21C15EAE-984B-C241-B4CF-3AB0A0313E3C}"/>
              </a:ext>
            </a:extLst>
          </p:cNvPr>
          <p:cNvCxnSpPr>
            <a:cxnSpLocks/>
          </p:cNvCxnSpPr>
          <p:nvPr/>
        </p:nvCxnSpPr>
        <p:spPr>
          <a:xfrm>
            <a:off x="304800" y="1447800"/>
            <a:ext cx="8544130" cy="0"/>
          </a:xfrm>
          <a:prstGeom prst="line">
            <a:avLst/>
          </a:prstGeom>
          <a:ln w="25400">
            <a:solidFill>
              <a:srgbClr val="545B6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0" name="NumBox 8">
            <a:extLst>
              <a:ext uri="{FF2B5EF4-FFF2-40B4-BE49-F238E27FC236}">
                <a16:creationId xmlns:a16="http://schemas.microsoft.com/office/drawing/2014/main" id="{0D273327-7879-024D-95BD-BF18FEAB46A2}"/>
              </a:ext>
            </a:extLst>
          </p:cNvPr>
          <p:cNvSpPr/>
          <p:nvPr/>
        </p:nvSpPr>
        <p:spPr>
          <a:xfrm>
            <a:off x="9133881" y="3326654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6</a:t>
            </a:r>
          </a:p>
        </p:txBody>
      </p:sp>
      <p:sp>
        <p:nvSpPr>
          <p:cNvPr id="326" name="NumBox 8">
            <a:extLst>
              <a:ext uri="{FF2B5EF4-FFF2-40B4-BE49-F238E27FC236}">
                <a16:creationId xmlns:a16="http://schemas.microsoft.com/office/drawing/2014/main" id="{70869823-279E-BE4F-933C-EA086FF2F5E0}"/>
              </a:ext>
            </a:extLst>
          </p:cNvPr>
          <p:cNvSpPr/>
          <p:nvPr/>
        </p:nvSpPr>
        <p:spPr>
          <a:xfrm>
            <a:off x="9133881" y="3733800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7</a:t>
            </a:r>
          </a:p>
        </p:txBody>
      </p:sp>
      <p:sp>
        <p:nvSpPr>
          <p:cNvPr id="327" name="NumBox 8">
            <a:extLst>
              <a:ext uri="{FF2B5EF4-FFF2-40B4-BE49-F238E27FC236}">
                <a16:creationId xmlns:a16="http://schemas.microsoft.com/office/drawing/2014/main" id="{9CEE3126-2815-E34E-9BA3-02740BD07A23}"/>
              </a:ext>
            </a:extLst>
          </p:cNvPr>
          <p:cNvSpPr/>
          <p:nvPr/>
        </p:nvSpPr>
        <p:spPr>
          <a:xfrm>
            <a:off x="9133881" y="4135789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8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1BF9A3-4A3E-3346-91CD-0976E0CE0EB6}"/>
              </a:ext>
            </a:extLst>
          </p:cNvPr>
          <p:cNvGrpSpPr/>
          <p:nvPr/>
        </p:nvGrpSpPr>
        <p:grpSpPr>
          <a:xfrm>
            <a:off x="5257800" y="5472752"/>
            <a:ext cx="1428363" cy="865734"/>
            <a:chOff x="4360623" y="3224699"/>
            <a:chExt cx="1428363" cy="865734"/>
          </a:xfrm>
        </p:grpSpPr>
        <p:pic>
          <p:nvPicPr>
            <p:cNvPr id="18" name="Graphic 43">
              <a:extLst>
                <a:ext uri="{FF2B5EF4-FFF2-40B4-BE49-F238E27FC236}">
                  <a16:creationId xmlns:a16="http://schemas.microsoft.com/office/drawing/2014/main" id="{0F48ED9F-738C-7E47-B250-B46246FFE7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9854" y="3224699"/>
              <a:ext cx="468000" cy="46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TextBox 34">
              <a:extLst>
                <a:ext uri="{FF2B5EF4-FFF2-40B4-BE49-F238E27FC236}">
                  <a16:creationId xmlns:a16="http://schemas.microsoft.com/office/drawing/2014/main" id="{58BA114C-D2EC-204A-BD98-98BDFA14BF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623" y="3674935"/>
              <a:ext cx="1428363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altLang="en-US" sz="1050" dirty="0">
                  <a:solidFill>
                    <a:srgbClr val="000000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Any Vault</a:t>
              </a:r>
              <a:br>
                <a:rPr lang="en-US" altLang="en-US" sz="1050" dirty="0">
                  <a:solidFill>
                    <a:srgbClr val="000000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</a:br>
              <a:r>
                <a:rPr lang="en-US" altLang="en-US" sz="1050" i="1" dirty="0">
                  <a:solidFill>
                    <a:srgbClr val="000000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e.g. French Mobility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5FCA32-9729-5E4A-B460-959989AB8B8A}"/>
              </a:ext>
            </a:extLst>
          </p:cNvPr>
          <p:cNvGrpSpPr/>
          <p:nvPr/>
        </p:nvGrpSpPr>
        <p:grpSpPr>
          <a:xfrm>
            <a:off x="3709620" y="3796228"/>
            <a:ext cx="1073150" cy="866704"/>
            <a:chOff x="2643126" y="3224699"/>
            <a:chExt cx="1073150" cy="864840"/>
          </a:xfrm>
        </p:grpSpPr>
        <p:pic>
          <p:nvPicPr>
            <p:cNvPr id="21" name="Graphic 16">
              <a:extLst>
                <a:ext uri="{FF2B5EF4-FFF2-40B4-BE49-F238E27FC236}">
                  <a16:creationId xmlns:a16="http://schemas.microsoft.com/office/drawing/2014/main" id="{2A22FFD1-C088-F146-A9EB-8267FD48E9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 bwMode="auto">
            <a:xfrm>
              <a:off x="2944751" y="3224699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34">
              <a:extLst>
                <a:ext uri="{FF2B5EF4-FFF2-40B4-BE49-F238E27FC236}">
                  <a16:creationId xmlns:a16="http://schemas.microsoft.com/office/drawing/2014/main" id="{B044B796-AE0C-D344-B798-404A5FDADD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126" y="3674935"/>
              <a:ext cx="1073150" cy="414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050" dirty="0">
                  <a:solidFill>
                    <a:srgbClr val="000000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Any Broker</a:t>
              </a:r>
              <a:br>
                <a:rPr lang="en-US" altLang="en-US" sz="1050" dirty="0">
                  <a:solidFill>
                    <a:srgbClr val="000000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</a:br>
              <a:r>
                <a:rPr lang="en-US" altLang="en-US" sz="1050" i="1" dirty="0">
                  <a:solidFill>
                    <a:srgbClr val="000000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e.g. Infosys</a:t>
              </a:r>
            </a:p>
          </p:txBody>
        </p:sp>
      </p:grpSp>
      <p:sp>
        <p:nvSpPr>
          <p:cNvPr id="23" name="TextBox 34">
            <a:extLst>
              <a:ext uri="{FF2B5EF4-FFF2-40B4-BE49-F238E27FC236}">
                <a16:creationId xmlns:a16="http://schemas.microsoft.com/office/drawing/2014/main" id="{6EE1B8A1-7CD6-5844-AE84-94948784D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8735" y="5911150"/>
            <a:ext cx="1180465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Any Trust Graph</a:t>
            </a:r>
            <a:br>
              <a:rPr lang="en-US" altLang="en-US" sz="1050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e.g. Infosys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9659472C-4A0D-4043-A200-A48F9DBFC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8013167" y="5472629"/>
            <a:ext cx="471600" cy="4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34">
            <a:extLst>
              <a:ext uri="{FF2B5EF4-FFF2-40B4-BE49-F238E27FC236}">
                <a16:creationId xmlns:a16="http://schemas.microsoft.com/office/drawing/2014/main" id="{886946E8-C389-3E43-9880-E01BFA7B2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89" y="2242991"/>
            <a:ext cx="142836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Any Trust Graph</a:t>
            </a:r>
            <a:br>
              <a:rPr lang="en-US" altLang="en-US" sz="1050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e.g. Japan</a:t>
            </a:r>
          </a:p>
        </p:txBody>
      </p:sp>
      <p:pic>
        <p:nvPicPr>
          <p:cNvPr id="26" name="Graphic 23">
            <a:extLst>
              <a:ext uri="{FF2B5EF4-FFF2-40B4-BE49-F238E27FC236}">
                <a16:creationId xmlns:a16="http://schemas.microsoft.com/office/drawing/2014/main" id="{AF183084-465C-5A4E-B9EF-4CB5DAE4D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636070" y="1804470"/>
            <a:ext cx="471600" cy="4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Graphic 23">
            <a:extLst>
              <a:ext uri="{FF2B5EF4-FFF2-40B4-BE49-F238E27FC236}">
                <a16:creationId xmlns:a16="http://schemas.microsoft.com/office/drawing/2014/main" id="{624063D4-E062-7B49-AB74-302351D78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 flipH="1">
            <a:off x="2036539" y="379839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Box 34">
            <a:extLst>
              <a:ext uri="{FF2B5EF4-FFF2-40B4-BE49-F238E27FC236}">
                <a16:creationId xmlns:a16="http://schemas.microsoft.com/office/drawing/2014/main" id="{FE8E5E38-6B95-7E4C-90E8-289E0E6E8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913" y="4248626"/>
            <a:ext cx="10731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Any consumer </a:t>
            </a:r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e.g. JP Airlines</a:t>
            </a:r>
          </a:p>
        </p:txBody>
      </p:sp>
      <p:cxnSp>
        <p:nvCxnSpPr>
          <p:cNvPr id="29" name="Straight Arrow Connector 202">
            <a:extLst>
              <a:ext uri="{FF2B5EF4-FFF2-40B4-BE49-F238E27FC236}">
                <a16:creationId xmlns:a16="http://schemas.microsoft.com/office/drawing/2014/main" id="{B5405791-F176-6E41-B261-70C40CBA3B45}"/>
              </a:ext>
            </a:extLst>
          </p:cNvPr>
          <p:cNvCxnSpPr>
            <a:cxnSpLocks/>
            <a:stCxn id="119" idx="1"/>
            <a:endCxn id="27" idx="0"/>
          </p:cNvCxnSpPr>
          <p:nvPr/>
        </p:nvCxnSpPr>
        <p:spPr>
          <a:xfrm rot="10800000" flipV="1">
            <a:off x="2271490" y="1838992"/>
            <a:ext cx="1749439" cy="1959398"/>
          </a:xfrm>
          <a:prstGeom prst="bentConnector2">
            <a:avLst/>
          </a:prstGeom>
          <a:ln w="12700">
            <a:solidFill>
              <a:srgbClr val="545B64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202">
            <a:extLst>
              <a:ext uri="{FF2B5EF4-FFF2-40B4-BE49-F238E27FC236}">
                <a16:creationId xmlns:a16="http://schemas.microsoft.com/office/drawing/2014/main" id="{2E3E5610-80E8-374F-A1A9-C290617BCCAC}"/>
              </a:ext>
            </a:extLst>
          </p:cNvPr>
          <p:cNvCxnSpPr>
            <a:cxnSpLocks/>
            <a:stCxn id="18" idx="1"/>
            <a:endCxn id="28" idx="2"/>
          </p:cNvCxnSpPr>
          <p:nvPr/>
        </p:nvCxnSpPr>
        <p:spPr>
          <a:xfrm rot="10800000">
            <a:off x="2271489" y="4664124"/>
            <a:ext cx="3465543" cy="1042628"/>
          </a:xfrm>
          <a:prstGeom prst="bentConnector2">
            <a:avLst/>
          </a:prstGeom>
          <a:ln w="12700">
            <a:solidFill>
              <a:srgbClr val="545B64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D95B185-648B-3E45-B44A-6B1921A517D1}"/>
              </a:ext>
            </a:extLst>
          </p:cNvPr>
          <p:cNvCxnSpPr>
            <a:cxnSpLocks/>
            <a:stCxn id="27" idx="3"/>
            <a:endCxn id="25" idx="2"/>
          </p:cNvCxnSpPr>
          <p:nvPr/>
        </p:nvCxnSpPr>
        <p:spPr>
          <a:xfrm rot="10800000">
            <a:off x="871871" y="2658490"/>
            <a:ext cx="1164668" cy="1374851"/>
          </a:xfrm>
          <a:prstGeom prst="bentConnector2">
            <a:avLst/>
          </a:prstGeom>
          <a:ln w="12700">
            <a:solidFill>
              <a:srgbClr val="545B64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8746288-C20F-F84C-BD0A-96EC05948013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6205031" y="5706752"/>
            <a:ext cx="1808136" cy="1677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0CA2A1C-5FDA-1040-8D02-A99A349827A1}"/>
              </a:ext>
            </a:extLst>
          </p:cNvPr>
          <p:cNvCxnSpPr>
            <a:cxnSpLocks/>
            <a:stCxn id="27" idx="1"/>
            <a:endCxn id="21" idx="1"/>
          </p:cNvCxnSpPr>
          <p:nvPr/>
        </p:nvCxnSpPr>
        <p:spPr>
          <a:xfrm flipV="1">
            <a:off x="2506439" y="4031686"/>
            <a:ext cx="1504806" cy="1654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5AA3773-2472-9D4A-B00E-8C2C2F089A2D}"/>
              </a:ext>
            </a:extLst>
          </p:cNvPr>
          <p:cNvCxnSpPr>
            <a:cxnSpLocks/>
            <a:stCxn id="22" idx="1"/>
            <a:endCxn id="28" idx="3"/>
          </p:cNvCxnSpPr>
          <p:nvPr/>
        </p:nvCxnSpPr>
        <p:spPr>
          <a:xfrm flipH="1">
            <a:off x="2808063" y="4455183"/>
            <a:ext cx="901557" cy="1192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NumBox 7">
            <a:extLst>
              <a:ext uri="{FF2B5EF4-FFF2-40B4-BE49-F238E27FC236}">
                <a16:creationId xmlns:a16="http://schemas.microsoft.com/office/drawing/2014/main" id="{574F34A2-7D0A-7043-B7CE-93510DAB96E0}"/>
              </a:ext>
            </a:extLst>
          </p:cNvPr>
          <p:cNvSpPr/>
          <p:nvPr/>
        </p:nvSpPr>
        <p:spPr>
          <a:xfrm>
            <a:off x="3124200" y="4328044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4</a:t>
            </a:r>
          </a:p>
        </p:txBody>
      </p:sp>
      <p:sp>
        <p:nvSpPr>
          <p:cNvPr id="57" name="NumBox 3">
            <a:extLst>
              <a:ext uri="{FF2B5EF4-FFF2-40B4-BE49-F238E27FC236}">
                <a16:creationId xmlns:a16="http://schemas.microsoft.com/office/drawing/2014/main" id="{DC5F779F-D314-B749-AE10-0BAC37EFA3BC}"/>
              </a:ext>
            </a:extLst>
          </p:cNvPr>
          <p:cNvSpPr/>
          <p:nvPr/>
        </p:nvSpPr>
        <p:spPr>
          <a:xfrm>
            <a:off x="2807801" y="3894013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</a:t>
            </a:r>
          </a:p>
        </p:txBody>
      </p:sp>
      <p:sp>
        <p:nvSpPr>
          <p:cNvPr id="58" name="NumBox 8">
            <a:extLst>
              <a:ext uri="{FF2B5EF4-FFF2-40B4-BE49-F238E27FC236}">
                <a16:creationId xmlns:a16="http://schemas.microsoft.com/office/drawing/2014/main" id="{A96BFE3B-235F-BB49-8AE7-F66C2131532A}"/>
              </a:ext>
            </a:extLst>
          </p:cNvPr>
          <p:cNvSpPr/>
          <p:nvPr/>
        </p:nvSpPr>
        <p:spPr>
          <a:xfrm>
            <a:off x="3135763" y="3894013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6</a:t>
            </a:r>
          </a:p>
        </p:txBody>
      </p:sp>
      <p:sp>
        <p:nvSpPr>
          <p:cNvPr id="59" name="NumBox 8">
            <a:extLst>
              <a:ext uri="{FF2B5EF4-FFF2-40B4-BE49-F238E27FC236}">
                <a16:creationId xmlns:a16="http://schemas.microsoft.com/office/drawing/2014/main" id="{6CC57BBE-9D98-1B4F-A85B-F7D9185BAE3B}"/>
              </a:ext>
            </a:extLst>
          </p:cNvPr>
          <p:cNvSpPr/>
          <p:nvPr/>
        </p:nvSpPr>
        <p:spPr>
          <a:xfrm>
            <a:off x="9133881" y="4864925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9</a:t>
            </a:r>
          </a:p>
        </p:txBody>
      </p:sp>
      <p:sp>
        <p:nvSpPr>
          <p:cNvPr id="60" name="NumBox 8">
            <a:extLst>
              <a:ext uri="{FF2B5EF4-FFF2-40B4-BE49-F238E27FC236}">
                <a16:creationId xmlns:a16="http://schemas.microsoft.com/office/drawing/2014/main" id="{87DA3FBB-3362-AE4A-8B12-A78D0AA7F25F}"/>
              </a:ext>
            </a:extLst>
          </p:cNvPr>
          <p:cNvSpPr/>
          <p:nvPr/>
        </p:nvSpPr>
        <p:spPr>
          <a:xfrm>
            <a:off x="9133881" y="5289000"/>
            <a:ext cx="273600" cy="2736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46800" rIns="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</a:t>
            </a:r>
          </a:p>
        </p:txBody>
      </p:sp>
      <p:sp>
        <p:nvSpPr>
          <p:cNvPr id="61" name="NumBox 8">
            <a:extLst>
              <a:ext uri="{FF2B5EF4-FFF2-40B4-BE49-F238E27FC236}">
                <a16:creationId xmlns:a16="http://schemas.microsoft.com/office/drawing/2014/main" id="{DE683472-E9D8-354E-93D2-403D525A7DC2}"/>
              </a:ext>
            </a:extLst>
          </p:cNvPr>
          <p:cNvSpPr/>
          <p:nvPr/>
        </p:nvSpPr>
        <p:spPr>
          <a:xfrm>
            <a:off x="9133881" y="5822400"/>
            <a:ext cx="273600" cy="2736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46800" rIns="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11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CC9A2FD-8CAE-7A41-BD58-0497C7DD8338}"/>
              </a:ext>
            </a:extLst>
          </p:cNvPr>
          <p:cNvCxnSpPr>
            <a:cxnSpLocks/>
            <a:stCxn id="21" idx="0"/>
            <a:endCxn id="16" idx="2"/>
          </p:cNvCxnSpPr>
          <p:nvPr/>
        </p:nvCxnSpPr>
        <p:spPr>
          <a:xfrm flipV="1">
            <a:off x="4246195" y="2327424"/>
            <a:ext cx="1638" cy="1468804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NumBox 8">
            <a:extLst>
              <a:ext uri="{FF2B5EF4-FFF2-40B4-BE49-F238E27FC236}">
                <a16:creationId xmlns:a16="http://schemas.microsoft.com/office/drawing/2014/main" id="{71D888AD-7D8F-2149-9041-0FBFB7652E26}"/>
              </a:ext>
            </a:extLst>
          </p:cNvPr>
          <p:cNvSpPr/>
          <p:nvPr/>
        </p:nvSpPr>
        <p:spPr>
          <a:xfrm>
            <a:off x="4115079" y="3063049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7</a:t>
            </a:r>
          </a:p>
        </p:txBody>
      </p:sp>
      <p:sp>
        <p:nvSpPr>
          <p:cNvPr id="67" name="NumBox 5">
            <a:extLst>
              <a:ext uri="{FF2B5EF4-FFF2-40B4-BE49-F238E27FC236}">
                <a16:creationId xmlns:a16="http://schemas.microsoft.com/office/drawing/2014/main" id="{DF8201C7-1883-CD4E-9150-DE04930E9554}"/>
              </a:ext>
            </a:extLst>
          </p:cNvPr>
          <p:cNvSpPr/>
          <p:nvPr/>
        </p:nvSpPr>
        <p:spPr>
          <a:xfrm>
            <a:off x="4115079" y="2741955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3</a:t>
            </a:r>
          </a:p>
        </p:txBody>
      </p:sp>
      <p:sp>
        <p:nvSpPr>
          <p:cNvPr id="68" name="NumBox 8">
            <a:extLst>
              <a:ext uri="{FF2B5EF4-FFF2-40B4-BE49-F238E27FC236}">
                <a16:creationId xmlns:a16="http://schemas.microsoft.com/office/drawing/2014/main" id="{ABF6844F-288A-574C-B5C5-A0DEF46F9F1C}"/>
              </a:ext>
            </a:extLst>
          </p:cNvPr>
          <p:cNvSpPr/>
          <p:nvPr/>
        </p:nvSpPr>
        <p:spPr>
          <a:xfrm>
            <a:off x="3460200" y="3894013"/>
            <a:ext cx="273600" cy="2736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46800" rIns="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</a:t>
            </a:r>
          </a:p>
        </p:txBody>
      </p:sp>
      <p:sp>
        <p:nvSpPr>
          <p:cNvPr id="70" name="NumBox 8">
            <a:extLst>
              <a:ext uri="{FF2B5EF4-FFF2-40B4-BE49-F238E27FC236}">
                <a16:creationId xmlns:a16="http://schemas.microsoft.com/office/drawing/2014/main" id="{4763C2F2-12A2-3F4D-9CF8-CF76F1DED69B}"/>
              </a:ext>
            </a:extLst>
          </p:cNvPr>
          <p:cNvSpPr/>
          <p:nvPr/>
        </p:nvSpPr>
        <p:spPr>
          <a:xfrm>
            <a:off x="2751588" y="5587321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9</a:t>
            </a:r>
          </a:p>
        </p:txBody>
      </p:sp>
      <p:sp>
        <p:nvSpPr>
          <p:cNvPr id="72" name="NumBox 8">
            <a:extLst>
              <a:ext uri="{FF2B5EF4-FFF2-40B4-BE49-F238E27FC236}">
                <a16:creationId xmlns:a16="http://schemas.microsoft.com/office/drawing/2014/main" id="{0D6B08B7-C379-324C-A6A9-22AA8A5E2B24}"/>
              </a:ext>
            </a:extLst>
          </p:cNvPr>
          <p:cNvSpPr/>
          <p:nvPr/>
        </p:nvSpPr>
        <p:spPr>
          <a:xfrm>
            <a:off x="7127999" y="5566900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8</a:t>
            </a:r>
          </a:p>
        </p:txBody>
      </p:sp>
      <p:sp>
        <p:nvSpPr>
          <p:cNvPr id="73" name="NumBox 8">
            <a:extLst>
              <a:ext uri="{FF2B5EF4-FFF2-40B4-BE49-F238E27FC236}">
                <a16:creationId xmlns:a16="http://schemas.microsoft.com/office/drawing/2014/main" id="{84177035-688A-FF41-B7C2-BB5A05520B52}"/>
              </a:ext>
            </a:extLst>
          </p:cNvPr>
          <p:cNvSpPr/>
          <p:nvPr/>
        </p:nvSpPr>
        <p:spPr>
          <a:xfrm>
            <a:off x="1215261" y="3890961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5</a:t>
            </a:r>
          </a:p>
        </p:txBody>
      </p:sp>
      <p:sp>
        <p:nvSpPr>
          <p:cNvPr id="74" name="NumBox 1">
            <a:extLst>
              <a:ext uri="{FF2B5EF4-FFF2-40B4-BE49-F238E27FC236}">
                <a16:creationId xmlns:a16="http://schemas.microsoft.com/office/drawing/2014/main" id="{00538BEA-B4A9-F647-84A6-57E8775E8EDE}"/>
              </a:ext>
            </a:extLst>
          </p:cNvPr>
          <p:cNvSpPr/>
          <p:nvPr/>
        </p:nvSpPr>
        <p:spPr>
          <a:xfrm>
            <a:off x="2109283" y="1938638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</a:t>
            </a:r>
          </a:p>
        </p:txBody>
      </p:sp>
      <p:sp>
        <p:nvSpPr>
          <p:cNvPr id="75" name="NumBox 8">
            <a:extLst>
              <a:ext uri="{FF2B5EF4-FFF2-40B4-BE49-F238E27FC236}">
                <a16:creationId xmlns:a16="http://schemas.microsoft.com/office/drawing/2014/main" id="{129E9AE6-1DFD-CD4E-8E03-68F1FC319447}"/>
              </a:ext>
            </a:extLst>
          </p:cNvPr>
          <p:cNvSpPr/>
          <p:nvPr/>
        </p:nvSpPr>
        <p:spPr>
          <a:xfrm>
            <a:off x="9133881" y="6255850"/>
            <a:ext cx="273600" cy="2736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46800" rIns="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12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DDF21D5E-D189-BD46-83A2-3C76AA1159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40344" y="1944771"/>
            <a:ext cx="287885" cy="288608"/>
          </a:xfrm>
          <a:prstGeom prst="rect">
            <a:avLst/>
          </a:prstGeom>
        </p:spPr>
      </p:pic>
      <p:cxnSp>
        <p:nvCxnSpPr>
          <p:cNvPr id="90" name="Straight Arrow Connector 202">
            <a:extLst>
              <a:ext uri="{FF2B5EF4-FFF2-40B4-BE49-F238E27FC236}">
                <a16:creationId xmlns:a16="http://schemas.microsoft.com/office/drawing/2014/main" id="{239EBEA6-5D3D-E74C-B71F-5DBA88F38115}"/>
              </a:ext>
            </a:extLst>
          </p:cNvPr>
          <p:cNvCxnSpPr>
            <a:cxnSpLocks/>
            <a:stCxn id="21" idx="3"/>
            <a:endCxn id="18" idx="0"/>
          </p:cNvCxnSpPr>
          <p:nvPr/>
        </p:nvCxnSpPr>
        <p:spPr>
          <a:xfrm>
            <a:off x="4481145" y="4031685"/>
            <a:ext cx="1489886" cy="1441067"/>
          </a:xfrm>
          <a:prstGeom prst="bentConnector2">
            <a:avLst/>
          </a:prstGeom>
          <a:ln w="12700">
            <a:solidFill>
              <a:srgbClr val="545B64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NumBox 8">
            <a:extLst>
              <a:ext uri="{FF2B5EF4-FFF2-40B4-BE49-F238E27FC236}">
                <a16:creationId xmlns:a16="http://schemas.microsoft.com/office/drawing/2014/main" id="{3E97CB35-8302-B444-8E6E-644795F1603D}"/>
              </a:ext>
            </a:extLst>
          </p:cNvPr>
          <p:cNvSpPr/>
          <p:nvPr/>
        </p:nvSpPr>
        <p:spPr>
          <a:xfrm>
            <a:off x="5523149" y="3898749"/>
            <a:ext cx="273600" cy="2736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7</a:t>
            </a:r>
          </a:p>
        </p:txBody>
      </p:sp>
      <p:sp>
        <p:nvSpPr>
          <p:cNvPr id="91" name="TextBox 34">
            <a:extLst>
              <a:ext uri="{FF2B5EF4-FFF2-40B4-BE49-F238E27FC236}">
                <a16:creationId xmlns:a16="http://schemas.microsoft.com/office/drawing/2014/main" id="{6F58619A-A2DE-C140-B952-E19534611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594" y="5853474"/>
            <a:ext cx="1298512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send vault’s PII info to consumer</a:t>
            </a:r>
          </a:p>
        </p:txBody>
      </p:sp>
      <p:sp>
        <p:nvSpPr>
          <p:cNvPr id="92" name="TextBox 34">
            <a:extLst>
              <a:ext uri="{FF2B5EF4-FFF2-40B4-BE49-F238E27FC236}">
                <a16:creationId xmlns:a16="http://schemas.microsoft.com/office/drawing/2014/main" id="{E66776BF-3A39-1C4E-BE17-BF3D37587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8135" y="5834224"/>
            <a:ext cx="1180465" cy="90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can vault </a:t>
            </a:r>
            <a:b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trust consumer requests for code X?</a:t>
            </a:r>
          </a:p>
        </p:txBody>
      </p:sp>
      <p:sp>
        <p:nvSpPr>
          <p:cNvPr id="82" name="TextBox 34">
            <a:extLst>
              <a:ext uri="{FF2B5EF4-FFF2-40B4-BE49-F238E27FC236}">
                <a16:creationId xmlns:a16="http://schemas.microsoft.com/office/drawing/2014/main" id="{E2A76CE4-18E5-BB47-907E-EBFE55998A7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364578" y="3193194"/>
            <a:ext cx="118046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vaults?</a:t>
            </a:r>
          </a:p>
        </p:txBody>
      </p:sp>
      <p:sp>
        <p:nvSpPr>
          <p:cNvPr id="83" name="TextBox 34">
            <a:extLst>
              <a:ext uri="{FF2B5EF4-FFF2-40B4-BE49-F238E27FC236}">
                <a16:creationId xmlns:a16="http://schemas.microsoft.com/office/drawing/2014/main" id="{CB05FE10-E779-DF49-BE4B-6A7D1F0CAA5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680846" y="3204746"/>
            <a:ext cx="118046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vaults' info?</a:t>
            </a:r>
          </a:p>
        </p:txBody>
      </p:sp>
      <p:sp>
        <p:nvSpPr>
          <p:cNvPr id="85" name="TextBox 34">
            <a:extLst>
              <a:ext uri="{FF2B5EF4-FFF2-40B4-BE49-F238E27FC236}">
                <a16:creationId xmlns:a16="http://schemas.microsoft.com/office/drawing/2014/main" id="{4F98FF88-958F-0041-B779-7C330BAF8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0724" y="2742013"/>
            <a:ext cx="1474423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share vaults?</a:t>
            </a:r>
          </a:p>
        </p:txBody>
      </p:sp>
      <p:sp>
        <p:nvSpPr>
          <p:cNvPr id="93" name="TextBox 34">
            <a:extLst>
              <a:ext uri="{FF2B5EF4-FFF2-40B4-BE49-F238E27FC236}">
                <a16:creationId xmlns:a16="http://schemas.microsoft.com/office/drawing/2014/main" id="{81D2B378-2B8A-9E48-9F64-13A34FF80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640" y="3071740"/>
            <a:ext cx="1474423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sign request</a:t>
            </a:r>
          </a:p>
        </p:txBody>
      </p:sp>
      <p:sp>
        <p:nvSpPr>
          <p:cNvPr id="96" name="TextBox 34">
            <a:extLst>
              <a:ext uri="{FF2B5EF4-FFF2-40B4-BE49-F238E27FC236}">
                <a16:creationId xmlns:a16="http://schemas.microsoft.com/office/drawing/2014/main" id="{19862028-7F22-3344-BFF8-8F284530FAB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999603" y="3214161"/>
            <a:ext cx="118046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3P sticker</a:t>
            </a:r>
          </a:p>
        </p:txBody>
      </p:sp>
      <p:sp>
        <p:nvSpPr>
          <p:cNvPr id="97" name="TextBox 34">
            <a:extLst>
              <a:ext uri="{FF2B5EF4-FFF2-40B4-BE49-F238E27FC236}">
                <a16:creationId xmlns:a16="http://schemas.microsoft.com/office/drawing/2014/main" id="{C503FD8F-25D5-CE4C-B8DE-F4F3F2A27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4059" y="1865829"/>
            <a:ext cx="90921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anonymous</a:t>
            </a:r>
            <a:b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wallet QR</a:t>
            </a:r>
          </a:p>
        </p:txBody>
      </p:sp>
      <p:sp>
        <p:nvSpPr>
          <p:cNvPr id="98" name="TextBox 34">
            <a:extLst>
              <a:ext uri="{FF2B5EF4-FFF2-40B4-BE49-F238E27FC236}">
                <a16:creationId xmlns:a16="http://schemas.microsoft.com/office/drawing/2014/main" id="{D414D882-0157-CB41-8EFF-427EC0D3B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7100" y="4588184"/>
            <a:ext cx="142836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user’s approved</a:t>
            </a:r>
            <a:b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vaults for codes, and verifiable credentials</a:t>
            </a:r>
          </a:p>
        </p:txBody>
      </p:sp>
      <p:sp>
        <p:nvSpPr>
          <p:cNvPr id="113" name="TextBox 34">
            <a:extLst>
              <a:ext uri="{FF2B5EF4-FFF2-40B4-BE49-F238E27FC236}">
                <a16:creationId xmlns:a16="http://schemas.microsoft.com/office/drawing/2014/main" id="{5B493575-9C23-D345-99F7-7573734AA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657" y="3309119"/>
            <a:ext cx="107315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can consumer </a:t>
            </a:r>
            <a:b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trust vault with code X?</a:t>
            </a:r>
          </a:p>
        </p:txBody>
      </p:sp>
      <p:sp>
        <p:nvSpPr>
          <p:cNvPr id="116" name="NumBox 8">
            <a:extLst>
              <a:ext uri="{FF2B5EF4-FFF2-40B4-BE49-F238E27FC236}">
                <a16:creationId xmlns:a16="http://schemas.microsoft.com/office/drawing/2014/main" id="{BB12BD3D-66A5-A14C-9F51-F8809BEE8583}"/>
              </a:ext>
            </a:extLst>
          </p:cNvPr>
          <p:cNvSpPr/>
          <p:nvPr/>
        </p:nvSpPr>
        <p:spPr>
          <a:xfrm>
            <a:off x="4122417" y="3384000"/>
            <a:ext cx="273600" cy="2736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46800" rIns="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11</a:t>
            </a:r>
          </a:p>
        </p:txBody>
      </p:sp>
      <p:sp>
        <p:nvSpPr>
          <p:cNvPr id="117" name="TextBox 34">
            <a:extLst>
              <a:ext uri="{FF2B5EF4-FFF2-40B4-BE49-F238E27FC236}">
                <a16:creationId xmlns:a16="http://schemas.microsoft.com/office/drawing/2014/main" id="{01784E2D-4BB8-C34A-9E0F-0F378EC52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4978" y="3392691"/>
            <a:ext cx="1474423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download 3P sticker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5B7631-773F-674A-A242-A98847D38BD9}"/>
              </a:ext>
            </a:extLst>
          </p:cNvPr>
          <p:cNvGrpSpPr/>
          <p:nvPr/>
        </p:nvGrpSpPr>
        <p:grpSpPr>
          <a:xfrm>
            <a:off x="3657600" y="1604042"/>
            <a:ext cx="1180465" cy="723382"/>
            <a:chOff x="3657600" y="1604042"/>
            <a:chExt cx="1180465" cy="723382"/>
          </a:xfrm>
        </p:grpSpPr>
        <p:sp>
          <p:nvSpPr>
            <p:cNvPr id="16" name="TextBox 34">
              <a:extLst>
                <a:ext uri="{FF2B5EF4-FFF2-40B4-BE49-F238E27FC236}">
                  <a16:creationId xmlns:a16="http://schemas.microsoft.com/office/drawing/2014/main" id="{4F28D6F4-CEAD-714B-BEA3-1C642EEF6B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073508"/>
              <a:ext cx="1180465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050" dirty="0">
                  <a:solidFill>
                    <a:srgbClr val="000000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Any Wallet</a:t>
              </a:r>
              <a:endPara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119" name="Graphic 15">
              <a:extLst>
                <a:ext uri="{FF2B5EF4-FFF2-40B4-BE49-F238E27FC236}">
                  <a16:creationId xmlns:a16="http://schemas.microsoft.com/office/drawing/2014/main" id="{54BE6C9F-9F53-1449-9B0A-45712DC227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0928" y="1604042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9" name="TextBox 34">
            <a:extLst>
              <a:ext uri="{FF2B5EF4-FFF2-40B4-BE49-F238E27FC236}">
                <a16:creationId xmlns:a16="http://schemas.microsoft.com/office/drawing/2014/main" id="{219E73AF-73D5-134F-B5CE-D32A66F2E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824" y="4165522"/>
            <a:ext cx="73297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50" i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disclose </a:t>
            </a:r>
            <a:br>
              <a:rPr lang="en-US" altLang="en-US" sz="1050" i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altLang="en-US" sz="1050" i="1" dirty="0">
                <a:solidFill>
                  <a:srgbClr val="000000"/>
                </a:solidFill>
                <a:effectLst>
                  <a:glow rad="127000">
                    <a:schemeClr val="bg1"/>
                  </a:glow>
                </a:effectLst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info</a:t>
            </a:r>
          </a:p>
        </p:txBody>
      </p:sp>
      <p:pic>
        <p:nvPicPr>
          <p:cNvPr id="120" name="Graphic 23">
            <a:extLst>
              <a:ext uri="{FF2B5EF4-FFF2-40B4-BE49-F238E27FC236}">
                <a16:creationId xmlns:a16="http://schemas.microsoft.com/office/drawing/2014/main" id="{8ED91A8B-E39D-B643-B265-48C75EBBB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 flipH="1">
            <a:off x="6016625" y="2286000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" name="TextBox 34">
            <a:extLst>
              <a:ext uri="{FF2B5EF4-FFF2-40B4-BE49-F238E27FC236}">
                <a16:creationId xmlns:a16="http://schemas.microsoft.com/office/drawing/2014/main" id="{A6FD14E3-F0CC-F140-9152-1AD84AD89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976" y="2773092"/>
            <a:ext cx="157119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50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Closed Circuit</a:t>
            </a:r>
            <a:br>
              <a:rPr lang="en-US" altLang="en-US" sz="1050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e.g. Tokyo Airport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518E97D1-9FEF-004D-A1B2-B1201512197D}"/>
              </a:ext>
            </a:extLst>
          </p:cNvPr>
          <p:cNvCxnSpPr>
            <a:cxnSpLocks/>
            <a:stCxn id="119" idx="3"/>
            <a:endCxn id="120" idx="0"/>
          </p:cNvCxnSpPr>
          <p:nvPr/>
        </p:nvCxnSpPr>
        <p:spPr>
          <a:xfrm>
            <a:off x="4490828" y="1838992"/>
            <a:ext cx="1760747" cy="447008"/>
          </a:xfrm>
          <a:prstGeom prst="bentConnector2">
            <a:avLst/>
          </a:prstGeom>
          <a:ln w="12700">
            <a:solidFill>
              <a:srgbClr val="545B64"/>
            </a:solidFill>
            <a:headEnd type="none" w="med" len="med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NumBox 8">
            <a:extLst>
              <a:ext uri="{FF2B5EF4-FFF2-40B4-BE49-F238E27FC236}">
                <a16:creationId xmlns:a16="http://schemas.microsoft.com/office/drawing/2014/main" id="{A46A9E32-6A2C-9B4E-80D9-1B35035E987F}"/>
              </a:ext>
            </a:extLst>
          </p:cNvPr>
          <p:cNvSpPr/>
          <p:nvPr/>
        </p:nvSpPr>
        <p:spPr>
          <a:xfrm>
            <a:off x="6126408" y="1905000"/>
            <a:ext cx="273600" cy="2736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46800" rIns="0" rtlCol="0" anchor="t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12</a:t>
            </a:r>
          </a:p>
        </p:txBody>
      </p:sp>
      <p:sp>
        <p:nvSpPr>
          <p:cNvPr id="114" name="TextBox 34">
            <a:extLst>
              <a:ext uri="{FF2B5EF4-FFF2-40B4-BE49-F238E27FC236}">
                <a16:creationId xmlns:a16="http://schemas.microsoft.com/office/drawing/2014/main" id="{6C75267F-24DD-884B-B2B9-F1FF97B9A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0797" y="1855686"/>
            <a:ext cx="90921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anonymous</a:t>
            </a:r>
            <a:b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altLang="en-US" sz="1050" i="1" dirty="0">
                <a:solidFill>
                  <a:srgbClr val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3P sticker</a:t>
            </a: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2D7F0BBA-60A2-814E-AA36-B3F10F2EBA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7708" y="1929650"/>
            <a:ext cx="287885" cy="288608"/>
          </a:xfrm>
          <a:prstGeom prst="rect">
            <a:avLst/>
          </a:prstGeom>
        </p:spPr>
      </p:pic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5C5DF45-034E-8B4C-A01B-936D75008AD0}"/>
              </a:ext>
            </a:extLst>
          </p:cNvPr>
          <p:cNvGrpSpPr/>
          <p:nvPr/>
        </p:nvGrpSpPr>
        <p:grpSpPr>
          <a:xfrm>
            <a:off x="273232" y="4092791"/>
            <a:ext cx="885298" cy="333024"/>
            <a:chOff x="3055140" y="1442468"/>
            <a:chExt cx="975590" cy="421630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09515D17-0E74-8E45-90C6-FF41A05DAE8B}"/>
                </a:ext>
              </a:extLst>
            </p:cNvPr>
            <p:cNvSpPr/>
            <p:nvPr/>
          </p:nvSpPr>
          <p:spPr>
            <a:xfrm>
              <a:off x="3055140" y="1442468"/>
              <a:ext cx="975590" cy="421630"/>
            </a:xfrm>
            <a:prstGeom prst="rect">
              <a:avLst/>
            </a:prstGeom>
            <a:solidFill>
              <a:srgbClr val="5A6B86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36000" b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i="1" dirty="0">
                  <a:solidFill>
                    <a:schemeClr val="tx1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trusted: yes/no</a:t>
              </a:r>
            </a:p>
            <a:p>
              <a:pPr>
                <a:defRPr/>
              </a:pPr>
              <a:r>
                <a:rPr lang="en-US" sz="800" i="1" dirty="0">
                  <a:solidFill>
                    <a:schemeClr val="tx1"/>
                  </a:solidFill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public key</a:t>
              </a:r>
            </a:p>
          </p:txBody>
        </p:sp>
        <p:sp>
          <p:nvSpPr>
            <p:cNvPr id="127" name="Double Brace 126">
              <a:extLst>
                <a:ext uri="{FF2B5EF4-FFF2-40B4-BE49-F238E27FC236}">
                  <a16:creationId xmlns:a16="http://schemas.microsoft.com/office/drawing/2014/main" id="{254D53B4-19AC-EF4F-854B-EE2A7846FAFE}"/>
                </a:ext>
              </a:extLst>
            </p:cNvPr>
            <p:cNvSpPr/>
            <p:nvPr/>
          </p:nvSpPr>
          <p:spPr>
            <a:xfrm>
              <a:off x="3088480" y="1496665"/>
              <a:ext cx="904757" cy="327772"/>
            </a:xfrm>
            <a:prstGeom prst="bracePair">
              <a:avLst>
                <a:gd name="adj" fmla="val 4230"/>
              </a:avLst>
            </a:prstGeom>
            <a:ln>
              <a:solidFill>
                <a:schemeClr val="bg1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28" name="TextBox 34">
            <a:extLst>
              <a:ext uri="{FF2B5EF4-FFF2-40B4-BE49-F238E27FC236}">
                <a16:creationId xmlns:a16="http://schemas.microsoft.com/office/drawing/2014/main" id="{495BAF2A-1D9A-8F49-82A8-65ED58A87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690" y="1940625"/>
            <a:ext cx="3113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chemeClr val="accent5"/>
                </a:solidFill>
                <a:effectLst>
                  <a:glow rad="127000">
                    <a:schemeClr val="bg1"/>
                  </a:glow>
                </a:effectLst>
                <a:latin typeface="APPLE CHANCERY" panose="03020702040506060504" pitchFamily="66" charset="-79"/>
                <a:ea typeface="Amazon Ember Heavy" panose="020B0603020204020204" pitchFamily="34" charset="0"/>
                <a:cs typeface="APPLE CHANCERY" panose="03020702040506060504" pitchFamily="66" charset="-79"/>
              </a:rPr>
              <a:t>S</a:t>
            </a:r>
          </a:p>
        </p:txBody>
      </p:sp>
      <p:sp>
        <p:nvSpPr>
          <p:cNvPr id="130" name="TextBox 34">
            <a:extLst>
              <a:ext uri="{FF2B5EF4-FFF2-40B4-BE49-F238E27FC236}">
                <a16:creationId xmlns:a16="http://schemas.microsoft.com/office/drawing/2014/main" id="{192FCCB7-D8EE-D74B-92E4-E12E87474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2775" y="1981200"/>
            <a:ext cx="3113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chemeClr val="accent1"/>
                </a:solidFill>
                <a:effectLst>
                  <a:glow rad="127000">
                    <a:schemeClr val="bg1"/>
                  </a:glow>
                </a:effectLst>
                <a:latin typeface="APPLE CHANCERY" panose="03020702040506060504" pitchFamily="66" charset="-79"/>
                <a:ea typeface="Amazon Ember Heavy" panose="020B0603020204020204" pitchFamily="34" charset="0"/>
                <a:cs typeface="APPLE CHANCERY" panose="03020702040506060504" pitchFamily="66" charset="-79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1309490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WS-architecture-icons">
      <a:dk1>
        <a:srgbClr val="232F3C"/>
      </a:dk1>
      <a:lt1>
        <a:srgbClr val="FAFAFA"/>
      </a:lt1>
      <a:dk2>
        <a:srgbClr val="545B63"/>
      </a:dk2>
      <a:lt2>
        <a:srgbClr val="E5ECEF"/>
      </a:lt2>
      <a:accent1>
        <a:srgbClr val="FF9900"/>
      </a:accent1>
      <a:accent2>
        <a:srgbClr val="F0613C"/>
      </a:accent2>
      <a:accent3>
        <a:srgbClr val="007CBD"/>
      </a:accent3>
      <a:accent4>
        <a:srgbClr val="00A0C8"/>
      </a:accent4>
      <a:accent5>
        <a:srgbClr val="1D8900"/>
      </a:accent5>
      <a:accent6>
        <a:srgbClr val="69AE34"/>
      </a:accent6>
      <a:hlink>
        <a:srgbClr val="007CBC"/>
      </a:hlink>
      <a:folHlink>
        <a:srgbClr val="007C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6408</TotalTime>
  <Words>529</Words>
  <Application>Microsoft Macintosh PowerPoint</Application>
  <PresentationFormat>Widescreen</PresentationFormat>
  <Paragraphs>64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Amazon Ember</vt:lpstr>
      <vt:lpstr>APPLE CHANCERY</vt:lpstr>
      <vt:lpstr>Arial</vt:lpstr>
      <vt:lpstr>Calibri</vt:lpstr>
      <vt:lpstr>Office Theme</vt:lpstr>
      <vt:lpstr>PowerPoint Presentation</vt:lpstr>
    </vt:vector>
  </TitlesOfParts>
  <Manager/>
  <Company>Amazon.com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 Architecture Title</dc:title>
  <dc:subject/>
  <dc:creator>Amazon Web Services</dc:creator>
  <cp:keywords/>
  <dc:description/>
  <cp:lastModifiedBy>Jorge Fonseca</cp:lastModifiedBy>
  <cp:revision>140</cp:revision>
  <dcterms:created xsi:type="dcterms:W3CDTF">2018-02-11T04:20:17Z</dcterms:created>
  <dcterms:modified xsi:type="dcterms:W3CDTF">2023-03-01T00:12:18Z</dcterms:modified>
  <cp:category/>
</cp:coreProperties>
</file>