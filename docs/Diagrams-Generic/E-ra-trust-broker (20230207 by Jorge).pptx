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2264"/>
    <a:srgbClr val="232E3C"/>
    <a:srgbClr val="ECEDF0"/>
    <a:srgbClr val="5B9CD5"/>
    <a:srgbClr val="545B64"/>
    <a:srgbClr val="EAEDED"/>
    <a:srgbClr val="D5DBDB"/>
    <a:srgbClr val="FF9900"/>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612"/>
  </p:normalViewPr>
  <p:slideViewPr>
    <p:cSldViewPr>
      <p:cViewPr varScale="1">
        <p:scale>
          <a:sx n="122" d="100"/>
          <a:sy n="122" d="100"/>
        </p:scale>
        <p:origin x="1304"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roup 103">
            <a:extLst>
              <a:ext uri="{FF2B5EF4-FFF2-40B4-BE49-F238E27FC236}">
                <a16:creationId xmlns:a16="http://schemas.microsoft.com/office/drawing/2014/main" id="{FA3DE03A-8877-EE45-99C0-89D7E6BF911B}"/>
              </a:ext>
            </a:extLst>
          </p:cNvPr>
          <p:cNvGrpSpPr/>
          <p:nvPr/>
        </p:nvGrpSpPr>
        <p:grpSpPr>
          <a:xfrm>
            <a:off x="2897254" y="1998999"/>
            <a:ext cx="1230105" cy="926661"/>
            <a:chOff x="304800" y="3257952"/>
            <a:chExt cx="1230105" cy="922503"/>
          </a:xfrm>
        </p:grpSpPr>
        <p:sp>
          <p:nvSpPr>
            <p:cNvPr id="106" name="Rectangle 105">
              <a:extLst>
                <a:ext uri="{FF2B5EF4-FFF2-40B4-BE49-F238E27FC236}">
                  <a16:creationId xmlns:a16="http://schemas.microsoft.com/office/drawing/2014/main" id="{DFE71AC9-7183-9D44-AA38-671CA318DAFF}"/>
                </a:ext>
              </a:extLst>
            </p:cNvPr>
            <p:cNvSpPr/>
            <p:nvPr/>
          </p:nvSpPr>
          <p:spPr>
            <a:xfrm>
              <a:off x="304800" y="3257952"/>
              <a:ext cx="1230105" cy="92250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eaLnBrk="1" fontAlgn="auto" hangingPunct="1">
                <a:spcBef>
                  <a:spcPts val="0"/>
                </a:spcBef>
                <a:spcAft>
                  <a:spcPts val="0"/>
                </a:spcAft>
                <a:defRP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Asymmetric </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cryptography</a:t>
              </a:r>
            </a:p>
          </p:txBody>
        </p:sp>
        <p:pic>
          <p:nvPicPr>
            <p:cNvPr id="107" name="Graphic 106">
              <a:extLst>
                <a:ext uri="{FF2B5EF4-FFF2-40B4-BE49-F238E27FC236}">
                  <a16:creationId xmlns:a16="http://schemas.microsoft.com/office/drawing/2014/main" id="{9F26F370-6A66-1C4C-9463-3FB5A04D4B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563" y="3259541"/>
              <a:ext cx="250869" cy="250869"/>
            </a:xfrm>
            <a:prstGeom prst="rect">
              <a:avLst/>
            </a:prstGeom>
          </p:spPr>
        </p:pic>
      </p:grpSp>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1446550"/>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Brokers</a:t>
            </a:r>
          </a:p>
          <a:p>
            <a:r>
              <a:rPr lang="en-US" sz="12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Wallets are the users’ entry point to the Trust Framework. They store, on the user’s device, the users’ asymmetric private key – the only mechanism to digitally sign information-sharing orders from the user. Wallets also store the wallet’s QR code and the anonymized 3</a:t>
            </a:r>
            <a:r>
              <a:rPr lang="en-US" sz="1200" baseline="300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rd</a:t>
            </a:r>
            <a:r>
              <a:rPr lang="en-US" sz="12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 Party (3P) stickers. brokers are wallet backends, responsible for the orchestration between wallets, vaults, and 3Ps. Wallets and brokers don’t receive nor store user’s PII. Both can be offered by any vendor, without preestablished trust relationship with vaults and 3Ps – instead, users choose who they trust. </a:t>
            </a:r>
            <a:endParaRPr lang="en-US" sz="1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NumBox 7">
            <a:extLst>
              <a:ext uri="{FF2B5EF4-FFF2-40B4-BE49-F238E27FC236}">
                <a16:creationId xmlns:a16="http://schemas.microsoft.com/office/drawing/2014/main" id="{68CCBE0C-C2CD-E347-9CED-CC285006AE94}"/>
              </a:ext>
            </a:extLst>
          </p:cNvPr>
          <p:cNvSpPr/>
          <p:nvPr/>
        </p:nvSpPr>
        <p:spPr>
          <a:xfrm>
            <a:off x="9134573" y="27120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4573" y="1600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51" name="NumBox 1">
            <a:extLst>
              <a:ext uri="{FF2B5EF4-FFF2-40B4-BE49-F238E27FC236}">
                <a16:creationId xmlns:a16="http://schemas.microsoft.com/office/drawing/2014/main" id="{61A833CA-45E5-DA44-9841-E3816A71ECCE}"/>
              </a:ext>
            </a:extLst>
          </p:cNvPr>
          <p:cNvSpPr/>
          <p:nvPr/>
        </p:nvSpPr>
        <p:spPr>
          <a:xfrm>
            <a:off x="9134573" y="1763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133546"/>
            <a:ext cx="2733426" cy="5062924"/>
          </a:xfrm>
          <a:prstGeom prst="rect">
            <a:avLst/>
          </a:prstGeom>
          <a:noFill/>
        </p:spPr>
        <p:txBody>
          <a:bodyPr wrap="square" rtlCol="0">
            <a:spAutoFit/>
          </a:bodyPr>
          <a:lstStyle/>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Users register on any wallet compatible with the trust framework. W</a:t>
            </a: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allets</a:t>
            </a:r>
            <a:r>
              <a:rPr lang="en-US" sz="1050" dirty="0">
                <a:latin typeface="Amazon Ember" panose="020B0603020204020204" pitchFamily="34" charset="0"/>
                <a:ea typeface="Amazon Ember" panose="020B0603020204020204" pitchFamily="34" charset="0"/>
                <a:cs typeface="Amazon Ember" panose="020B0603020204020204" pitchFamily="34" charset="0"/>
              </a:rPr>
              <a:t> create key pairs with asymmetric cryptography. The private key signs the wallet’s messages and never leaves the device, while the public key is shared with other actors for them to verify the authenticity of the wallet’s requests.</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Users access their wallet’s app. The wallet then sends only the public key to the wallet’s broker, for it to register the user in the broker’s domain.</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With the broker’s answer, the wallet generates and stores the wallet’s QR code, with which the wallet’s owner can scan on 3P desks to initiate check-ins.</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wallet has a notifier API to receive commands from the broker. The API abstracts the wallet’s push tech from the broker, and verifies the broker’s signatures with the broker’s public key.</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broker calls the API whenever a 3P requests the user to share their vaults.</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broker also calls the wallet’s API to push new 3P stickers created by 3Ps.</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6002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6" name="TextBox 9">
            <a:extLst>
              <a:ext uri="{FF2B5EF4-FFF2-40B4-BE49-F238E27FC236}">
                <a16:creationId xmlns:a16="http://schemas.microsoft.com/office/drawing/2014/main" id="{B45A83BF-98EB-1643-BFCE-9FAC77A58122}"/>
              </a:ext>
            </a:extLst>
          </p:cNvPr>
          <p:cNvSpPr txBox="1">
            <a:spLocks noChangeArrowheads="1"/>
          </p:cNvSpPr>
          <p:nvPr/>
        </p:nvSpPr>
        <p:spPr bwMode="auto">
          <a:xfrm>
            <a:off x="228599" y="1676400"/>
            <a:ext cx="536257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rad="321067">
                    <a:schemeClr val="bg1">
                      <a:alpha val="89960"/>
                    </a:schemeClr>
                  </a:glow>
                </a:effectLst>
              </a:rPr>
              <a:t>Architecture</a:t>
            </a:r>
          </a:p>
        </p:txBody>
      </p:sp>
      <p:grpSp>
        <p:nvGrpSpPr>
          <p:cNvPr id="4" name="Group 3">
            <a:extLst>
              <a:ext uri="{FF2B5EF4-FFF2-40B4-BE49-F238E27FC236}">
                <a16:creationId xmlns:a16="http://schemas.microsoft.com/office/drawing/2014/main" id="{BC5844A8-C0DB-FD41-AA36-FA099BA14689}"/>
              </a:ext>
            </a:extLst>
          </p:cNvPr>
          <p:cNvGrpSpPr/>
          <p:nvPr/>
        </p:nvGrpSpPr>
        <p:grpSpPr>
          <a:xfrm>
            <a:off x="1847169" y="4940495"/>
            <a:ext cx="1073150" cy="865734"/>
            <a:chOff x="2643126" y="3224699"/>
            <a:chExt cx="1073150" cy="865734"/>
          </a:xfrm>
        </p:grpSpPr>
        <p:pic>
          <p:nvPicPr>
            <p:cNvPr id="18" name="Graphic 16">
              <a:extLst>
                <a:ext uri="{FF2B5EF4-FFF2-40B4-BE49-F238E27FC236}">
                  <a16:creationId xmlns:a16="http://schemas.microsoft.com/office/drawing/2014/main" id="{B2669B98-A8B4-C942-BEDE-3701B86E2EE5}"/>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2944751"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34">
              <a:extLst>
                <a:ext uri="{FF2B5EF4-FFF2-40B4-BE49-F238E27FC236}">
                  <a16:creationId xmlns:a16="http://schemas.microsoft.com/office/drawing/2014/main" id="{AD22E45F-6DFA-5149-B01E-BCCFAB9344E3}"/>
                </a:ext>
              </a:extLst>
            </p:cNvPr>
            <p:cNvSpPr txBox="1">
              <a:spLocks noChangeArrowheads="1"/>
            </p:cNvSpPr>
            <p:nvPr/>
          </p:nvSpPr>
          <p:spPr bwMode="auto">
            <a:xfrm>
              <a:off x="2643126" y="3674935"/>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Broker</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Infosys</a:t>
              </a:r>
            </a:p>
          </p:txBody>
        </p:sp>
      </p:grpSp>
      <p:sp>
        <p:nvSpPr>
          <p:cNvPr id="59" name="TextBox 9">
            <a:extLst>
              <a:ext uri="{FF2B5EF4-FFF2-40B4-BE49-F238E27FC236}">
                <a16:creationId xmlns:a16="http://schemas.microsoft.com/office/drawing/2014/main" id="{7D0F3EB8-A472-4A41-8857-38F4B0ED5B7E}"/>
              </a:ext>
            </a:extLst>
          </p:cNvPr>
          <p:cNvSpPr txBox="1">
            <a:spLocks noChangeArrowheads="1"/>
          </p:cNvSpPr>
          <p:nvPr/>
        </p:nvSpPr>
        <p:spPr bwMode="auto">
          <a:xfrm>
            <a:off x="1851695" y="2501610"/>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Any Wallet</a:t>
            </a:r>
            <a:br>
              <a:rPr lang="en-US" altLang="en-US" i="0" dirty="0">
                <a:effectLst>
                  <a:glow>
                    <a:schemeClr val="bg1"/>
                  </a:glow>
                </a:effectLst>
              </a:rPr>
            </a:br>
            <a:r>
              <a:rPr lang="en-US" altLang="en-US" dirty="0">
                <a:effectLst>
                  <a:glow>
                    <a:schemeClr val="bg1"/>
                  </a:glow>
                </a:effectLst>
              </a:rPr>
              <a:t>e.g. ACME</a:t>
            </a:r>
          </a:p>
        </p:txBody>
      </p:sp>
      <p:pic>
        <p:nvPicPr>
          <p:cNvPr id="90" name="Graphic 15">
            <a:extLst>
              <a:ext uri="{FF2B5EF4-FFF2-40B4-BE49-F238E27FC236}">
                <a16:creationId xmlns:a16="http://schemas.microsoft.com/office/drawing/2014/main" id="{A4FA1802-79C8-C940-9CFB-FA16CB6CA9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65006" y="204358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2" name="Straight Arrow Connector 101">
            <a:extLst>
              <a:ext uri="{FF2B5EF4-FFF2-40B4-BE49-F238E27FC236}">
                <a16:creationId xmlns:a16="http://schemas.microsoft.com/office/drawing/2014/main" id="{CE92B5F4-CBDB-B242-9EFF-B1666D2AE368}"/>
              </a:ext>
            </a:extLst>
          </p:cNvPr>
          <p:cNvCxnSpPr>
            <a:cxnSpLocks/>
            <a:stCxn id="59" idx="2"/>
            <a:endCxn id="18" idx="0"/>
          </p:cNvCxnSpPr>
          <p:nvPr/>
        </p:nvCxnSpPr>
        <p:spPr>
          <a:xfrm>
            <a:off x="2382832" y="2917108"/>
            <a:ext cx="912" cy="2023387"/>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128" name="Graphic 18">
            <a:extLst>
              <a:ext uri="{FF2B5EF4-FFF2-40B4-BE49-F238E27FC236}">
                <a16:creationId xmlns:a16="http://schemas.microsoft.com/office/drawing/2014/main" id="{B6420032-B61E-6540-9010-49B960F369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97142" y="2522060"/>
            <a:ext cx="311488" cy="31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TextBox 9">
            <a:extLst>
              <a:ext uri="{FF2B5EF4-FFF2-40B4-BE49-F238E27FC236}">
                <a16:creationId xmlns:a16="http://schemas.microsoft.com/office/drawing/2014/main" id="{A55C6A0E-39E0-AE4C-9BE6-EBE4B10C329F}"/>
              </a:ext>
            </a:extLst>
          </p:cNvPr>
          <p:cNvSpPr txBox="1">
            <a:spLocks noChangeArrowheads="1"/>
          </p:cNvSpPr>
          <p:nvPr/>
        </p:nvSpPr>
        <p:spPr bwMode="auto">
          <a:xfrm>
            <a:off x="3358591" y="2459647"/>
            <a:ext cx="80406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a:schemeClr val="bg1"/>
                  </a:glow>
                </a:effectLst>
              </a:rPr>
              <a:t>private </a:t>
            </a:r>
            <a:br>
              <a:rPr lang="en-US" altLang="en-US" i="0" dirty="0">
                <a:effectLst>
                  <a:glow>
                    <a:schemeClr val="bg1"/>
                  </a:glow>
                </a:effectLst>
              </a:rPr>
            </a:br>
            <a:r>
              <a:rPr lang="en-US" altLang="en-US" i="0" dirty="0">
                <a:effectLst>
                  <a:glow>
                    <a:schemeClr val="bg1"/>
                  </a:glow>
                </a:effectLst>
              </a:rPr>
              <a:t>key</a:t>
            </a:r>
          </a:p>
        </p:txBody>
      </p:sp>
      <p:sp>
        <p:nvSpPr>
          <p:cNvPr id="131" name="NumBox 1">
            <a:extLst>
              <a:ext uri="{FF2B5EF4-FFF2-40B4-BE49-F238E27FC236}">
                <a16:creationId xmlns:a16="http://schemas.microsoft.com/office/drawing/2014/main" id="{E0E355CD-0AA9-D845-8ECD-5CF8439DD95E}"/>
              </a:ext>
            </a:extLst>
          </p:cNvPr>
          <p:cNvSpPr/>
          <p:nvPr/>
        </p:nvSpPr>
        <p:spPr>
          <a:xfrm>
            <a:off x="2245587" y="348461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pic>
        <p:nvPicPr>
          <p:cNvPr id="140" name="Graphic 11">
            <a:extLst>
              <a:ext uri="{FF2B5EF4-FFF2-40B4-BE49-F238E27FC236}">
                <a16:creationId xmlns:a16="http://schemas.microsoft.com/office/drawing/2014/main" id="{794057BE-18ED-6D41-A7A2-48F8271A32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7514" y="5004156"/>
            <a:ext cx="314137" cy="31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TextBox 34">
            <a:extLst>
              <a:ext uri="{FF2B5EF4-FFF2-40B4-BE49-F238E27FC236}">
                <a16:creationId xmlns:a16="http://schemas.microsoft.com/office/drawing/2014/main" id="{A7DE444F-3843-2240-A362-400F9CF91773}"/>
              </a:ext>
            </a:extLst>
          </p:cNvPr>
          <p:cNvSpPr txBox="1">
            <a:spLocks noChangeArrowheads="1"/>
          </p:cNvSpPr>
          <p:nvPr/>
        </p:nvSpPr>
        <p:spPr bwMode="auto">
          <a:xfrm>
            <a:off x="3209692" y="4940739"/>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50" name="Group 149">
            <a:extLst>
              <a:ext uri="{FF2B5EF4-FFF2-40B4-BE49-F238E27FC236}">
                <a16:creationId xmlns:a16="http://schemas.microsoft.com/office/drawing/2014/main" id="{12CE4473-5BA8-A644-9419-0E28DA8F8DEE}"/>
              </a:ext>
            </a:extLst>
          </p:cNvPr>
          <p:cNvGrpSpPr/>
          <p:nvPr/>
        </p:nvGrpSpPr>
        <p:grpSpPr>
          <a:xfrm>
            <a:off x="5700714" y="3962400"/>
            <a:ext cx="1073150" cy="840705"/>
            <a:chOff x="2374493" y="2443090"/>
            <a:chExt cx="1073150" cy="840705"/>
          </a:xfrm>
        </p:grpSpPr>
        <p:pic>
          <p:nvPicPr>
            <p:cNvPr id="151" name="Graphic 6">
              <a:extLst>
                <a:ext uri="{FF2B5EF4-FFF2-40B4-BE49-F238E27FC236}">
                  <a16:creationId xmlns:a16="http://schemas.microsoft.com/office/drawing/2014/main" id="{80FE6A67-02E6-DD40-B2E3-E4C33CA98A99}"/>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2682466" y="244309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TextBox 34">
              <a:extLst>
                <a:ext uri="{FF2B5EF4-FFF2-40B4-BE49-F238E27FC236}">
                  <a16:creationId xmlns:a16="http://schemas.microsoft.com/office/drawing/2014/main" id="{7C1AD702-BD32-C142-97ED-D062F5092771}"/>
                </a:ext>
              </a:extLst>
            </p:cNvPr>
            <p:cNvSpPr txBox="1">
              <a:spLocks noChangeArrowheads="1"/>
            </p:cNvSpPr>
            <p:nvPr/>
          </p:nvSpPr>
          <p:spPr bwMode="auto">
            <a:xfrm>
              <a:off x="2374493" y="2868297"/>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 Notifier API</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55" name="Rectangle 154">
            <a:extLst>
              <a:ext uri="{FF2B5EF4-FFF2-40B4-BE49-F238E27FC236}">
                <a16:creationId xmlns:a16="http://schemas.microsoft.com/office/drawing/2014/main" id="{782936C7-5882-F047-BA3B-A71763691884}"/>
              </a:ext>
            </a:extLst>
          </p:cNvPr>
          <p:cNvSpPr/>
          <p:nvPr/>
        </p:nvSpPr>
        <p:spPr>
          <a:xfrm>
            <a:off x="2903925" y="2001562"/>
            <a:ext cx="4502626" cy="926661"/>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i="1" dirty="0">
              <a:solidFill>
                <a:srgbClr val="5A6B86"/>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2" name="Group 11">
            <a:extLst>
              <a:ext uri="{FF2B5EF4-FFF2-40B4-BE49-F238E27FC236}">
                <a16:creationId xmlns:a16="http://schemas.microsoft.com/office/drawing/2014/main" id="{7D4CBA2C-7B54-CF41-A950-7D9AB7752F94}"/>
              </a:ext>
            </a:extLst>
          </p:cNvPr>
          <p:cNvGrpSpPr/>
          <p:nvPr/>
        </p:nvGrpSpPr>
        <p:grpSpPr>
          <a:xfrm>
            <a:off x="5032332" y="2078421"/>
            <a:ext cx="798103" cy="832289"/>
            <a:chOff x="2438400" y="2074818"/>
            <a:chExt cx="798103" cy="832289"/>
          </a:xfrm>
        </p:grpSpPr>
        <p:pic>
          <p:nvPicPr>
            <p:cNvPr id="156" name="Picture 155">
              <a:extLst>
                <a:ext uri="{FF2B5EF4-FFF2-40B4-BE49-F238E27FC236}">
                  <a16:creationId xmlns:a16="http://schemas.microsoft.com/office/drawing/2014/main" id="{1B9A3EE0-8C5C-C241-836B-40EB3B7A2221}"/>
                </a:ext>
              </a:extLst>
            </p:cNvPr>
            <p:cNvPicPr>
              <a:picLocks noChangeAspect="1"/>
            </p:cNvPicPr>
            <p:nvPr/>
          </p:nvPicPr>
          <p:blipFill>
            <a:blip r:embed="rId12"/>
            <a:stretch>
              <a:fillRect/>
            </a:stretch>
          </p:blipFill>
          <p:spPr>
            <a:xfrm>
              <a:off x="2626175" y="2074818"/>
              <a:ext cx="421825" cy="422884"/>
            </a:xfrm>
            <a:prstGeom prst="rect">
              <a:avLst/>
            </a:prstGeom>
          </p:spPr>
        </p:pic>
        <p:sp>
          <p:nvSpPr>
            <p:cNvPr id="157" name="TextBox 9">
              <a:extLst>
                <a:ext uri="{FF2B5EF4-FFF2-40B4-BE49-F238E27FC236}">
                  <a16:creationId xmlns:a16="http://schemas.microsoft.com/office/drawing/2014/main" id="{55C4B8A2-86F4-A142-8AAF-4408ECED40C5}"/>
                </a:ext>
              </a:extLst>
            </p:cNvPr>
            <p:cNvSpPr txBox="1">
              <a:spLocks noChangeArrowheads="1"/>
            </p:cNvSpPr>
            <p:nvPr/>
          </p:nvSpPr>
          <p:spPr bwMode="auto">
            <a:xfrm>
              <a:off x="2438400" y="2491609"/>
              <a:ext cx="7981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wallet’s QR code</a:t>
              </a:r>
            </a:p>
          </p:txBody>
        </p:sp>
      </p:grpSp>
      <p:grpSp>
        <p:nvGrpSpPr>
          <p:cNvPr id="11" name="Group 10">
            <a:extLst>
              <a:ext uri="{FF2B5EF4-FFF2-40B4-BE49-F238E27FC236}">
                <a16:creationId xmlns:a16="http://schemas.microsoft.com/office/drawing/2014/main" id="{F7ABA4F8-42E8-684A-B500-15ED5A068B5F}"/>
              </a:ext>
            </a:extLst>
          </p:cNvPr>
          <p:cNvGrpSpPr/>
          <p:nvPr/>
        </p:nvGrpSpPr>
        <p:grpSpPr>
          <a:xfrm>
            <a:off x="6575209" y="2078421"/>
            <a:ext cx="877913" cy="827051"/>
            <a:chOff x="3124392" y="2074818"/>
            <a:chExt cx="877913" cy="827051"/>
          </a:xfrm>
        </p:grpSpPr>
        <p:pic>
          <p:nvPicPr>
            <p:cNvPr id="158" name="Picture 157">
              <a:extLst>
                <a:ext uri="{FF2B5EF4-FFF2-40B4-BE49-F238E27FC236}">
                  <a16:creationId xmlns:a16="http://schemas.microsoft.com/office/drawing/2014/main" id="{87D7FF57-AC44-0F41-A05A-D4F56ED80CA0}"/>
                </a:ext>
              </a:extLst>
            </p:cNvPr>
            <p:cNvPicPr>
              <a:picLocks noChangeAspect="1"/>
            </p:cNvPicPr>
            <p:nvPr/>
          </p:nvPicPr>
          <p:blipFill>
            <a:blip r:embed="rId12"/>
            <a:stretch>
              <a:fillRect/>
            </a:stretch>
          </p:blipFill>
          <p:spPr>
            <a:xfrm>
              <a:off x="3330195" y="2074818"/>
              <a:ext cx="327882" cy="328705"/>
            </a:xfrm>
            <a:prstGeom prst="rect">
              <a:avLst/>
            </a:prstGeom>
          </p:spPr>
        </p:pic>
        <p:pic>
          <p:nvPicPr>
            <p:cNvPr id="159" name="Picture 158">
              <a:extLst>
                <a:ext uri="{FF2B5EF4-FFF2-40B4-BE49-F238E27FC236}">
                  <a16:creationId xmlns:a16="http://schemas.microsoft.com/office/drawing/2014/main" id="{F79B3F3D-693E-F24F-AD1D-3269F6247A41}"/>
                </a:ext>
              </a:extLst>
            </p:cNvPr>
            <p:cNvPicPr>
              <a:picLocks noChangeAspect="1"/>
            </p:cNvPicPr>
            <p:nvPr/>
          </p:nvPicPr>
          <p:blipFill>
            <a:blip r:embed="rId12"/>
            <a:stretch>
              <a:fillRect/>
            </a:stretch>
          </p:blipFill>
          <p:spPr>
            <a:xfrm>
              <a:off x="3396356" y="2129117"/>
              <a:ext cx="327882" cy="328705"/>
            </a:xfrm>
            <a:prstGeom prst="rect">
              <a:avLst/>
            </a:prstGeom>
            <a:effectLst>
              <a:glow rad="34799">
                <a:schemeClr val="bg1">
                  <a:alpha val="92291"/>
                </a:schemeClr>
              </a:glow>
            </a:effectLst>
          </p:spPr>
        </p:pic>
        <p:pic>
          <p:nvPicPr>
            <p:cNvPr id="160" name="Picture 159">
              <a:extLst>
                <a:ext uri="{FF2B5EF4-FFF2-40B4-BE49-F238E27FC236}">
                  <a16:creationId xmlns:a16="http://schemas.microsoft.com/office/drawing/2014/main" id="{DCE42736-2389-534D-BB22-AC8F41AB9BDB}"/>
                </a:ext>
              </a:extLst>
            </p:cNvPr>
            <p:cNvPicPr>
              <a:picLocks noChangeAspect="1"/>
            </p:cNvPicPr>
            <p:nvPr/>
          </p:nvPicPr>
          <p:blipFill>
            <a:blip r:embed="rId12"/>
            <a:stretch>
              <a:fillRect/>
            </a:stretch>
          </p:blipFill>
          <p:spPr>
            <a:xfrm>
              <a:off x="3461518" y="2183016"/>
              <a:ext cx="327882" cy="328705"/>
            </a:xfrm>
            <a:prstGeom prst="rect">
              <a:avLst/>
            </a:prstGeom>
            <a:effectLst>
              <a:glow rad="34799">
                <a:schemeClr val="bg1">
                  <a:alpha val="92291"/>
                </a:schemeClr>
              </a:glow>
            </a:effectLst>
          </p:spPr>
        </p:pic>
        <p:sp>
          <p:nvSpPr>
            <p:cNvPr id="161" name="TextBox 9">
              <a:extLst>
                <a:ext uri="{FF2B5EF4-FFF2-40B4-BE49-F238E27FC236}">
                  <a16:creationId xmlns:a16="http://schemas.microsoft.com/office/drawing/2014/main" id="{81D99909-7286-4641-854C-61FEAD63EA1D}"/>
                </a:ext>
              </a:extLst>
            </p:cNvPr>
            <p:cNvSpPr txBox="1">
              <a:spLocks noChangeArrowheads="1"/>
            </p:cNvSpPr>
            <p:nvPr/>
          </p:nvSpPr>
          <p:spPr bwMode="auto">
            <a:xfrm>
              <a:off x="3124392" y="2486371"/>
              <a:ext cx="87791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credentials</a:t>
              </a:r>
            </a:p>
          </p:txBody>
        </p:sp>
      </p:grpSp>
      <p:sp>
        <p:nvSpPr>
          <p:cNvPr id="111" name="TextBox 9">
            <a:extLst>
              <a:ext uri="{FF2B5EF4-FFF2-40B4-BE49-F238E27FC236}">
                <a16:creationId xmlns:a16="http://schemas.microsoft.com/office/drawing/2014/main" id="{6C975174-4021-8845-B1B4-C084A266361A}"/>
              </a:ext>
            </a:extLst>
          </p:cNvPr>
          <p:cNvSpPr txBox="1">
            <a:spLocks noChangeArrowheads="1"/>
          </p:cNvSpPr>
          <p:nvPr/>
        </p:nvSpPr>
        <p:spPr bwMode="auto">
          <a:xfrm>
            <a:off x="2481423" y="3484155"/>
            <a:ext cx="65958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register</a:t>
            </a:r>
          </a:p>
        </p:txBody>
      </p:sp>
      <p:cxnSp>
        <p:nvCxnSpPr>
          <p:cNvPr id="164" name="Straight Arrow Connector 163">
            <a:extLst>
              <a:ext uri="{FF2B5EF4-FFF2-40B4-BE49-F238E27FC236}">
                <a16:creationId xmlns:a16="http://schemas.microsoft.com/office/drawing/2014/main" id="{5A341570-2585-F74C-8F5D-FD021D6BB3AF}"/>
              </a:ext>
            </a:extLst>
          </p:cNvPr>
          <p:cNvCxnSpPr>
            <a:cxnSpLocks/>
            <a:stCxn id="151" idx="0"/>
            <a:endCxn id="170" idx="2"/>
          </p:cNvCxnSpPr>
          <p:nvPr/>
        </p:nvCxnSpPr>
        <p:spPr>
          <a:xfrm flipV="1">
            <a:off x="6237287" y="2916614"/>
            <a:ext cx="3" cy="1045786"/>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93D4D44-88D9-E146-BBA7-1DBF126DEDA2}"/>
              </a:ext>
            </a:extLst>
          </p:cNvPr>
          <p:cNvCxnSpPr>
            <a:cxnSpLocks/>
            <a:stCxn id="185" idx="3"/>
            <a:endCxn id="152" idx="2"/>
          </p:cNvCxnSpPr>
          <p:nvPr/>
        </p:nvCxnSpPr>
        <p:spPr>
          <a:xfrm flipV="1">
            <a:off x="5606002" y="4803105"/>
            <a:ext cx="631287" cy="552031"/>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66" name="TextBox 9">
            <a:extLst>
              <a:ext uri="{FF2B5EF4-FFF2-40B4-BE49-F238E27FC236}">
                <a16:creationId xmlns:a16="http://schemas.microsoft.com/office/drawing/2014/main" id="{FF945EDF-4258-0848-927C-2AF4932BDFEE}"/>
              </a:ext>
            </a:extLst>
          </p:cNvPr>
          <p:cNvSpPr txBox="1">
            <a:spLocks noChangeArrowheads="1"/>
          </p:cNvSpPr>
          <p:nvPr/>
        </p:nvSpPr>
        <p:spPr bwMode="auto">
          <a:xfrm>
            <a:off x="6261037" y="5357750"/>
            <a:ext cx="7981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321067">
                    <a:schemeClr val="bg1">
                      <a:alpha val="89960"/>
                    </a:schemeClr>
                  </a:glow>
                </a:effectLst>
              </a:rPr>
              <a:t>signed web calls</a:t>
            </a:r>
          </a:p>
        </p:txBody>
      </p:sp>
      <p:sp>
        <p:nvSpPr>
          <p:cNvPr id="167" name="TextBox 9">
            <a:extLst>
              <a:ext uri="{FF2B5EF4-FFF2-40B4-BE49-F238E27FC236}">
                <a16:creationId xmlns:a16="http://schemas.microsoft.com/office/drawing/2014/main" id="{D0371C32-50C1-114D-A521-79145084B1C0}"/>
              </a:ext>
            </a:extLst>
          </p:cNvPr>
          <p:cNvSpPr txBox="1">
            <a:spLocks noChangeArrowheads="1"/>
          </p:cNvSpPr>
          <p:nvPr/>
        </p:nvSpPr>
        <p:spPr bwMode="auto">
          <a:xfrm>
            <a:off x="5817222" y="3587001"/>
            <a:ext cx="87791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push</a:t>
            </a:r>
          </a:p>
        </p:txBody>
      </p:sp>
      <p:cxnSp>
        <p:nvCxnSpPr>
          <p:cNvPr id="168" name="Straight Arrow Connector 202">
            <a:extLst>
              <a:ext uri="{FF2B5EF4-FFF2-40B4-BE49-F238E27FC236}">
                <a16:creationId xmlns:a16="http://schemas.microsoft.com/office/drawing/2014/main" id="{70D939D1-57FA-E24C-920A-D2811C736A65}"/>
              </a:ext>
            </a:extLst>
          </p:cNvPr>
          <p:cNvCxnSpPr>
            <a:cxnSpLocks/>
            <a:stCxn id="151" idx="3"/>
            <a:endCxn id="161" idx="2"/>
          </p:cNvCxnSpPr>
          <p:nvPr/>
        </p:nvCxnSpPr>
        <p:spPr>
          <a:xfrm flipV="1">
            <a:off x="6465887" y="2905472"/>
            <a:ext cx="548279" cy="1285528"/>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169" name="Graphic 36">
            <a:extLst>
              <a:ext uri="{FF2B5EF4-FFF2-40B4-BE49-F238E27FC236}">
                <a16:creationId xmlns:a16="http://schemas.microsoft.com/office/drawing/2014/main" id="{C59D8D21-F35C-A24D-8AAB-DD52FE4378D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08689" y="208433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0" name="TextBox 9">
            <a:extLst>
              <a:ext uri="{FF2B5EF4-FFF2-40B4-BE49-F238E27FC236}">
                <a16:creationId xmlns:a16="http://schemas.microsoft.com/office/drawing/2014/main" id="{1B1EE1B9-BAE2-BA42-9452-3AA433CF9225}"/>
              </a:ext>
            </a:extLst>
          </p:cNvPr>
          <p:cNvSpPr txBox="1">
            <a:spLocks noChangeArrowheads="1"/>
          </p:cNvSpPr>
          <p:nvPr/>
        </p:nvSpPr>
        <p:spPr bwMode="auto">
          <a:xfrm>
            <a:off x="5838238" y="2501116"/>
            <a:ext cx="7981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sharing approval</a:t>
            </a:r>
          </a:p>
        </p:txBody>
      </p:sp>
      <p:sp>
        <p:nvSpPr>
          <p:cNvPr id="174" name="TextBox 9">
            <a:extLst>
              <a:ext uri="{FF2B5EF4-FFF2-40B4-BE49-F238E27FC236}">
                <a16:creationId xmlns:a16="http://schemas.microsoft.com/office/drawing/2014/main" id="{5338CD00-59FE-7B48-A245-B6AC749DA637}"/>
              </a:ext>
            </a:extLst>
          </p:cNvPr>
          <p:cNvSpPr txBox="1">
            <a:spLocks noChangeArrowheads="1"/>
          </p:cNvSpPr>
          <p:nvPr/>
        </p:nvSpPr>
        <p:spPr bwMode="auto">
          <a:xfrm>
            <a:off x="6589687" y="3581400"/>
            <a:ext cx="87791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push</a:t>
            </a:r>
          </a:p>
        </p:txBody>
      </p:sp>
      <p:sp>
        <p:nvSpPr>
          <p:cNvPr id="176" name="NumBox 1">
            <a:extLst>
              <a:ext uri="{FF2B5EF4-FFF2-40B4-BE49-F238E27FC236}">
                <a16:creationId xmlns:a16="http://schemas.microsoft.com/office/drawing/2014/main" id="{3DEB4C5E-C163-8441-AD98-5E115E4C8DAD}"/>
              </a:ext>
            </a:extLst>
          </p:cNvPr>
          <p:cNvSpPr/>
          <p:nvPr/>
        </p:nvSpPr>
        <p:spPr>
          <a:xfrm>
            <a:off x="3745906" y="273219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78" name="NumBox 1">
            <a:extLst>
              <a:ext uri="{FF2B5EF4-FFF2-40B4-BE49-F238E27FC236}">
                <a16:creationId xmlns:a16="http://schemas.microsoft.com/office/drawing/2014/main" id="{29389E0D-6AC4-264D-8F0B-731E332DC03D}"/>
              </a:ext>
            </a:extLst>
          </p:cNvPr>
          <p:cNvSpPr/>
          <p:nvPr/>
        </p:nvSpPr>
        <p:spPr>
          <a:xfrm>
            <a:off x="6088969" y="327820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179" name="NumBox 1">
            <a:extLst>
              <a:ext uri="{FF2B5EF4-FFF2-40B4-BE49-F238E27FC236}">
                <a16:creationId xmlns:a16="http://schemas.microsoft.com/office/drawing/2014/main" id="{C6BE9830-7816-124D-8F0B-AF967D33C4E4}"/>
              </a:ext>
            </a:extLst>
          </p:cNvPr>
          <p:cNvSpPr/>
          <p:nvPr/>
        </p:nvSpPr>
        <p:spPr>
          <a:xfrm>
            <a:off x="6862218" y="327034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180" name="NumBox 1">
            <a:extLst>
              <a:ext uri="{FF2B5EF4-FFF2-40B4-BE49-F238E27FC236}">
                <a16:creationId xmlns:a16="http://schemas.microsoft.com/office/drawing/2014/main" id="{BE40E0B6-92B4-7541-9B1D-738A01B2BC6B}"/>
              </a:ext>
            </a:extLst>
          </p:cNvPr>
          <p:cNvSpPr/>
          <p:nvPr/>
        </p:nvSpPr>
        <p:spPr>
          <a:xfrm>
            <a:off x="5296108" y="286828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82" name="NumBox 1">
            <a:extLst>
              <a:ext uri="{FF2B5EF4-FFF2-40B4-BE49-F238E27FC236}">
                <a16:creationId xmlns:a16="http://schemas.microsoft.com/office/drawing/2014/main" id="{1B559651-7E1C-3248-9536-E8A7CDAB0548}"/>
              </a:ext>
            </a:extLst>
          </p:cNvPr>
          <p:cNvSpPr/>
          <p:nvPr/>
        </p:nvSpPr>
        <p:spPr>
          <a:xfrm>
            <a:off x="6321976" y="509352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83" name="NumBox 7">
            <a:extLst>
              <a:ext uri="{FF2B5EF4-FFF2-40B4-BE49-F238E27FC236}">
                <a16:creationId xmlns:a16="http://schemas.microsoft.com/office/drawing/2014/main" id="{93D7460A-B042-AB4A-A6FA-D4F12F180E35}"/>
              </a:ext>
            </a:extLst>
          </p:cNvPr>
          <p:cNvSpPr/>
          <p:nvPr/>
        </p:nvSpPr>
        <p:spPr>
          <a:xfrm>
            <a:off x="9144000" y="3505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85" name="Rectangle 184">
            <a:extLst>
              <a:ext uri="{FF2B5EF4-FFF2-40B4-BE49-F238E27FC236}">
                <a16:creationId xmlns:a16="http://schemas.microsoft.com/office/drawing/2014/main" id="{3CD832C9-4921-084E-8C55-89D1EBAC5922}"/>
              </a:ext>
            </a:extLst>
          </p:cNvPr>
          <p:cNvSpPr/>
          <p:nvPr/>
        </p:nvSpPr>
        <p:spPr>
          <a:xfrm>
            <a:off x="2899407" y="4892945"/>
            <a:ext cx="2706595" cy="924382"/>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i="1" dirty="0">
              <a:solidFill>
                <a:srgbClr val="5A6B86"/>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86" name="Group 185">
            <a:extLst>
              <a:ext uri="{FF2B5EF4-FFF2-40B4-BE49-F238E27FC236}">
                <a16:creationId xmlns:a16="http://schemas.microsoft.com/office/drawing/2014/main" id="{AC6E88FA-6C43-2A47-952A-B56297CFB9DE}"/>
              </a:ext>
            </a:extLst>
          </p:cNvPr>
          <p:cNvGrpSpPr/>
          <p:nvPr/>
        </p:nvGrpSpPr>
        <p:grpSpPr>
          <a:xfrm>
            <a:off x="4370989" y="4900550"/>
            <a:ext cx="1230105" cy="926661"/>
            <a:chOff x="304800" y="3257952"/>
            <a:chExt cx="1230105" cy="922503"/>
          </a:xfrm>
        </p:grpSpPr>
        <p:sp>
          <p:nvSpPr>
            <p:cNvPr id="187" name="Rectangle 186">
              <a:extLst>
                <a:ext uri="{FF2B5EF4-FFF2-40B4-BE49-F238E27FC236}">
                  <a16:creationId xmlns:a16="http://schemas.microsoft.com/office/drawing/2014/main" id="{4749FB2A-13D5-A049-A3A4-C9E910FA12CA}"/>
                </a:ext>
              </a:extLst>
            </p:cNvPr>
            <p:cNvSpPr/>
            <p:nvPr/>
          </p:nvSpPr>
          <p:spPr>
            <a:xfrm>
              <a:off x="304800" y="3257952"/>
              <a:ext cx="1230105" cy="92250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eaLnBrk="1" fontAlgn="auto" hangingPunct="1">
                <a:spcBef>
                  <a:spcPts val="0"/>
                </a:spcBef>
                <a:spcAft>
                  <a:spcPts val="0"/>
                </a:spcAft>
                <a:defRP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Asymmetric </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cryptography</a:t>
              </a:r>
            </a:p>
          </p:txBody>
        </p:sp>
        <p:pic>
          <p:nvPicPr>
            <p:cNvPr id="188" name="Graphic 187">
              <a:extLst>
                <a:ext uri="{FF2B5EF4-FFF2-40B4-BE49-F238E27FC236}">
                  <a16:creationId xmlns:a16="http://schemas.microsoft.com/office/drawing/2014/main" id="{CF4ECF25-9166-764D-8AFB-A743D3AA14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563" y="3259541"/>
              <a:ext cx="250869" cy="250869"/>
            </a:xfrm>
            <a:prstGeom prst="rect">
              <a:avLst/>
            </a:prstGeom>
          </p:spPr>
        </p:pic>
      </p:grpSp>
      <p:pic>
        <p:nvPicPr>
          <p:cNvPr id="189" name="Graphic 18">
            <a:extLst>
              <a:ext uri="{FF2B5EF4-FFF2-40B4-BE49-F238E27FC236}">
                <a16:creationId xmlns:a16="http://schemas.microsoft.com/office/drawing/2014/main" id="{3002CA57-FAE7-2D47-A5D9-1B3B3C7157A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0877" y="5423611"/>
            <a:ext cx="311488" cy="31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TextBox 9">
            <a:extLst>
              <a:ext uri="{FF2B5EF4-FFF2-40B4-BE49-F238E27FC236}">
                <a16:creationId xmlns:a16="http://schemas.microsoft.com/office/drawing/2014/main" id="{E1AD32A8-84F1-EC4B-B461-D5ABA4BA2BAB}"/>
              </a:ext>
            </a:extLst>
          </p:cNvPr>
          <p:cNvSpPr txBox="1">
            <a:spLocks noChangeArrowheads="1"/>
          </p:cNvSpPr>
          <p:nvPr/>
        </p:nvSpPr>
        <p:spPr bwMode="auto">
          <a:xfrm>
            <a:off x="4832326" y="5361198"/>
            <a:ext cx="80406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a:schemeClr val="bg1"/>
                  </a:glow>
                </a:effectLst>
              </a:rPr>
              <a:t>private </a:t>
            </a:r>
            <a:br>
              <a:rPr lang="en-US" altLang="en-US" i="0" dirty="0">
                <a:effectLst>
                  <a:glow>
                    <a:schemeClr val="bg1"/>
                  </a:glow>
                </a:effectLst>
              </a:rPr>
            </a:br>
            <a:r>
              <a:rPr lang="en-US" altLang="en-US" i="0" dirty="0">
                <a:effectLst>
                  <a:glow>
                    <a:schemeClr val="bg1"/>
                  </a:glow>
                </a:effectLst>
              </a:rPr>
              <a:t>key</a:t>
            </a:r>
          </a:p>
        </p:txBody>
      </p:sp>
      <p:sp>
        <p:nvSpPr>
          <p:cNvPr id="181" name="NumBox 1">
            <a:extLst>
              <a:ext uri="{FF2B5EF4-FFF2-40B4-BE49-F238E27FC236}">
                <a16:creationId xmlns:a16="http://schemas.microsoft.com/office/drawing/2014/main" id="{C515F9C8-CC71-474D-BD61-989E0BE60AE9}"/>
              </a:ext>
            </a:extLst>
          </p:cNvPr>
          <p:cNvSpPr/>
          <p:nvPr/>
        </p:nvSpPr>
        <p:spPr>
          <a:xfrm>
            <a:off x="3855326" y="482784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191" name="NumBox 1">
            <a:extLst>
              <a:ext uri="{FF2B5EF4-FFF2-40B4-BE49-F238E27FC236}">
                <a16:creationId xmlns:a16="http://schemas.microsoft.com/office/drawing/2014/main" id="{8ECB4BCD-AB87-0149-8151-4AD68E2D000A}"/>
              </a:ext>
            </a:extLst>
          </p:cNvPr>
          <p:cNvSpPr/>
          <p:nvPr/>
        </p:nvSpPr>
        <p:spPr>
          <a:xfrm>
            <a:off x="5251070" y="565960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92" name="NumBox 7">
            <a:extLst>
              <a:ext uri="{FF2B5EF4-FFF2-40B4-BE49-F238E27FC236}">
                <a16:creationId xmlns:a16="http://schemas.microsoft.com/office/drawing/2014/main" id="{99DD3EE4-A2D1-4F41-8D86-0655C4DDD0F1}"/>
              </a:ext>
            </a:extLst>
          </p:cNvPr>
          <p:cNvSpPr/>
          <p:nvPr/>
        </p:nvSpPr>
        <p:spPr>
          <a:xfrm>
            <a:off x="9144000" y="41910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193" name="NumBox 7">
            <a:extLst>
              <a:ext uri="{FF2B5EF4-FFF2-40B4-BE49-F238E27FC236}">
                <a16:creationId xmlns:a16="http://schemas.microsoft.com/office/drawing/2014/main" id="{24D7DB2E-2A2A-2A4B-A470-17FCFD5212E0}"/>
              </a:ext>
            </a:extLst>
          </p:cNvPr>
          <p:cNvSpPr/>
          <p:nvPr/>
        </p:nvSpPr>
        <p:spPr>
          <a:xfrm>
            <a:off x="9144000" y="4648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pic>
        <p:nvPicPr>
          <p:cNvPr id="194" name="Graphic 14">
            <a:extLst>
              <a:ext uri="{FF2B5EF4-FFF2-40B4-BE49-F238E27FC236}">
                <a16:creationId xmlns:a16="http://schemas.microsoft.com/office/drawing/2014/main" id="{9A34F864-C6CF-1B42-8C9C-439596B4D5E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23772" y="5102064"/>
            <a:ext cx="256522" cy="256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TextBox 34">
            <a:extLst>
              <a:ext uri="{FF2B5EF4-FFF2-40B4-BE49-F238E27FC236}">
                <a16:creationId xmlns:a16="http://schemas.microsoft.com/office/drawing/2014/main" id="{6E27CA66-15EB-064A-91C4-8D41A2E784A6}"/>
              </a:ext>
            </a:extLst>
          </p:cNvPr>
          <p:cNvSpPr txBox="1">
            <a:spLocks noChangeArrowheads="1"/>
          </p:cNvSpPr>
          <p:nvPr/>
        </p:nvSpPr>
        <p:spPr bwMode="auto">
          <a:xfrm>
            <a:off x="6931789" y="2225726"/>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sp>
        <p:nvSpPr>
          <p:cNvPr id="105" name="TextBox 34">
            <a:extLst>
              <a:ext uri="{FF2B5EF4-FFF2-40B4-BE49-F238E27FC236}">
                <a16:creationId xmlns:a16="http://schemas.microsoft.com/office/drawing/2014/main" id="{273EEACB-B4FA-A145-91CF-504E7174B86A}"/>
              </a:ext>
            </a:extLst>
          </p:cNvPr>
          <p:cNvSpPr txBox="1">
            <a:spLocks noChangeArrowheads="1"/>
          </p:cNvSpPr>
          <p:nvPr/>
        </p:nvSpPr>
        <p:spPr bwMode="auto">
          <a:xfrm>
            <a:off x="5250439" y="2173276"/>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1"/>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W</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5138</TotalTime>
  <Words>353</Words>
  <Application>Microsoft Macintosh PowerPoint</Application>
  <PresentationFormat>Widescreen</PresentationFormat>
  <Paragraphs>41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Amazon Ember</vt:lpstr>
      <vt:lpstr>APPLE CHANCERY</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135</cp:revision>
  <dcterms:created xsi:type="dcterms:W3CDTF">2018-02-11T04:20:17Z</dcterms:created>
  <dcterms:modified xsi:type="dcterms:W3CDTF">2023-03-01T00:14:07Z</dcterms:modified>
  <cp:category/>
</cp:coreProperties>
</file>