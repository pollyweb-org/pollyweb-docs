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2264"/>
    <a:srgbClr val="232E3C"/>
    <a:srgbClr val="ECEDF0"/>
    <a:srgbClr val="5B9CD5"/>
    <a:srgbClr val="545B64"/>
    <a:srgbClr val="EAEDED"/>
    <a:srgbClr val="D5DBDB"/>
    <a:srgbClr val="FF9900"/>
    <a:srgbClr val="232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60" autoAdjust="0"/>
    <p:restoredTop sz="96612"/>
  </p:normalViewPr>
  <p:slideViewPr>
    <p:cSldViewPr>
      <p:cViewPr varScale="1">
        <p:scale>
          <a:sx n="122" d="100"/>
          <a:sy n="122" d="100"/>
        </p:scale>
        <p:origin x="928" y="20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3/1/23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a:p>
        </p:txBody>
      </p:sp>
    </p:spTree>
    <p:extLst>
      <p:ext uri="{BB962C8B-B14F-4D97-AF65-F5344CB8AC3E}">
        <p14:creationId xmlns:p14="http://schemas.microsoft.com/office/powerpoint/2010/main" val="820246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sv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svg"/><Relationship Id="rId10" Type="http://schemas.openxmlformats.org/officeDocument/2006/relationships/image" Target="../media/image8.png"/><Relationship Id="rId19" Type="http://schemas.openxmlformats.org/officeDocument/2006/relationships/image" Target="../media/image17.svg"/><Relationship Id="rId4" Type="http://schemas.openxmlformats.org/officeDocument/2006/relationships/image" Target="../media/image2.svg"/><Relationship Id="rId9" Type="http://schemas.openxmlformats.org/officeDocument/2006/relationships/image" Target="../media/image7.sv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 name="Graphic 23">
            <a:extLst>
              <a:ext uri="{FF2B5EF4-FFF2-40B4-BE49-F238E27FC236}">
                <a16:creationId xmlns:a16="http://schemas.microsoft.com/office/drawing/2014/main" id="{B6EE5EFD-98B8-4245-96BF-E2BBC4B4130A}"/>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5346664" y="3334448"/>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 name="TextBox 34">
            <a:extLst>
              <a:ext uri="{FF2B5EF4-FFF2-40B4-BE49-F238E27FC236}">
                <a16:creationId xmlns:a16="http://schemas.microsoft.com/office/drawing/2014/main" id="{84C2A46C-6F25-9E45-9FB7-C5D54572CACE}"/>
              </a:ext>
            </a:extLst>
          </p:cNvPr>
          <p:cNvSpPr txBox="1">
            <a:spLocks noChangeArrowheads="1"/>
          </p:cNvSpPr>
          <p:nvPr/>
        </p:nvSpPr>
        <p:spPr bwMode="auto">
          <a:xfrm>
            <a:off x="5176394" y="3797210"/>
            <a:ext cx="80627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Graphs</a:t>
            </a:r>
          </a:p>
        </p:txBody>
      </p:sp>
      <p:sp>
        <p:nvSpPr>
          <p:cNvPr id="37" name="Title text box">
            <a:extLst>
              <a:ext uri="{FF2B5EF4-FFF2-40B4-BE49-F238E27FC236}">
                <a16:creationId xmlns:a16="http://schemas.microsoft.com/office/drawing/2014/main" id="{38DEF82B-A559-1247-8E2D-F3C452A29826}"/>
              </a:ext>
            </a:extLst>
          </p:cNvPr>
          <p:cNvSpPr txBox="1"/>
          <p:nvPr/>
        </p:nvSpPr>
        <p:spPr>
          <a:xfrm>
            <a:off x="207580" y="158447"/>
            <a:ext cx="8641350" cy="1261884"/>
          </a:xfrm>
          <a:prstGeom prst="rect">
            <a:avLst/>
          </a:prstGeom>
          <a:noFill/>
        </p:spPr>
        <p:txBody>
          <a:bodyPr wrap="squar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Trust Framework</a:t>
            </a:r>
          </a:p>
          <a:p>
            <a:r>
              <a:rPr lang="en-US" sz="12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Allows users to share offline anonymous verifiable credentials, proving service entitlement without disclosing PII nor entitlement reasons. 3</a:t>
            </a:r>
            <a:r>
              <a:rPr lang="en-US" sz="1200" baseline="300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rd</a:t>
            </a:r>
            <a:r>
              <a:rPr lang="en-US" sz="12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 parties (3Ps) can verify credential’s authenticity (offline or in </a:t>
            </a:r>
            <a:r>
              <a:rPr lang="en-US" sz="1200">
                <a:solidFill>
                  <a:srgbClr val="232E3C"/>
                </a:solidFill>
                <a:latin typeface="Amazon Ember" panose="020B0603020204020204" pitchFamily="34" charset="0"/>
                <a:ea typeface="Amazon Ember" panose="020B0603020204020204" pitchFamily="34" charset="0"/>
                <a:cs typeface="Amazon Ember" panose="020B0603020204020204" pitchFamily="34" charset="0"/>
              </a:rPr>
              <a:t>real-time) </a:t>
            </a:r>
            <a:r>
              <a:rPr lang="en-US" sz="12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using the issuer’s public key. 3Ps can also verify credential ownership anonymously using users’ face hash, and can collect user’s preferences (KYC). PII is only stored in vaults, and any user info is shared only with direct or indirect trusted 3Ps, and only on user’s approval.</a:t>
            </a:r>
          </a:p>
        </p:txBody>
      </p:sp>
      <p:sp>
        <p:nvSpPr>
          <p:cNvPr id="41" name="Sidebar Background">
            <a:extLst>
              <a:ext uri="{FF2B5EF4-FFF2-40B4-BE49-F238E27FC236}">
                <a16:creationId xmlns:a16="http://schemas.microsoft.com/office/drawing/2014/main" id="{B0A83432-3797-164E-B817-BA71B523944F}"/>
              </a:ext>
            </a:extLst>
          </p:cNvPr>
          <p:cNvSpPr/>
          <p:nvPr/>
        </p:nvSpPr>
        <p:spPr>
          <a:xfrm>
            <a:off x="8981609" y="40140"/>
            <a:ext cx="3177809" cy="6783859"/>
          </a:xfrm>
          <a:prstGeom prst="rect">
            <a:avLst/>
          </a:prstGeom>
          <a:solidFill>
            <a:srgbClr val="EA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NumBox 8">
            <a:extLst>
              <a:ext uri="{FF2B5EF4-FFF2-40B4-BE49-F238E27FC236}">
                <a16:creationId xmlns:a16="http://schemas.microsoft.com/office/drawing/2014/main" id="{3E4874A0-68B7-3F46-930A-3DF954503CB0}"/>
              </a:ext>
            </a:extLst>
          </p:cNvPr>
          <p:cNvSpPr/>
          <p:nvPr/>
        </p:nvSpPr>
        <p:spPr>
          <a:xfrm>
            <a:off x="9133881" y="3719244"/>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45" name="NumBox 7">
            <a:extLst>
              <a:ext uri="{FF2B5EF4-FFF2-40B4-BE49-F238E27FC236}">
                <a16:creationId xmlns:a16="http://schemas.microsoft.com/office/drawing/2014/main" id="{68CCBE0C-C2CD-E347-9CED-CC285006AE94}"/>
              </a:ext>
            </a:extLst>
          </p:cNvPr>
          <p:cNvSpPr/>
          <p:nvPr/>
        </p:nvSpPr>
        <p:spPr>
          <a:xfrm>
            <a:off x="9134573" y="283572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47" name="NumBox 5">
            <a:extLst>
              <a:ext uri="{FF2B5EF4-FFF2-40B4-BE49-F238E27FC236}">
                <a16:creationId xmlns:a16="http://schemas.microsoft.com/office/drawing/2014/main" id="{A2290CE2-D8F1-634A-905A-BA66C42AEBC9}"/>
              </a:ext>
            </a:extLst>
          </p:cNvPr>
          <p:cNvSpPr/>
          <p:nvPr/>
        </p:nvSpPr>
        <p:spPr>
          <a:xfrm>
            <a:off x="9134573" y="180204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9" name="NumBox 3">
            <a:extLst>
              <a:ext uri="{FF2B5EF4-FFF2-40B4-BE49-F238E27FC236}">
                <a16:creationId xmlns:a16="http://schemas.microsoft.com/office/drawing/2014/main" id="{FBB6C579-1AAE-E74E-B11A-6E47F977F102}"/>
              </a:ext>
            </a:extLst>
          </p:cNvPr>
          <p:cNvSpPr/>
          <p:nvPr/>
        </p:nvSpPr>
        <p:spPr>
          <a:xfrm>
            <a:off x="9134573" y="10668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51" name="NumBox 1">
            <a:extLst>
              <a:ext uri="{FF2B5EF4-FFF2-40B4-BE49-F238E27FC236}">
                <a16:creationId xmlns:a16="http://schemas.microsoft.com/office/drawing/2014/main" id="{61A833CA-45E5-DA44-9841-E3816A71ECCE}"/>
              </a:ext>
            </a:extLst>
          </p:cNvPr>
          <p:cNvSpPr/>
          <p:nvPr/>
        </p:nvSpPr>
        <p:spPr>
          <a:xfrm>
            <a:off x="9134573" y="17633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52" name="TextBox 51">
            <a:extLst>
              <a:ext uri="{FF2B5EF4-FFF2-40B4-BE49-F238E27FC236}">
                <a16:creationId xmlns:a16="http://schemas.microsoft.com/office/drawing/2014/main" id="{03393564-6C13-FC4F-8F33-3F02A10C52BC}"/>
              </a:ext>
            </a:extLst>
          </p:cNvPr>
          <p:cNvSpPr txBox="1"/>
          <p:nvPr/>
        </p:nvSpPr>
        <p:spPr>
          <a:xfrm>
            <a:off x="9408893" y="133546"/>
            <a:ext cx="2733426" cy="6686446"/>
          </a:xfrm>
          <a:prstGeom prst="rect">
            <a:avLst/>
          </a:prstGeom>
          <a:noFill/>
        </p:spPr>
        <p:txBody>
          <a:bodyPr wrap="square" rtlCol="0">
            <a:spAutoFit/>
          </a:bodyPr>
          <a:lstStyle/>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Wallet apps are the user interfaces (UI) of the trust framework. They generate a key pair and a face hash, and keep the private key from ever living the device. Wallets rely on graphs to translate info codes.</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Concierges act as wallet backends. They store users, user vaults, and user verifiable credentials, and they offload from wallets the handshake between 3Ps and vaults.</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Vaults are user’s distributed databases, storing preferences and verifiable credentials. They share user’s info with 3Ps on user approval. Vaults use listeners to notify graphs of key rotations, and use graphs to find a trust chain to the 3P.</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3</a:t>
            </a:r>
            <a:r>
              <a:rPr lang="en-US" sz="1050" baseline="30000" dirty="0">
                <a:latin typeface="Amazon Ember" panose="020B0603020204020204" pitchFamily="34" charset="0"/>
                <a:ea typeface="Amazon Ember" panose="020B0603020204020204" pitchFamily="34" charset="0"/>
                <a:cs typeface="Amazon Ember" panose="020B0603020204020204" pitchFamily="34" charset="0"/>
              </a:rPr>
              <a:t>rd</a:t>
            </a:r>
            <a:r>
              <a:rPr lang="en-US" sz="1050" dirty="0">
                <a:latin typeface="Amazon Ember" panose="020B0603020204020204" pitchFamily="34" charset="0"/>
                <a:ea typeface="Amazon Ember" panose="020B0603020204020204" pitchFamily="34" charset="0"/>
                <a:cs typeface="Amazon Ember" panose="020B0603020204020204" pitchFamily="34" charset="0"/>
              </a:rPr>
              <a:t> Parties (3P) are service providers. On user check-in, 3Ps ask users’ concierge for info and credentials. 3Ps use graphs to find a trust chain to the vault and to get the vault’s public key to verify credentials.</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Closed circuits are physical areas that use the “verified” 3P-generated stickers to simplify user’s check-point verification. They use graphs to cache vault’s public keys, allowing offline sticker-verification.</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Verifiers are physical devices that scan “verified” 3P-generated stickers to verify user’s entitlement to services. They also use graphs to cache vault’s public keys, allowing offline sticker-verification.</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Authorities either define the codes that categorize the info shared between 3Ps and vaults, or they contribute to trust chains by stating who they trust, or both.</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Graphs map the trust chains between vaults and 3Ps using authority’s trusts.</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Listeners help graphs to be up-to-date.</a:t>
            </a:r>
          </a:p>
        </p:txBody>
      </p:sp>
      <p:cxnSp>
        <p:nvCxnSpPr>
          <p:cNvPr id="36" name="Separator">
            <a:extLst>
              <a:ext uri="{FF2B5EF4-FFF2-40B4-BE49-F238E27FC236}">
                <a16:creationId xmlns:a16="http://schemas.microsoft.com/office/drawing/2014/main" id="{21C15EAE-984B-C241-B4CF-3AB0A0313E3C}"/>
              </a:ext>
            </a:extLst>
          </p:cNvPr>
          <p:cNvCxnSpPr>
            <a:cxnSpLocks/>
          </p:cNvCxnSpPr>
          <p:nvPr/>
        </p:nvCxnSpPr>
        <p:spPr>
          <a:xfrm>
            <a:off x="304800" y="1447800"/>
            <a:ext cx="8544130" cy="0"/>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160" name="NumBox 8">
            <a:extLst>
              <a:ext uri="{FF2B5EF4-FFF2-40B4-BE49-F238E27FC236}">
                <a16:creationId xmlns:a16="http://schemas.microsoft.com/office/drawing/2014/main" id="{0D273327-7879-024D-95BD-BF18FEAB46A2}"/>
              </a:ext>
            </a:extLst>
          </p:cNvPr>
          <p:cNvSpPr/>
          <p:nvPr/>
        </p:nvSpPr>
        <p:spPr>
          <a:xfrm>
            <a:off x="9133881" y="460314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326" name="NumBox 8">
            <a:extLst>
              <a:ext uri="{FF2B5EF4-FFF2-40B4-BE49-F238E27FC236}">
                <a16:creationId xmlns:a16="http://schemas.microsoft.com/office/drawing/2014/main" id="{70869823-279E-BE4F-933C-EA086FF2F5E0}"/>
              </a:ext>
            </a:extLst>
          </p:cNvPr>
          <p:cNvSpPr/>
          <p:nvPr/>
        </p:nvSpPr>
        <p:spPr>
          <a:xfrm>
            <a:off x="9133881" y="548254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grpSp>
        <p:nvGrpSpPr>
          <p:cNvPr id="136" name="Group 135">
            <a:extLst>
              <a:ext uri="{FF2B5EF4-FFF2-40B4-BE49-F238E27FC236}">
                <a16:creationId xmlns:a16="http://schemas.microsoft.com/office/drawing/2014/main" id="{14205AFB-0CD7-2E46-9E80-E9768DC96C26}"/>
              </a:ext>
            </a:extLst>
          </p:cNvPr>
          <p:cNvGrpSpPr/>
          <p:nvPr/>
        </p:nvGrpSpPr>
        <p:grpSpPr>
          <a:xfrm>
            <a:off x="2137384" y="4172648"/>
            <a:ext cx="1073150" cy="704152"/>
            <a:chOff x="2643126" y="3224699"/>
            <a:chExt cx="1073150" cy="704152"/>
          </a:xfrm>
        </p:grpSpPr>
        <p:pic>
          <p:nvPicPr>
            <p:cNvPr id="138" name="Graphic 16">
              <a:extLst>
                <a:ext uri="{FF2B5EF4-FFF2-40B4-BE49-F238E27FC236}">
                  <a16:creationId xmlns:a16="http://schemas.microsoft.com/office/drawing/2014/main" id="{2D924D98-E3EB-F447-BB52-1762FDBCC205}"/>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a:off x="2944751" y="3224699"/>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 name="TextBox 34">
              <a:extLst>
                <a:ext uri="{FF2B5EF4-FFF2-40B4-BE49-F238E27FC236}">
                  <a16:creationId xmlns:a16="http://schemas.microsoft.com/office/drawing/2014/main" id="{C137E9F3-828A-5A47-B46D-18F6FB46D9CA}"/>
                </a:ext>
              </a:extLst>
            </p:cNvPr>
            <p:cNvSpPr txBox="1">
              <a:spLocks noChangeArrowheads="1"/>
            </p:cNvSpPr>
            <p:nvPr/>
          </p:nvSpPr>
          <p:spPr bwMode="auto">
            <a:xfrm>
              <a:off x="2643126" y="3674935"/>
              <a:ext cx="1073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Brokers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5" name="Group 4">
            <a:extLst>
              <a:ext uri="{FF2B5EF4-FFF2-40B4-BE49-F238E27FC236}">
                <a16:creationId xmlns:a16="http://schemas.microsoft.com/office/drawing/2014/main" id="{2E1D791E-E7EC-1740-8521-68BBD3F9059B}"/>
              </a:ext>
            </a:extLst>
          </p:cNvPr>
          <p:cNvGrpSpPr/>
          <p:nvPr/>
        </p:nvGrpSpPr>
        <p:grpSpPr>
          <a:xfrm>
            <a:off x="1007425" y="3338407"/>
            <a:ext cx="1062274" cy="873523"/>
            <a:chOff x="341981" y="2043585"/>
            <a:chExt cx="1062274" cy="873523"/>
          </a:xfrm>
        </p:grpSpPr>
        <p:sp>
          <p:nvSpPr>
            <p:cNvPr id="141" name="TextBox 9">
              <a:extLst>
                <a:ext uri="{FF2B5EF4-FFF2-40B4-BE49-F238E27FC236}">
                  <a16:creationId xmlns:a16="http://schemas.microsoft.com/office/drawing/2014/main" id="{A0565516-FEDD-6140-923B-3C88D180184C}"/>
                </a:ext>
              </a:extLst>
            </p:cNvPr>
            <p:cNvSpPr txBox="1">
              <a:spLocks noChangeArrowheads="1"/>
            </p:cNvSpPr>
            <p:nvPr/>
          </p:nvSpPr>
          <p:spPr bwMode="auto">
            <a:xfrm>
              <a:off x="341981" y="2501610"/>
              <a:ext cx="106227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a:schemeClr val="bg1"/>
                    </a:glow>
                  </a:effectLst>
                </a:rPr>
                <a:t>Wallets &amp; Notifiers</a:t>
              </a:r>
              <a:endParaRPr lang="en-US" altLang="en-US" dirty="0">
                <a:effectLst>
                  <a:glow>
                    <a:schemeClr val="bg1"/>
                  </a:glow>
                </a:effectLst>
              </a:endParaRPr>
            </a:p>
          </p:txBody>
        </p:sp>
        <p:pic>
          <p:nvPicPr>
            <p:cNvPr id="142" name="Graphic 15">
              <a:extLst>
                <a:ext uri="{FF2B5EF4-FFF2-40B4-BE49-F238E27FC236}">
                  <a16:creationId xmlns:a16="http://schemas.microsoft.com/office/drawing/2014/main" id="{A568DF03-3C69-0042-9CCB-A892186E71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292" y="204358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7" name="Group 146">
            <a:extLst>
              <a:ext uri="{FF2B5EF4-FFF2-40B4-BE49-F238E27FC236}">
                <a16:creationId xmlns:a16="http://schemas.microsoft.com/office/drawing/2014/main" id="{C8E71418-1916-7841-8BDB-CC68E64BF707}"/>
              </a:ext>
            </a:extLst>
          </p:cNvPr>
          <p:cNvGrpSpPr/>
          <p:nvPr/>
        </p:nvGrpSpPr>
        <p:grpSpPr>
          <a:xfrm>
            <a:off x="3215101" y="5049470"/>
            <a:ext cx="1180465" cy="704152"/>
            <a:chOff x="178117" y="3397137"/>
            <a:chExt cx="1180465" cy="704152"/>
          </a:xfrm>
        </p:grpSpPr>
        <p:pic>
          <p:nvPicPr>
            <p:cNvPr id="149" name="Graphic 23">
              <a:extLst>
                <a:ext uri="{FF2B5EF4-FFF2-40B4-BE49-F238E27FC236}">
                  <a16:creationId xmlns:a16="http://schemas.microsoft.com/office/drawing/2014/main" id="{9D740217-5214-A84F-BB18-35B43DB7285C}"/>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flipH="1">
              <a:off x="533400" y="339713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TextBox 34">
              <a:extLst>
                <a:ext uri="{FF2B5EF4-FFF2-40B4-BE49-F238E27FC236}">
                  <a16:creationId xmlns:a16="http://schemas.microsoft.com/office/drawing/2014/main" id="{2229307A-0AB4-384A-94BB-F323412C6FC5}"/>
                </a:ext>
              </a:extLst>
            </p:cNvPr>
            <p:cNvSpPr txBox="1">
              <a:spLocks noChangeArrowheads="1"/>
            </p:cNvSpPr>
            <p:nvPr/>
          </p:nvSpPr>
          <p:spPr bwMode="auto">
            <a:xfrm>
              <a:off x="178117" y="3847373"/>
              <a:ext cx="118046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Consumers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51" name="Group 150">
            <a:extLst>
              <a:ext uri="{FF2B5EF4-FFF2-40B4-BE49-F238E27FC236}">
                <a16:creationId xmlns:a16="http://schemas.microsoft.com/office/drawing/2014/main" id="{3468A8F1-4BA4-D64F-947B-511C74CF8C99}"/>
              </a:ext>
            </a:extLst>
          </p:cNvPr>
          <p:cNvGrpSpPr/>
          <p:nvPr/>
        </p:nvGrpSpPr>
        <p:grpSpPr>
          <a:xfrm>
            <a:off x="3317539" y="2343848"/>
            <a:ext cx="975591" cy="704152"/>
            <a:chOff x="1303483" y="3397137"/>
            <a:chExt cx="975591" cy="704152"/>
          </a:xfrm>
        </p:grpSpPr>
        <p:pic>
          <p:nvPicPr>
            <p:cNvPr id="152" name="Graphic 43">
              <a:extLst>
                <a:ext uri="{FF2B5EF4-FFF2-40B4-BE49-F238E27FC236}">
                  <a16:creationId xmlns:a16="http://schemas.microsoft.com/office/drawing/2014/main" id="{E8427864-4B85-AC4F-BB06-3AC871EBAE9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56328" y="339713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TextBox 34">
              <a:extLst>
                <a:ext uri="{FF2B5EF4-FFF2-40B4-BE49-F238E27FC236}">
                  <a16:creationId xmlns:a16="http://schemas.microsoft.com/office/drawing/2014/main" id="{3B17B67A-28E5-6044-9C54-F29F8C6CEB59}"/>
                </a:ext>
              </a:extLst>
            </p:cNvPr>
            <p:cNvSpPr txBox="1">
              <a:spLocks noChangeArrowheads="1"/>
            </p:cNvSpPr>
            <p:nvPr/>
          </p:nvSpPr>
          <p:spPr bwMode="auto">
            <a:xfrm>
              <a:off x="1303483" y="3847373"/>
              <a:ext cx="97559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Vaults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6" name="Group 5">
            <a:extLst>
              <a:ext uri="{FF2B5EF4-FFF2-40B4-BE49-F238E27FC236}">
                <a16:creationId xmlns:a16="http://schemas.microsoft.com/office/drawing/2014/main" id="{F879FAEC-D230-0946-834D-8A58ADFE8F85}"/>
              </a:ext>
            </a:extLst>
          </p:cNvPr>
          <p:cNvGrpSpPr/>
          <p:nvPr/>
        </p:nvGrpSpPr>
        <p:grpSpPr>
          <a:xfrm>
            <a:off x="6508834" y="5085646"/>
            <a:ext cx="975591" cy="620172"/>
            <a:chOff x="4495800" y="2224544"/>
            <a:chExt cx="975591" cy="620172"/>
          </a:xfrm>
        </p:grpSpPr>
        <p:sp>
          <p:nvSpPr>
            <p:cNvPr id="154" name="TextBox 34">
              <a:extLst>
                <a:ext uri="{FF2B5EF4-FFF2-40B4-BE49-F238E27FC236}">
                  <a16:creationId xmlns:a16="http://schemas.microsoft.com/office/drawing/2014/main" id="{17FBB03F-5DCD-A043-80A4-ADFF92E7313A}"/>
                </a:ext>
              </a:extLst>
            </p:cNvPr>
            <p:cNvSpPr txBox="1">
              <a:spLocks noChangeArrowheads="1"/>
            </p:cNvSpPr>
            <p:nvPr/>
          </p:nvSpPr>
          <p:spPr bwMode="auto">
            <a:xfrm>
              <a:off x="4495800" y="2590800"/>
              <a:ext cx="97559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Domains</a:t>
              </a:r>
            </a:p>
          </p:txBody>
        </p:sp>
        <p:pic>
          <p:nvPicPr>
            <p:cNvPr id="157" name="Graphic 19">
              <a:extLst>
                <a:ext uri="{FF2B5EF4-FFF2-40B4-BE49-F238E27FC236}">
                  <a16:creationId xmlns:a16="http://schemas.microsoft.com/office/drawing/2014/main" id="{743A4CE8-2383-7541-9576-A9D2A3F3998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85595" y="2224544"/>
              <a:ext cx="396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Group 8">
            <a:extLst>
              <a:ext uri="{FF2B5EF4-FFF2-40B4-BE49-F238E27FC236}">
                <a16:creationId xmlns:a16="http://schemas.microsoft.com/office/drawing/2014/main" id="{2FFA5B5A-6973-3D42-A53A-B05647E32FF3}"/>
              </a:ext>
            </a:extLst>
          </p:cNvPr>
          <p:cNvGrpSpPr/>
          <p:nvPr/>
        </p:nvGrpSpPr>
        <p:grpSpPr>
          <a:xfrm>
            <a:off x="7437249" y="3330533"/>
            <a:ext cx="732976" cy="657183"/>
            <a:chOff x="1012270" y="4419600"/>
            <a:chExt cx="732976" cy="657183"/>
          </a:xfrm>
        </p:grpSpPr>
        <p:pic>
          <p:nvPicPr>
            <p:cNvPr id="158" name="Graphic 29">
              <a:extLst>
                <a:ext uri="{FF2B5EF4-FFF2-40B4-BE49-F238E27FC236}">
                  <a16:creationId xmlns:a16="http://schemas.microsoft.com/office/drawing/2014/main" id="{2F898630-37AE-264F-980B-E349744BBC8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2958" y="4419600"/>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 name="TextBox 34">
              <a:extLst>
                <a:ext uri="{FF2B5EF4-FFF2-40B4-BE49-F238E27FC236}">
                  <a16:creationId xmlns:a16="http://schemas.microsoft.com/office/drawing/2014/main" id="{8CFDF60F-5182-7A49-8871-C6DA0074F780}"/>
                </a:ext>
              </a:extLst>
            </p:cNvPr>
            <p:cNvSpPr txBox="1">
              <a:spLocks noChangeArrowheads="1"/>
            </p:cNvSpPr>
            <p:nvPr/>
          </p:nvSpPr>
          <p:spPr bwMode="auto">
            <a:xfrm>
              <a:off x="1012270" y="4822867"/>
              <a:ext cx="73297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Listeners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1" name="Group 10">
            <a:extLst>
              <a:ext uri="{FF2B5EF4-FFF2-40B4-BE49-F238E27FC236}">
                <a16:creationId xmlns:a16="http://schemas.microsoft.com/office/drawing/2014/main" id="{9DE0EED7-5562-C640-AAEA-20321A2FBE0B}"/>
              </a:ext>
            </a:extLst>
          </p:cNvPr>
          <p:cNvGrpSpPr/>
          <p:nvPr/>
        </p:nvGrpSpPr>
        <p:grpSpPr>
          <a:xfrm>
            <a:off x="6554811" y="2347843"/>
            <a:ext cx="883636" cy="876935"/>
            <a:chOff x="5613030" y="1766296"/>
            <a:chExt cx="883636" cy="876935"/>
          </a:xfrm>
        </p:grpSpPr>
        <p:sp>
          <p:nvSpPr>
            <p:cNvPr id="166" name="TextBox 23">
              <a:extLst>
                <a:ext uri="{FF2B5EF4-FFF2-40B4-BE49-F238E27FC236}">
                  <a16:creationId xmlns:a16="http://schemas.microsoft.com/office/drawing/2014/main" id="{D2A3F49B-1406-F544-B9F8-225E0A008C77}"/>
                </a:ext>
              </a:extLst>
            </p:cNvPr>
            <p:cNvSpPr txBox="1">
              <a:spLocks noChangeArrowheads="1"/>
            </p:cNvSpPr>
            <p:nvPr/>
          </p:nvSpPr>
          <p:spPr bwMode="auto">
            <a:xfrm>
              <a:off x="5613030" y="2227733"/>
              <a:ext cx="88363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mazon Ember" panose="020B0603020204020204" pitchFamily="34" charset="0"/>
                  <a:ea typeface="Amazon Ember" panose="020B0603020204020204" pitchFamily="34" charset="0"/>
                  <a:cs typeface="Amazon Ember" panose="020B0603020204020204" pitchFamily="34" charset="0"/>
                </a:rPr>
                <a:t>Cloud Proxies</a:t>
              </a:r>
              <a:endParaRPr lang="en-US" altLang="en-US" sz="1050" i="1"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67" name="Graphic 6">
              <a:extLst>
                <a:ext uri="{FF2B5EF4-FFF2-40B4-BE49-F238E27FC236}">
                  <a16:creationId xmlns:a16="http://schemas.microsoft.com/office/drawing/2014/main" id="{35E46022-B2BC-284F-92E3-FD135CA159B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19048" y="1766296"/>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68" name="Straight Arrow Connector 202">
            <a:extLst>
              <a:ext uri="{FF2B5EF4-FFF2-40B4-BE49-F238E27FC236}">
                <a16:creationId xmlns:a16="http://schemas.microsoft.com/office/drawing/2014/main" id="{08A46DCB-301F-8C41-BD27-40406C02AFE7}"/>
              </a:ext>
            </a:extLst>
          </p:cNvPr>
          <p:cNvCxnSpPr>
            <a:cxnSpLocks/>
            <a:stCxn id="138" idx="0"/>
            <a:endCxn id="152" idx="1"/>
          </p:cNvCxnSpPr>
          <p:nvPr/>
        </p:nvCxnSpPr>
        <p:spPr>
          <a:xfrm rot="5400000" flipH="1" flipV="1">
            <a:off x="2325246" y="2927511"/>
            <a:ext cx="1593850" cy="896425"/>
          </a:xfrm>
          <a:prstGeom prst="bentConnector2">
            <a:avLst/>
          </a:prstGeom>
          <a:ln w="12700">
            <a:solidFill>
              <a:srgbClr val="545B64"/>
            </a:solidFill>
            <a:headEnd type="arrow"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C0544361-5273-4046-AFEA-C02AA007047C}"/>
              </a:ext>
            </a:extLst>
          </p:cNvPr>
          <p:cNvCxnSpPr>
            <a:cxnSpLocks/>
            <a:stCxn id="141" idx="2"/>
            <a:endCxn id="138" idx="1"/>
          </p:cNvCxnSpPr>
          <p:nvPr/>
        </p:nvCxnSpPr>
        <p:spPr>
          <a:xfrm rot="16200000" flipH="1">
            <a:off x="1890951" y="3859540"/>
            <a:ext cx="195668" cy="900447"/>
          </a:xfrm>
          <a:prstGeom prst="bentConnector2">
            <a:avLst/>
          </a:prstGeom>
          <a:ln w="12700">
            <a:solidFill>
              <a:srgbClr val="545B64"/>
            </a:solidFill>
            <a:headEnd type="arrow"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70" name="Straight Arrow Connector 202">
            <a:extLst>
              <a:ext uri="{FF2B5EF4-FFF2-40B4-BE49-F238E27FC236}">
                <a16:creationId xmlns:a16="http://schemas.microsoft.com/office/drawing/2014/main" id="{2409EDB2-2C7F-DC4A-9E31-5738C36BC6A7}"/>
              </a:ext>
            </a:extLst>
          </p:cNvPr>
          <p:cNvCxnSpPr>
            <a:cxnSpLocks/>
            <a:stCxn id="139" idx="2"/>
            <a:endCxn id="149" idx="3"/>
          </p:cNvCxnSpPr>
          <p:nvPr/>
        </p:nvCxnSpPr>
        <p:spPr>
          <a:xfrm rot="16200000" flipH="1">
            <a:off x="2918361" y="4632397"/>
            <a:ext cx="407620" cy="896425"/>
          </a:xfrm>
          <a:prstGeom prst="bentConnector2">
            <a:avLst/>
          </a:prstGeom>
          <a:ln w="12700">
            <a:solidFill>
              <a:srgbClr val="545B64"/>
            </a:solidFill>
            <a:headEnd type="arrow"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71" name="Straight Arrow Connector 202">
            <a:extLst>
              <a:ext uri="{FF2B5EF4-FFF2-40B4-BE49-F238E27FC236}">
                <a16:creationId xmlns:a16="http://schemas.microsoft.com/office/drawing/2014/main" id="{B42E0D83-BEFD-D843-AFBA-CC8E174DC0FD}"/>
              </a:ext>
            </a:extLst>
          </p:cNvPr>
          <p:cNvCxnSpPr>
            <a:cxnSpLocks/>
            <a:stCxn id="152" idx="3"/>
            <a:endCxn id="163" idx="0"/>
          </p:cNvCxnSpPr>
          <p:nvPr/>
        </p:nvCxnSpPr>
        <p:spPr>
          <a:xfrm>
            <a:off x="4040284" y="2578798"/>
            <a:ext cx="1437902" cy="755650"/>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72" name="Straight Arrow Connector 202">
            <a:extLst>
              <a:ext uri="{FF2B5EF4-FFF2-40B4-BE49-F238E27FC236}">
                <a16:creationId xmlns:a16="http://schemas.microsoft.com/office/drawing/2014/main" id="{9AA48553-52E7-6949-AD55-453485A39129}"/>
              </a:ext>
            </a:extLst>
          </p:cNvPr>
          <p:cNvCxnSpPr>
            <a:cxnSpLocks/>
            <a:stCxn id="149" idx="1"/>
            <a:endCxn id="162" idx="2"/>
          </p:cNvCxnSpPr>
          <p:nvPr/>
        </p:nvCxnSpPr>
        <p:spPr>
          <a:xfrm flipV="1">
            <a:off x="4040284" y="4031891"/>
            <a:ext cx="1437902" cy="1252529"/>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976C3361-F1D1-2D4A-AD6F-1FAB50175E8F}"/>
              </a:ext>
            </a:extLst>
          </p:cNvPr>
          <p:cNvCxnSpPr>
            <a:cxnSpLocks/>
            <a:stCxn id="158" idx="1"/>
            <a:endCxn id="163" idx="3"/>
          </p:cNvCxnSpPr>
          <p:nvPr/>
        </p:nvCxnSpPr>
        <p:spPr>
          <a:xfrm flipH="1">
            <a:off x="5713986" y="3566333"/>
            <a:ext cx="1853951" cy="3915"/>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78" name="Straight Arrow Connector 202">
            <a:extLst>
              <a:ext uri="{FF2B5EF4-FFF2-40B4-BE49-F238E27FC236}">
                <a16:creationId xmlns:a16="http://schemas.microsoft.com/office/drawing/2014/main" id="{B46F2FDB-FD41-3441-8C7A-88C3CE980290}"/>
              </a:ext>
            </a:extLst>
          </p:cNvPr>
          <p:cNvCxnSpPr>
            <a:cxnSpLocks/>
            <a:stCxn id="167" idx="1"/>
            <a:endCxn id="177" idx="0"/>
          </p:cNvCxnSpPr>
          <p:nvPr/>
        </p:nvCxnSpPr>
        <p:spPr>
          <a:xfrm rot="10800000" flipV="1">
            <a:off x="5582465" y="2583642"/>
            <a:ext cx="1178365" cy="750805"/>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79" name="Straight Arrow Connector 202">
            <a:extLst>
              <a:ext uri="{FF2B5EF4-FFF2-40B4-BE49-F238E27FC236}">
                <a16:creationId xmlns:a16="http://schemas.microsoft.com/office/drawing/2014/main" id="{CFEEF510-2015-3C42-BBAE-301F9A8EEDA5}"/>
              </a:ext>
            </a:extLst>
          </p:cNvPr>
          <p:cNvCxnSpPr>
            <a:cxnSpLocks/>
            <a:stCxn id="157" idx="1"/>
            <a:endCxn id="180" idx="2"/>
          </p:cNvCxnSpPr>
          <p:nvPr/>
        </p:nvCxnSpPr>
        <p:spPr>
          <a:xfrm rot="10800000">
            <a:off x="5579531" y="4051126"/>
            <a:ext cx="1219098" cy="1232520"/>
          </a:xfrm>
          <a:prstGeom prst="bentConnector2">
            <a:avLst/>
          </a:prstGeom>
          <a:ln w="12700">
            <a:solidFill>
              <a:srgbClr val="545B64"/>
            </a:solidFill>
            <a:headEnd type="arrow" w="med" len="med"/>
            <a:tailEnd type="none" w="med" len="sm"/>
          </a:ln>
        </p:spPr>
        <p:style>
          <a:lnRef idx="1">
            <a:schemeClr val="accent1"/>
          </a:lnRef>
          <a:fillRef idx="0">
            <a:schemeClr val="accent1"/>
          </a:fillRef>
          <a:effectRef idx="0">
            <a:schemeClr val="accent1"/>
          </a:effectRef>
          <a:fontRef idx="minor">
            <a:schemeClr val="tx1"/>
          </a:fontRef>
        </p:style>
      </p:cxnSp>
      <p:cxnSp>
        <p:nvCxnSpPr>
          <p:cNvPr id="181" name="Straight Arrow Connector 202">
            <a:extLst>
              <a:ext uri="{FF2B5EF4-FFF2-40B4-BE49-F238E27FC236}">
                <a16:creationId xmlns:a16="http://schemas.microsoft.com/office/drawing/2014/main" id="{9C8D6CF5-1160-8E43-869F-C86AC57EA810}"/>
              </a:ext>
            </a:extLst>
          </p:cNvPr>
          <p:cNvCxnSpPr>
            <a:cxnSpLocks/>
            <a:stCxn id="158" idx="0"/>
            <a:endCxn id="167" idx="3"/>
          </p:cNvCxnSpPr>
          <p:nvPr/>
        </p:nvCxnSpPr>
        <p:spPr>
          <a:xfrm rot="16200000" flipV="1">
            <a:off x="7144638" y="2671434"/>
            <a:ext cx="746890" cy="571308"/>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82" name="Straight Arrow Connector 202">
            <a:extLst>
              <a:ext uri="{FF2B5EF4-FFF2-40B4-BE49-F238E27FC236}">
                <a16:creationId xmlns:a16="http://schemas.microsoft.com/office/drawing/2014/main" id="{21FA3B7A-0823-7B47-9EDB-DC50D3C71707}"/>
              </a:ext>
            </a:extLst>
          </p:cNvPr>
          <p:cNvCxnSpPr>
            <a:cxnSpLocks/>
            <a:stCxn id="159" idx="2"/>
            <a:endCxn id="157" idx="3"/>
          </p:cNvCxnSpPr>
          <p:nvPr/>
        </p:nvCxnSpPr>
        <p:spPr>
          <a:xfrm rot="5400000">
            <a:off x="6851218" y="4331127"/>
            <a:ext cx="1295930" cy="609108"/>
          </a:xfrm>
          <a:prstGeom prst="bentConnector2">
            <a:avLst/>
          </a:prstGeom>
          <a:ln w="12700">
            <a:solidFill>
              <a:srgbClr val="545B64"/>
            </a:solidFill>
            <a:headEnd type="arrow" w="med" len="med"/>
            <a:tailEnd type="none" w="med" len="sm"/>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776EC192-1F34-7941-8505-74FA14A76A65}"/>
              </a:ext>
            </a:extLst>
          </p:cNvPr>
          <p:cNvCxnSpPr>
            <a:cxnSpLocks/>
            <a:stCxn id="153" idx="2"/>
            <a:endCxn id="149" idx="0"/>
          </p:cNvCxnSpPr>
          <p:nvPr/>
        </p:nvCxnSpPr>
        <p:spPr>
          <a:xfrm flipH="1">
            <a:off x="3805334" y="3048000"/>
            <a:ext cx="1" cy="200147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88" name="Straight Arrow Connector 202">
            <a:extLst>
              <a:ext uri="{FF2B5EF4-FFF2-40B4-BE49-F238E27FC236}">
                <a16:creationId xmlns:a16="http://schemas.microsoft.com/office/drawing/2014/main" id="{42858C12-270F-764E-9A63-80A98A74FA9C}"/>
              </a:ext>
            </a:extLst>
          </p:cNvPr>
          <p:cNvCxnSpPr>
            <a:cxnSpLocks/>
            <a:stCxn id="142" idx="3"/>
            <a:endCxn id="163" idx="1"/>
          </p:cNvCxnSpPr>
          <p:nvPr/>
        </p:nvCxnSpPr>
        <p:spPr>
          <a:xfrm flipV="1">
            <a:off x="1790636" y="3570248"/>
            <a:ext cx="3451750" cy="3109"/>
          </a:xfrm>
          <a:prstGeom prst="straightConnector1">
            <a:avLst/>
          </a:prstGeom>
          <a:ln w="12700">
            <a:solidFill>
              <a:srgbClr val="545B64"/>
            </a:solidFill>
            <a:headEnd type="none" w="med" len="med"/>
            <a:tailEnd type="arrow" w="med" len="sm"/>
          </a:ln>
          <a:effectLst>
            <a:glow rad="127000">
              <a:schemeClr val="bg1"/>
            </a:glow>
          </a:effectLst>
        </p:spPr>
        <p:style>
          <a:lnRef idx="1">
            <a:schemeClr val="accent1"/>
          </a:lnRef>
          <a:fillRef idx="0">
            <a:schemeClr val="accent1"/>
          </a:fillRef>
          <a:effectRef idx="0">
            <a:schemeClr val="accent1"/>
          </a:effectRef>
          <a:fontRef idx="minor">
            <a:schemeClr val="tx1"/>
          </a:fontRef>
        </p:style>
      </p:cxnSp>
      <p:cxnSp>
        <p:nvCxnSpPr>
          <p:cNvPr id="218" name="Straight Arrow Connector 202">
            <a:extLst>
              <a:ext uri="{FF2B5EF4-FFF2-40B4-BE49-F238E27FC236}">
                <a16:creationId xmlns:a16="http://schemas.microsoft.com/office/drawing/2014/main" id="{7E704A83-7987-334A-8B86-949B26655B5D}"/>
              </a:ext>
            </a:extLst>
          </p:cNvPr>
          <p:cNvCxnSpPr>
            <a:cxnSpLocks/>
            <a:stCxn id="152" idx="0"/>
            <a:endCxn id="158" idx="3"/>
          </p:cNvCxnSpPr>
          <p:nvPr/>
        </p:nvCxnSpPr>
        <p:spPr>
          <a:xfrm rot="16200000" flipH="1">
            <a:off x="5311192" y="837989"/>
            <a:ext cx="1222485" cy="4234203"/>
          </a:xfrm>
          <a:prstGeom prst="bentConnector4">
            <a:avLst>
              <a:gd name="adj1" fmla="val -41424"/>
              <a:gd name="adj2" fmla="val 109773"/>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21" name="Straight Arrow Connector 202">
            <a:extLst>
              <a:ext uri="{FF2B5EF4-FFF2-40B4-BE49-F238E27FC236}">
                <a16:creationId xmlns:a16="http://schemas.microsoft.com/office/drawing/2014/main" id="{77105F1E-1F2B-FA48-B6F1-1D3DD4680CFE}"/>
              </a:ext>
            </a:extLst>
          </p:cNvPr>
          <p:cNvCxnSpPr>
            <a:cxnSpLocks/>
            <a:stCxn id="150" idx="2"/>
            <a:endCxn id="159" idx="3"/>
          </p:cNvCxnSpPr>
          <p:nvPr/>
        </p:nvCxnSpPr>
        <p:spPr>
          <a:xfrm rot="5400000" flipH="1" flipV="1">
            <a:off x="5041347" y="2624744"/>
            <a:ext cx="1892864" cy="4364891"/>
          </a:xfrm>
          <a:prstGeom prst="bentConnector4">
            <a:avLst>
              <a:gd name="adj1" fmla="val -12077"/>
              <a:gd name="adj2" fmla="val 10636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232" name="Graphic 231">
            <a:extLst>
              <a:ext uri="{FF2B5EF4-FFF2-40B4-BE49-F238E27FC236}">
                <a16:creationId xmlns:a16="http://schemas.microsoft.com/office/drawing/2014/main" id="{17DA94A8-203A-BA43-B4C5-8CD8FBCDF93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436425" y="4267200"/>
            <a:ext cx="457200" cy="457200"/>
          </a:xfrm>
          <a:prstGeom prst="rect">
            <a:avLst/>
          </a:prstGeom>
        </p:spPr>
      </p:pic>
      <p:pic>
        <p:nvPicPr>
          <p:cNvPr id="233" name="Graphic 232">
            <a:extLst>
              <a:ext uri="{FF2B5EF4-FFF2-40B4-BE49-F238E27FC236}">
                <a16:creationId xmlns:a16="http://schemas.microsoft.com/office/drawing/2014/main" id="{5892081C-CFD8-FC40-9601-530FEFB33A4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072250" y="4243450"/>
            <a:ext cx="457200" cy="457200"/>
          </a:xfrm>
          <a:prstGeom prst="rect">
            <a:avLst/>
          </a:prstGeom>
        </p:spPr>
      </p:pic>
      <p:cxnSp>
        <p:nvCxnSpPr>
          <p:cNvPr id="239" name="Straight Arrow Connector 238">
            <a:extLst>
              <a:ext uri="{FF2B5EF4-FFF2-40B4-BE49-F238E27FC236}">
                <a16:creationId xmlns:a16="http://schemas.microsoft.com/office/drawing/2014/main" id="{811137EE-27AE-8F4E-843F-09D074C3CC3E}"/>
              </a:ext>
            </a:extLst>
          </p:cNvPr>
          <p:cNvCxnSpPr>
            <a:cxnSpLocks/>
          </p:cNvCxnSpPr>
          <p:nvPr/>
        </p:nvCxnSpPr>
        <p:spPr>
          <a:xfrm flipH="1" flipV="1">
            <a:off x="5713986" y="3748115"/>
            <a:ext cx="399370" cy="495349"/>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ECAE36CB-F938-D344-90A0-0835274B28A7}"/>
              </a:ext>
            </a:extLst>
          </p:cNvPr>
          <p:cNvCxnSpPr>
            <a:cxnSpLocks/>
          </p:cNvCxnSpPr>
          <p:nvPr/>
        </p:nvCxnSpPr>
        <p:spPr>
          <a:xfrm flipV="1">
            <a:off x="4817061" y="3751224"/>
            <a:ext cx="408045" cy="503974"/>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52" name="TextBox 34">
            <a:extLst>
              <a:ext uri="{FF2B5EF4-FFF2-40B4-BE49-F238E27FC236}">
                <a16:creationId xmlns:a16="http://schemas.microsoft.com/office/drawing/2014/main" id="{16CC2834-C2D0-A447-8249-B5ADB84F0251}"/>
              </a:ext>
            </a:extLst>
          </p:cNvPr>
          <p:cNvSpPr txBox="1">
            <a:spLocks noChangeArrowheads="1"/>
          </p:cNvSpPr>
          <p:nvPr/>
        </p:nvSpPr>
        <p:spPr bwMode="auto">
          <a:xfrm>
            <a:off x="4130949" y="4700650"/>
            <a:ext cx="10731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Closed Circuits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53" name="TextBox 34">
            <a:extLst>
              <a:ext uri="{FF2B5EF4-FFF2-40B4-BE49-F238E27FC236}">
                <a16:creationId xmlns:a16="http://schemas.microsoft.com/office/drawing/2014/main" id="{D2DA6360-013B-1E4B-986D-95FF294A493F}"/>
              </a:ext>
            </a:extLst>
          </p:cNvPr>
          <p:cNvSpPr txBox="1">
            <a:spLocks noChangeArrowheads="1"/>
          </p:cNvSpPr>
          <p:nvPr/>
        </p:nvSpPr>
        <p:spPr bwMode="auto">
          <a:xfrm>
            <a:off x="5802757" y="4700650"/>
            <a:ext cx="97559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Verifiers</a:t>
            </a:r>
          </a:p>
        </p:txBody>
      </p:sp>
      <p:grpSp>
        <p:nvGrpSpPr>
          <p:cNvPr id="254" name="Group 253">
            <a:extLst>
              <a:ext uri="{FF2B5EF4-FFF2-40B4-BE49-F238E27FC236}">
                <a16:creationId xmlns:a16="http://schemas.microsoft.com/office/drawing/2014/main" id="{CFE1055C-8BBD-6F43-A93B-AEB3A61C6BF3}"/>
              </a:ext>
            </a:extLst>
          </p:cNvPr>
          <p:cNvGrpSpPr/>
          <p:nvPr/>
        </p:nvGrpSpPr>
        <p:grpSpPr>
          <a:xfrm>
            <a:off x="509827" y="2362200"/>
            <a:ext cx="550695" cy="731957"/>
            <a:chOff x="868456" y="3224699"/>
            <a:chExt cx="550695" cy="724710"/>
          </a:xfrm>
        </p:grpSpPr>
        <p:pic>
          <p:nvPicPr>
            <p:cNvPr id="255" name="Graphic 22">
              <a:extLst>
                <a:ext uri="{FF2B5EF4-FFF2-40B4-BE49-F238E27FC236}">
                  <a16:creationId xmlns:a16="http://schemas.microsoft.com/office/drawing/2014/main" id="{A297C2DF-242B-8847-867E-808EF18C9469}"/>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908854" y="3224699"/>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 name="TextBox 34">
              <a:extLst>
                <a:ext uri="{FF2B5EF4-FFF2-40B4-BE49-F238E27FC236}">
                  <a16:creationId xmlns:a16="http://schemas.microsoft.com/office/drawing/2014/main" id="{8334B007-E210-DC44-8194-E9809EBA9A09}"/>
                </a:ext>
              </a:extLst>
            </p:cNvPr>
            <p:cNvSpPr txBox="1">
              <a:spLocks noChangeArrowheads="1"/>
            </p:cNvSpPr>
            <p:nvPr/>
          </p:nvSpPr>
          <p:spPr bwMode="auto">
            <a:xfrm>
              <a:off x="868456" y="3698007"/>
              <a:ext cx="550695" cy="25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Users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cxnSp>
        <p:nvCxnSpPr>
          <p:cNvPr id="257" name="Straight Arrow Connector 256">
            <a:extLst>
              <a:ext uri="{FF2B5EF4-FFF2-40B4-BE49-F238E27FC236}">
                <a16:creationId xmlns:a16="http://schemas.microsoft.com/office/drawing/2014/main" id="{3DE73A29-0F44-9F43-AB4F-3D6BF63C5141}"/>
              </a:ext>
            </a:extLst>
          </p:cNvPr>
          <p:cNvCxnSpPr>
            <a:cxnSpLocks/>
            <a:stCxn id="256" idx="2"/>
            <a:endCxn id="142" idx="1"/>
          </p:cNvCxnSpPr>
          <p:nvPr/>
        </p:nvCxnSpPr>
        <p:spPr>
          <a:xfrm rot="16200000" flipH="1">
            <a:off x="813355" y="3065976"/>
            <a:ext cx="479200" cy="535561"/>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60" name="TextBox 34">
            <a:extLst>
              <a:ext uri="{FF2B5EF4-FFF2-40B4-BE49-F238E27FC236}">
                <a16:creationId xmlns:a16="http://schemas.microsoft.com/office/drawing/2014/main" id="{31785B5F-2BE8-5448-BE75-B7DE9FD31932}"/>
              </a:ext>
            </a:extLst>
          </p:cNvPr>
          <p:cNvSpPr txBox="1">
            <a:spLocks noChangeArrowheads="1"/>
          </p:cNvSpPr>
          <p:nvPr/>
        </p:nvSpPr>
        <p:spPr bwMode="auto">
          <a:xfrm>
            <a:off x="7396609" y="4607274"/>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push</a:t>
            </a:r>
          </a:p>
        </p:txBody>
      </p:sp>
      <p:sp>
        <p:nvSpPr>
          <p:cNvPr id="261" name="TextBox 34">
            <a:extLst>
              <a:ext uri="{FF2B5EF4-FFF2-40B4-BE49-F238E27FC236}">
                <a16:creationId xmlns:a16="http://schemas.microsoft.com/office/drawing/2014/main" id="{8957D346-1627-6940-AAE8-5C3C45FB22B1}"/>
              </a:ext>
            </a:extLst>
          </p:cNvPr>
          <p:cNvSpPr txBox="1">
            <a:spLocks noChangeArrowheads="1"/>
          </p:cNvSpPr>
          <p:nvPr/>
        </p:nvSpPr>
        <p:spPr bwMode="auto">
          <a:xfrm>
            <a:off x="4498205" y="3989534"/>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export</a:t>
            </a:r>
          </a:p>
        </p:txBody>
      </p:sp>
      <p:sp>
        <p:nvSpPr>
          <p:cNvPr id="262" name="TextBox 34">
            <a:extLst>
              <a:ext uri="{FF2B5EF4-FFF2-40B4-BE49-F238E27FC236}">
                <a16:creationId xmlns:a16="http://schemas.microsoft.com/office/drawing/2014/main" id="{F590633D-E659-0F4D-9C45-D968FEC7F6BB}"/>
              </a:ext>
            </a:extLst>
          </p:cNvPr>
          <p:cNvSpPr txBox="1">
            <a:spLocks noChangeArrowheads="1"/>
          </p:cNvSpPr>
          <p:nvPr/>
        </p:nvSpPr>
        <p:spPr bwMode="auto">
          <a:xfrm>
            <a:off x="5603682" y="3965842"/>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export</a:t>
            </a:r>
          </a:p>
        </p:txBody>
      </p:sp>
      <p:sp>
        <p:nvSpPr>
          <p:cNvPr id="263" name="TextBox 34">
            <a:extLst>
              <a:ext uri="{FF2B5EF4-FFF2-40B4-BE49-F238E27FC236}">
                <a16:creationId xmlns:a16="http://schemas.microsoft.com/office/drawing/2014/main" id="{9F2201CF-6751-3241-8AD4-67317CD6B574}"/>
              </a:ext>
            </a:extLst>
          </p:cNvPr>
          <p:cNvSpPr txBox="1">
            <a:spLocks noChangeArrowheads="1"/>
          </p:cNvSpPr>
          <p:nvPr/>
        </p:nvSpPr>
        <p:spPr bwMode="auto">
          <a:xfrm>
            <a:off x="4343400" y="2450275"/>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trust?</a:t>
            </a:r>
          </a:p>
        </p:txBody>
      </p:sp>
      <p:sp>
        <p:nvSpPr>
          <p:cNvPr id="264" name="TextBox 34">
            <a:extLst>
              <a:ext uri="{FF2B5EF4-FFF2-40B4-BE49-F238E27FC236}">
                <a16:creationId xmlns:a16="http://schemas.microsoft.com/office/drawing/2014/main" id="{1D48B475-15CA-5F4D-BED5-618E53A06197}"/>
              </a:ext>
            </a:extLst>
          </p:cNvPr>
          <p:cNvSpPr txBox="1">
            <a:spLocks noChangeArrowheads="1"/>
          </p:cNvSpPr>
          <p:nvPr/>
        </p:nvSpPr>
        <p:spPr bwMode="auto">
          <a:xfrm>
            <a:off x="4368453" y="5155945"/>
            <a:ext cx="88934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trust vault?</a:t>
            </a:r>
          </a:p>
        </p:txBody>
      </p:sp>
      <p:sp>
        <p:nvSpPr>
          <p:cNvPr id="265" name="TextBox 34">
            <a:extLst>
              <a:ext uri="{FF2B5EF4-FFF2-40B4-BE49-F238E27FC236}">
                <a16:creationId xmlns:a16="http://schemas.microsoft.com/office/drawing/2014/main" id="{05EE4F03-CC6E-E746-9F8F-170388C4CF1F}"/>
              </a:ext>
            </a:extLst>
          </p:cNvPr>
          <p:cNvSpPr txBox="1">
            <a:spLocks noChangeArrowheads="1"/>
          </p:cNvSpPr>
          <p:nvPr/>
        </p:nvSpPr>
        <p:spPr bwMode="auto">
          <a:xfrm>
            <a:off x="4068303" y="3446125"/>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translate</a:t>
            </a:r>
          </a:p>
        </p:txBody>
      </p:sp>
      <p:sp>
        <p:nvSpPr>
          <p:cNvPr id="266" name="TextBox 34">
            <a:extLst>
              <a:ext uri="{FF2B5EF4-FFF2-40B4-BE49-F238E27FC236}">
                <a16:creationId xmlns:a16="http://schemas.microsoft.com/office/drawing/2014/main" id="{07776206-611E-F047-99A1-1E359692CB5E}"/>
              </a:ext>
            </a:extLst>
          </p:cNvPr>
          <p:cNvSpPr txBox="1">
            <a:spLocks noChangeArrowheads="1"/>
          </p:cNvSpPr>
          <p:nvPr/>
        </p:nvSpPr>
        <p:spPr bwMode="auto">
          <a:xfrm>
            <a:off x="7413684" y="2825470"/>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webhook</a:t>
            </a:r>
          </a:p>
        </p:txBody>
      </p:sp>
      <p:sp>
        <p:nvSpPr>
          <p:cNvPr id="267" name="TextBox 34">
            <a:extLst>
              <a:ext uri="{FF2B5EF4-FFF2-40B4-BE49-F238E27FC236}">
                <a16:creationId xmlns:a16="http://schemas.microsoft.com/office/drawing/2014/main" id="{EEB2CC0C-CDDA-E646-90FB-57C69AA65D27}"/>
              </a:ext>
            </a:extLst>
          </p:cNvPr>
          <p:cNvSpPr txBox="1">
            <a:spLocks noChangeArrowheads="1"/>
          </p:cNvSpPr>
          <p:nvPr/>
        </p:nvSpPr>
        <p:spPr bwMode="auto">
          <a:xfrm>
            <a:off x="5721834" y="2455655"/>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events</a:t>
            </a:r>
          </a:p>
        </p:txBody>
      </p:sp>
      <p:sp>
        <p:nvSpPr>
          <p:cNvPr id="268" name="TextBox 34">
            <a:extLst>
              <a:ext uri="{FF2B5EF4-FFF2-40B4-BE49-F238E27FC236}">
                <a16:creationId xmlns:a16="http://schemas.microsoft.com/office/drawing/2014/main" id="{6145CB80-DF6B-7049-9491-7AC9D244D12A}"/>
              </a:ext>
            </a:extLst>
          </p:cNvPr>
          <p:cNvSpPr txBox="1">
            <a:spLocks noChangeArrowheads="1"/>
          </p:cNvSpPr>
          <p:nvPr/>
        </p:nvSpPr>
        <p:spPr bwMode="auto">
          <a:xfrm>
            <a:off x="5668503" y="5155945"/>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fetch</a:t>
            </a:r>
          </a:p>
        </p:txBody>
      </p:sp>
      <p:sp>
        <p:nvSpPr>
          <p:cNvPr id="269" name="TextBox 34">
            <a:extLst>
              <a:ext uri="{FF2B5EF4-FFF2-40B4-BE49-F238E27FC236}">
                <a16:creationId xmlns:a16="http://schemas.microsoft.com/office/drawing/2014/main" id="{11DD7EB8-B7C6-5B4D-95FF-BDBB7BD931AF}"/>
              </a:ext>
            </a:extLst>
          </p:cNvPr>
          <p:cNvSpPr txBox="1">
            <a:spLocks noChangeArrowheads="1"/>
          </p:cNvSpPr>
          <p:nvPr/>
        </p:nvSpPr>
        <p:spPr bwMode="auto">
          <a:xfrm>
            <a:off x="6194733" y="3440529"/>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webhook</a:t>
            </a:r>
          </a:p>
        </p:txBody>
      </p:sp>
      <p:sp>
        <p:nvSpPr>
          <p:cNvPr id="270" name="TextBox 34">
            <a:extLst>
              <a:ext uri="{FF2B5EF4-FFF2-40B4-BE49-F238E27FC236}">
                <a16:creationId xmlns:a16="http://schemas.microsoft.com/office/drawing/2014/main" id="{D04ADB5D-1798-ED41-9ECB-306F46EA74CE}"/>
              </a:ext>
            </a:extLst>
          </p:cNvPr>
          <p:cNvSpPr txBox="1">
            <a:spLocks noChangeArrowheads="1"/>
          </p:cNvSpPr>
          <p:nvPr/>
        </p:nvSpPr>
        <p:spPr bwMode="auto">
          <a:xfrm>
            <a:off x="2232817" y="2866097"/>
            <a:ext cx="88934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bind</a:t>
            </a:r>
          </a:p>
        </p:txBody>
      </p:sp>
      <p:sp>
        <p:nvSpPr>
          <p:cNvPr id="272" name="TextBox 34">
            <a:extLst>
              <a:ext uri="{FF2B5EF4-FFF2-40B4-BE49-F238E27FC236}">
                <a16:creationId xmlns:a16="http://schemas.microsoft.com/office/drawing/2014/main" id="{243ACA1A-00BC-024A-8F5C-DD107DBDAD14}"/>
              </a:ext>
            </a:extLst>
          </p:cNvPr>
          <p:cNvSpPr txBox="1">
            <a:spLocks noChangeArrowheads="1"/>
          </p:cNvSpPr>
          <p:nvPr/>
        </p:nvSpPr>
        <p:spPr bwMode="auto">
          <a:xfrm>
            <a:off x="4380995" y="1713004"/>
            <a:ext cx="135069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manifest updated</a:t>
            </a:r>
          </a:p>
        </p:txBody>
      </p:sp>
      <p:sp>
        <p:nvSpPr>
          <p:cNvPr id="273" name="TextBox 34">
            <a:extLst>
              <a:ext uri="{FF2B5EF4-FFF2-40B4-BE49-F238E27FC236}">
                <a16:creationId xmlns:a16="http://schemas.microsoft.com/office/drawing/2014/main" id="{336032DA-AAB7-FF44-ADA7-CD45E7CE2793}"/>
              </a:ext>
            </a:extLst>
          </p:cNvPr>
          <p:cNvSpPr txBox="1">
            <a:spLocks noChangeArrowheads="1"/>
          </p:cNvSpPr>
          <p:nvPr/>
        </p:nvSpPr>
        <p:spPr bwMode="auto">
          <a:xfrm>
            <a:off x="4407129" y="5854126"/>
            <a:ext cx="122790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manifest updated</a:t>
            </a:r>
          </a:p>
        </p:txBody>
      </p:sp>
      <p:grpSp>
        <p:nvGrpSpPr>
          <p:cNvPr id="8" name="Group 7">
            <a:extLst>
              <a:ext uri="{FF2B5EF4-FFF2-40B4-BE49-F238E27FC236}">
                <a16:creationId xmlns:a16="http://schemas.microsoft.com/office/drawing/2014/main" id="{E4F918F6-6D2D-4145-988A-ECE2128AC161}"/>
              </a:ext>
            </a:extLst>
          </p:cNvPr>
          <p:cNvGrpSpPr/>
          <p:nvPr/>
        </p:nvGrpSpPr>
        <p:grpSpPr>
          <a:xfrm>
            <a:off x="5145015" y="3334448"/>
            <a:ext cx="666342" cy="697443"/>
            <a:chOff x="1693550" y="4419600"/>
            <a:chExt cx="666342" cy="697443"/>
          </a:xfrm>
        </p:grpSpPr>
        <p:sp>
          <p:nvSpPr>
            <p:cNvPr id="162" name="TextBox 34">
              <a:extLst>
                <a:ext uri="{FF2B5EF4-FFF2-40B4-BE49-F238E27FC236}">
                  <a16:creationId xmlns:a16="http://schemas.microsoft.com/office/drawing/2014/main" id="{77FD2EAD-B35F-4A49-AEC3-13822B2739D2}"/>
                </a:ext>
              </a:extLst>
            </p:cNvPr>
            <p:cNvSpPr txBox="1">
              <a:spLocks noChangeArrowheads="1"/>
            </p:cNvSpPr>
            <p:nvPr/>
          </p:nvSpPr>
          <p:spPr bwMode="auto">
            <a:xfrm>
              <a:off x="1693550" y="4863127"/>
              <a:ext cx="66634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Graphs</a:t>
              </a:r>
            </a:p>
          </p:txBody>
        </p:sp>
        <p:pic>
          <p:nvPicPr>
            <p:cNvPr id="163" name="Graphic 23">
              <a:extLst>
                <a:ext uri="{FF2B5EF4-FFF2-40B4-BE49-F238E27FC236}">
                  <a16:creationId xmlns:a16="http://schemas.microsoft.com/office/drawing/2014/main" id="{1D440571-2EE2-6D46-B32C-7121FFD29240}"/>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1790921" y="4419600"/>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6" name="NumBox 1">
            <a:extLst>
              <a:ext uri="{FF2B5EF4-FFF2-40B4-BE49-F238E27FC236}">
                <a16:creationId xmlns:a16="http://schemas.microsoft.com/office/drawing/2014/main" id="{DAEAF44F-467D-954B-91B5-C98165099F0F}"/>
              </a:ext>
            </a:extLst>
          </p:cNvPr>
          <p:cNvSpPr/>
          <p:nvPr/>
        </p:nvSpPr>
        <p:spPr>
          <a:xfrm>
            <a:off x="1773273" y="3183613"/>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77" name="NumBox 3">
            <a:extLst>
              <a:ext uri="{FF2B5EF4-FFF2-40B4-BE49-F238E27FC236}">
                <a16:creationId xmlns:a16="http://schemas.microsoft.com/office/drawing/2014/main" id="{35DE7518-3B88-4F43-A68D-5BEFE38DC3F7}"/>
              </a:ext>
            </a:extLst>
          </p:cNvPr>
          <p:cNvSpPr/>
          <p:nvPr/>
        </p:nvSpPr>
        <p:spPr>
          <a:xfrm>
            <a:off x="1984971" y="45720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79" name="NumBox 3">
            <a:extLst>
              <a:ext uri="{FF2B5EF4-FFF2-40B4-BE49-F238E27FC236}">
                <a16:creationId xmlns:a16="http://schemas.microsoft.com/office/drawing/2014/main" id="{D9D51E84-A298-414B-BED3-FC751771935F}"/>
              </a:ext>
            </a:extLst>
          </p:cNvPr>
          <p:cNvSpPr/>
          <p:nvPr/>
        </p:nvSpPr>
        <p:spPr>
          <a:xfrm>
            <a:off x="3400046" y="2120773"/>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80" name="NumBox 3">
            <a:extLst>
              <a:ext uri="{FF2B5EF4-FFF2-40B4-BE49-F238E27FC236}">
                <a16:creationId xmlns:a16="http://schemas.microsoft.com/office/drawing/2014/main" id="{38502CD1-477E-4344-A440-20C21047381B}"/>
              </a:ext>
            </a:extLst>
          </p:cNvPr>
          <p:cNvSpPr/>
          <p:nvPr/>
        </p:nvSpPr>
        <p:spPr>
          <a:xfrm>
            <a:off x="3401041" y="471765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82" name="NumBox 3">
            <a:extLst>
              <a:ext uri="{FF2B5EF4-FFF2-40B4-BE49-F238E27FC236}">
                <a16:creationId xmlns:a16="http://schemas.microsoft.com/office/drawing/2014/main" id="{2594790D-F3F7-EC41-B269-5BA54AE77BB8}"/>
              </a:ext>
            </a:extLst>
          </p:cNvPr>
          <p:cNvSpPr/>
          <p:nvPr/>
        </p:nvSpPr>
        <p:spPr>
          <a:xfrm>
            <a:off x="4097589" y="442937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83" name="NumBox 3">
            <a:extLst>
              <a:ext uri="{FF2B5EF4-FFF2-40B4-BE49-F238E27FC236}">
                <a16:creationId xmlns:a16="http://schemas.microsoft.com/office/drawing/2014/main" id="{E5B6A4F2-62C1-3346-A69E-8A5FD4DA1F62}"/>
              </a:ext>
            </a:extLst>
          </p:cNvPr>
          <p:cNvSpPr/>
          <p:nvPr/>
        </p:nvSpPr>
        <p:spPr>
          <a:xfrm>
            <a:off x="6554542" y="4417433"/>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85" name="NumBox 3">
            <a:extLst>
              <a:ext uri="{FF2B5EF4-FFF2-40B4-BE49-F238E27FC236}">
                <a16:creationId xmlns:a16="http://schemas.microsoft.com/office/drawing/2014/main" id="{B15BFF0B-DEF8-0648-A506-ED3C0CC68013}"/>
              </a:ext>
            </a:extLst>
          </p:cNvPr>
          <p:cNvSpPr/>
          <p:nvPr/>
        </p:nvSpPr>
        <p:spPr>
          <a:xfrm>
            <a:off x="6339730" y="537088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86" name="NumBox 3">
            <a:extLst>
              <a:ext uri="{FF2B5EF4-FFF2-40B4-BE49-F238E27FC236}">
                <a16:creationId xmlns:a16="http://schemas.microsoft.com/office/drawing/2014/main" id="{31BE1675-8B66-E943-9614-8EA333EFA9B9}"/>
              </a:ext>
            </a:extLst>
          </p:cNvPr>
          <p:cNvSpPr/>
          <p:nvPr/>
        </p:nvSpPr>
        <p:spPr>
          <a:xfrm>
            <a:off x="5712238" y="318665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8</a:t>
            </a:r>
          </a:p>
        </p:txBody>
      </p:sp>
      <p:sp>
        <p:nvSpPr>
          <p:cNvPr id="87" name="NumBox 8">
            <a:extLst>
              <a:ext uri="{FF2B5EF4-FFF2-40B4-BE49-F238E27FC236}">
                <a16:creationId xmlns:a16="http://schemas.microsoft.com/office/drawing/2014/main" id="{57575303-B911-C845-A560-A6D348228FE3}"/>
              </a:ext>
            </a:extLst>
          </p:cNvPr>
          <p:cNvSpPr/>
          <p:nvPr/>
        </p:nvSpPr>
        <p:spPr>
          <a:xfrm>
            <a:off x="9133881" y="61272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8</a:t>
            </a:r>
          </a:p>
        </p:txBody>
      </p:sp>
      <p:sp>
        <p:nvSpPr>
          <p:cNvPr id="88" name="NumBox 8">
            <a:extLst>
              <a:ext uri="{FF2B5EF4-FFF2-40B4-BE49-F238E27FC236}">
                <a16:creationId xmlns:a16="http://schemas.microsoft.com/office/drawing/2014/main" id="{E82F9A92-88D0-7248-B877-929116544B74}"/>
              </a:ext>
            </a:extLst>
          </p:cNvPr>
          <p:cNvSpPr/>
          <p:nvPr/>
        </p:nvSpPr>
        <p:spPr>
          <a:xfrm>
            <a:off x="9133881" y="645646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9</a:t>
            </a:r>
          </a:p>
        </p:txBody>
      </p:sp>
      <p:sp>
        <p:nvSpPr>
          <p:cNvPr id="89" name="NumBox 3">
            <a:extLst>
              <a:ext uri="{FF2B5EF4-FFF2-40B4-BE49-F238E27FC236}">
                <a16:creationId xmlns:a16="http://schemas.microsoft.com/office/drawing/2014/main" id="{FDFF9769-BD07-F14F-8C7C-A5812F088D50}"/>
              </a:ext>
            </a:extLst>
          </p:cNvPr>
          <p:cNvSpPr/>
          <p:nvPr/>
        </p:nvSpPr>
        <p:spPr>
          <a:xfrm>
            <a:off x="7882962" y="310589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9</a:t>
            </a:r>
          </a:p>
        </p:txBody>
      </p:sp>
    </p:spTree>
    <p:extLst>
      <p:ext uri="{BB962C8B-B14F-4D97-AF65-F5344CB8AC3E}">
        <p14:creationId xmlns:p14="http://schemas.microsoft.com/office/powerpoint/2010/main" val="1309490934"/>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5306</TotalTime>
  <Words>420</Words>
  <Application>Microsoft Macintosh PowerPoint</Application>
  <PresentationFormat>Widescreen</PresentationFormat>
  <Paragraphs>55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Amazon Ember</vt:lpstr>
      <vt:lpstr>Arial</vt:lpstr>
      <vt:lpstr>Calibri</vt:lpstr>
      <vt:lpstr>Office Theme</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Title</dc:title>
  <dc:subject/>
  <dc:creator>Amazon Web Services</dc:creator>
  <cp:keywords/>
  <dc:description/>
  <cp:lastModifiedBy>Jorge Fonseca</cp:lastModifiedBy>
  <cp:revision>127</cp:revision>
  <dcterms:created xsi:type="dcterms:W3CDTF">2018-02-11T04:20:17Z</dcterms:created>
  <dcterms:modified xsi:type="dcterms:W3CDTF">2023-03-01T00:12:00Z</dcterms:modified>
  <cp:category/>
</cp:coreProperties>
</file>