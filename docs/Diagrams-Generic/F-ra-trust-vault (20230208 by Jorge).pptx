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5952" userDrawn="1">
          <p15:clr>
            <a:srgbClr val="A4A3A4"/>
          </p15:clr>
        </p15:guide>
        <p15:guide id="3" pos="5664" userDrawn="1">
          <p15:clr>
            <a:srgbClr val="A4A3A4"/>
          </p15:clr>
        </p15:guide>
        <p15:guide id="4" pos="556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nelle Nolan" initials="JN" lastIdx="7" clrIdx="0">
    <p:extLst>
      <p:ext uri="{19B8F6BF-5375-455C-9EA6-DF929625EA0E}">
        <p15:presenceInfo xmlns:p15="http://schemas.microsoft.com/office/powerpoint/2012/main" userId="Janelle Nol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EEF5"/>
    <a:srgbClr val="EBEBF0"/>
    <a:srgbClr val="CD2264"/>
    <a:srgbClr val="232E3C"/>
    <a:srgbClr val="ECEDF0"/>
    <a:srgbClr val="5B9CD5"/>
    <a:srgbClr val="545B64"/>
    <a:srgbClr val="EAEDED"/>
    <a:srgbClr val="D5DBDB"/>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831" autoAdjust="0"/>
    <p:restoredTop sz="96612"/>
  </p:normalViewPr>
  <p:slideViewPr>
    <p:cSldViewPr>
      <p:cViewPr varScale="1">
        <p:scale>
          <a:sx n="122" d="100"/>
          <a:sy n="122" d="100"/>
        </p:scale>
        <p:origin x="1272" y="200"/>
      </p:cViewPr>
      <p:guideLst>
        <p:guide orient="horz" pos="2160"/>
        <p:guide pos="5952"/>
        <p:guide pos="5664"/>
        <p:guide pos="55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63D1AE-04B2-F147-8122-2A32BD7879DD}" type="datetimeFigureOut">
              <a:rPr lang="en-US" smtClean="0"/>
              <a:t>3/1/23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BC6CBF-D31D-B841-861D-EC168426F20E}" type="slidenum">
              <a:rPr lang="en-US" smtClean="0"/>
              <a:t>‹#›</a:t>
            </a:fld>
            <a:endParaRPr lang="en-US"/>
          </a:p>
        </p:txBody>
      </p:sp>
    </p:spTree>
    <p:extLst>
      <p:ext uri="{BB962C8B-B14F-4D97-AF65-F5344CB8AC3E}">
        <p14:creationId xmlns:p14="http://schemas.microsoft.com/office/powerpoint/2010/main" val="2623154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2BC6CBF-D31D-B841-861D-EC168426F20E}" type="slidenum">
              <a:rPr lang="en-US" smtClean="0"/>
              <a:t>1</a:t>
            </a:fld>
            <a:endParaRPr lang="en-US"/>
          </a:p>
        </p:txBody>
      </p:sp>
    </p:spTree>
    <p:extLst>
      <p:ext uri="{BB962C8B-B14F-4D97-AF65-F5344CB8AC3E}">
        <p14:creationId xmlns:p14="http://schemas.microsoft.com/office/powerpoint/2010/main" val="820246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416854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5126"/>
            <a:ext cx="10820400" cy="121627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457200" y="1825625"/>
            <a:ext cx="10820400" cy="41179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528555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sv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Rectangle 162">
            <a:extLst>
              <a:ext uri="{FF2B5EF4-FFF2-40B4-BE49-F238E27FC236}">
                <a16:creationId xmlns:a16="http://schemas.microsoft.com/office/drawing/2014/main" id="{6DFB28E2-1006-F340-9018-A4642133B9DB}"/>
              </a:ext>
            </a:extLst>
          </p:cNvPr>
          <p:cNvSpPr/>
          <p:nvPr/>
        </p:nvSpPr>
        <p:spPr>
          <a:xfrm>
            <a:off x="5822420" y="3977208"/>
            <a:ext cx="3026498" cy="594792"/>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a:lstStyle/>
          <a:p>
            <a:pPr algn="r"/>
            <a:b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b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Success!</a:t>
            </a:r>
          </a:p>
        </p:txBody>
      </p:sp>
      <p:sp>
        <p:nvSpPr>
          <p:cNvPr id="156" name="Rectangle 155">
            <a:extLst>
              <a:ext uri="{FF2B5EF4-FFF2-40B4-BE49-F238E27FC236}">
                <a16:creationId xmlns:a16="http://schemas.microsoft.com/office/drawing/2014/main" id="{69A32F69-BFE0-1E44-9FCE-9B1492879D15}"/>
              </a:ext>
            </a:extLst>
          </p:cNvPr>
          <p:cNvSpPr/>
          <p:nvPr/>
        </p:nvSpPr>
        <p:spPr>
          <a:xfrm>
            <a:off x="738811" y="1742915"/>
            <a:ext cx="3756987" cy="1169193"/>
          </a:xfrm>
          <a:prstGeom prst="rect">
            <a:avLst/>
          </a:prstGeom>
          <a:noFill/>
          <a:ln w="12700">
            <a:solidFill>
              <a:srgbClr val="5A6B86"/>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eaLnBrk="1" fontAlgn="auto" hangingPunct="1">
              <a:spcBef>
                <a:spcPts val="0"/>
              </a:spcBef>
              <a:spcAft>
                <a:spcPts val="0"/>
              </a:spcAft>
              <a:defRPr/>
            </a:pPr>
            <a:endParaRPr lang="en-US" sz="1200" dirty="0">
              <a:solidFill>
                <a:srgbClr val="5A6B86"/>
              </a:solidFill>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58" name="Group 57">
            <a:extLst>
              <a:ext uri="{FF2B5EF4-FFF2-40B4-BE49-F238E27FC236}">
                <a16:creationId xmlns:a16="http://schemas.microsoft.com/office/drawing/2014/main" id="{FDB5AB73-0450-1946-8C8E-64F924017A8D}"/>
              </a:ext>
            </a:extLst>
          </p:cNvPr>
          <p:cNvGrpSpPr/>
          <p:nvPr/>
        </p:nvGrpSpPr>
        <p:grpSpPr>
          <a:xfrm>
            <a:off x="3342408" y="3429000"/>
            <a:ext cx="916885" cy="1056401"/>
            <a:chOff x="2532036" y="3168210"/>
            <a:chExt cx="916885" cy="1101867"/>
          </a:xfrm>
        </p:grpSpPr>
        <p:sp>
          <p:nvSpPr>
            <p:cNvPr id="67" name="Rectangle 66">
              <a:extLst>
                <a:ext uri="{FF2B5EF4-FFF2-40B4-BE49-F238E27FC236}">
                  <a16:creationId xmlns:a16="http://schemas.microsoft.com/office/drawing/2014/main" id="{C75CAB8E-3BB5-BE45-AA10-309521CBE75D}"/>
                </a:ext>
              </a:extLst>
            </p:cNvPr>
            <p:cNvSpPr/>
            <p:nvPr/>
          </p:nvSpPr>
          <p:spPr>
            <a:xfrm>
              <a:off x="2532036" y="3168210"/>
              <a:ext cx="916885" cy="1101867"/>
            </a:xfrm>
            <a:prstGeom prst="rect">
              <a:avLst/>
            </a:prstGeom>
            <a:solidFill>
              <a:srgbClr val="1D8900">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540000" rIns="90000"/>
            <a:lstStyle/>
            <a:p>
              <a:pPr marL="6350" algn="r" eaLnBrk="1" fontAlgn="auto" hangingPunct="1">
                <a:spcBef>
                  <a:spcPts val="0"/>
                </a:spcBef>
                <a:spcAft>
                  <a:spcPts val="0"/>
                </a:spcAft>
                <a:defRPr/>
              </a:pPr>
              <a:r>
                <a:rPr lang="en-US" sz="1050" i="1" dirty="0">
                  <a:solidFill>
                    <a:srgbClr val="1E8900"/>
                  </a:solidFill>
                  <a:latin typeface="Amazon Ember" panose="020B0603020204020204" pitchFamily="34" charset="0"/>
                  <a:ea typeface="Amazon Ember" panose="020B0603020204020204" pitchFamily="34" charset="0"/>
                  <a:cs typeface="Amazon Ember" panose="020B0603020204020204" pitchFamily="34" charset="0"/>
                </a:rPr>
                <a:t>OTP</a:t>
              </a:r>
            </a:p>
            <a:p>
              <a:pPr marL="171450" indent="-171450">
                <a:buFont typeface="Arial" panose="020B0604020202020204" pitchFamily="34" charset="0"/>
                <a:buChar char="•"/>
                <a:defRPr/>
              </a:pPr>
              <a:endParaRPr lang="en-US" sz="1050" dirty="0">
                <a:solidFill>
                  <a:srgbClr val="1E8900"/>
                </a:solidFill>
                <a:latin typeface="Amazon Ember" panose="020B0603020204020204" pitchFamily="34" charset="0"/>
                <a:ea typeface="Amazon Ember" panose="020B0603020204020204" pitchFamily="34" charset="0"/>
                <a:cs typeface="Amazon Ember" panose="020B0603020204020204" pitchFamily="34" charset="0"/>
              </a:endParaRPr>
            </a:p>
            <a:p>
              <a:pPr marL="171450" indent="-171450" eaLnBrk="1" fontAlgn="auto" hangingPunct="1">
                <a:spcBef>
                  <a:spcPts val="0"/>
                </a:spcBef>
                <a:spcAft>
                  <a:spcPts val="0"/>
                </a:spcAft>
                <a:buFont typeface="Arial" panose="020B0604020202020204" pitchFamily="34" charset="0"/>
                <a:buChar char="•"/>
                <a:defRPr/>
              </a:pPr>
              <a:endParaRPr lang="en-US" sz="1050" dirty="0">
                <a:solidFill>
                  <a:srgbClr val="1E8900"/>
                </a:solidFill>
                <a:latin typeface="Amazon Ember" panose="020B0603020204020204" pitchFamily="34" charset="0"/>
                <a:ea typeface="Amazon Ember" panose="020B0603020204020204" pitchFamily="34" charset="0"/>
                <a:cs typeface="Amazon Ember" panose="020B0603020204020204" pitchFamily="34" charset="0"/>
              </a:endParaRPr>
            </a:p>
            <a:p>
              <a:pPr marL="171450" indent="-171450" eaLnBrk="1" fontAlgn="auto" hangingPunct="1">
                <a:spcBef>
                  <a:spcPts val="0"/>
                </a:spcBef>
                <a:spcAft>
                  <a:spcPts val="0"/>
                </a:spcAft>
                <a:buFont typeface="Arial" panose="020B0604020202020204" pitchFamily="34" charset="0"/>
                <a:buChar char="•"/>
                <a:defRPr/>
              </a:pPr>
              <a:endParaRPr lang="en-US" sz="1050" dirty="0">
                <a:solidFill>
                  <a:srgbClr val="1E8900"/>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68" name="Graphic 67">
              <a:extLst>
                <a:ext uri="{FF2B5EF4-FFF2-40B4-BE49-F238E27FC236}">
                  <a16:creationId xmlns:a16="http://schemas.microsoft.com/office/drawing/2014/main" id="{8131DE9A-76A5-6545-A1AE-74956F4E324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32671" y="3169798"/>
              <a:ext cx="252000" cy="252000"/>
            </a:xfrm>
            <a:prstGeom prst="rect">
              <a:avLst/>
            </a:prstGeom>
          </p:spPr>
        </p:pic>
      </p:grpSp>
      <p:sp>
        <p:nvSpPr>
          <p:cNvPr id="37" name="Title text box">
            <a:extLst>
              <a:ext uri="{FF2B5EF4-FFF2-40B4-BE49-F238E27FC236}">
                <a16:creationId xmlns:a16="http://schemas.microsoft.com/office/drawing/2014/main" id="{38DEF82B-A559-1247-8E2D-F3C452A29826}"/>
              </a:ext>
            </a:extLst>
          </p:cNvPr>
          <p:cNvSpPr txBox="1"/>
          <p:nvPr/>
        </p:nvSpPr>
        <p:spPr>
          <a:xfrm>
            <a:off x="207580" y="158447"/>
            <a:ext cx="8641350" cy="1261884"/>
          </a:xfrm>
          <a:prstGeom prst="rect">
            <a:avLst/>
          </a:prstGeom>
          <a:noFill/>
        </p:spPr>
        <p:txBody>
          <a:bodyPr wrap="square" rtlCol="0">
            <a:spAutoFit/>
          </a:bodyPr>
          <a:lstStyle/>
          <a:p>
            <a:r>
              <a:rPr lang="en-US" sz="2800" b="1" dirty="0">
                <a:latin typeface="Amazon Ember" panose="020B0603020204020204" pitchFamily="34" charset="0"/>
                <a:ea typeface="Amazon Ember" panose="020B0603020204020204" pitchFamily="34" charset="0"/>
                <a:cs typeface="Amazon Ember" panose="020B0603020204020204" pitchFamily="34" charset="0"/>
              </a:rPr>
              <a:t>Vaults</a:t>
            </a:r>
          </a:p>
          <a:p>
            <a:r>
              <a:rPr lang="en-US" sz="1200" dirty="0">
                <a:solidFill>
                  <a:schemeClr val="bg1">
                    <a:lumMod val="10000"/>
                  </a:schemeClr>
                </a:solidFill>
                <a:latin typeface="Amazon Ember" panose="020B0603020204020204" pitchFamily="34" charset="0"/>
                <a:ea typeface="Amazon Ember" panose="020B0603020204020204" pitchFamily="34" charset="0"/>
                <a:cs typeface="Amazon Ember" panose="020B0603020204020204" pitchFamily="34" charset="0"/>
              </a:rPr>
              <a:t>Vaults store user’s information, and share them with 3</a:t>
            </a:r>
            <a:r>
              <a:rPr lang="en-US" sz="1200" baseline="30000" dirty="0">
                <a:solidFill>
                  <a:schemeClr val="bg1">
                    <a:lumMod val="10000"/>
                  </a:schemeClr>
                </a:solidFill>
                <a:latin typeface="Amazon Ember" panose="020B0603020204020204" pitchFamily="34" charset="0"/>
                <a:ea typeface="Amazon Ember" panose="020B0603020204020204" pitchFamily="34" charset="0"/>
                <a:cs typeface="Amazon Ember" panose="020B0603020204020204" pitchFamily="34" charset="0"/>
              </a:rPr>
              <a:t>rd</a:t>
            </a:r>
            <a:r>
              <a:rPr lang="en-US" sz="1200" dirty="0">
                <a:solidFill>
                  <a:schemeClr val="bg1">
                    <a:lumMod val="10000"/>
                  </a:schemeClr>
                </a:solidFill>
                <a:latin typeface="Amazon Ember" panose="020B0603020204020204" pitchFamily="34" charset="0"/>
                <a:ea typeface="Amazon Ember" panose="020B0603020204020204" pitchFamily="34" charset="0"/>
                <a:cs typeface="Amazon Ember" panose="020B0603020204020204" pitchFamily="34" charset="0"/>
              </a:rPr>
              <a:t> Parties (3Ps) only when the users requests it. Users bind vaults to wallets by login into the vault’s user interface (UI) and clicking a “bind with wallet” button. The vault then generates a one-time-password (OTP) that is passed via operating system (OS) deep links with a custom protocol (e.g., wallet://) that triggers the OS to open the user’s default wallet installed on the device. The user confirms, and the handshake follows.</a:t>
            </a:r>
          </a:p>
        </p:txBody>
      </p:sp>
      <p:sp>
        <p:nvSpPr>
          <p:cNvPr id="41" name="Sidebar Background">
            <a:extLst>
              <a:ext uri="{FF2B5EF4-FFF2-40B4-BE49-F238E27FC236}">
                <a16:creationId xmlns:a16="http://schemas.microsoft.com/office/drawing/2014/main" id="{B0A83432-3797-164E-B817-BA71B523944F}"/>
              </a:ext>
            </a:extLst>
          </p:cNvPr>
          <p:cNvSpPr/>
          <p:nvPr/>
        </p:nvSpPr>
        <p:spPr>
          <a:xfrm>
            <a:off x="8981240" y="37069"/>
            <a:ext cx="3177809" cy="6783859"/>
          </a:xfrm>
          <a:prstGeom prst="rect">
            <a:avLst/>
          </a:prstGeom>
          <a:solidFill>
            <a:srgbClr val="EA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NumBox 7">
            <a:extLst>
              <a:ext uri="{FF2B5EF4-FFF2-40B4-BE49-F238E27FC236}">
                <a16:creationId xmlns:a16="http://schemas.microsoft.com/office/drawing/2014/main" id="{68CCBE0C-C2CD-E347-9CED-CC285006AE94}"/>
              </a:ext>
            </a:extLst>
          </p:cNvPr>
          <p:cNvSpPr/>
          <p:nvPr/>
        </p:nvSpPr>
        <p:spPr>
          <a:xfrm>
            <a:off x="9134573" y="605100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8</a:t>
            </a:r>
          </a:p>
        </p:txBody>
      </p:sp>
      <p:sp>
        <p:nvSpPr>
          <p:cNvPr id="47" name="NumBox 5">
            <a:extLst>
              <a:ext uri="{FF2B5EF4-FFF2-40B4-BE49-F238E27FC236}">
                <a16:creationId xmlns:a16="http://schemas.microsoft.com/office/drawing/2014/main" id="{A2290CE2-D8F1-634A-905A-BA66C42AEBC9}"/>
              </a:ext>
            </a:extLst>
          </p:cNvPr>
          <p:cNvSpPr/>
          <p:nvPr/>
        </p:nvSpPr>
        <p:spPr>
          <a:xfrm>
            <a:off x="9134573" y="163140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3</a:t>
            </a:r>
          </a:p>
        </p:txBody>
      </p:sp>
      <p:sp>
        <p:nvSpPr>
          <p:cNvPr id="49" name="NumBox 3">
            <a:extLst>
              <a:ext uri="{FF2B5EF4-FFF2-40B4-BE49-F238E27FC236}">
                <a16:creationId xmlns:a16="http://schemas.microsoft.com/office/drawing/2014/main" id="{FBB6C579-1AAE-E74E-B11A-6E47F977F102}"/>
              </a:ext>
            </a:extLst>
          </p:cNvPr>
          <p:cNvSpPr/>
          <p:nvPr/>
        </p:nvSpPr>
        <p:spPr>
          <a:xfrm>
            <a:off x="9134573" y="83820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2</a:t>
            </a:r>
          </a:p>
        </p:txBody>
      </p:sp>
      <p:sp>
        <p:nvSpPr>
          <p:cNvPr id="51" name="NumBox 1">
            <a:extLst>
              <a:ext uri="{FF2B5EF4-FFF2-40B4-BE49-F238E27FC236}">
                <a16:creationId xmlns:a16="http://schemas.microsoft.com/office/drawing/2014/main" id="{61A833CA-45E5-DA44-9841-E3816A71ECCE}"/>
              </a:ext>
            </a:extLst>
          </p:cNvPr>
          <p:cNvSpPr/>
          <p:nvPr/>
        </p:nvSpPr>
        <p:spPr>
          <a:xfrm>
            <a:off x="9134573" y="176336"/>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1</a:t>
            </a:r>
          </a:p>
        </p:txBody>
      </p:sp>
      <p:sp>
        <p:nvSpPr>
          <p:cNvPr id="52" name="TextBox 51">
            <a:extLst>
              <a:ext uri="{FF2B5EF4-FFF2-40B4-BE49-F238E27FC236}">
                <a16:creationId xmlns:a16="http://schemas.microsoft.com/office/drawing/2014/main" id="{03393564-6C13-FC4F-8F33-3F02A10C52BC}"/>
              </a:ext>
            </a:extLst>
          </p:cNvPr>
          <p:cNvSpPr txBox="1"/>
          <p:nvPr/>
        </p:nvSpPr>
        <p:spPr>
          <a:xfrm>
            <a:off x="9408893" y="133546"/>
            <a:ext cx="2733426" cy="6663363"/>
          </a:xfrm>
          <a:prstGeom prst="rect">
            <a:avLst/>
          </a:prstGeom>
          <a:noFill/>
        </p:spPr>
        <p:txBody>
          <a:bodyPr wrap="square" rtlCol="0">
            <a:spAutoFit/>
          </a:bodyPr>
          <a:lstStyle/>
          <a:p>
            <a:pPr>
              <a:spcAft>
                <a:spcPts val="12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User login into the a vault’s UI, either on an app or on the smart device’s browser, an click the “bind with wallet” button.</a:t>
            </a:r>
          </a:p>
          <a:p>
            <a:pPr>
              <a:spcAft>
                <a:spcPts val="12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The vault’s UI asks the backend to create a one-time-password (OTP), and to return it in a payload with additional info about the vault and the user logged in the vault.</a:t>
            </a:r>
          </a:p>
          <a:p>
            <a:pPr>
              <a:spcAft>
                <a:spcPts val="12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The vault’s UI then composes and opens a special deep link with a custom protocol (e.g., wallet://) plus the arguments received from the vault’s backend. The operating system forwards the request to the default app that supports the custom protocol – the user’s preferred wallet.</a:t>
            </a:r>
          </a:p>
          <a:p>
            <a:pPr>
              <a:spcAft>
                <a:spcPts val="12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The wallet opens and shows a pop-up for the user to confirm if they want to bind the wallet to the vault.</a:t>
            </a:r>
          </a:p>
          <a:p>
            <a:pPr>
              <a:spcAft>
                <a:spcPts val="12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On user confirmation, the wallet sends the bind request to the Broker.</a:t>
            </a:r>
          </a:p>
          <a:p>
            <a:pPr>
              <a:spcAft>
                <a:spcPts val="12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The Broker adds additional details to the request, starts a state machine with the request to asynchronous responses, and forwards the bind request to the vault’s backend.</a:t>
            </a:r>
          </a:p>
          <a:p>
            <a:pPr>
              <a:spcAft>
                <a:spcPts val="12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The vault stores the bind into a ”wallets” table, including the wallet’s public key for validation of incoming share requests, and returns back to the Broker the list of information codes that relate to the user’s existing data on the vault.</a:t>
            </a:r>
          </a:p>
          <a:p>
            <a:pPr>
              <a:spcAft>
                <a:spcPts val="12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The Broker stores, under the user’s unique ID, the vault’s details, the list of support info codes for that user, and the list of verifiable credentials issued.</a:t>
            </a:r>
          </a:p>
        </p:txBody>
      </p:sp>
      <p:cxnSp>
        <p:nvCxnSpPr>
          <p:cNvPr id="36" name="Separator">
            <a:extLst>
              <a:ext uri="{FF2B5EF4-FFF2-40B4-BE49-F238E27FC236}">
                <a16:creationId xmlns:a16="http://schemas.microsoft.com/office/drawing/2014/main" id="{21C15EAE-984B-C241-B4CF-3AB0A0313E3C}"/>
              </a:ext>
            </a:extLst>
          </p:cNvPr>
          <p:cNvCxnSpPr>
            <a:cxnSpLocks/>
          </p:cNvCxnSpPr>
          <p:nvPr/>
        </p:nvCxnSpPr>
        <p:spPr>
          <a:xfrm>
            <a:off x="304800" y="1447800"/>
            <a:ext cx="8544130" cy="0"/>
          </a:xfrm>
          <a:prstGeom prst="line">
            <a:avLst/>
          </a:prstGeom>
          <a:ln w="25400">
            <a:solidFill>
              <a:srgbClr val="545B64"/>
            </a:solidFill>
          </a:ln>
        </p:spPr>
        <p:style>
          <a:lnRef idx="3">
            <a:schemeClr val="dk1"/>
          </a:lnRef>
          <a:fillRef idx="0">
            <a:schemeClr val="dk1"/>
          </a:fillRef>
          <a:effectRef idx="2">
            <a:schemeClr val="dk1"/>
          </a:effectRef>
          <a:fontRef idx="minor">
            <a:schemeClr val="tx1"/>
          </a:fontRef>
        </p:style>
      </p:cxnSp>
      <p:grpSp>
        <p:nvGrpSpPr>
          <p:cNvPr id="9" name="Group 8">
            <a:extLst>
              <a:ext uri="{FF2B5EF4-FFF2-40B4-BE49-F238E27FC236}">
                <a16:creationId xmlns:a16="http://schemas.microsoft.com/office/drawing/2014/main" id="{5228216B-A1B6-5747-B6E0-B51D53608501}"/>
              </a:ext>
            </a:extLst>
          </p:cNvPr>
          <p:cNvGrpSpPr/>
          <p:nvPr/>
        </p:nvGrpSpPr>
        <p:grpSpPr>
          <a:xfrm>
            <a:off x="3285260" y="3632368"/>
            <a:ext cx="975591" cy="865734"/>
            <a:chOff x="4587009" y="3224699"/>
            <a:chExt cx="975591" cy="865734"/>
          </a:xfrm>
        </p:grpSpPr>
        <p:pic>
          <p:nvPicPr>
            <p:cNvPr id="14" name="Graphic 43">
              <a:extLst>
                <a:ext uri="{FF2B5EF4-FFF2-40B4-BE49-F238E27FC236}">
                  <a16:creationId xmlns:a16="http://schemas.microsoft.com/office/drawing/2014/main" id="{59B9A861-07DB-CF43-86E3-89F60E6F67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39854" y="3224699"/>
              <a:ext cx="468000" cy="46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34">
              <a:extLst>
                <a:ext uri="{FF2B5EF4-FFF2-40B4-BE49-F238E27FC236}">
                  <a16:creationId xmlns:a16="http://schemas.microsoft.com/office/drawing/2014/main" id="{0255BD3A-6536-F74A-964F-7758D02F85B1}"/>
                </a:ext>
              </a:extLst>
            </p:cNvPr>
            <p:cNvSpPr txBox="1">
              <a:spLocks noChangeArrowheads="1"/>
            </p:cNvSpPr>
            <p:nvPr/>
          </p:nvSpPr>
          <p:spPr bwMode="auto">
            <a:xfrm>
              <a:off x="4587009" y="3674935"/>
              <a:ext cx="975591"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Any Vault</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e.g. IDnow</a:t>
              </a:r>
            </a:p>
          </p:txBody>
        </p:sp>
      </p:grpSp>
      <p:sp>
        <p:nvSpPr>
          <p:cNvPr id="16" name="TextBox 9">
            <a:extLst>
              <a:ext uri="{FF2B5EF4-FFF2-40B4-BE49-F238E27FC236}">
                <a16:creationId xmlns:a16="http://schemas.microsoft.com/office/drawing/2014/main" id="{B45A83BF-98EB-1643-BFCE-9FAC77A58122}"/>
              </a:ext>
            </a:extLst>
          </p:cNvPr>
          <p:cNvSpPr txBox="1">
            <a:spLocks noChangeArrowheads="1"/>
          </p:cNvSpPr>
          <p:nvPr/>
        </p:nvSpPr>
        <p:spPr bwMode="auto">
          <a:xfrm>
            <a:off x="228599" y="1524000"/>
            <a:ext cx="5362573"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pPr algn="r"/>
            <a:r>
              <a:rPr lang="en-US" altLang="en-US" i="0" dirty="0">
                <a:effectLst>
                  <a:glow rad="321067">
                    <a:schemeClr val="bg1">
                      <a:alpha val="89960"/>
                    </a:schemeClr>
                  </a:glow>
                </a:effectLst>
              </a:rPr>
              <a:t>Architecture</a:t>
            </a:r>
          </a:p>
        </p:txBody>
      </p:sp>
      <p:sp>
        <p:nvSpPr>
          <p:cNvPr id="17" name="TextBox 9">
            <a:extLst>
              <a:ext uri="{FF2B5EF4-FFF2-40B4-BE49-F238E27FC236}">
                <a16:creationId xmlns:a16="http://schemas.microsoft.com/office/drawing/2014/main" id="{4C4D4753-0CD5-5545-BED3-59C39D7F214A}"/>
              </a:ext>
            </a:extLst>
          </p:cNvPr>
          <p:cNvSpPr txBox="1">
            <a:spLocks noChangeArrowheads="1"/>
          </p:cNvSpPr>
          <p:nvPr/>
        </p:nvSpPr>
        <p:spPr bwMode="auto">
          <a:xfrm>
            <a:off x="5818735" y="1524000"/>
            <a:ext cx="3030187"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i="0" dirty="0">
                <a:effectLst>
                  <a:glow rad="321067">
                    <a:schemeClr val="bg1">
                      <a:alpha val="89960"/>
                    </a:schemeClr>
                  </a:glow>
                </a:effectLst>
              </a:rPr>
              <a:t>Sample scenario</a:t>
            </a:r>
          </a:p>
        </p:txBody>
      </p:sp>
      <p:grpSp>
        <p:nvGrpSpPr>
          <p:cNvPr id="4" name="Group 3">
            <a:extLst>
              <a:ext uri="{FF2B5EF4-FFF2-40B4-BE49-F238E27FC236}">
                <a16:creationId xmlns:a16="http://schemas.microsoft.com/office/drawing/2014/main" id="{BC5844A8-C0DB-FD41-AA36-FA099BA14689}"/>
              </a:ext>
            </a:extLst>
          </p:cNvPr>
          <p:cNvGrpSpPr/>
          <p:nvPr/>
        </p:nvGrpSpPr>
        <p:grpSpPr>
          <a:xfrm>
            <a:off x="1094220" y="3632368"/>
            <a:ext cx="1073150" cy="865734"/>
            <a:chOff x="2643126" y="3224699"/>
            <a:chExt cx="1073150" cy="865734"/>
          </a:xfrm>
        </p:grpSpPr>
        <p:pic>
          <p:nvPicPr>
            <p:cNvPr id="18" name="Graphic 16">
              <a:extLst>
                <a:ext uri="{FF2B5EF4-FFF2-40B4-BE49-F238E27FC236}">
                  <a16:creationId xmlns:a16="http://schemas.microsoft.com/office/drawing/2014/main" id="{B2669B98-A8B4-C942-BEDE-3701B86E2EE5}"/>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2944751" y="3224699"/>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Box 34">
              <a:extLst>
                <a:ext uri="{FF2B5EF4-FFF2-40B4-BE49-F238E27FC236}">
                  <a16:creationId xmlns:a16="http://schemas.microsoft.com/office/drawing/2014/main" id="{AD22E45F-6DFA-5149-B01E-BCCFAB9344E3}"/>
                </a:ext>
              </a:extLst>
            </p:cNvPr>
            <p:cNvSpPr txBox="1">
              <a:spLocks noChangeArrowheads="1"/>
            </p:cNvSpPr>
            <p:nvPr/>
          </p:nvSpPr>
          <p:spPr bwMode="auto">
            <a:xfrm>
              <a:off x="2643126" y="3674935"/>
              <a:ext cx="107315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Any broker</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e.g. Infosys</a:t>
              </a:r>
            </a:p>
          </p:txBody>
        </p:sp>
      </p:grpSp>
      <p:cxnSp>
        <p:nvCxnSpPr>
          <p:cNvPr id="22" name="Straight Arrow Connector 21">
            <a:extLst>
              <a:ext uri="{FF2B5EF4-FFF2-40B4-BE49-F238E27FC236}">
                <a16:creationId xmlns:a16="http://schemas.microsoft.com/office/drawing/2014/main" id="{4D9F12E9-2AC3-8846-BC4E-335A2838939E}"/>
              </a:ext>
            </a:extLst>
          </p:cNvPr>
          <p:cNvCxnSpPr>
            <a:cxnSpLocks/>
            <a:stCxn id="18" idx="3"/>
            <a:endCxn id="14" idx="1"/>
          </p:cNvCxnSpPr>
          <p:nvPr/>
        </p:nvCxnSpPr>
        <p:spPr>
          <a:xfrm flipV="1">
            <a:off x="1865745" y="3866368"/>
            <a:ext cx="1672360" cy="950"/>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38" name="Straight Arrow Connector 202">
            <a:extLst>
              <a:ext uri="{FF2B5EF4-FFF2-40B4-BE49-F238E27FC236}">
                <a16:creationId xmlns:a16="http://schemas.microsoft.com/office/drawing/2014/main" id="{FD7879B4-DA92-D049-BBDC-0A8EBFAC9F49}"/>
              </a:ext>
            </a:extLst>
          </p:cNvPr>
          <p:cNvCxnSpPr>
            <a:cxnSpLocks/>
            <a:stCxn id="15" idx="2"/>
            <a:endCxn id="19" idx="2"/>
          </p:cNvCxnSpPr>
          <p:nvPr/>
        </p:nvCxnSpPr>
        <p:spPr>
          <a:xfrm rot="5400000">
            <a:off x="2701926" y="3426972"/>
            <a:ext cx="12700" cy="2142261"/>
          </a:xfrm>
          <a:prstGeom prst="bentConnector3">
            <a:avLst>
              <a:gd name="adj1" fmla="val 12740276"/>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59" name="TextBox 9">
            <a:extLst>
              <a:ext uri="{FF2B5EF4-FFF2-40B4-BE49-F238E27FC236}">
                <a16:creationId xmlns:a16="http://schemas.microsoft.com/office/drawing/2014/main" id="{7D0F3EB8-A472-4A41-8857-38F4B0ED5B7E}"/>
              </a:ext>
            </a:extLst>
          </p:cNvPr>
          <p:cNvSpPr txBox="1">
            <a:spLocks noChangeArrowheads="1"/>
          </p:cNvSpPr>
          <p:nvPr/>
        </p:nvSpPr>
        <p:spPr bwMode="auto">
          <a:xfrm>
            <a:off x="1098100" y="2455662"/>
            <a:ext cx="106227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i="0" dirty="0">
                <a:effectLst>
                  <a:glow>
                    <a:schemeClr val="bg1"/>
                  </a:glow>
                </a:effectLst>
              </a:rPr>
              <a:t>Any Wallet</a:t>
            </a:r>
            <a:br>
              <a:rPr lang="en-US" altLang="en-US" i="0" dirty="0">
                <a:effectLst>
                  <a:glow>
                    <a:schemeClr val="bg1"/>
                  </a:glow>
                </a:effectLst>
              </a:rPr>
            </a:br>
            <a:r>
              <a:rPr lang="en-US" altLang="en-US" dirty="0">
                <a:effectLst>
                  <a:glow>
                    <a:schemeClr val="bg1"/>
                  </a:glow>
                </a:effectLst>
              </a:rPr>
              <a:t>e.g. ACME</a:t>
            </a:r>
          </a:p>
        </p:txBody>
      </p:sp>
      <p:sp>
        <p:nvSpPr>
          <p:cNvPr id="60" name="TextBox 9">
            <a:extLst>
              <a:ext uri="{FF2B5EF4-FFF2-40B4-BE49-F238E27FC236}">
                <a16:creationId xmlns:a16="http://schemas.microsoft.com/office/drawing/2014/main" id="{4A5B42E9-66CA-544E-9E81-93CFAEE64050}"/>
              </a:ext>
            </a:extLst>
          </p:cNvPr>
          <p:cNvSpPr txBox="1">
            <a:spLocks noChangeArrowheads="1"/>
          </p:cNvSpPr>
          <p:nvPr/>
        </p:nvSpPr>
        <p:spPr bwMode="auto">
          <a:xfrm>
            <a:off x="4283295" y="2035977"/>
            <a:ext cx="860337"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pPr algn="l"/>
            <a:r>
              <a:rPr lang="en-US" altLang="en-US" dirty="0">
                <a:effectLst>
                  <a:glow rad="321067">
                    <a:schemeClr val="bg1">
                      <a:alpha val="89960"/>
                    </a:schemeClr>
                  </a:glow>
                </a:effectLst>
              </a:rPr>
              <a:t>bind with</a:t>
            </a:r>
            <a:br>
              <a:rPr lang="en-US" altLang="en-US" dirty="0">
                <a:effectLst>
                  <a:glow rad="321067">
                    <a:schemeClr val="bg1">
                      <a:alpha val="89960"/>
                    </a:schemeClr>
                  </a:glow>
                </a:effectLst>
              </a:rPr>
            </a:br>
            <a:r>
              <a:rPr lang="en-US" altLang="en-US" dirty="0">
                <a:effectLst>
                  <a:glow rad="321067">
                    <a:schemeClr val="bg1">
                      <a:alpha val="89960"/>
                    </a:schemeClr>
                  </a:glow>
                </a:effectLst>
              </a:rPr>
              <a:t>wallet</a:t>
            </a:r>
          </a:p>
        </p:txBody>
      </p:sp>
      <p:grpSp>
        <p:nvGrpSpPr>
          <p:cNvPr id="70" name="Group 69">
            <a:extLst>
              <a:ext uri="{FF2B5EF4-FFF2-40B4-BE49-F238E27FC236}">
                <a16:creationId xmlns:a16="http://schemas.microsoft.com/office/drawing/2014/main" id="{515E9F53-F5BC-AA42-B518-6060532F0173}"/>
              </a:ext>
            </a:extLst>
          </p:cNvPr>
          <p:cNvGrpSpPr/>
          <p:nvPr/>
        </p:nvGrpSpPr>
        <p:grpSpPr>
          <a:xfrm>
            <a:off x="2199407" y="3949565"/>
            <a:ext cx="1006719" cy="1662650"/>
            <a:chOff x="3055140" y="1442466"/>
            <a:chExt cx="924793" cy="965851"/>
          </a:xfrm>
        </p:grpSpPr>
        <p:sp>
          <p:nvSpPr>
            <p:cNvPr id="71" name="Rectangle 70">
              <a:extLst>
                <a:ext uri="{FF2B5EF4-FFF2-40B4-BE49-F238E27FC236}">
                  <a16:creationId xmlns:a16="http://schemas.microsoft.com/office/drawing/2014/main" id="{A58903BE-912D-CB4C-8659-6C6F340EC7BA}"/>
                </a:ext>
              </a:extLst>
            </p:cNvPr>
            <p:cNvSpPr/>
            <p:nvPr/>
          </p:nvSpPr>
          <p:spPr>
            <a:xfrm>
              <a:off x="3055140" y="1442466"/>
              <a:ext cx="924793" cy="965851"/>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a:lstStyle/>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vault { </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OTP, … </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t>
              </a:r>
            </a:p>
          </p:txBody>
        </p:sp>
        <p:sp>
          <p:nvSpPr>
            <p:cNvPr id="72" name="Double Brace 71">
              <a:extLst>
                <a:ext uri="{FF2B5EF4-FFF2-40B4-BE49-F238E27FC236}">
                  <a16:creationId xmlns:a16="http://schemas.microsoft.com/office/drawing/2014/main" id="{EDC2FADA-5B7A-3D4F-A6FC-3F4DA40FE30B}"/>
                </a:ext>
              </a:extLst>
            </p:cNvPr>
            <p:cNvSpPr/>
            <p:nvPr/>
          </p:nvSpPr>
          <p:spPr>
            <a:xfrm>
              <a:off x="3088481" y="1454498"/>
              <a:ext cx="856814" cy="930684"/>
            </a:xfrm>
            <a:prstGeom prst="bracePair">
              <a:avLst>
                <a:gd name="adj" fmla="val 2074"/>
              </a:avLst>
            </a:prstGeom>
            <a:ln>
              <a:solidFill>
                <a:schemeClr val="bg1">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75" name="TextBox 9">
            <a:extLst>
              <a:ext uri="{FF2B5EF4-FFF2-40B4-BE49-F238E27FC236}">
                <a16:creationId xmlns:a16="http://schemas.microsoft.com/office/drawing/2014/main" id="{98463F6E-415D-BE4A-8C9E-0D0815157AE3}"/>
              </a:ext>
            </a:extLst>
          </p:cNvPr>
          <p:cNvSpPr txBox="1">
            <a:spLocks noChangeArrowheads="1"/>
          </p:cNvSpPr>
          <p:nvPr/>
        </p:nvSpPr>
        <p:spPr bwMode="auto">
          <a:xfrm>
            <a:off x="1995195" y="3616171"/>
            <a:ext cx="65958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dirty="0">
                <a:effectLst>
                  <a:glow rad="321067">
                    <a:schemeClr val="bg1">
                      <a:alpha val="89960"/>
                    </a:schemeClr>
                  </a:glow>
                </a:effectLst>
              </a:rPr>
              <a:t>bind</a:t>
            </a:r>
          </a:p>
        </p:txBody>
      </p:sp>
      <p:sp>
        <p:nvSpPr>
          <p:cNvPr id="91" name="TextBox 9">
            <a:extLst>
              <a:ext uri="{FF2B5EF4-FFF2-40B4-BE49-F238E27FC236}">
                <a16:creationId xmlns:a16="http://schemas.microsoft.com/office/drawing/2014/main" id="{F7A76495-6F7D-EA4E-A3AC-4CD018A5D922}"/>
              </a:ext>
            </a:extLst>
          </p:cNvPr>
          <p:cNvSpPr txBox="1">
            <a:spLocks noChangeArrowheads="1"/>
          </p:cNvSpPr>
          <p:nvPr/>
        </p:nvSpPr>
        <p:spPr bwMode="auto">
          <a:xfrm>
            <a:off x="2924263" y="5859515"/>
            <a:ext cx="885737"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dirty="0">
                <a:effectLst>
                  <a:glow rad="321067">
                    <a:schemeClr val="bg1">
                      <a:alpha val="89960"/>
                    </a:schemeClr>
                  </a:glow>
                </a:effectLst>
              </a:rPr>
              <a:t>handshake</a:t>
            </a:r>
          </a:p>
        </p:txBody>
      </p:sp>
      <p:sp>
        <p:nvSpPr>
          <p:cNvPr id="97" name="NumBox 3">
            <a:extLst>
              <a:ext uri="{FF2B5EF4-FFF2-40B4-BE49-F238E27FC236}">
                <a16:creationId xmlns:a16="http://schemas.microsoft.com/office/drawing/2014/main" id="{90CFA816-C960-5D4C-88A2-AC1450C92E4E}"/>
              </a:ext>
            </a:extLst>
          </p:cNvPr>
          <p:cNvSpPr/>
          <p:nvPr/>
        </p:nvSpPr>
        <p:spPr>
          <a:xfrm>
            <a:off x="4036799" y="2107195"/>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1</a:t>
            </a:r>
          </a:p>
        </p:txBody>
      </p:sp>
      <p:sp>
        <p:nvSpPr>
          <p:cNvPr id="98" name="NumBox 5">
            <a:extLst>
              <a:ext uri="{FF2B5EF4-FFF2-40B4-BE49-F238E27FC236}">
                <a16:creationId xmlns:a16="http://schemas.microsoft.com/office/drawing/2014/main" id="{DB0A11ED-4A23-F14C-A0D6-3F19CA3B5CB4}"/>
              </a:ext>
            </a:extLst>
          </p:cNvPr>
          <p:cNvSpPr/>
          <p:nvPr/>
        </p:nvSpPr>
        <p:spPr>
          <a:xfrm>
            <a:off x="2532614" y="355049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6</a:t>
            </a:r>
          </a:p>
        </p:txBody>
      </p:sp>
      <p:sp>
        <p:nvSpPr>
          <p:cNvPr id="99" name="NumBox 5">
            <a:extLst>
              <a:ext uri="{FF2B5EF4-FFF2-40B4-BE49-F238E27FC236}">
                <a16:creationId xmlns:a16="http://schemas.microsoft.com/office/drawing/2014/main" id="{C2144105-262B-DD49-853E-204D76CE9B59}"/>
              </a:ext>
            </a:extLst>
          </p:cNvPr>
          <p:cNvSpPr/>
          <p:nvPr/>
        </p:nvSpPr>
        <p:spPr>
          <a:xfrm>
            <a:off x="3417531" y="5588372"/>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7</a:t>
            </a:r>
          </a:p>
        </p:txBody>
      </p:sp>
      <p:cxnSp>
        <p:nvCxnSpPr>
          <p:cNvPr id="100" name="Separator">
            <a:extLst>
              <a:ext uri="{FF2B5EF4-FFF2-40B4-BE49-F238E27FC236}">
                <a16:creationId xmlns:a16="http://schemas.microsoft.com/office/drawing/2014/main" id="{C287CE86-263E-0142-A93B-EAFA27B52D73}"/>
              </a:ext>
            </a:extLst>
          </p:cNvPr>
          <p:cNvCxnSpPr>
            <a:cxnSpLocks/>
          </p:cNvCxnSpPr>
          <p:nvPr/>
        </p:nvCxnSpPr>
        <p:spPr>
          <a:xfrm flipV="1">
            <a:off x="5686425" y="1447800"/>
            <a:ext cx="0" cy="5131726"/>
          </a:xfrm>
          <a:prstGeom prst="line">
            <a:avLst/>
          </a:prstGeom>
          <a:ln w="25400">
            <a:solidFill>
              <a:srgbClr val="545B64"/>
            </a:solidFill>
          </a:ln>
        </p:spPr>
        <p:style>
          <a:lnRef idx="3">
            <a:schemeClr val="dk1"/>
          </a:lnRef>
          <a:fillRef idx="0">
            <a:schemeClr val="dk1"/>
          </a:fillRef>
          <a:effectRef idx="2">
            <a:schemeClr val="dk1"/>
          </a:effectRef>
          <a:fontRef idx="minor">
            <a:schemeClr val="tx1"/>
          </a:fontRef>
        </p:style>
      </p:cxnSp>
      <p:sp>
        <p:nvSpPr>
          <p:cNvPr id="105" name="Rectangle 104">
            <a:extLst>
              <a:ext uri="{FF2B5EF4-FFF2-40B4-BE49-F238E27FC236}">
                <a16:creationId xmlns:a16="http://schemas.microsoft.com/office/drawing/2014/main" id="{DE2F2A3F-F71B-0B4A-849F-2E31AB8537B2}"/>
              </a:ext>
            </a:extLst>
          </p:cNvPr>
          <p:cNvSpPr/>
          <p:nvPr/>
        </p:nvSpPr>
        <p:spPr>
          <a:xfrm>
            <a:off x="5822420" y="1981200"/>
            <a:ext cx="3026498" cy="813237"/>
          </a:xfrm>
          <a:prstGeom prst="rect">
            <a:avLst/>
          </a:prstGeom>
          <a:solidFill>
            <a:schemeClr val="accent6">
              <a:alpha val="9804"/>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vert="horz" lIns="108000" tIns="72000" anchor="t"/>
          <a:lstStyle/>
          <a:p>
            <a:pPr algn="r"/>
            <a:b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br>
            <a: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e.g., IDnow, French Mobility</a:t>
            </a:r>
          </a:p>
        </p:txBody>
      </p:sp>
      <p:sp>
        <p:nvSpPr>
          <p:cNvPr id="110" name="Rectangle 109">
            <a:extLst>
              <a:ext uri="{FF2B5EF4-FFF2-40B4-BE49-F238E27FC236}">
                <a16:creationId xmlns:a16="http://schemas.microsoft.com/office/drawing/2014/main" id="{ABD09194-2043-804E-9208-0E6747053C7D}"/>
              </a:ext>
            </a:extLst>
          </p:cNvPr>
          <p:cNvSpPr/>
          <p:nvPr/>
        </p:nvSpPr>
        <p:spPr>
          <a:xfrm>
            <a:off x="5822420" y="2924804"/>
            <a:ext cx="3026498" cy="1024761"/>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a:lstStyle/>
          <a:p>
            <a:pPr algn="r"/>
            <a:b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b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Bind [FR Mobility] vault </a:t>
            </a:r>
            <a:b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b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to [ACME] wallet? </a:t>
            </a:r>
          </a:p>
        </p:txBody>
      </p:sp>
      <p:sp>
        <p:nvSpPr>
          <p:cNvPr id="114" name="TextBox 34">
            <a:extLst>
              <a:ext uri="{FF2B5EF4-FFF2-40B4-BE49-F238E27FC236}">
                <a16:creationId xmlns:a16="http://schemas.microsoft.com/office/drawing/2014/main" id="{8BABC67E-4131-6A4E-81DF-A2E223575250}"/>
              </a:ext>
            </a:extLst>
          </p:cNvPr>
          <p:cNvSpPr txBox="1">
            <a:spLocks noChangeArrowheads="1"/>
          </p:cNvSpPr>
          <p:nvPr/>
        </p:nvSpPr>
        <p:spPr bwMode="auto">
          <a:xfrm>
            <a:off x="5844212" y="1982991"/>
            <a:ext cx="3004706"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Vault’s user interface</a:t>
            </a:r>
          </a:p>
        </p:txBody>
      </p:sp>
      <p:sp>
        <p:nvSpPr>
          <p:cNvPr id="121" name="NumBox 3">
            <a:extLst>
              <a:ext uri="{FF2B5EF4-FFF2-40B4-BE49-F238E27FC236}">
                <a16:creationId xmlns:a16="http://schemas.microsoft.com/office/drawing/2014/main" id="{CAA9B3E6-0BC4-FC4C-8272-BA5CE4F6136B}"/>
              </a:ext>
            </a:extLst>
          </p:cNvPr>
          <p:cNvSpPr/>
          <p:nvPr/>
        </p:nvSpPr>
        <p:spPr>
          <a:xfrm>
            <a:off x="5934608" y="2246508"/>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1</a:t>
            </a:r>
          </a:p>
        </p:txBody>
      </p:sp>
      <p:sp>
        <p:nvSpPr>
          <p:cNvPr id="122" name="NumBox 5">
            <a:extLst>
              <a:ext uri="{FF2B5EF4-FFF2-40B4-BE49-F238E27FC236}">
                <a16:creationId xmlns:a16="http://schemas.microsoft.com/office/drawing/2014/main" id="{B534039D-616F-C449-95C2-BDB0CF4BB3B8}"/>
              </a:ext>
            </a:extLst>
          </p:cNvPr>
          <p:cNvSpPr/>
          <p:nvPr/>
        </p:nvSpPr>
        <p:spPr>
          <a:xfrm>
            <a:off x="7924800" y="3534586"/>
            <a:ext cx="364162" cy="273600"/>
          </a:xfrm>
          <a:prstGeom prst="roundRect">
            <a:avLst/>
          </a:prstGeom>
          <a:ln/>
        </p:spPr>
        <p:style>
          <a:lnRef idx="2">
            <a:schemeClr val="accent3"/>
          </a:lnRef>
          <a:fillRef idx="1">
            <a:schemeClr val="lt1"/>
          </a:fillRef>
          <a:effectRef idx="0">
            <a:schemeClr val="accent3"/>
          </a:effectRef>
          <a:fontRef idx="minor">
            <a:schemeClr val="dk1"/>
          </a:fontRef>
        </p:style>
        <p:txBody>
          <a:bodyPr lIns="45720" rIns="45720" rtlCol="0" anchor="t"/>
          <a:lstStyle/>
          <a:p>
            <a:pPr algn="ctr"/>
            <a:r>
              <a:rPr lang="en-US" sz="1200" dirty="0">
                <a:latin typeface="Amazon Ember" panose="020B0603020204020204" pitchFamily="34" charset="0"/>
                <a:ea typeface="Amazon Ember" panose="020B0603020204020204" pitchFamily="34" charset="0"/>
                <a:cs typeface="Amazon Ember" panose="020B0603020204020204" pitchFamily="34" charset="0"/>
              </a:rPr>
              <a:t>Yes</a:t>
            </a:r>
          </a:p>
        </p:txBody>
      </p:sp>
      <p:sp>
        <p:nvSpPr>
          <p:cNvPr id="123" name="NumBox 5">
            <a:extLst>
              <a:ext uri="{FF2B5EF4-FFF2-40B4-BE49-F238E27FC236}">
                <a16:creationId xmlns:a16="http://schemas.microsoft.com/office/drawing/2014/main" id="{BA4A27B5-3673-CE45-9610-30F0589CEC8C}"/>
              </a:ext>
            </a:extLst>
          </p:cNvPr>
          <p:cNvSpPr/>
          <p:nvPr/>
        </p:nvSpPr>
        <p:spPr>
          <a:xfrm>
            <a:off x="8378674" y="3534586"/>
            <a:ext cx="364162" cy="273600"/>
          </a:xfrm>
          <a:prstGeom prst="roundRect">
            <a:avLst/>
          </a:prstGeom>
          <a:ln/>
        </p:spPr>
        <p:style>
          <a:lnRef idx="2">
            <a:schemeClr val="accent3"/>
          </a:lnRef>
          <a:fillRef idx="1">
            <a:schemeClr val="lt1"/>
          </a:fillRef>
          <a:effectRef idx="0">
            <a:schemeClr val="accent3"/>
          </a:effectRef>
          <a:fontRef idx="minor">
            <a:schemeClr val="dk1"/>
          </a:fontRef>
        </p:style>
        <p:txBody>
          <a:bodyPr lIns="45720" rIns="45720" rtlCol="0" anchor="t"/>
          <a:lstStyle/>
          <a:p>
            <a:pPr algn="ctr"/>
            <a:r>
              <a:rPr lang="en-US" sz="1200" dirty="0">
                <a:latin typeface="Amazon Ember" panose="020B0603020204020204" pitchFamily="34" charset="0"/>
                <a:ea typeface="Amazon Ember" panose="020B0603020204020204" pitchFamily="34" charset="0"/>
                <a:cs typeface="Amazon Ember" panose="020B0603020204020204" pitchFamily="34" charset="0"/>
              </a:rPr>
              <a:t>No</a:t>
            </a:r>
          </a:p>
        </p:txBody>
      </p:sp>
      <p:pic>
        <p:nvPicPr>
          <p:cNvPr id="73" name="Graphic 11">
            <a:extLst>
              <a:ext uri="{FF2B5EF4-FFF2-40B4-BE49-F238E27FC236}">
                <a16:creationId xmlns:a16="http://schemas.microsoft.com/office/drawing/2014/main" id="{28762B6B-2DF4-634D-8F59-CBA081FF570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67200" y="3581400"/>
            <a:ext cx="314137" cy="31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 name="Graphic 11">
            <a:extLst>
              <a:ext uri="{FF2B5EF4-FFF2-40B4-BE49-F238E27FC236}">
                <a16:creationId xmlns:a16="http://schemas.microsoft.com/office/drawing/2014/main" id="{66B215FA-1DA0-3F4B-B0D2-CD7389E81F4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4329" y="4352443"/>
            <a:ext cx="314137" cy="31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 name="TextBox 34">
            <a:extLst>
              <a:ext uri="{FF2B5EF4-FFF2-40B4-BE49-F238E27FC236}">
                <a16:creationId xmlns:a16="http://schemas.microsoft.com/office/drawing/2014/main" id="{D02FB621-5492-0044-8BED-239A94D20984}"/>
              </a:ext>
            </a:extLst>
          </p:cNvPr>
          <p:cNvSpPr txBox="1">
            <a:spLocks noChangeArrowheads="1"/>
          </p:cNvSpPr>
          <p:nvPr/>
        </p:nvSpPr>
        <p:spPr bwMode="auto">
          <a:xfrm>
            <a:off x="445833" y="4343400"/>
            <a:ext cx="975591"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Binds,</a:t>
            </a:r>
          </a:p>
          <a:p>
            <a:pP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Credentials</a:t>
            </a:r>
          </a:p>
        </p:txBody>
      </p:sp>
      <p:sp>
        <p:nvSpPr>
          <p:cNvPr id="86" name="TextBox 34">
            <a:extLst>
              <a:ext uri="{FF2B5EF4-FFF2-40B4-BE49-F238E27FC236}">
                <a16:creationId xmlns:a16="http://schemas.microsoft.com/office/drawing/2014/main" id="{4F08A806-BF0D-DF4F-9B36-34E763A879C9}"/>
              </a:ext>
            </a:extLst>
          </p:cNvPr>
          <p:cNvSpPr txBox="1">
            <a:spLocks noChangeArrowheads="1"/>
          </p:cNvSpPr>
          <p:nvPr/>
        </p:nvSpPr>
        <p:spPr bwMode="auto">
          <a:xfrm>
            <a:off x="4519378" y="3632284"/>
            <a:ext cx="975591"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Wallets</a:t>
            </a:r>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90" name="Graphic 15">
            <a:extLst>
              <a:ext uri="{FF2B5EF4-FFF2-40B4-BE49-F238E27FC236}">
                <a16:creationId xmlns:a16="http://schemas.microsoft.com/office/drawing/2014/main" id="{A4FA1802-79C8-C940-9CFB-FA16CB6CA98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1550" y="1708420"/>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5" name="Straight Arrow Connector 94">
            <a:extLst>
              <a:ext uri="{FF2B5EF4-FFF2-40B4-BE49-F238E27FC236}">
                <a16:creationId xmlns:a16="http://schemas.microsoft.com/office/drawing/2014/main" id="{688F0A7B-1F83-7945-B83C-9990949890D8}"/>
              </a:ext>
            </a:extLst>
          </p:cNvPr>
          <p:cNvCxnSpPr>
            <a:cxnSpLocks/>
            <a:stCxn id="143" idx="1"/>
            <a:endCxn id="144" idx="3"/>
          </p:cNvCxnSpPr>
          <p:nvPr/>
        </p:nvCxnSpPr>
        <p:spPr>
          <a:xfrm flipH="1">
            <a:off x="2594080" y="2238937"/>
            <a:ext cx="948158" cy="3728"/>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CE92B5F4-CBDB-B242-9EFF-B1666D2AE368}"/>
              </a:ext>
            </a:extLst>
          </p:cNvPr>
          <p:cNvCxnSpPr>
            <a:cxnSpLocks/>
            <a:stCxn id="59" idx="2"/>
            <a:endCxn id="18" idx="0"/>
          </p:cNvCxnSpPr>
          <p:nvPr/>
        </p:nvCxnSpPr>
        <p:spPr>
          <a:xfrm>
            <a:off x="1629237" y="2871160"/>
            <a:ext cx="1558" cy="761208"/>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124" name="TextBox 9">
            <a:extLst>
              <a:ext uri="{FF2B5EF4-FFF2-40B4-BE49-F238E27FC236}">
                <a16:creationId xmlns:a16="http://schemas.microsoft.com/office/drawing/2014/main" id="{D6094ED4-A2BF-3E4B-A825-51FAA8DF3EA9}"/>
              </a:ext>
            </a:extLst>
          </p:cNvPr>
          <p:cNvSpPr txBox="1">
            <a:spLocks noChangeArrowheads="1"/>
          </p:cNvSpPr>
          <p:nvPr/>
        </p:nvSpPr>
        <p:spPr bwMode="auto">
          <a:xfrm>
            <a:off x="1603696" y="3091418"/>
            <a:ext cx="65958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dirty="0">
                <a:effectLst>
                  <a:glow rad="321067">
                    <a:schemeClr val="bg1">
                      <a:alpha val="89960"/>
                    </a:schemeClr>
                  </a:glow>
                </a:effectLst>
              </a:rPr>
              <a:t>bind</a:t>
            </a:r>
          </a:p>
        </p:txBody>
      </p:sp>
      <p:grpSp>
        <p:nvGrpSpPr>
          <p:cNvPr id="125" name="Group 124">
            <a:extLst>
              <a:ext uri="{FF2B5EF4-FFF2-40B4-BE49-F238E27FC236}">
                <a16:creationId xmlns:a16="http://schemas.microsoft.com/office/drawing/2014/main" id="{5737F669-23EE-CA4D-9279-9D7CA2BADCB7}"/>
              </a:ext>
            </a:extLst>
          </p:cNvPr>
          <p:cNvGrpSpPr/>
          <p:nvPr/>
        </p:nvGrpSpPr>
        <p:grpSpPr>
          <a:xfrm>
            <a:off x="185588" y="3096492"/>
            <a:ext cx="1240798" cy="437344"/>
            <a:chOff x="3055140" y="1442466"/>
            <a:chExt cx="924793" cy="1035422"/>
          </a:xfrm>
        </p:grpSpPr>
        <p:sp>
          <p:nvSpPr>
            <p:cNvPr id="126" name="Rectangle 125">
              <a:extLst>
                <a:ext uri="{FF2B5EF4-FFF2-40B4-BE49-F238E27FC236}">
                  <a16:creationId xmlns:a16="http://schemas.microsoft.com/office/drawing/2014/main" id="{AC3A2F36-D8F7-1B4D-9D1E-79D965793F7C}"/>
                </a:ext>
              </a:extLst>
            </p:cNvPr>
            <p:cNvSpPr/>
            <p:nvPr/>
          </p:nvSpPr>
          <p:spPr>
            <a:xfrm>
              <a:off x="3055140" y="1442466"/>
              <a:ext cx="924793" cy="1035422"/>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a:lstStyle/>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Broker { unique ID },</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vault { OTP, … },</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wallet { signature }</a:t>
              </a:r>
            </a:p>
          </p:txBody>
        </p:sp>
        <p:sp>
          <p:nvSpPr>
            <p:cNvPr id="127" name="Double Brace 126">
              <a:extLst>
                <a:ext uri="{FF2B5EF4-FFF2-40B4-BE49-F238E27FC236}">
                  <a16:creationId xmlns:a16="http://schemas.microsoft.com/office/drawing/2014/main" id="{365F3CBD-FA19-BA4C-B079-298715CDB064}"/>
                </a:ext>
              </a:extLst>
            </p:cNvPr>
            <p:cNvSpPr/>
            <p:nvPr/>
          </p:nvSpPr>
          <p:spPr>
            <a:xfrm>
              <a:off x="3088481" y="1497823"/>
              <a:ext cx="856814" cy="896287"/>
            </a:xfrm>
            <a:prstGeom prst="bracePair">
              <a:avLst>
                <a:gd name="adj" fmla="val 3559"/>
              </a:avLst>
            </a:prstGeom>
            <a:ln>
              <a:solidFill>
                <a:schemeClr val="bg1">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132" name="NumBox 5">
            <a:extLst>
              <a:ext uri="{FF2B5EF4-FFF2-40B4-BE49-F238E27FC236}">
                <a16:creationId xmlns:a16="http://schemas.microsoft.com/office/drawing/2014/main" id="{99F0369A-57D5-284D-9C70-91CD96B290EB}"/>
              </a:ext>
            </a:extLst>
          </p:cNvPr>
          <p:cNvSpPr/>
          <p:nvPr/>
        </p:nvSpPr>
        <p:spPr>
          <a:xfrm>
            <a:off x="1488811" y="3093722"/>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5</a:t>
            </a:r>
          </a:p>
        </p:txBody>
      </p:sp>
      <p:sp>
        <p:nvSpPr>
          <p:cNvPr id="133" name="NumBox 5">
            <a:extLst>
              <a:ext uri="{FF2B5EF4-FFF2-40B4-BE49-F238E27FC236}">
                <a16:creationId xmlns:a16="http://schemas.microsoft.com/office/drawing/2014/main" id="{DAB79652-9670-5C48-9DC6-7CED2AA5CDCF}"/>
              </a:ext>
            </a:extLst>
          </p:cNvPr>
          <p:cNvSpPr/>
          <p:nvPr/>
        </p:nvSpPr>
        <p:spPr>
          <a:xfrm>
            <a:off x="186979" y="4741589"/>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8</a:t>
            </a:r>
          </a:p>
        </p:txBody>
      </p:sp>
      <p:cxnSp>
        <p:nvCxnSpPr>
          <p:cNvPr id="140" name="Straight Arrow Connector 139">
            <a:extLst>
              <a:ext uri="{FF2B5EF4-FFF2-40B4-BE49-F238E27FC236}">
                <a16:creationId xmlns:a16="http://schemas.microsoft.com/office/drawing/2014/main" id="{97961066-59E3-874E-8F49-153C6910C9CD}"/>
              </a:ext>
            </a:extLst>
          </p:cNvPr>
          <p:cNvCxnSpPr>
            <a:cxnSpLocks/>
            <a:stCxn id="141" idx="2"/>
            <a:endCxn id="14" idx="0"/>
          </p:cNvCxnSpPr>
          <p:nvPr/>
        </p:nvCxnSpPr>
        <p:spPr>
          <a:xfrm flipH="1">
            <a:off x="3772105" y="2857288"/>
            <a:ext cx="950" cy="775080"/>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141" name="TextBox 9">
            <a:extLst>
              <a:ext uri="{FF2B5EF4-FFF2-40B4-BE49-F238E27FC236}">
                <a16:creationId xmlns:a16="http://schemas.microsoft.com/office/drawing/2014/main" id="{3C2BCF54-B61A-9343-8582-04E8AED62093}"/>
              </a:ext>
            </a:extLst>
          </p:cNvPr>
          <p:cNvSpPr txBox="1">
            <a:spLocks noChangeArrowheads="1"/>
          </p:cNvSpPr>
          <p:nvPr/>
        </p:nvSpPr>
        <p:spPr bwMode="auto">
          <a:xfrm>
            <a:off x="3241918" y="2441790"/>
            <a:ext cx="106227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i="0" dirty="0">
                <a:effectLst>
                  <a:glow>
                    <a:schemeClr val="bg1"/>
                  </a:glow>
                </a:effectLst>
              </a:rPr>
              <a:t>Any Vault’s user interface</a:t>
            </a:r>
            <a:endParaRPr lang="en-US" altLang="en-US" dirty="0">
              <a:effectLst>
                <a:glow>
                  <a:schemeClr val="bg1"/>
                </a:glow>
              </a:effectLst>
            </a:endParaRPr>
          </a:p>
        </p:txBody>
      </p:sp>
      <p:pic>
        <p:nvPicPr>
          <p:cNvPr id="142" name="Graphic 36">
            <a:extLst>
              <a:ext uri="{FF2B5EF4-FFF2-40B4-BE49-F238E27FC236}">
                <a16:creationId xmlns:a16="http://schemas.microsoft.com/office/drawing/2014/main" id="{0F08A1A8-D5DF-8943-9C34-D391163BB64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98052" y="2010337"/>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 name="Graphic 36">
            <a:extLst>
              <a:ext uri="{FF2B5EF4-FFF2-40B4-BE49-F238E27FC236}">
                <a16:creationId xmlns:a16="http://schemas.microsoft.com/office/drawing/2014/main" id="{20AED7F3-3B51-584C-A3FF-01D58877737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42238" y="2010337"/>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5" name="Straight Arrow Connector 144">
            <a:extLst>
              <a:ext uri="{FF2B5EF4-FFF2-40B4-BE49-F238E27FC236}">
                <a16:creationId xmlns:a16="http://schemas.microsoft.com/office/drawing/2014/main" id="{6215DD6D-56A1-244E-8E24-CAD5B2EA1D97}"/>
              </a:ext>
            </a:extLst>
          </p:cNvPr>
          <p:cNvCxnSpPr>
            <a:cxnSpLocks/>
            <a:stCxn id="144" idx="1"/>
            <a:endCxn id="142" idx="3"/>
          </p:cNvCxnSpPr>
          <p:nvPr/>
        </p:nvCxnSpPr>
        <p:spPr>
          <a:xfrm flipH="1" flipV="1">
            <a:off x="1855252" y="2238937"/>
            <a:ext cx="281628" cy="3728"/>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grpSp>
        <p:nvGrpSpPr>
          <p:cNvPr id="31" name="Group 30">
            <a:extLst>
              <a:ext uri="{FF2B5EF4-FFF2-40B4-BE49-F238E27FC236}">
                <a16:creationId xmlns:a16="http://schemas.microsoft.com/office/drawing/2014/main" id="{23340531-4554-5A4C-8FBE-D343A8BCDD32}"/>
              </a:ext>
            </a:extLst>
          </p:cNvPr>
          <p:cNvGrpSpPr/>
          <p:nvPr/>
        </p:nvGrpSpPr>
        <p:grpSpPr>
          <a:xfrm>
            <a:off x="1828800" y="2014065"/>
            <a:ext cx="1062274" cy="695513"/>
            <a:chOff x="2206520" y="2014065"/>
            <a:chExt cx="1062274" cy="695513"/>
          </a:xfrm>
        </p:grpSpPr>
        <p:pic>
          <p:nvPicPr>
            <p:cNvPr id="144" name="Graphic 34">
              <a:extLst>
                <a:ext uri="{FF2B5EF4-FFF2-40B4-BE49-F238E27FC236}">
                  <a16:creationId xmlns:a16="http://schemas.microsoft.com/office/drawing/2014/main" id="{5BF220DA-8E13-C946-A58E-D7922B6DBE8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14600" y="2014065"/>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6" name="TextBox 9">
              <a:extLst>
                <a:ext uri="{FF2B5EF4-FFF2-40B4-BE49-F238E27FC236}">
                  <a16:creationId xmlns:a16="http://schemas.microsoft.com/office/drawing/2014/main" id="{9A1F7BFE-8072-714B-9DA3-B716986295DD}"/>
                </a:ext>
              </a:extLst>
            </p:cNvPr>
            <p:cNvSpPr txBox="1">
              <a:spLocks noChangeArrowheads="1"/>
            </p:cNvSpPr>
            <p:nvPr/>
          </p:nvSpPr>
          <p:spPr bwMode="auto">
            <a:xfrm>
              <a:off x="2206520" y="2455662"/>
              <a:ext cx="106227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i="0" dirty="0">
                  <a:effectLst>
                    <a:glow>
                      <a:schemeClr val="bg1"/>
                    </a:glow>
                  </a:effectLst>
                </a:rPr>
                <a:t>OS</a:t>
              </a:r>
              <a:endParaRPr lang="en-US" altLang="en-US" dirty="0">
                <a:effectLst>
                  <a:glow>
                    <a:schemeClr val="bg1"/>
                  </a:glow>
                </a:effectLst>
              </a:endParaRPr>
            </a:p>
          </p:txBody>
        </p:sp>
      </p:grpSp>
      <p:sp>
        <p:nvSpPr>
          <p:cNvPr id="147" name="NumBox 5">
            <a:extLst>
              <a:ext uri="{FF2B5EF4-FFF2-40B4-BE49-F238E27FC236}">
                <a16:creationId xmlns:a16="http://schemas.microsoft.com/office/drawing/2014/main" id="{66E2B412-C2C7-6546-9F52-38F285A2491E}"/>
              </a:ext>
            </a:extLst>
          </p:cNvPr>
          <p:cNvSpPr/>
          <p:nvPr/>
        </p:nvSpPr>
        <p:spPr>
          <a:xfrm>
            <a:off x="2511218" y="2441982"/>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3</a:t>
            </a:r>
          </a:p>
        </p:txBody>
      </p:sp>
      <p:sp>
        <p:nvSpPr>
          <p:cNvPr id="148" name="TextBox 9">
            <a:extLst>
              <a:ext uri="{FF2B5EF4-FFF2-40B4-BE49-F238E27FC236}">
                <a16:creationId xmlns:a16="http://schemas.microsoft.com/office/drawing/2014/main" id="{0B7BAA63-C634-C247-A913-4A58D7AF8231}"/>
              </a:ext>
            </a:extLst>
          </p:cNvPr>
          <p:cNvSpPr txBox="1">
            <a:spLocks noChangeArrowheads="1"/>
          </p:cNvSpPr>
          <p:nvPr/>
        </p:nvSpPr>
        <p:spPr bwMode="auto">
          <a:xfrm>
            <a:off x="2667000" y="1828800"/>
            <a:ext cx="837877"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pPr algn="l"/>
            <a:r>
              <a:rPr lang="en-US" altLang="en-US" dirty="0">
                <a:effectLst>
                  <a:glow>
                    <a:schemeClr val="bg1"/>
                  </a:glow>
                </a:effectLst>
              </a:rPr>
              <a:t>deep link</a:t>
            </a:r>
            <a:br>
              <a:rPr lang="en-US" altLang="en-US" dirty="0">
                <a:effectLst>
                  <a:glow>
                    <a:schemeClr val="bg1"/>
                  </a:glow>
                </a:effectLst>
              </a:rPr>
            </a:br>
            <a:r>
              <a:rPr lang="en-US" altLang="en-US" dirty="0">
                <a:effectLst>
                  <a:glow>
                    <a:schemeClr val="bg1"/>
                  </a:glow>
                </a:effectLst>
              </a:rPr>
              <a:t>   wallet://</a:t>
            </a:r>
          </a:p>
        </p:txBody>
      </p:sp>
      <p:grpSp>
        <p:nvGrpSpPr>
          <p:cNvPr id="149" name="Group 148">
            <a:extLst>
              <a:ext uri="{FF2B5EF4-FFF2-40B4-BE49-F238E27FC236}">
                <a16:creationId xmlns:a16="http://schemas.microsoft.com/office/drawing/2014/main" id="{E18C0C94-708F-4543-8C81-DD17E2BEEB9B}"/>
              </a:ext>
            </a:extLst>
          </p:cNvPr>
          <p:cNvGrpSpPr/>
          <p:nvPr/>
        </p:nvGrpSpPr>
        <p:grpSpPr>
          <a:xfrm>
            <a:off x="4324316" y="2668852"/>
            <a:ext cx="1240798" cy="668173"/>
            <a:chOff x="3055140" y="1442466"/>
            <a:chExt cx="924793" cy="1160875"/>
          </a:xfrm>
        </p:grpSpPr>
        <p:sp>
          <p:nvSpPr>
            <p:cNvPr id="150" name="Rectangle 149">
              <a:extLst>
                <a:ext uri="{FF2B5EF4-FFF2-40B4-BE49-F238E27FC236}">
                  <a16:creationId xmlns:a16="http://schemas.microsoft.com/office/drawing/2014/main" id="{BD6F215D-8EEA-CE45-8785-D4A7CFB4B7A4}"/>
                </a:ext>
              </a:extLst>
            </p:cNvPr>
            <p:cNvSpPr/>
            <p:nvPr/>
          </p:nvSpPr>
          <p:spPr>
            <a:xfrm>
              <a:off x="3055140" y="1442466"/>
              <a:ext cx="924793" cy="1160875"/>
            </a:xfrm>
            <a:prstGeom prst="rect">
              <a:avLst/>
            </a:prstGeom>
            <a:solidFill>
              <a:srgbClr val="EBEBF0"/>
            </a:solid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a:lstStyle/>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one time password,</a:t>
              </a:r>
              <a:b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b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expiration,</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domain,</a:t>
              </a:r>
              <a:b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b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unique ID,</a:t>
              </a:r>
              <a:b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b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title</a:t>
              </a:r>
            </a:p>
          </p:txBody>
        </p:sp>
        <p:sp>
          <p:nvSpPr>
            <p:cNvPr id="151" name="Double Brace 150">
              <a:extLst>
                <a:ext uri="{FF2B5EF4-FFF2-40B4-BE49-F238E27FC236}">
                  <a16:creationId xmlns:a16="http://schemas.microsoft.com/office/drawing/2014/main" id="{27C2BBA1-9A8A-5041-98DA-0BB664C0BDC9}"/>
                </a:ext>
              </a:extLst>
            </p:cNvPr>
            <p:cNvSpPr/>
            <p:nvPr/>
          </p:nvSpPr>
          <p:spPr>
            <a:xfrm>
              <a:off x="3088481" y="1541148"/>
              <a:ext cx="856814" cy="956798"/>
            </a:xfrm>
            <a:prstGeom prst="bracePair">
              <a:avLst>
                <a:gd name="adj" fmla="val 3559"/>
              </a:avLst>
            </a:prstGeom>
            <a:ln>
              <a:solidFill>
                <a:schemeClr val="bg1">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cxnSp>
        <p:nvCxnSpPr>
          <p:cNvPr id="155" name="Straight Arrow Connector 202">
            <a:extLst>
              <a:ext uri="{FF2B5EF4-FFF2-40B4-BE49-F238E27FC236}">
                <a16:creationId xmlns:a16="http://schemas.microsoft.com/office/drawing/2014/main" id="{EB6C20E0-E947-1E49-A2F3-B6D5134CBF69}"/>
              </a:ext>
            </a:extLst>
          </p:cNvPr>
          <p:cNvCxnSpPr>
            <a:cxnSpLocks/>
            <a:stCxn id="142" idx="0"/>
            <a:endCxn id="142" idx="1"/>
          </p:cNvCxnSpPr>
          <p:nvPr/>
        </p:nvCxnSpPr>
        <p:spPr>
          <a:xfrm rot="16200000" flipH="1" flipV="1">
            <a:off x="1398052" y="2010337"/>
            <a:ext cx="228600" cy="228600"/>
          </a:xfrm>
          <a:prstGeom prst="bentConnector4">
            <a:avLst>
              <a:gd name="adj1" fmla="val -66667"/>
              <a:gd name="adj2" fmla="val 200000"/>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157" name="TextBox 34">
            <a:extLst>
              <a:ext uri="{FF2B5EF4-FFF2-40B4-BE49-F238E27FC236}">
                <a16:creationId xmlns:a16="http://schemas.microsoft.com/office/drawing/2014/main" id="{82E9ED3D-3F43-B545-BFCB-C400C86E409B}"/>
              </a:ext>
            </a:extLst>
          </p:cNvPr>
          <p:cNvSpPr txBox="1">
            <a:spLocks noChangeArrowheads="1"/>
          </p:cNvSpPr>
          <p:nvPr/>
        </p:nvSpPr>
        <p:spPr bwMode="auto">
          <a:xfrm>
            <a:off x="-76735" y="2142976"/>
            <a:ext cx="107315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User’s </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Device</a:t>
            </a:r>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96" name="NumBox 1">
            <a:extLst>
              <a:ext uri="{FF2B5EF4-FFF2-40B4-BE49-F238E27FC236}">
                <a16:creationId xmlns:a16="http://schemas.microsoft.com/office/drawing/2014/main" id="{1AA4861E-BFB1-5D47-898A-5211942C166B}"/>
              </a:ext>
            </a:extLst>
          </p:cNvPr>
          <p:cNvSpPr/>
          <p:nvPr/>
        </p:nvSpPr>
        <p:spPr>
          <a:xfrm>
            <a:off x="3626089" y="304811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2</a:t>
            </a:r>
          </a:p>
        </p:txBody>
      </p:sp>
      <p:sp>
        <p:nvSpPr>
          <p:cNvPr id="158" name="NumBox 5">
            <a:extLst>
              <a:ext uri="{FF2B5EF4-FFF2-40B4-BE49-F238E27FC236}">
                <a16:creationId xmlns:a16="http://schemas.microsoft.com/office/drawing/2014/main" id="{904FE93F-F7C5-194D-99DB-E80C54E61775}"/>
              </a:ext>
            </a:extLst>
          </p:cNvPr>
          <p:cNvSpPr/>
          <p:nvPr/>
        </p:nvSpPr>
        <p:spPr>
          <a:xfrm>
            <a:off x="832326" y="2103634"/>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4</a:t>
            </a:r>
          </a:p>
        </p:txBody>
      </p:sp>
      <p:sp>
        <p:nvSpPr>
          <p:cNvPr id="159" name="TextBox 9">
            <a:extLst>
              <a:ext uri="{FF2B5EF4-FFF2-40B4-BE49-F238E27FC236}">
                <a16:creationId xmlns:a16="http://schemas.microsoft.com/office/drawing/2014/main" id="{87541159-548D-D14F-81AA-FC144A19995D}"/>
              </a:ext>
            </a:extLst>
          </p:cNvPr>
          <p:cNvSpPr txBox="1">
            <a:spLocks noChangeArrowheads="1"/>
          </p:cNvSpPr>
          <p:nvPr/>
        </p:nvSpPr>
        <p:spPr bwMode="auto">
          <a:xfrm>
            <a:off x="843630" y="1868864"/>
            <a:ext cx="65958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dirty="0">
                <a:effectLst>
                  <a:glow rad="321067">
                    <a:schemeClr val="bg1">
                      <a:alpha val="89960"/>
                    </a:schemeClr>
                  </a:glow>
                </a:effectLst>
              </a:rPr>
              <a:t>confirm</a:t>
            </a:r>
          </a:p>
        </p:txBody>
      </p:sp>
      <p:sp>
        <p:nvSpPr>
          <p:cNvPr id="160" name="NumBox 3">
            <a:extLst>
              <a:ext uri="{FF2B5EF4-FFF2-40B4-BE49-F238E27FC236}">
                <a16:creationId xmlns:a16="http://schemas.microsoft.com/office/drawing/2014/main" id="{5F2C950A-212B-4C49-90C6-256431EE2BFF}"/>
              </a:ext>
            </a:extLst>
          </p:cNvPr>
          <p:cNvSpPr/>
          <p:nvPr/>
        </p:nvSpPr>
        <p:spPr>
          <a:xfrm>
            <a:off x="7473162" y="2413849"/>
            <a:ext cx="1291666" cy="273600"/>
          </a:xfrm>
          <a:prstGeom prst="roundRect">
            <a:avLst/>
          </a:prstGeom>
          <a:ln/>
        </p:spPr>
        <p:style>
          <a:lnRef idx="2">
            <a:schemeClr val="accent5"/>
          </a:lnRef>
          <a:fillRef idx="1">
            <a:schemeClr val="lt1"/>
          </a:fillRef>
          <a:effectRef idx="0">
            <a:schemeClr val="accent5"/>
          </a:effectRef>
          <a:fontRef idx="minor">
            <a:schemeClr val="dk1"/>
          </a:fontRef>
        </p:style>
        <p:txBody>
          <a:bodyPr lIns="45720" rIns="45720" rtlCol="0" anchor="t"/>
          <a:lstStyle/>
          <a:p>
            <a:pPr algn="ctr"/>
            <a:r>
              <a:rPr lang="en-US" sz="1200" dirty="0">
                <a:latin typeface="Amazon Ember" panose="020B0603020204020204" pitchFamily="34" charset="0"/>
                <a:ea typeface="Amazon Ember" panose="020B0603020204020204" pitchFamily="34" charset="0"/>
                <a:cs typeface="Amazon Ember" panose="020B0603020204020204" pitchFamily="34" charset="0"/>
              </a:rPr>
              <a:t>Bind with wallet</a:t>
            </a:r>
          </a:p>
        </p:txBody>
      </p:sp>
      <p:sp>
        <p:nvSpPr>
          <p:cNvPr id="161" name="TextBox 34">
            <a:extLst>
              <a:ext uri="{FF2B5EF4-FFF2-40B4-BE49-F238E27FC236}">
                <a16:creationId xmlns:a16="http://schemas.microsoft.com/office/drawing/2014/main" id="{E9B418E8-159E-F447-A596-68ED21231887}"/>
              </a:ext>
            </a:extLst>
          </p:cNvPr>
          <p:cNvSpPr txBox="1">
            <a:spLocks noChangeArrowheads="1"/>
          </p:cNvSpPr>
          <p:nvPr/>
        </p:nvSpPr>
        <p:spPr bwMode="auto">
          <a:xfrm>
            <a:off x="5831480" y="2933993"/>
            <a:ext cx="3004706"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Wallet’s user interface</a:t>
            </a:r>
          </a:p>
        </p:txBody>
      </p:sp>
      <p:sp>
        <p:nvSpPr>
          <p:cNvPr id="162" name="NumBox 3">
            <a:extLst>
              <a:ext uri="{FF2B5EF4-FFF2-40B4-BE49-F238E27FC236}">
                <a16:creationId xmlns:a16="http://schemas.microsoft.com/office/drawing/2014/main" id="{0B769F19-4125-AA4F-845D-332C614EEE87}"/>
              </a:ext>
            </a:extLst>
          </p:cNvPr>
          <p:cNvSpPr/>
          <p:nvPr/>
        </p:nvSpPr>
        <p:spPr>
          <a:xfrm>
            <a:off x="5934608" y="3202397"/>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4</a:t>
            </a:r>
          </a:p>
        </p:txBody>
      </p:sp>
      <p:sp>
        <p:nvSpPr>
          <p:cNvPr id="164" name="NumBox 3">
            <a:extLst>
              <a:ext uri="{FF2B5EF4-FFF2-40B4-BE49-F238E27FC236}">
                <a16:creationId xmlns:a16="http://schemas.microsoft.com/office/drawing/2014/main" id="{9B2CE754-B33E-314D-ADCD-06D9976D69C6}"/>
              </a:ext>
            </a:extLst>
          </p:cNvPr>
          <p:cNvSpPr/>
          <p:nvPr/>
        </p:nvSpPr>
        <p:spPr>
          <a:xfrm>
            <a:off x="5949047" y="4440761"/>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8</a:t>
            </a:r>
          </a:p>
        </p:txBody>
      </p:sp>
      <p:sp>
        <p:nvSpPr>
          <p:cNvPr id="165" name="NumBox 5">
            <a:extLst>
              <a:ext uri="{FF2B5EF4-FFF2-40B4-BE49-F238E27FC236}">
                <a16:creationId xmlns:a16="http://schemas.microsoft.com/office/drawing/2014/main" id="{9A0A990A-5EE5-ED49-91C6-D1054B4ACB23}"/>
              </a:ext>
            </a:extLst>
          </p:cNvPr>
          <p:cNvSpPr/>
          <p:nvPr/>
        </p:nvSpPr>
        <p:spPr>
          <a:xfrm>
            <a:off x="9134573" y="490800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7</a:t>
            </a:r>
          </a:p>
        </p:txBody>
      </p:sp>
      <p:sp>
        <p:nvSpPr>
          <p:cNvPr id="166" name="NumBox 5">
            <a:extLst>
              <a:ext uri="{FF2B5EF4-FFF2-40B4-BE49-F238E27FC236}">
                <a16:creationId xmlns:a16="http://schemas.microsoft.com/office/drawing/2014/main" id="{3A23F257-2F19-A640-A96E-6712C8B16014}"/>
              </a:ext>
            </a:extLst>
          </p:cNvPr>
          <p:cNvSpPr/>
          <p:nvPr/>
        </p:nvSpPr>
        <p:spPr>
          <a:xfrm>
            <a:off x="9134573" y="399360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6</a:t>
            </a:r>
          </a:p>
        </p:txBody>
      </p:sp>
      <p:sp>
        <p:nvSpPr>
          <p:cNvPr id="167" name="NumBox 5">
            <a:extLst>
              <a:ext uri="{FF2B5EF4-FFF2-40B4-BE49-F238E27FC236}">
                <a16:creationId xmlns:a16="http://schemas.microsoft.com/office/drawing/2014/main" id="{AA6324F3-73E5-0A44-BC46-A60F4266AFDB}"/>
              </a:ext>
            </a:extLst>
          </p:cNvPr>
          <p:cNvSpPr/>
          <p:nvPr/>
        </p:nvSpPr>
        <p:spPr>
          <a:xfrm>
            <a:off x="9134573" y="285060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4</a:t>
            </a:r>
          </a:p>
        </p:txBody>
      </p:sp>
      <p:sp>
        <p:nvSpPr>
          <p:cNvPr id="168" name="NumBox 5">
            <a:extLst>
              <a:ext uri="{FF2B5EF4-FFF2-40B4-BE49-F238E27FC236}">
                <a16:creationId xmlns:a16="http://schemas.microsoft.com/office/drawing/2014/main" id="{968DC2BA-202F-6A4C-8BBE-09BF8DBF9C53}"/>
              </a:ext>
            </a:extLst>
          </p:cNvPr>
          <p:cNvSpPr/>
          <p:nvPr/>
        </p:nvSpPr>
        <p:spPr>
          <a:xfrm>
            <a:off x="9134573" y="350520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5</a:t>
            </a:r>
          </a:p>
        </p:txBody>
      </p:sp>
      <p:sp>
        <p:nvSpPr>
          <p:cNvPr id="101" name="Rectangle 100">
            <a:extLst>
              <a:ext uri="{FF2B5EF4-FFF2-40B4-BE49-F238E27FC236}">
                <a16:creationId xmlns:a16="http://schemas.microsoft.com/office/drawing/2014/main" id="{98F39CB2-9BEC-074F-81F8-870BBA3D4883}"/>
              </a:ext>
            </a:extLst>
          </p:cNvPr>
          <p:cNvSpPr/>
          <p:nvPr/>
        </p:nvSpPr>
        <p:spPr>
          <a:xfrm>
            <a:off x="5820324" y="4599684"/>
            <a:ext cx="3026493" cy="1979842"/>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anchor="t"/>
          <a:lstStyle/>
          <a:p>
            <a:endPar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03" name="Rectangle 102">
            <a:extLst>
              <a:ext uri="{FF2B5EF4-FFF2-40B4-BE49-F238E27FC236}">
                <a16:creationId xmlns:a16="http://schemas.microsoft.com/office/drawing/2014/main" id="{1FB18F9C-E320-BE44-8A1B-59884CABE8BD}"/>
              </a:ext>
            </a:extLst>
          </p:cNvPr>
          <p:cNvSpPr/>
          <p:nvPr/>
        </p:nvSpPr>
        <p:spPr>
          <a:xfrm>
            <a:off x="7031102" y="4610805"/>
            <a:ext cx="1815714" cy="1979842"/>
          </a:xfrm>
          <a:prstGeom prst="rect">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anchor="t"/>
          <a:lstStyle/>
          <a:p>
            <a:endParaRPr lang="en-US" sz="1050" b="1" dirty="0">
              <a:solidFill>
                <a:srgbClr val="5B9CD5"/>
              </a:solidFill>
              <a:latin typeface="Amazon Ember" panose="020B0603020204020204" pitchFamily="34" charset="0"/>
              <a:ea typeface="Amazon Ember" panose="020B0603020204020204" pitchFamily="34" charset="0"/>
              <a:cs typeface="Amazon Ember" panose="020B0603020204020204" pitchFamily="34" charset="0"/>
            </a:endParaRPr>
          </a:p>
          <a:p>
            <a:r>
              <a:rPr lang="en-US" sz="1050" b="1"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Binds</a:t>
            </a:r>
          </a:p>
          <a:p>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provided by [FR Mobility]</a:t>
            </a:r>
          </a:p>
          <a:p>
            <a:endPar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endParaRPr>
          </a:p>
          <a:p>
            <a:pPr marL="171450" indent="-125413">
              <a:buFont typeface="Arial" panose="020B0604020202020204" pitchFamily="34" charset="0"/>
              <a:buChar char="•"/>
            </a:pP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Wheelchair assistance</a:t>
            </a:r>
          </a:p>
          <a:p>
            <a:pPr marL="317500" lvl="1" indent="-95250">
              <a:buFont typeface="Arial" panose="020B0604020202020204" pitchFamily="34" charset="0"/>
              <a:buChar char="•"/>
            </a:pPr>
            <a:r>
              <a:rPr lang="en-US" sz="1050" dirty="0" err="1">
                <a:solidFill>
                  <a:srgbClr val="5B9CD5"/>
                </a:solidFill>
                <a:latin typeface="Amazon Ember" panose="020B0603020204020204" pitchFamily="34" charset="0"/>
                <a:ea typeface="Amazon Ember" panose="020B0603020204020204" pitchFamily="34" charset="0"/>
                <a:cs typeface="Amazon Ember" panose="020B0603020204020204" pitchFamily="34" charset="0"/>
              </a:rPr>
              <a:t>iata.org</a:t>
            </a: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a:t>
            </a:r>
            <a:r>
              <a:rPr lang="en-US" sz="1050" dirty="0" err="1">
                <a:solidFill>
                  <a:srgbClr val="5B9CD5"/>
                </a:solidFill>
                <a:latin typeface="Amazon Ember" panose="020B0603020204020204" pitchFamily="34" charset="0"/>
                <a:ea typeface="Amazon Ember" panose="020B0603020204020204" pitchFamily="34" charset="0"/>
                <a:cs typeface="Amazon Ember" panose="020B0603020204020204" pitchFamily="34" charset="0"/>
              </a:rPr>
              <a:t>ssr</a:t>
            </a: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a:t>
            </a:r>
            <a:r>
              <a:rPr lang="en-US" sz="1050" dirty="0" err="1">
                <a:solidFill>
                  <a:srgbClr val="5B9CD5"/>
                </a:solidFill>
                <a:latin typeface="Amazon Ember" panose="020B0603020204020204" pitchFamily="34" charset="0"/>
                <a:ea typeface="Amazon Ember" panose="020B0603020204020204" pitchFamily="34" charset="0"/>
                <a:cs typeface="Amazon Ember" panose="020B0603020204020204" pitchFamily="34" charset="0"/>
              </a:rPr>
              <a:t>wchr</a:t>
            </a: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 </a:t>
            </a:r>
          </a:p>
          <a:p>
            <a:pPr marL="317500" lvl="1" indent="-95250">
              <a:buFont typeface="Arial" panose="020B0604020202020204" pitchFamily="34" charset="0"/>
              <a:buChar char="•"/>
            </a:pP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expires: 2025/12/31</a:t>
            </a:r>
          </a:p>
          <a:p>
            <a:pPr marL="171450" indent="-171450">
              <a:buFont typeface="Arial" panose="020B0604020202020204" pitchFamily="34" charset="0"/>
              <a:buChar char="•"/>
            </a:pP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Emotional support pet</a:t>
            </a:r>
          </a:p>
          <a:p>
            <a:pPr marL="317500" lvl="1" indent="-95250">
              <a:buFont typeface="Arial" panose="020B0604020202020204" pitchFamily="34" charset="0"/>
              <a:buChar char="•"/>
            </a:pPr>
            <a:r>
              <a:rPr lang="en-US" sz="1050" dirty="0" err="1">
                <a:solidFill>
                  <a:srgbClr val="5B9CD5"/>
                </a:solidFill>
                <a:latin typeface="Amazon Ember" panose="020B0603020204020204" pitchFamily="34" charset="0"/>
                <a:ea typeface="Amazon Ember" panose="020B0603020204020204" pitchFamily="34" charset="0"/>
                <a:cs typeface="Amazon Ember" panose="020B0603020204020204" pitchFamily="34" charset="0"/>
              </a:rPr>
              <a:t>iata.org</a:t>
            </a: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a:t>
            </a:r>
            <a:r>
              <a:rPr lang="en-US" sz="1050" dirty="0" err="1">
                <a:solidFill>
                  <a:srgbClr val="5B9CD5"/>
                </a:solidFill>
                <a:latin typeface="Amazon Ember" panose="020B0603020204020204" pitchFamily="34" charset="0"/>
                <a:ea typeface="Amazon Ember" panose="020B0603020204020204" pitchFamily="34" charset="0"/>
                <a:cs typeface="Amazon Ember" panose="020B0603020204020204" pitchFamily="34" charset="0"/>
              </a:rPr>
              <a:t>ssr</a:t>
            </a: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a:t>
            </a:r>
            <a:r>
              <a:rPr lang="en-US" sz="1050" dirty="0" err="1">
                <a:solidFill>
                  <a:srgbClr val="5B9CD5"/>
                </a:solidFill>
                <a:latin typeface="Amazon Ember" panose="020B0603020204020204" pitchFamily="34" charset="0"/>
                <a:ea typeface="Amazon Ember" panose="020B0603020204020204" pitchFamily="34" charset="0"/>
                <a:cs typeface="Amazon Ember" panose="020B0603020204020204" pitchFamily="34" charset="0"/>
              </a:rPr>
              <a:t>esan</a:t>
            </a: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 </a:t>
            </a:r>
          </a:p>
          <a:p>
            <a:pPr marL="317500" lvl="1" indent="-95250">
              <a:buFont typeface="Arial" panose="020B0604020202020204" pitchFamily="34" charset="0"/>
              <a:buChar char="•"/>
            </a:pP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expires: 2022/11/01</a:t>
            </a:r>
          </a:p>
          <a:p>
            <a:pPr marL="171450" indent="-171450">
              <a:buFont typeface="Arial" panose="020B0604020202020204" pitchFamily="34" charset="0"/>
              <a:buChar char="•"/>
            </a:pPr>
            <a:endPar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endParaRPr>
          </a:p>
          <a:p>
            <a:endPar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5" name="Rectangle 4">
            <a:extLst>
              <a:ext uri="{FF2B5EF4-FFF2-40B4-BE49-F238E27FC236}">
                <a16:creationId xmlns:a16="http://schemas.microsoft.com/office/drawing/2014/main" id="{C4FE78E6-A145-4E9C-DA6A-0A2C36164D6E}"/>
              </a:ext>
            </a:extLst>
          </p:cNvPr>
          <p:cNvSpPr/>
          <p:nvPr/>
        </p:nvSpPr>
        <p:spPr>
          <a:xfrm rot="20324830">
            <a:off x="2345485" y="2067039"/>
            <a:ext cx="5811206" cy="3046988"/>
          </a:xfrm>
          <a:prstGeom prst="rect">
            <a:avLst/>
          </a:prstGeom>
          <a:noFill/>
        </p:spPr>
        <p:txBody>
          <a:bodyPr wrap="none" lIns="91440" tIns="45720" rIns="91440" bIns="45720">
            <a:spAutoFit/>
          </a:bodyPr>
          <a:lstStyle/>
          <a:p>
            <a:pPr algn="ctr"/>
            <a:r>
              <a:rPr lang="en-GB" sz="9600" b="1" cap="none" spc="0" dirty="0">
                <a:ln w="22225">
                  <a:solidFill>
                    <a:schemeClr val="accent2"/>
                  </a:solidFill>
                  <a:prstDash val="solid"/>
                </a:ln>
                <a:solidFill>
                  <a:schemeClr val="accent2">
                    <a:lumMod val="40000"/>
                    <a:lumOff val="60000"/>
                  </a:schemeClr>
                </a:solidFill>
                <a:effectLst/>
              </a:rPr>
              <a:t>OUTDATED</a:t>
            </a:r>
          </a:p>
          <a:p>
            <a:pPr algn="ctr"/>
            <a:r>
              <a:rPr lang="en-GB" sz="9600" b="1" dirty="0">
                <a:ln w="22225">
                  <a:solidFill>
                    <a:schemeClr val="accent2"/>
                  </a:solidFill>
                  <a:prstDash val="solid"/>
                </a:ln>
                <a:solidFill>
                  <a:schemeClr val="accent2">
                    <a:lumMod val="40000"/>
                    <a:lumOff val="60000"/>
                  </a:schemeClr>
                </a:solidFill>
              </a:rPr>
              <a:t>DIAGRAM!</a:t>
            </a:r>
            <a:endParaRPr lang="en-GB" sz="9600" b="1"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1309490934"/>
      </p:ext>
    </p:extLst>
  </p:cSld>
  <p:clrMapOvr>
    <a:masterClrMapping/>
  </p:clrMapOvr>
</p:sld>
</file>

<file path=ppt/theme/theme1.xml><?xml version="1.0" encoding="utf-8"?>
<a:theme xmlns:a="http://schemas.openxmlformats.org/drawingml/2006/main" name="Office Theme">
  <a:themeElements>
    <a:clrScheme name="AWS-architecture-icons">
      <a:dk1>
        <a:srgbClr val="232F3C"/>
      </a:dk1>
      <a:lt1>
        <a:srgbClr val="FAFAFA"/>
      </a:lt1>
      <a:dk2>
        <a:srgbClr val="545B63"/>
      </a:dk2>
      <a:lt2>
        <a:srgbClr val="E5ECEF"/>
      </a:lt2>
      <a:accent1>
        <a:srgbClr val="FF9900"/>
      </a:accent1>
      <a:accent2>
        <a:srgbClr val="F0613C"/>
      </a:accent2>
      <a:accent3>
        <a:srgbClr val="007CBD"/>
      </a:accent3>
      <a:accent4>
        <a:srgbClr val="00A0C8"/>
      </a:accent4>
      <a:accent5>
        <a:srgbClr val="1D8900"/>
      </a:accent5>
      <a:accent6>
        <a:srgbClr val="69AE34"/>
      </a:accent6>
      <a:hlink>
        <a:srgbClr val="007CBC"/>
      </a:hlink>
      <a:folHlink>
        <a:srgbClr val="007CB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5097</TotalTime>
  <Words>545</Words>
  <Application>Microsoft Macintosh PowerPoint</Application>
  <PresentationFormat>Widescreen</PresentationFormat>
  <Paragraphs>77</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Amazon Ember</vt:lpstr>
      <vt:lpstr>Arial</vt:lpstr>
      <vt:lpstr>Calibri</vt:lpstr>
      <vt:lpstr>Office Theme</vt:lpstr>
      <vt:lpstr>PowerPoint Presentation</vt:lpstr>
    </vt:vector>
  </TitlesOfParts>
  <Manager/>
  <Company>Amazon.com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Reference Architecture Title</dc:title>
  <dc:subject/>
  <dc:creator>Amazon Web Services</dc:creator>
  <cp:keywords/>
  <dc:description/>
  <cp:lastModifiedBy>Jorge Fonseca</cp:lastModifiedBy>
  <cp:revision>138</cp:revision>
  <dcterms:created xsi:type="dcterms:W3CDTF">2018-02-11T04:20:17Z</dcterms:created>
  <dcterms:modified xsi:type="dcterms:W3CDTF">2023-03-01T00:13:35Z</dcterms:modified>
  <cp:category/>
</cp:coreProperties>
</file>