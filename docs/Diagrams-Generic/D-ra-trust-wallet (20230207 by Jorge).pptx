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2264"/>
    <a:srgbClr val="232E3C"/>
    <a:srgbClr val="ECEDF0"/>
    <a:srgbClr val="5B9CD5"/>
    <a:srgbClr val="545B64"/>
    <a:srgbClr val="EAEDED"/>
    <a:srgbClr val="D5DBDB"/>
    <a:srgbClr val="FF9900"/>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31" autoAdjust="0"/>
    <p:restoredTop sz="96612"/>
  </p:normalViewPr>
  <p:slideViewPr>
    <p:cSldViewPr>
      <p:cViewPr varScale="1">
        <p:scale>
          <a:sx n="122" d="100"/>
          <a:sy n="122" d="100"/>
        </p:scale>
        <p:origin x="1272"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Rectangle 216">
            <a:extLst>
              <a:ext uri="{FF2B5EF4-FFF2-40B4-BE49-F238E27FC236}">
                <a16:creationId xmlns:a16="http://schemas.microsoft.com/office/drawing/2014/main" id="{EC70F17A-4BC1-4843-B7C6-CE72157C6063}"/>
              </a:ext>
            </a:extLst>
          </p:cNvPr>
          <p:cNvSpPr/>
          <p:nvPr/>
        </p:nvSpPr>
        <p:spPr>
          <a:xfrm>
            <a:off x="7526044" y="4795763"/>
            <a:ext cx="1345033" cy="1949422"/>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ctr"/>
          <a:lstStyle/>
          <a:p>
            <a:pPr algn="ctr"/>
            <a:endPar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37" name="Rectangle 136">
            <a:extLst>
              <a:ext uri="{FF2B5EF4-FFF2-40B4-BE49-F238E27FC236}">
                <a16:creationId xmlns:a16="http://schemas.microsoft.com/office/drawing/2014/main" id="{FBDF73EF-B3F3-4743-AB1A-1A9C03880DCB}"/>
              </a:ext>
            </a:extLst>
          </p:cNvPr>
          <p:cNvSpPr/>
          <p:nvPr/>
        </p:nvSpPr>
        <p:spPr>
          <a:xfrm>
            <a:off x="328550" y="1703794"/>
            <a:ext cx="1771757" cy="918148"/>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Successfully  registered</a:t>
            </a: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7" name="Title text box">
            <a:extLst>
              <a:ext uri="{FF2B5EF4-FFF2-40B4-BE49-F238E27FC236}">
                <a16:creationId xmlns:a16="http://schemas.microsoft.com/office/drawing/2014/main" id="{38DEF82B-A559-1247-8E2D-F3C452A29826}"/>
              </a:ext>
            </a:extLst>
          </p:cNvPr>
          <p:cNvSpPr txBox="1"/>
          <p:nvPr/>
        </p:nvSpPr>
        <p:spPr>
          <a:xfrm>
            <a:off x="209556" y="172528"/>
            <a:ext cx="8641350" cy="1077218"/>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Wallet experience</a:t>
            </a:r>
          </a:p>
          <a:p>
            <a:r>
              <a:rPr lang="en-US" sz="12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If an airline user needs a wheelchair at the airport, they register in a wallet, bind to the vault that holds their verifiable credential attesting the wheelchair need, check-in with the airline, share the vault with the airline, and receive a sticker from the airline confirming that the credential was verified. At the airport, users just need to show the airline’s sticker.</a:t>
            </a:r>
            <a:endParaRPr lang="en-US" sz="12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240" y="37069"/>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NumBox 7">
            <a:extLst>
              <a:ext uri="{FF2B5EF4-FFF2-40B4-BE49-F238E27FC236}">
                <a16:creationId xmlns:a16="http://schemas.microsoft.com/office/drawing/2014/main" id="{68CCBE0C-C2CD-E347-9CED-CC285006AE94}"/>
              </a:ext>
            </a:extLst>
          </p:cNvPr>
          <p:cNvSpPr/>
          <p:nvPr/>
        </p:nvSpPr>
        <p:spPr>
          <a:xfrm>
            <a:off x="9134573" y="275075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7" name="NumBox 5">
            <a:extLst>
              <a:ext uri="{FF2B5EF4-FFF2-40B4-BE49-F238E27FC236}">
                <a16:creationId xmlns:a16="http://schemas.microsoft.com/office/drawing/2014/main" id="{A2290CE2-D8F1-634A-905A-BA66C42AEBC9}"/>
              </a:ext>
            </a:extLst>
          </p:cNvPr>
          <p:cNvSpPr/>
          <p:nvPr/>
        </p:nvSpPr>
        <p:spPr>
          <a:xfrm>
            <a:off x="9134573" y="195755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NumBox 3">
            <a:extLst>
              <a:ext uri="{FF2B5EF4-FFF2-40B4-BE49-F238E27FC236}">
                <a16:creationId xmlns:a16="http://schemas.microsoft.com/office/drawing/2014/main" id="{FBB6C579-1AAE-E74E-B11A-6E47F977F102}"/>
              </a:ext>
            </a:extLst>
          </p:cNvPr>
          <p:cNvSpPr/>
          <p:nvPr/>
        </p:nvSpPr>
        <p:spPr>
          <a:xfrm>
            <a:off x="9134573" y="8382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51" name="NumBox 1">
            <a:extLst>
              <a:ext uri="{FF2B5EF4-FFF2-40B4-BE49-F238E27FC236}">
                <a16:creationId xmlns:a16="http://schemas.microsoft.com/office/drawing/2014/main" id="{61A833CA-45E5-DA44-9841-E3816A71ECCE}"/>
              </a:ext>
            </a:extLst>
          </p:cNvPr>
          <p:cNvSpPr/>
          <p:nvPr/>
        </p:nvSpPr>
        <p:spPr>
          <a:xfrm>
            <a:off x="9134573" y="17633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133546"/>
            <a:ext cx="2733426" cy="6017032"/>
          </a:xfrm>
          <a:prstGeom prst="rect">
            <a:avLst/>
          </a:prstGeom>
          <a:noFill/>
        </p:spPr>
        <p:txBody>
          <a:bodyPr wrap="square" rtlCol="0">
            <a:spAutoFit/>
          </a:bodyPr>
          <a:lstStyle/>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To register with any wallet app... The app creates a wallet QR code that users can test with with a face scan.</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To bind vaults, users login into their vault’s apps or websites, then click on the “bind with wallet” button. The wallet pops-up asking for confirmation. Once users agree, the handshake is done. The vault’s verifiable credentials are showed.</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To check-in online, users click on the “open wallet” button on the 3P website or app. To check-in at a physical kiosk (e.g., airport), users scan their wallet’s QR.</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When the 3P requests the user’s info codes, the wallet shows all bounded vaults that can attend the 3P’s requested codes, filtering only by the vaults that the 3P trusts, and asks the user to share them.</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For info codes that the user doesn’t have bounded vaults that the 3P trusts, the wallet shows vaults suggested by the 3P.</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wallet shows the 3P sticker provided by the 3P, allowing for offline inspections. It allows for fraud check (with a signature) and ownership check (with a face hash). It also contains selected metadata that the 3P collected from the user’s vaults.</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In closed circuits, like airports, users show the 3P stickers to staff with verifier apps.</a:t>
            </a:r>
          </a:p>
          <a:p>
            <a:pPr>
              <a:spcAft>
                <a:spcPts val="1200"/>
              </a:spcAft>
            </a:pPr>
            <a:endParaRPr lang="en-US" sz="1050" dirty="0">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100" name="Separator">
            <a:extLst>
              <a:ext uri="{FF2B5EF4-FFF2-40B4-BE49-F238E27FC236}">
                <a16:creationId xmlns:a16="http://schemas.microsoft.com/office/drawing/2014/main" id="{C287CE86-263E-0142-A93B-EAFA27B52D73}"/>
              </a:ext>
            </a:extLst>
          </p:cNvPr>
          <p:cNvCxnSpPr>
            <a:cxnSpLocks/>
          </p:cNvCxnSpPr>
          <p:nvPr/>
        </p:nvCxnSpPr>
        <p:spPr>
          <a:xfrm flipV="1">
            <a:off x="2207092" y="1269611"/>
            <a:ext cx="0" cy="5054989"/>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pic>
        <p:nvPicPr>
          <p:cNvPr id="135" name="Picture 134">
            <a:extLst>
              <a:ext uri="{FF2B5EF4-FFF2-40B4-BE49-F238E27FC236}">
                <a16:creationId xmlns:a16="http://schemas.microsoft.com/office/drawing/2014/main" id="{2858A134-B7CD-D942-BB13-F0CB6912A261}"/>
              </a:ext>
            </a:extLst>
          </p:cNvPr>
          <p:cNvPicPr>
            <a:picLocks noChangeAspect="1"/>
          </p:cNvPicPr>
          <p:nvPr/>
        </p:nvPicPr>
        <p:blipFill>
          <a:blip r:embed="rId3"/>
          <a:stretch>
            <a:fillRect/>
          </a:stretch>
        </p:blipFill>
        <p:spPr>
          <a:xfrm>
            <a:off x="417874" y="2029166"/>
            <a:ext cx="487640" cy="488865"/>
          </a:xfrm>
          <a:prstGeom prst="rect">
            <a:avLst/>
          </a:prstGeom>
        </p:spPr>
      </p:pic>
      <p:sp>
        <p:nvSpPr>
          <p:cNvPr id="183" name="NumBox 7">
            <a:extLst>
              <a:ext uri="{FF2B5EF4-FFF2-40B4-BE49-F238E27FC236}">
                <a16:creationId xmlns:a16="http://schemas.microsoft.com/office/drawing/2014/main" id="{93D7460A-B042-AB4A-A6FA-D4F12F180E35}"/>
              </a:ext>
            </a:extLst>
          </p:cNvPr>
          <p:cNvSpPr/>
          <p:nvPr/>
        </p:nvSpPr>
        <p:spPr>
          <a:xfrm>
            <a:off x="9144000" y="368913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92" name="NumBox 7">
            <a:extLst>
              <a:ext uri="{FF2B5EF4-FFF2-40B4-BE49-F238E27FC236}">
                <a16:creationId xmlns:a16="http://schemas.microsoft.com/office/drawing/2014/main" id="{99DD3EE4-A2D1-4F41-8D86-0655C4DDD0F1}"/>
              </a:ext>
            </a:extLst>
          </p:cNvPr>
          <p:cNvSpPr/>
          <p:nvPr/>
        </p:nvSpPr>
        <p:spPr>
          <a:xfrm>
            <a:off x="9144000" y="431975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193" name="NumBox 7">
            <a:extLst>
              <a:ext uri="{FF2B5EF4-FFF2-40B4-BE49-F238E27FC236}">
                <a16:creationId xmlns:a16="http://schemas.microsoft.com/office/drawing/2014/main" id="{24D7DB2E-2A2A-2A4B-A470-17FCFD5212E0}"/>
              </a:ext>
            </a:extLst>
          </p:cNvPr>
          <p:cNvSpPr/>
          <p:nvPr/>
        </p:nvSpPr>
        <p:spPr>
          <a:xfrm>
            <a:off x="9144000" y="54391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95" name="Rectangle 94">
            <a:extLst>
              <a:ext uri="{FF2B5EF4-FFF2-40B4-BE49-F238E27FC236}">
                <a16:creationId xmlns:a16="http://schemas.microsoft.com/office/drawing/2014/main" id="{96CEB165-578B-9D48-9076-6C98641414A7}"/>
              </a:ext>
            </a:extLst>
          </p:cNvPr>
          <p:cNvSpPr/>
          <p:nvPr/>
        </p:nvSpPr>
        <p:spPr>
          <a:xfrm>
            <a:off x="2318917" y="4155952"/>
            <a:ext cx="1774800" cy="386963"/>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nchor="ctr"/>
          <a:lstStyle/>
          <a:p>
            <a:pPr algn="ct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Success!</a:t>
            </a:r>
          </a:p>
        </p:txBody>
      </p:sp>
      <p:sp>
        <p:nvSpPr>
          <p:cNvPr id="96" name="Rectangle 95">
            <a:extLst>
              <a:ext uri="{FF2B5EF4-FFF2-40B4-BE49-F238E27FC236}">
                <a16:creationId xmlns:a16="http://schemas.microsoft.com/office/drawing/2014/main" id="{CA9BD68B-FA41-F44A-BDC3-A74FC1C256E3}"/>
              </a:ext>
            </a:extLst>
          </p:cNvPr>
          <p:cNvSpPr/>
          <p:nvPr/>
        </p:nvSpPr>
        <p:spPr>
          <a:xfrm>
            <a:off x="2318917" y="1702003"/>
            <a:ext cx="1774800" cy="1081155"/>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pPr algn="ct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e.g., FR Mobility</a:t>
            </a:r>
          </a:p>
        </p:txBody>
      </p:sp>
      <p:sp>
        <p:nvSpPr>
          <p:cNvPr id="97" name="Rectangle 96">
            <a:extLst>
              <a:ext uri="{FF2B5EF4-FFF2-40B4-BE49-F238E27FC236}">
                <a16:creationId xmlns:a16="http://schemas.microsoft.com/office/drawing/2014/main" id="{AEA2D011-018A-9C45-8857-A4158FACF02B}"/>
              </a:ext>
            </a:extLst>
          </p:cNvPr>
          <p:cNvSpPr/>
          <p:nvPr/>
        </p:nvSpPr>
        <p:spPr>
          <a:xfrm>
            <a:off x="2318917" y="2901127"/>
            <a:ext cx="1774800" cy="1210880"/>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algn="ct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algn="ct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Bind [FR Mobility] vault </a:t>
            </a: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to [ACME] wallet? </a:t>
            </a:r>
          </a:p>
        </p:txBody>
      </p:sp>
      <p:sp>
        <p:nvSpPr>
          <p:cNvPr id="98" name="TextBox 34">
            <a:extLst>
              <a:ext uri="{FF2B5EF4-FFF2-40B4-BE49-F238E27FC236}">
                <a16:creationId xmlns:a16="http://schemas.microsoft.com/office/drawing/2014/main" id="{39DAE500-1F15-964E-ABCB-DBF34F1E8D81}"/>
              </a:ext>
            </a:extLst>
          </p:cNvPr>
          <p:cNvSpPr txBox="1">
            <a:spLocks noChangeArrowheads="1"/>
          </p:cNvSpPr>
          <p:nvPr/>
        </p:nvSpPr>
        <p:spPr bwMode="auto">
          <a:xfrm>
            <a:off x="2318918" y="1703794"/>
            <a:ext cx="146061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Vault’s user interface</a:t>
            </a:r>
          </a:p>
        </p:txBody>
      </p:sp>
      <p:sp>
        <p:nvSpPr>
          <p:cNvPr id="105" name="NumBox 5">
            <a:extLst>
              <a:ext uri="{FF2B5EF4-FFF2-40B4-BE49-F238E27FC236}">
                <a16:creationId xmlns:a16="http://schemas.microsoft.com/office/drawing/2014/main" id="{6A240376-5E26-B04B-B08F-315386F87F17}"/>
              </a:ext>
            </a:extLst>
          </p:cNvPr>
          <p:cNvSpPr/>
          <p:nvPr/>
        </p:nvSpPr>
        <p:spPr>
          <a:xfrm>
            <a:off x="2796281" y="3691970"/>
            <a:ext cx="364162" cy="273600"/>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t"/>
          <a:lstStyle/>
          <a:p>
            <a:pPr algn="ctr"/>
            <a:r>
              <a:rPr lang="en-US" sz="1200" dirty="0">
                <a:latin typeface="Amazon Ember" panose="020B0603020204020204" pitchFamily="34" charset="0"/>
                <a:ea typeface="Amazon Ember" panose="020B0603020204020204" pitchFamily="34" charset="0"/>
                <a:cs typeface="Amazon Ember" panose="020B0603020204020204" pitchFamily="34" charset="0"/>
              </a:rPr>
              <a:t>Yes</a:t>
            </a:r>
          </a:p>
        </p:txBody>
      </p:sp>
      <p:sp>
        <p:nvSpPr>
          <p:cNvPr id="108" name="NumBox 5">
            <a:extLst>
              <a:ext uri="{FF2B5EF4-FFF2-40B4-BE49-F238E27FC236}">
                <a16:creationId xmlns:a16="http://schemas.microsoft.com/office/drawing/2014/main" id="{70DAE038-4308-0048-9A77-1C6CBD14E242}"/>
              </a:ext>
            </a:extLst>
          </p:cNvPr>
          <p:cNvSpPr/>
          <p:nvPr/>
        </p:nvSpPr>
        <p:spPr>
          <a:xfrm>
            <a:off x="3250155" y="3691970"/>
            <a:ext cx="364162" cy="273600"/>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t"/>
          <a:lstStyle/>
          <a:p>
            <a:pPr algn="ctr"/>
            <a:r>
              <a:rPr lang="en-US" sz="1200" dirty="0">
                <a:latin typeface="Amazon Ember" panose="020B0603020204020204" pitchFamily="34" charset="0"/>
                <a:ea typeface="Amazon Ember" panose="020B0603020204020204" pitchFamily="34" charset="0"/>
                <a:cs typeface="Amazon Ember" panose="020B0603020204020204" pitchFamily="34" charset="0"/>
              </a:rPr>
              <a:t>No</a:t>
            </a:r>
          </a:p>
        </p:txBody>
      </p:sp>
      <p:sp>
        <p:nvSpPr>
          <p:cNvPr id="109" name="NumBox 3">
            <a:extLst>
              <a:ext uri="{FF2B5EF4-FFF2-40B4-BE49-F238E27FC236}">
                <a16:creationId xmlns:a16="http://schemas.microsoft.com/office/drawing/2014/main" id="{20E7216F-3994-FD45-BD95-9646E705FAC4}"/>
              </a:ext>
            </a:extLst>
          </p:cNvPr>
          <p:cNvSpPr/>
          <p:nvPr/>
        </p:nvSpPr>
        <p:spPr>
          <a:xfrm>
            <a:off x="2403777" y="2158402"/>
            <a:ext cx="1591539" cy="508598"/>
          </a:xfrm>
          <a:prstGeom prst="roundRect">
            <a:avLst/>
          </a:prstGeom>
          <a:ln/>
        </p:spPr>
        <p:style>
          <a:lnRef idx="2">
            <a:schemeClr val="accent5"/>
          </a:lnRef>
          <a:fillRef idx="1">
            <a:schemeClr val="lt1"/>
          </a:fillRef>
          <a:effectRef idx="0">
            <a:schemeClr val="accent5"/>
          </a:effectRef>
          <a:fontRef idx="minor">
            <a:schemeClr val="dk1"/>
          </a:fontRef>
        </p:style>
        <p:txBody>
          <a:bodyPr lIns="45720" rIns="45720" rtlCol="0" anchor="ctr"/>
          <a:lstStyle/>
          <a:p>
            <a:pPr algn="ctr"/>
            <a:r>
              <a:rPr lang="en-US" sz="1200" dirty="0">
                <a:latin typeface="Amazon Ember" panose="020B0603020204020204" pitchFamily="34" charset="0"/>
                <a:ea typeface="Amazon Ember" panose="020B0603020204020204" pitchFamily="34" charset="0"/>
                <a:cs typeface="Amazon Ember" panose="020B0603020204020204" pitchFamily="34" charset="0"/>
              </a:rPr>
              <a:t>Scan QR or type {broker, locator}</a:t>
            </a:r>
          </a:p>
        </p:txBody>
      </p:sp>
      <p:sp>
        <p:nvSpPr>
          <p:cNvPr id="110" name="TextBox 34">
            <a:extLst>
              <a:ext uri="{FF2B5EF4-FFF2-40B4-BE49-F238E27FC236}">
                <a16:creationId xmlns:a16="http://schemas.microsoft.com/office/drawing/2014/main" id="{1C3835EA-C7E7-F14C-8006-C6E828F93F0D}"/>
              </a:ext>
            </a:extLst>
          </p:cNvPr>
          <p:cNvSpPr txBox="1">
            <a:spLocks noChangeArrowheads="1"/>
          </p:cNvSpPr>
          <p:nvPr/>
        </p:nvSpPr>
        <p:spPr bwMode="auto">
          <a:xfrm>
            <a:off x="2318917" y="2910316"/>
            <a:ext cx="177479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Wallet’s user interface</a:t>
            </a:r>
          </a:p>
        </p:txBody>
      </p:sp>
      <p:sp>
        <p:nvSpPr>
          <p:cNvPr id="115" name="Rectangle 114">
            <a:extLst>
              <a:ext uri="{FF2B5EF4-FFF2-40B4-BE49-F238E27FC236}">
                <a16:creationId xmlns:a16="http://schemas.microsoft.com/office/drawing/2014/main" id="{CE89D75F-7620-D048-B8AE-1BF746DAAFFF}"/>
              </a:ext>
            </a:extLst>
          </p:cNvPr>
          <p:cNvSpPr/>
          <p:nvPr/>
        </p:nvSpPr>
        <p:spPr>
          <a:xfrm>
            <a:off x="5850352" y="1696139"/>
            <a:ext cx="1472884" cy="717000"/>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pPr algn="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endPar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16" name="Rectangle 115">
            <a:extLst>
              <a:ext uri="{FF2B5EF4-FFF2-40B4-BE49-F238E27FC236}">
                <a16:creationId xmlns:a16="http://schemas.microsoft.com/office/drawing/2014/main" id="{2D9B06F9-2D88-D945-9E13-48DF66A317E0}"/>
              </a:ext>
            </a:extLst>
          </p:cNvPr>
          <p:cNvSpPr/>
          <p:nvPr/>
        </p:nvSpPr>
        <p:spPr>
          <a:xfrm>
            <a:off x="5899774" y="4095998"/>
            <a:ext cx="1414965" cy="220485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rIns="36000"/>
          <a:lstStyle/>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JP Air. [3P] Sticker</a:t>
            </a:r>
          </a:p>
          <a:p>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Download</a:t>
            </a:r>
          </a:p>
          <a:p>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Verified info:</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Passport </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3</a:t>
            </a:r>
            <a:r>
              <a:rPr lang="en-US" sz="1050" baseline="3000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rd</a:t>
            </a: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dose vaccine</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Wheelchair </a:t>
            </a: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Metadata:</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Flight: BA501</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Date: 02/11/22</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Motor wheelchair </a:t>
            </a: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Expires: 10/01/22</a:t>
            </a:r>
          </a:p>
        </p:txBody>
      </p:sp>
      <p:sp>
        <p:nvSpPr>
          <p:cNvPr id="118" name="Rectangle 117">
            <a:extLst>
              <a:ext uri="{FF2B5EF4-FFF2-40B4-BE49-F238E27FC236}">
                <a16:creationId xmlns:a16="http://schemas.microsoft.com/office/drawing/2014/main" id="{7E5232E7-B7CC-F443-92E0-A1147BC2AF5A}"/>
              </a:ext>
            </a:extLst>
          </p:cNvPr>
          <p:cNvSpPr/>
          <p:nvPr/>
        </p:nvSpPr>
        <p:spPr>
          <a:xfrm>
            <a:off x="4288242" y="1697650"/>
            <a:ext cx="1438283" cy="717000"/>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pPr algn="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endPar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19" name="Rectangle 118">
            <a:extLst>
              <a:ext uri="{FF2B5EF4-FFF2-40B4-BE49-F238E27FC236}">
                <a16:creationId xmlns:a16="http://schemas.microsoft.com/office/drawing/2014/main" id="{F038F3FF-A50B-2245-A4B9-3D80EF65990B}"/>
              </a:ext>
            </a:extLst>
          </p:cNvPr>
          <p:cNvSpPr/>
          <p:nvPr/>
        </p:nvSpPr>
        <p:spPr>
          <a:xfrm>
            <a:off x="4288242" y="2520055"/>
            <a:ext cx="3026498" cy="1530606"/>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algn="r"/>
            <a:br>
              <a:rPr lang="en-US" sz="70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endParaRPr lang="en-US" sz="70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a:spcAft>
                <a:spcPts val="300"/>
              </a:spcAft>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Share vaults with [JP Airlines] 3P?</a:t>
            </a:r>
          </a:p>
          <a:p>
            <a:pPr marL="90487"/>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Passport</a:t>
            </a:r>
            <a:br>
              <a:rPr lang="en-GB" sz="1050" b="1" dirty="0">
                <a:solidFill>
                  <a:schemeClr val="bg1">
                    <a:lumMod val="10000"/>
                  </a:schemeClr>
                </a:solidFill>
              </a:rPr>
            </a:br>
            <a:r>
              <a:rPr lang="en-GB" sz="1050" b="1" dirty="0">
                <a:solidFill>
                  <a:schemeClr val="bg1">
                    <a:lumMod val="10000"/>
                  </a:schemeClr>
                </a:solidFill>
              </a:rPr>
              <a:t>    ✓  </a:t>
            </a:r>
            <a:r>
              <a:rPr lang="en-GB" sz="1050" dirty="0">
                <a:solidFill>
                  <a:schemeClr val="bg1">
                    <a:lumMod val="10000"/>
                  </a:schemeClr>
                </a:solidFill>
              </a:rPr>
              <a:t>IDnow</a:t>
            </a:r>
            <a:endPar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90487"/>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Vaccination status</a:t>
            </a:r>
            <a:b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GB" sz="1050" dirty="0">
                <a:solidFill>
                  <a:schemeClr val="bg1">
                    <a:lumMod val="10000"/>
                  </a:schemeClr>
                </a:solidFill>
              </a:rPr>
              <a:t>    ✓  Very Fly</a:t>
            </a: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90487"/>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Special Service Requests </a:t>
            </a:r>
            <a:b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GB" sz="1050" dirty="0">
                <a:solidFill>
                  <a:schemeClr val="bg1">
                    <a:lumMod val="10000"/>
                  </a:schemeClr>
                </a:solidFill>
              </a:rPr>
              <a:t>    ✓  French Mobility</a:t>
            </a: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21" name="TextBox 34">
            <a:extLst>
              <a:ext uri="{FF2B5EF4-FFF2-40B4-BE49-F238E27FC236}">
                <a16:creationId xmlns:a16="http://schemas.microsoft.com/office/drawing/2014/main" id="{FB62BAB5-7A75-684F-AB31-642FA417F1BD}"/>
              </a:ext>
            </a:extLst>
          </p:cNvPr>
          <p:cNvSpPr txBox="1">
            <a:spLocks noChangeArrowheads="1"/>
          </p:cNvSpPr>
          <p:nvPr/>
        </p:nvSpPr>
        <p:spPr bwMode="auto">
          <a:xfrm>
            <a:off x="4310034" y="1699440"/>
            <a:ext cx="300470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3P online check-in             3P physical kiosk</a:t>
            </a:r>
          </a:p>
        </p:txBody>
      </p:sp>
      <p:sp>
        <p:nvSpPr>
          <p:cNvPr id="123" name="NumBox 5">
            <a:extLst>
              <a:ext uri="{FF2B5EF4-FFF2-40B4-BE49-F238E27FC236}">
                <a16:creationId xmlns:a16="http://schemas.microsoft.com/office/drawing/2014/main" id="{D16A726E-0CC9-C043-BF2D-84EAF6059CDA}"/>
              </a:ext>
            </a:extLst>
          </p:cNvPr>
          <p:cNvSpPr/>
          <p:nvPr/>
        </p:nvSpPr>
        <p:spPr>
          <a:xfrm>
            <a:off x="6619222" y="3252850"/>
            <a:ext cx="589436" cy="287401"/>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OK</a:t>
            </a:r>
          </a:p>
        </p:txBody>
      </p:sp>
      <p:sp>
        <p:nvSpPr>
          <p:cNvPr id="124" name="NumBox 5">
            <a:extLst>
              <a:ext uri="{FF2B5EF4-FFF2-40B4-BE49-F238E27FC236}">
                <a16:creationId xmlns:a16="http://schemas.microsoft.com/office/drawing/2014/main" id="{278D42A9-37CB-6C4C-A061-1E7CBF77F065}"/>
              </a:ext>
            </a:extLst>
          </p:cNvPr>
          <p:cNvSpPr/>
          <p:nvPr/>
        </p:nvSpPr>
        <p:spPr>
          <a:xfrm>
            <a:off x="6619222" y="3603518"/>
            <a:ext cx="589436" cy="287401"/>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Cancel</a:t>
            </a:r>
          </a:p>
        </p:txBody>
      </p:sp>
      <p:sp>
        <p:nvSpPr>
          <p:cNvPr id="125" name="NumBox 3">
            <a:extLst>
              <a:ext uri="{FF2B5EF4-FFF2-40B4-BE49-F238E27FC236}">
                <a16:creationId xmlns:a16="http://schemas.microsoft.com/office/drawing/2014/main" id="{787E70BA-F004-C74E-95EF-0771B2A10A66}"/>
              </a:ext>
            </a:extLst>
          </p:cNvPr>
          <p:cNvSpPr/>
          <p:nvPr/>
        </p:nvSpPr>
        <p:spPr>
          <a:xfrm>
            <a:off x="5938984" y="2074745"/>
            <a:ext cx="1291666" cy="288608"/>
          </a:xfrm>
          <a:prstGeom prst="roundRect">
            <a:avLst/>
          </a:prstGeom>
          <a:ln/>
        </p:spPr>
        <p:style>
          <a:lnRef idx="2">
            <a:schemeClr val="accent5"/>
          </a:lnRef>
          <a:fillRef idx="1">
            <a:schemeClr val="lt1"/>
          </a:fillRef>
          <a:effectRef idx="0">
            <a:schemeClr val="accent5"/>
          </a:effectRef>
          <a:fontRef idx="minor">
            <a:schemeClr val="dk1"/>
          </a:fontRef>
        </p:style>
        <p:txBody>
          <a:bodyPr lIns="45720" rIns="45720" rtlCol="0" anchor="t"/>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            Scan QR</a:t>
            </a:r>
          </a:p>
        </p:txBody>
      </p:sp>
      <p:sp>
        <p:nvSpPr>
          <p:cNvPr id="126" name="TextBox 34">
            <a:extLst>
              <a:ext uri="{FF2B5EF4-FFF2-40B4-BE49-F238E27FC236}">
                <a16:creationId xmlns:a16="http://schemas.microsoft.com/office/drawing/2014/main" id="{1DFD30F1-AF89-D74C-9D90-255107A04157}"/>
              </a:ext>
            </a:extLst>
          </p:cNvPr>
          <p:cNvSpPr txBox="1">
            <a:spLocks noChangeArrowheads="1"/>
          </p:cNvSpPr>
          <p:nvPr/>
        </p:nvSpPr>
        <p:spPr bwMode="auto">
          <a:xfrm>
            <a:off x="4297302" y="2529243"/>
            <a:ext cx="300470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Wallet’s user interface</a:t>
            </a:r>
          </a:p>
        </p:txBody>
      </p:sp>
      <p:sp>
        <p:nvSpPr>
          <p:cNvPr id="127" name="NumBox 3">
            <a:extLst>
              <a:ext uri="{FF2B5EF4-FFF2-40B4-BE49-F238E27FC236}">
                <a16:creationId xmlns:a16="http://schemas.microsoft.com/office/drawing/2014/main" id="{D778657B-6222-1241-8CD7-2887E7E68471}"/>
              </a:ext>
            </a:extLst>
          </p:cNvPr>
          <p:cNvSpPr/>
          <p:nvPr/>
        </p:nvSpPr>
        <p:spPr>
          <a:xfrm>
            <a:off x="6781096" y="2488497"/>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130" name="NumBox 3">
            <a:extLst>
              <a:ext uri="{FF2B5EF4-FFF2-40B4-BE49-F238E27FC236}">
                <a16:creationId xmlns:a16="http://schemas.microsoft.com/office/drawing/2014/main" id="{FA1BBD96-642C-5344-B815-5283943732C1}"/>
              </a:ext>
            </a:extLst>
          </p:cNvPr>
          <p:cNvSpPr/>
          <p:nvPr/>
        </p:nvSpPr>
        <p:spPr>
          <a:xfrm>
            <a:off x="4406045" y="2074201"/>
            <a:ext cx="1228664" cy="296256"/>
          </a:xfrm>
          <a:prstGeom prst="roundRect">
            <a:avLst/>
          </a:prstGeom>
          <a:ln/>
        </p:spPr>
        <p:style>
          <a:lnRef idx="2">
            <a:schemeClr val="accent5"/>
          </a:lnRef>
          <a:fillRef idx="1">
            <a:schemeClr val="lt1"/>
          </a:fillRef>
          <a:effectRef idx="0">
            <a:schemeClr val="accent5"/>
          </a:effectRef>
          <a:fontRef idx="minor">
            <a:schemeClr val="dk1"/>
          </a:fontRef>
        </p:style>
        <p:txBody>
          <a:bodyPr lIns="45720" rIns="45720" rtlCol="0" anchor="t"/>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      Open wallet</a:t>
            </a:r>
          </a:p>
        </p:txBody>
      </p:sp>
      <p:pic>
        <p:nvPicPr>
          <p:cNvPr id="132" name="Picture 131">
            <a:extLst>
              <a:ext uri="{FF2B5EF4-FFF2-40B4-BE49-F238E27FC236}">
                <a16:creationId xmlns:a16="http://schemas.microsoft.com/office/drawing/2014/main" id="{3076B65B-90AD-D14C-8143-F272121C10C0}"/>
              </a:ext>
            </a:extLst>
          </p:cNvPr>
          <p:cNvPicPr>
            <a:picLocks noChangeAspect="1"/>
          </p:cNvPicPr>
          <p:nvPr/>
        </p:nvPicPr>
        <p:blipFill>
          <a:blip r:embed="rId3"/>
          <a:stretch>
            <a:fillRect/>
          </a:stretch>
        </p:blipFill>
        <p:spPr>
          <a:xfrm>
            <a:off x="6016263" y="2004464"/>
            <a:ext cx="287885" cy="288608"/>
          </a:xfrm>
          <a:prstGeom prst="rect">
            <a:avLst/>
          </a:prstGeom>
        </p:spPr>
      </p:pic>
      <p:pic>
        <p:nvPicPr>
          <p:cNvPr id="133" name="Graphic 15">
            <a:extLst>
              <a:ext uri="{FF2B5EF4-FFF2-40B4-BE49-F238E27FC236}">
                <a16:creationId xmlns:a16="http://schemas.microsoft.com/office/drawing/2014/main" id="{C912C721-F425-3F4C-A61A-21910233E1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8413" y="1950637"/>
            <a:ext cx="363515" cy="36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 name="Rectangle 170">
            <a:extLst>
              <a:ext uri="{FF2B5EF4-FFF2-40B4-BE49-F238E27FC236}">
                <a16:creationId xmlns:a16="http://schemas.microsoft.com/office/drawing/2014/main" id="{86D91859-8C10-064D-B06F-5C879CD66016}"/>
              </a:ext>
            </a:extLst>
          </p:cNvPr>
          <p:cNvSpPr>
            <a:spLocks noChangeAspect="1"/>
          </p:cNvSpPr>
          <p:nvPr/>
        </p:nvSpPr>
        <p:spPr>
          <a:xfrm>
            <a:off x="4579394" y="3135180"/>
            <a:ext cx="139908" cy="139908"/>
          </a:xfrm>
          <a:prstGeom prst="rect">
            <a:avLst/>
          </a:prstGeom>
          <a:noFill/>
          <a:ln>
            <a:solidFill>
              <a:schemeClr val="bg1">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Rectangle 171">
            <a:extLst>
              <a:ext uri="{FF2B5EF4-FFF2-40B4-BE49-F238E27FC236}">
                <a16:creationId xmlns:a16="http://schemas.microsoft.com/office/drawing/2014/main" id="{5A536CC3-0D4E-C044-8A96-6A770ACA23F1}"/>
              </a:ext>
            </a:extLst>
          </p:cNvPr>
          <p:cNvSpPr>
            <a:spLocks noChangeAspect="1"/>
          </p:cNvSpPr>
          <p:nvPr/>
        </p:nvSpPr>
        <p:spPr>
          <a:xfrm>
            <a:off x="4579394" y="3455647"/>
            <a:ext cx="139908" cy="139908"/>
          </a:xfrm>
          <a:prstGeom prst="rect">
            <a:avLst/>
          </a:prstGeom>
          <a:noFill/>
          <a:ln>
            <a:solidFill>
              <a:schemeClr val="bg1">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Rectangle 172">
            <a:extLst>
              <a:ext uri="{FF2B5EF4-FFF2-40B4-BE49-F238E27FC236}">
                <a16:creationId xmlns:a16="http://schemas.microsoft.com/office/drawing/2014/main" id="{7ED044C5-1D73-1B47-A188-26C3DFF61750}"/>
              </a:ext>
            </a:extLst>
          </p:cNvPr>
          <p:cNvSpPr>
            <a:spLocks noChangeAspect="1"/>
          </p:cNvSpPr>
          <p:nvPr/>
        </p:nvSpPr>
        <p:spPr>
          <a:xfrm>
            <a:off x="4579394" y="3779497"/>
            <a:ext cx="139908" cy="139908"/>
          </a:xfrm>
          <a:prstGeom prst="rect">
            <a:avLst/>
          </a:prstGeom>
          <a:noFill/>
          <a:ln>
            <a:solidFill>
              <a:schemeClr val="bg1">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Rectangle 174">
            <a:extLst>
              <a:ext uri="{FF2B5EF4-FFF2-40B4-BE49-F238E27FC236}">
                <a16:creationId xmlns:a16="http://schemas.microsoft.com/office/drawing/2014/main" id="{8B31F36E-F274-9842-BD0F-2EAA2789BBCA}"/>
              </a:ext>
            </a:extLst>
          </p:cNvPr>
          <p:cNvSpPr/>
          <p:nvPr/>
        </p:nvSpPr>
        <p:spPr>
          <a:xfrm>
            <a:off x="4288685" y="4094854"/>
            <a:ext cx="1561668" cy="2205804"/>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a:spcAft>
                <a:spcPts val="600"/>
              </a:spcAft>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Vault suggestions</a:t>
            </a:r>
          </a:p>
          <a:p>
            <a:pPr>
              <a:spcAft>
                <a:spcPts val="300"/>
              </a:spcAft>
            </a:pP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80963">
              <a:buFont typeface="Arial" panose="020B0604020202020204" pitchFamily="34" charset="0"/>
              <a:buChar char="•"/>
            </a:pPr>
            <a:r>
              <a:rPr lang="en-GB"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ESTA (USA)</a:t>
            </a:r>
            <a:endParaRPr lang="en-GB" sz="1050" b="1" i="1"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80963">
              <a:buFont typeface="Arial" panose="020B0604020202020204" pitchFamily="34" charset="0"/>
              <a:buChar char="•"/>
            </a:pPr>
            <a:endParaRPr lang="en-US" sz="70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90487"/>
            <a:endParaRPr lang="en-US" sz="70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80963">
              <a:buFont typeface="Arial" panose="020B0604020202020204" pitchFamily="34" charset="0"/>
              <a:buChar char="•"/>
            </a:pPr>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Seat preferences</a:t>
            </a:r>
          </a:p>
          <a:p>
            <a:pPr marL="171450" indent="-80963">
              <a:buFont typeface="Arial" panose="020B0604020202020204" pitchFamily="34" charset="0"/>
              <a:buChar char="•"/>
            </a:pPr>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Booking contacts</a:t>
            </a:r>
          </a:p>
          <a:p>
            <a:pPr marL="171450" indent="-80963">
              <a:buFont typeface="Arial" panose="020B0604020202020204" pitchFamily="34" charset="0"/>
              <a:buChar char="•"/>
            </a:pPr>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Allergies </a:t>
            </a:r>
          </a:p>
        </p:txBody>
      </p:sp>
      <p:sp>
        <p:nvSpPr>
          <p:cNvPr id="184" name="NumBox 5">
            <a:extLst>
              <a:ext uri="{FF2B5EF4-FFF2-40B4-BE49-F238E27FC236}">
                <a16:creationId xmlns:a16="http://schemas.microsoft.com/office/drawing/2014/main" id="{0F56A631-7BED-9143-B2D5-DCEFC091D73E}"/>
              </a:ext>
            </a:extLst>
          </p:cNvPr>
          <p:cNvSpPr/>
          <p:nvPr/>
        </p:nvSpPr>
        <p:spPr>
          <a:xfrm>
            <a:off x="4489184" y="4362356"/>
            <a:ext cx="1237342" cy="202625"/>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r>
              <a:rPr lang="en-US" sz="1050" dirty="0">
                <a:latin typeface="Amazon Ember" panose="020B0603020204020204" pitchFamily="34" charset="0"/>
                <a:ea typeface="Amazon Ember" panose="020B0603020204020204" pitchFamily="34" charset="0"/>
                <a:cs typeface="Amazon Ember" panose="020B0603020204020204" pitchFamily="34" charset="0"/>
              </a:rPr>
              <a:t>IDnow                &gt;&gt;</a:t>
            </a:r>
          </a:p>
        </p:txBody>
      </p:sp>
      <p:sp>
        <p:nvSpPr>
          <p:cNvPr id="195" name="NumBox 5">
            <a:extLst>
              <a:ext uri="{FF2B5EF4-FFF2-40B4-BE49-F238E27FC236}">
                <a16:creationId xmlns:a16="http://schemas.microsoft.com/office/drawing/2014/main" id="{3342767D-EB9F-D84D-8FCE-D7BD96127B6C}"/>
              </a:ext>
            </a:extLst>
          </p:cNvPr>
          <p:cNvSpPr/>
          <p:nvPr/>
        </p:nvSpPr>
        <p:spPr>
          <a:xfrm>
            <a:off x="4489183" y="4741865"/>
            <a:ext cx="1237342" cy="202625"/>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r>
              <a:rPr lang="en-US" sz="1050" dirty="0">
                <a:latin typeface="Amazon Ember" panose="020B0603020204020204" pitchFamily="34" charset="0"/>
                <a:ea typeface="Amazon Ember" panose="020B0603020204020204" pitchFamily="34" charset="0"/>
                <a:cs typeface="Amazon Ember" panose="020B0603020204020204" pitchFamily="34" charset="0"/>
              </a:rPr>
              <a:t>IATA                   &gt;&gt;</a:t>
            </a:r>
          </a:p>
        </p:txBody>
      </p:sp>
      <p:pic>
        <p:nvPicPr>
          <p:cNvPr id="196" name="Picture 195">
            <a:extLst>
              <a:ext uri="{FF2B5EF4-FFF2-40B4-BE49-F238E27FC236}">
                <a16:creationId xmlns:a16="http://schemas.microsoft.com/office/drawing/2014/main" id="{9E14C4C5-FB2D-F744-A1E3-5B4FFCBCF26A}"/>
              </a:ext>
            </a:extLst>
          </p:cNvPr>
          <p:cNvPicPr>
            <a:picLocks noChangeAspect="1"/>
          </p:cNvPicPr>
          <p:nvPr/>
        </p:nvPicPr>
        <p:blipFill>
          <a:blip r:embed="rId3"/>
          <a:stretch>
            <a:fillRect/>
          </a:stretch>
        </p:blipFill>
        <p:spPr>
          <a:xfrm>
            <a:off x="5991293" y="4376833"/>
            <a:ext cx="287885" cy="288608"/>
          </a:xfrm>
          <a:prstGeom prst="rect">
            <a:avLst/>
          </a:prstGeom>
        </p:spPr>
      </p:pic>
      <p:sp>
        <p:nvSpPr>
          <p:cNvPr id="198" name="TextBox 197">
            <a:extLst>
              <a:ext uri="{FF2B5EF4-FFF2-40B4-BE49-F238E27FC236}">
                <a16:creationId xmlns:a16="http://schemas.microsoft.com/office/drawing/2014/main" id="{C1B52739-4DF4-AD45-AE6B-0958F811B8FF}"/>
              </a:ext>
            </a:extLst>
          </p:cNvPr>
          <p:cNvSpPr txBox="1"/>
          <p:nvPr/>
        </p:nvSpPr>
        <p:spPr>
          <a:xfrm>
            <a:off x="6238500" y="4380315"/>
            <a:ext cx="432487" cy="369332"/>
          </a:xfrm>
          <a:prstGeom prst="rect">
            <a:avLst/>
          </a:prstGeom>
          <a:noFill/>
        </p:spPr>
        <p:txBody>
          <a:bodyPr wrap="square">
            <a:spAutoFit/>
          </a:bodyPr>
          <a:lstStyle/>
          <a:p>
            <a:r>
              <a:rPr lang="en-GB" dirty="0"/>
              <a:t>⬇</a:t>
            </a:r>
          </a:p>
        </p:txBody>
      </p:sp>
      <p:cxnSp>
        <p:nvCxnSpPr>
          <p:cNvPr id="199" name="Separator">
            <a:extLst>
              <a:ext uri="{FF2B5EF4-FFF2-40B4-BE49-F238E27FC236}">
                <a16:creationId xmlns:a16="http://schemas.microsoft.com/office/drawing/2014/main" id="{13551B2E-F7D1-554A-8983-0C9B677C26A6}"/>
              </a:ext>
            </a:extLst>
          </p:cNvPr>
          <p:cNvCxnSpPr>
            <a:cxnSpLocks/>
          </p:cNvCxnSpPr>
          <p:nvPr/>
        </p:nvCxnSpPr>
        <p:spPr>
          <a:xfrm flipV="1">
            <a:off x="4188292" y="1269611"/>
            <a:ext cx="0" cy="5053263"/>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cxnSp>
        <p:nvCxnSpPr>
          <p:cNvPr id="200" name="Separator">
            <a:extLst>
              <a:ext uri="{FF2B5EF4-FFF2-40B4-BE49-F238E27FC236}">
                <a16:creationId xmlns:a16="http://schemas.microsoft.com/office/drawing/2014/main" id="{6AD737C1-907A-4E4A-A784-265E5FB8BE1A}"/>
              </a:ext>
            </a:extLst>
          </p:cNvPr>
          <p:cNvCxnSpPr>
            <a:cxnSpLocks/>
          </p:cNvCxnSpPr>
          <p:nvPr/>
        </p:nvCxnSpPr>
        <p:spPr>
          <a:xfrm flipV="1">
            <a:off x="7415150" y="1269611"/>
            <a:ext cx="0" cy="5051996"/>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grpSp>
        <p:nvGrpSpPr>
          <p:cNvPr id="29" name="Group 28">
            <a:extLst>
              <a:ext uri="{FF2B5EF4-FFF2-40B4-BE49-F238E27FC236}">
                <a16:creationId xmlns:a16="http://schemas.microsoft.com/office/drawing/2014/main" id="{F487299E-6447-2144-A173-1FB04887BA44}"/>
              </a:ext>
            </a:extLst>
          </p:cNvPr>
          <p:cNvGrpSpPr/>
          <p:nvPr/>
        </p:nvGrpSpPr>
        <p:grpSpPr>
          <a:xfrm>
            <a:off x="7660575" y="1864425"/>
            <a:ext cx="1073150" cy="688859"/>
            <a:chOff x="7660575" y="1269611"/>
            <a:chExt cx="1073150" cy="688859"/>
          </a:xfrm>
        </p:grpSpPr>
        <p:pic>
          <p:nvPicPr>
            <p:cNvPr id="202" name="Graphic 22">
              <a:extLst>
                <a:ext uri="{FF2B5EF4-FFF2-40B4-BE49-F238E27FC236}">
                  <a16:creationId xmlns:a16="http://schemas.microsoft.com/office/drawing/2014/main" id="{0EFB6F7E-9A17-764C-948D-DDB2F4073311}"/>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7962200" y="1269611"/>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Box 34">
              <a:extLst>
                <a:ext uri="{FF2B5EF4-FFF2-40B4-BE49-F238E27FC236}">
                  <a16:creationId xmlns:a16="http://schemas.microsoft.com/office/drawing/2014/main" id="{EFFF4D7E-41A6-404D-8962-66CABE99F045}"/>
                </a:ext>
              </a:extLst>
            </p:cNvPr>
            <p:cNvSpPr txBox="1">
              <a:spLocks noChangeArrowheads="1"/>
            </p:cNvSpPr>
            <p:nvPr/>
          </p:nvSpPr>
          <p:spPr bwMode="auto">
            <a:xfrm>
              <a:off x="7660575" y="1704554"/>
              <a:ext cx="1073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User</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4" name="Group 13">
            <a:extLst>
              <a:ext uri="{FF2B5EF4-FFF2-40B4-BE49-F238E27FC236}">
                <a16:creationId xmlns:a16="http://schemas.microsoft.com/office/drawing/2014/main" id="{B14A887C-4D41-4C49-B4EA-DECBBB5DC5FE}"/>
              </a:ext>
            </a:extLst>
          </p:cNvPr>
          <p:cNvGrpSpPr/>
          <p:nvPr/>
        </p:nvGrpSpPr>
        <p:grpSpPr>
          <a:xfrm>
            <a:off x="7547894" y="5715000"/>
            <a:ext cx="1298512" cy="1020483"/>
            <a:chOff x="7583519" y="3661631"/>
            <a:chExt cx="1298512" cy="1020483"/>
          </a:xfrm>
        </p:grpSpPr>
        <p:pic>
          <p:nvPicPr>
            <p:cNvPr id="201" name="Graphic 23">
              <a:extLst>
                <a:ext uri="{FF2B5EF4-FFF2-40B4-BE49-F238E27FC236}">
                  <a16:creationId xmlns:a16="http://schemas.microsoft.com/office/drawing/2014/main" id="{9495A41B-A2AE-F249-821E-4ACE356F1C07}"/>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flipH="1">
              <a:off x="7997825" y="3661631"/>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 name="TextBox 34">
              <a:extLst>
                <a:ext uri="{FF2B5EF4-FFF2-40B4-BE49-F238E27FC236}">
                  <a16:creationId xmlns:a16="http://schemas.microsoft.com/office/drawing/2014/main" id="{2FD41EFD-7507-5743-9F73-340EE6DE0EFE}"/>
                </a:ext>
              </a:extLst>
            </p:cNvPr>
            <p:cNvSpPr txBox="1">
              <a:spLocks noChangeArrowheads="1"/>
            </p:cNvSpPr>
            <p:nvPr/>
          </p:nvSpPr>
          <p:spPr bwMode="auto">
            <a:xfrm>
              <a:off x="7583519" y="4105033"/>
              <a:ext cx="129851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Airport Staff</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London Heathrow</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0" name="Group 9">
            <a:extLst>
              <a:ext uri="{FF2B5EF4-FFF2-40B4-BE49-F238E27FC236}">
                <a16:creationId xmlns:a16="http://schemas.microsoft.com/office/drawing/2014/main" id="{859444D8-4DCB-8E44-B91E-EA78B7B17F15}"/>
              </a:ext>
            </a:extLst>
          </p:cNvPr>
          <p:cNvGrpSpPr/>
          <p:nvPr/>
        </p:nvGrpSpPr>
        <p:grpSpPr>
          <a:xfrm>
            <a:off x="7660575" y="2667000"/>
            <a:ext cx="1073150" cy="701841"/>
            <a:chOff x="7696200" y="2590800"/>
            <a:chExt cx="1073150" cy="701841"/>
          </a:xfrm>
        </p:grpSpPr>
        <p:pic>
          <p:nvPicPr>
            <p:cNvPr id="205" name="Picture 204">
              <a:extLst>
                <a:ext uri="{FF2B5EF4-FFF2-40B4-BE49-F238E27FC236}">
                  <a16:creationId xmlns:a16="http://schemas.microsoft.com/office/drawing/2014/main" id="{11BAB63A-0192-DF44-A257-10FB4AE0F53E}"/>
                </a:ext>
              </a:extLst>
            </p:cNvPr>
            <p:cNvPicPr>
              <a:picLocks noChangeAspect="1"/>
            </p:cNvPicPr>
            <p:nvPr/>
          </p:nvPicPr>
          <p:blipFill>
            <a:blip r:embed="rId3"/>
            <a:stretch>
              <a:fillRect/>
            </a:stretch>
          </p:blipFill>
          <p:spPr>
            <a:xfrm>
              <a:off x="8088833" y="2590800"/>
              <a:ext cx="287885" cy="288608"/>
            </a:xfrm>
            <a:prstGeom prst="rect">
              <a:avLst/>
            </a:prstGeom>
          </p:spPr>
        </p:pic>
        <p:sp>
          <p:nvSpPr>
            <p:cNvPr id="206" name="TextBox 34">
              <a:extLst>
                <a:ext uri="{FF2B5EF4-FFF2-40B4-BE49-F238E27FC236}">
                  <a16:creationId xmlns:a16="http://schemas.microsoft.com/office/drawing/2014/main" id="{EC46918D-243A-204A-ACFF-F118FF42C9C3}"/>
                </a:ext>
              </a:extLst>
            </p:cNvPr>
            <p:cNvSpPr txBox="1">
              <a:spLocks noChangeArrowheads="1"/>
            </p:cNvSpPr>
            <p:nvPr/>
          </p:nvSpPr>
          <p:spPr bwMode="auto">
            <a:xfrm>
              <a:off x="7696200" y="2877143"/>
              <a:ext cx="10731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3P Sticker</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JP Air.</a:t>
              </a:r>
            </a:p>
          </p:txBody>
        </p:sp>
      </p:grpSp>
      <p:cxnSp>
        <p:nvCxnSpPr>
          <p:cNvPr id="207" name="Straight Arrow Connector 202">
            <a:extLst>
              <a:ext uri="{FF2B5EF4-FFF2-40B4-BE49-F238E27FC236}">
                <a16:creationId xmlns:a16="http://schemas.microsoft.com/office/drawing/2014/main" id="{1FDA7EA4-F61F-894C-88A9-855FF5DBB704}"/>
              </a:ext>
            </a:extLst>
          </p:cNvPr>
          <p:cNvCxnSpPr>
            <a:cxnSpLocks/>
            <a:stCxn id="209" idx="3"/>
            <a:endCxn id="202" idx="3"/>
          </p:cNvCxnSpPr>
          <p:nvPr/>
        </p:nvCxnSpPr>
        <p:spPr>
          <a:xfrm flipV="1">
            <a:off x="8378907" y="2099375"/>
            <a:ext cx="53193" cy="3035383"/>
          </a:xfrm>
          <a:prstGeom prst="bentConnector3">
            <a:avLst>
              <a:gd name="adj1" fmla="val 529756"/>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08" name="Straight Arrow Connector 202">
            <a:extLst>
              <a:ext uri="{FF2B5EF4-FFF2-40B4-BE49-F238E27FC236}">
                <a16:creationId xmlns:a16="http://schemas.microsoft.com/office/drawing/2014/main" id="{1BF6FF5C-7AB3-BF4B-BEEF-BA8E3222A227}"/>
              </a:ext>
            </a:extLst>
          </p:cNvPr>
          <p:cNvCxnSpPr>
            <a:cxnSpLocks/>
            <a:stCxn id="203" idx="2"/>
            <a:endCxn id="205" idx="0"/>
          </p:cNvCxnSpPr>
          <p:nvPr/>
        </p:nvCxnSpPr>
        <p:spPr>
          <a:xfrm>
            <a:off x="8197150" y="2553284"/>
            <a:ext cx="1" cy="113716"/>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579EB17A-2B3A-0E40-818D-8B37BAC56214}"/>
              </a:ext>
            </a:extLst>
          </p:cNvPr>
          <p:cNvGrpSpPr/>
          <p:nvPr/>
        </p:nvGrpSpPr>
        <p:grpSpPr>
          <a:xfrm>
            <a:off x="7707971" y="4953000"/>
            <a:ext cx="975591" cy="944640"/>
            <a:chOff x="7743596" y="4267200"/>
            <a:chExt cx="975591" cy="944640"/>
          </a:xfrm>
        </p:grpSpPr>
        <p:pic>
          <p:nvPicPr>
            <p:cNvPr id="209" name="Graphic 15">
              <a:extLst>
                <a:ext uri="{FF2B5EF4-FFF2-40B4-BE49-F238E27FC236}">
                  <a16:creationId xmlns:a16="http://schemas.microsoft.com/office/drawing/2014/main" id="{DEDF1CA1-3115-E545-9300-EF95DACB99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1017" y="4267200"/>
              <a:ext cx="363515" cy="36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 name="TextBox 34">
              <a:extLst>
                <a:ext uri="{FF2B5EF4-FFF2-40B4-BE49-F238E27FC236}">
                  <a16:creationId xmlns:a16="http://schemas.microsoft.com/office/drawing/2014/main" id="{5D340268-3C8F-084B-A9A7-130EF910B627}"/>
                </a:ext>
              </a:extLst>
            </p:cNvPr>
            <p:cNvSpPr txBox="1">
              <a:spLocks noChangeArrowheads="1"/>
            </p:cNvSpPr>
            <p:nvPr/>
          </p:nvSpPr>
          <p:spPr bwMode="auto">
            <a:xfrm>
              <a:off x="7743596" y="4634759"/>
              <a:ext cx="975591"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3P QR Verifier App</a:t>
              </a:r>
            </a:p>
          </p:txBody>
        </p:sp>
      </p:grpSp>
      <p:cxnSp>
        <p:nvCxnSpPr>
          <p:cNvPr id="212" name="Straight Arrow Connector 202">
            <a:extLst>
              <a:ext uri="{FF2B5EF4-FFF2-40B4-BE49-F238E27FC236}">
                <a16:creationId xmlns:a16="http://schemas.microsoft.com/office/drawing/2014/main" id="{ADF2E3AA-D3A8-884F-9443-A6E32643D960}"/>
              </a:ext>
            </a:extLst>
          </p:cNvPr>
          <p:cNvCxnSpPr>
            <a:cxnSpLocks/>
            <a:stCxn id="206" idx="2"/>
            <a:endCxn id="209" idx="0"/>
          </p:cNvCxnSpPr>
          <p:nvPr/>
        </p:nvCxnSpPr>
        <p:spPr>
          <a:xfrm>
            <a:off x="8197150" y="3368841"/>
            <a:ext cx="0" cy="1584159"/>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13" name="TextBox 34">
            <a:extLst>
              <a:ext uri="{FF2B5EF4-FFF2-40B4-BE49-F238E27FC236}">
                <a16:creationId xmlns:a16="http://schemas.microsoft.com/office/drawing/2014/main" id="{0A671195-C0A5-D946-86A1-46497D00D931}"/>
              </a:ext>
            </a:extLst>
          </p:cNvPr>
          <p:cNvSpPr txBox="1">
            <a:spLocks noChangeArrowheads="1"/>
          </p:cNvSpPr>
          <p:nvPr/>
        </p:nvSpPr>
        <p:spPr bwMode="auto">
          <a:xfrm>
            <a:off x="7787290" y="3429000"/>
            <a:ext cx="83177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verify signature</a:t>
            </a:r>
          </a:p>
        </p:txBody>
      </p:sp>
      <p:sp>
        <p:nvSpPr>
          <p:cNvPr id="214" name="TextBox 34">
            <a:extLst>
              <a:ext uri="{FF2B5EF4-FFF2-40B4-BE49-F238E27FC236}">
                <a16:creationId xmlns:a16="http://schemas.microsoft.com/office/drawing/2014/main" id="{22F66DD7-A2AF-EA4E-AF3B-E9D6C1A3ABBC}"/>
              </a:ext>
            </a:extLst>
          </p:cNvPr>
          <p:cNvSpPr txBox="1">
            <a:spLocks noChangeArrowheads="1"/>
          </p:cNvSpPr>
          <p:nvPr/>
        </p:nvSpPr>
        <p:spPr bwMode="auto">
          <a:xfrm>
            <a:off x="8406324" y="3867835"/>
            <a:ext cx="516465"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verify </a:t>
            </a:r>
            <a:br>
              <a:rPr lang="en-US" altLang="en-US" sz="1050" i="1"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face</a:t>
            </a:r>
            <a:br>
              <a:rPr lang="en-US" altLang="en-US" sz="1050" i="1"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hash</a:t>
            </a:r>
          </a:p>
        </p:txBody>
      </p:sp>
      <p:sp>
        <p:nvSpPr>
          <p:cNvPr id="218" name="NumBox 1">
            <a:extLst>
              <a:ext uri="{FF2B5EF4-FFF2-40B4-BE49-F238E27FC236}">
                <a16:creationId xmlns:a16="http://schemas.microsoft.com/office/drawing/2014/main" id="{B30B83EF-7D43-484A-B155-B6D5897AB97C}"/>
              </a:ext>
            </a:extLst>
          </p:cNvPr>
          <p:cNvSpPr/>
          <p:nvPr/>
        </p:nvSpPr>
        <p:spPr>
          <a:xfrm>
            <a:off x="328550" y="134385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219" name="TextBox 34">
            <a:extLst>
              <a:ext uri="{FF2B5EF4-FFF2-40B4-BE49-F238E27FC236}">
                <a16:creationId xmlns:a16="http://schemas.microsoft.com/office/drawing/2014/main" id="{B4DF8044-2183-4E40-A62F-6DEA17543761}"/>
              </a:ext>
            </a:extLst>
          </p:cNvPr>
          <p:cNvSpPr txBox="1">
            <a:spLocks noChangeArrowheads="1"/>
          </p:cNvSpPr>
          <p:nvPr/>
        </p:nvSpPr>
        <p:spPr bwMode="auto">
          <a:xfrm>
            <a:off x="590632" y="1366880"/>
            <a:ext cx="145969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Wallet registration</a:t>
            </a:r>
          </a:p>
        </p:txBody>
      </p:sp>
      <p:sp>
        <p:nvSpPr>
          <p:cNvPr id="220" name="NumBox 1">
            <a:extLst>
              <a:ext uri="{FF2B5EF4-FFF2-40B4-BE49-F238E27FC236}">
                <a16:creationId xmlns:a16="http://schemas.microsoft.com/office/drawing/2014/main" id="{D3DC3D57-8F1A-DB46-8BE2-D3E07CA38CBB}"/>
              </a:ext>
            </a:extLst>
          </p:cNvPr>
          <p:cNvSpPr/>
          <p:nvPr/>
        </p:nvSpPr>
        <p:spPr>
          <a:xfrm>
            <a:off x="2333800" y="134225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221" name="TextBox 34">
            <a:extLst>
              <a:ext uri="{FF2B5EF4-FFF2-40B4-BE49-F238E27FC236}">
                <a16:creationId xmlns:a16="http://schemas.microsoft.com/office/drawing/2014/main" id="{71B10DAA-B3FA-8441-BA85-79D2E7DF721A}"/>
              </a:ext>
            </a:extLst>
          </p:cNvPr>
          <p:cNvSpPr txBox="1">
            <a:spLocks noChangeArrowheads="1"/>
          </p:cNvSpPr>
          <p:nvPr/>
        </p:nvSpPr>
        <p:spPr bwMode="auto">
          <a:xfrm>
            <a:off x="2595882" y="1365277"/>
            <a:ext cx="145969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Vault binding</a:t>
            </a:r>
          </a:p>
        </p:txBody>
      </p:sp>
      <p:sp>
        <p:nvSpPr>
          <p:cNvPr id="222" name="NumBox 1">
            <a:extLst>
              <a:ext uri="{FF2B5EF4-FFF2-40B4-BE49-F238E27FC236}">
                <a16:creationId xmlns:a16="http://schemas.microsoft.com/office/drawing/2014/main" id="{162730B3-3146-234C-A5FF-1CC6FFFB8260}"/>
              </a:ext>
            </a:extLst>
          </p:cNvPr>
          <p:cNvSpPr/>
          <p:nvPr/>
        </p:nvSpPr>
        <p:spPr>
          <a:xfrm>
            <a:off x="4291128" y="133918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223" name="TextBox 34">
            <a:extLst>
              <a:ext uri="{FF2B5EF4-FFF2-40B4-BE49-F238E27FC236}">
                <a16:creationId xmlns:a16="http://schemas.microsoft.com/office/drawing/2014/main" id="{45D0EDAD-43C2-4544-86EE-08E1A12BA444}"/>
              </a:ext>
            </a:extLst>
          </p:cNvPr>
          <p:cNvSpPr txBox="1">
            <a:spLocks noChangeArrowheads="1"/>
          </p:cNvSpPr>
          <p:nvPr/>
        </p:nvSpPr>
        <p:spPr bwMode="auto">
          <a:xfrm>
            <a:off x="4553210" y="1362204"/>
            <a:ext cx="251112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3P check-in – </a:t>
            </a:r>
            <a:r>
              <a:rPr lang="en-US" altLang="en-US" sz="1050" i="1"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e.g. Japanese Airlines</a:t>
            </a:r>
          </a:p>
        </p:txBody>
      </p:sp>
      <p:sp>
        <p:nvSpPr>
          <p:cNvPr id="224" name="NumBox 1">
            <a:extLst>
              <a:ext uri="{FF2B5EF4-FFF2-40B4-BE49-F238E27FC236}">
                <a16:creationId xmlns:a16="http://schemas.microsoft.com/office/drawing/2014/main" id="{1C72BBA3-E045-3843-8DAA-F79B8D18259A}"/>
              </a:ext>
            </a:extLst>
          </p:cNvPr>
          <p:cNvSpPr/>
          <p:nvPr/>
        </p:nvSpPr>
        <p:spPr>
          <a:xfrm>
            <a:off x="7503883" y="134932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225" name="TextBox 34">
            <a:extLst>
              <a:ext uri="{FF2B5EF4-FFF2-40B4-BE49-F238E27FC236}">
                <a16:creationId xmlns:a16="http://schemas.microsoft.com/office/drawing/2014/main" id="{B4FB5F1E-40E5-F141-B1B3-93C56CCCA644}"/>
              </a:ext>
            </a:extLst>
          </p:cNvPr>
          <p:cNvSpPr txBox="1">
            <a:spLocks noChangeArrowheads="1"/>
          </p:cNvSpPr>
          <p:nvPr/>
        </p:nvSpPr>
        <p:spPr bwMode="auto">
          <a:xfrm>
            <a:off x="7742215" y="1296527"/>
            <a:ext cx="1378034"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3P closed circuit</a:t>
            </a:r>
            <a:br>
              <a:rPr lang="en-US" altLang="en-US" sz="1050"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effectLst>
                  <a:glow rad="127000">
                    <a:schemeClr val="bg1"/>
                  </a:glow>
                </a:effectLst>
                <a:latin typeface="Amazon Ember" panose="020B0603020204020204" pitchFamily="34" charset="0"/>
                <a:ea typeface="Amazon Ember" panose="020B0603020204020204" pitchFamily="34" charset="0"/>
                <a:cs typeface="Amazon Ember" panose="020B0603020204020204" pitchFamily="34" charset="0"/>
              </a:rPr>
              <a:t>e.g., London Heathrow Airport</a:t>
            </a:r>
          </a:p>
        </p:txBody>
      </p:sp>
      <p:sp>
        <p:nvSpPr>
          <p:cNvPr id="226" name="NumBox 1">
            <a:extLst>
              <a:ext uri="{FF2B5EF4-FFF2-40B4-BE49-F238E27FC236}">
                <a16:creationId xmlns:a16="http://schemas.microsoft.com/office/drawing/2014/main" id="{06CBEA2B-D3F2-6A44-9372-6CD90953B386}"/>
              </a:ext>
            </a:extLst>
          </p:cNvPr>
          <p:cNvSpPr/>
          <p:nvPr/>
        </p:nvSpPr>
        <p:spPr>
          <a:xfrm>
            <a:off x="5445086" y="592475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227" name="NumBox 1">
            <a:extLst>
              <a:ext uri="{FF2B5EF4-FFF2-40B4-BE49-F238E27FC236}">
                <a16:creationId xmlns:a16="http://schemas.microsoft.com/office/drawing/2014/main" id="{EC3FE870-7A40-4742-9AC9-9E99D6B13166}"/>
              </a:ext>
            </a:extLst>
          </p:cNvPr>
          <p:cNvSpPr/>
          <p:nvPr/>
        </p:nvSpPr>
        <p:spPr>
          <a:xfrm>
            <a:off x="6987292" y="47244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cxnSp>
        <p:nvCxnSpPr>
          <p:cNvPr id="85" name="Separator">
            <a:extLst>
              <a:ext uri="{FF2B5EF4-FFF2-40B4-BE49-F238E27FC236}">
                <a16:creationId xmlns:a16="http://schemas.microsoft.com/office/drawing/2014/main" id="{5F1B089C-4578-AD42-B27E-F4ACEEB6C928}"/>
              </a:ext>
            </a:extLst>
          </p:cNvPr>
          <p:cNvCxnSpPr>
            <a:cxnSpLocks/>
          </p:cNvCxnSpPr>
          <p:nvPr/>
        </p:nvCxnSpPr>
        <p:spPr>
          <a:xfrm>
            <a:off x="304800" y="1264725"/>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86" name="TextBox 34">
            <a:extLst>
              <a:ext uri="{FF2B5EF4-FFF2-40B4-BE49-F238E27FC236}">
                <a16:creationId xmlns:a16="http://schemas.microsoft.com/office/drawing/2014/main" id="{D8CA3742-C1EE-884D-943D-12339DFE6EB2}"/>
              </a:ext>
            </a:extLst>
          </p:cNvPr>
          <p:cNvSpPr txBox="1">
            <a:spLocks noChangeArrowheads="1"/>
          </p:cNvSpPr>
          <p:nvPr/>
        </p:nvSpPr>
        <p:spPr bwMode="auto">
          <a:xfrm>
            <a:off x="470944" y="2110110"/>
            <a:ext cx="3113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dirty="0">
                <a:solidFill>
                  <a:schemeClr val="accent1"/>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W</a:t>
            </a:r>
          </a:p>
        </p:txBody>
      </p:sp>
      <p:sp>
        <p:nvSpPr>
          <p:cNvPr id="87" name="TextBox 34">
            <a:extLst>
              <a:ext uri="{FF2B5EF4-FFF2-40B4-BE49-F238E27FC236}">
                <a16:creationId xmlns:a16="http://schemas.microsoft.com/office/drawing/2014/main" id="{26B90E42-024C-BA49-BABC-73370F490CA8}"/>
              </a:ext>
            </a:extLst>
          </p:cNvPr>
          <p:cNvSpPr txBox="1">
            <a:spLocks noChangeArrowheads="1"/>
          </p:cNvSpPr>
          <p:nvPr/>
        </p:nvSpPr>
        <p:spPr bwMode="auto">
          <a:xfrm>
            <a:off x="5989540" y="2036265"/>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1"/>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W</a:t>
            </a:r>
          </a:p>
        </p:txBody>
      </p:sp>
      <p:sp>
        <p:nvSpPr>
          <p:cNvPr id="88" name="TextBox 34">
            <a:extLst>
              <a:ext uri="{FF2B5EF4-FFF2-40B4-BE49-F238E27FC236}">
                <a16:creationId xmlns:a16="http://schemas.microsoft.com/office/drawing/2014/main" id="{18FF649B-3E66-E24F-A42A-DD755EBA51ED}"/>
              </a:ext>
            </a:extLst>
          </p:cNvPr>
          <p:cNvSpPr txBox="1">
            <a:spLocks noChangeArrowheads="1"/>
          </p:cNvSpPr>
          <p:nvPr/>
        </p:nvSpPr>
        <p:spPr bwMode="auto">
          <a:xfrm>
            <a:off x="5989540" y="4410256"/>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5"/>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S</a:t>
            </a:r>
          </a:p>
        </p:txBody>
      </p:sp>
      <p:sp>
        <p:nvSpPr>
          <p:cNvPr id="89" name="TextBox 34">
            <a:extLst>
              <a:ext uri="{FF2B5EF4-FFF2-40B4-BE49-F238E27FC236}">
                <a16:creationId xmlns:a16="http://schemas.microsoft.com/office/drawing/2014/main" id="{2A3385F1-A550-3E43-A0D5-48CC8A2315E3}"/>
              </a:ext>
            </a:extLst>
          </p:cNvPr>
          <p:cNvSpPr txBox="1">
            <a:spLocks noChangeArrowheads="1"/>
          </p:cNvSpPr>
          <p:nvPr/>
        </p:nvSpPr>
        <p:spPr bwMode="auto">
          <a:xfrm>
            <a:off x="8066877" y="2684463"/>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5"/>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S</a:t>
            </a:r>
          </a:p>
        </p:txBody>
      </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5881</TotalTime>
  <Words>527</Words>
  <Application>Microsoft Macintosh PowerPoint</Application>
  <PresentationFormat>Widescreen</PresentationFormat>
  <Paragraphs>85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Amazon Ember</vt:lpstr>
      <vt:lpstr>APPLE CHANCERY</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141</cp:revision>
  <dcterms:created xsi:type="dcterms:W3CDTF">2018-02-11T04:20:17Z</dcterms:created>
  <dcterms:modified xsi:type="dcterms:W3CDTF">2023-03-01T00:14:38Z</dcterms:modified>
  <cp:category/>
</cp:coreProperties>
</file>