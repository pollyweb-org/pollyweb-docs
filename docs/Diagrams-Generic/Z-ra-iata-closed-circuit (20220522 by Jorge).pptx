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5952" userDrawn="1">
          <p15:clr>
            <a:srgbClr val="A4A3A4"/>
          </p15:clr>
        </p15:guide>
        <p15:guide id="3" pos="5664" userDrawn="1">
          <p15:clr>
            <a:srgbClr val="A4A3A4"/>
          </p15:clr>
        </p15:guide>
        <p15:guide id="4" pos="556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nelle Nolan" initials="JN" lastIdx="7" clrIdx="0">
    <p:extLst>
      <p:ext uri="{19B8F6BF-5375-455C-9EA6-DF929625EA0E}">
        <p15:presenceInfo xmlns:p15="http://schemas.microsoft.com/office/powerpoint/2012/main" userId="Janelle Nola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EBF0"/>
    <a:srgbClr val="FF9900"/>
    <a:srgbClr val="CD2264"/>
    <a:srgbClr val="232E3C"/>
    <a:srgbClr val="ECEDF0"/>
    <a:srgbClr val="5B9CD5"/>
    <a:srgbClr val="545B64"/>
    <a:srgbClr val="EAEDED"/>
    <a:srgbClr val="D5DBDB"/>
    <a:srgbClr val="232F3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831" autoAdjust="0"/>
    <p:restoredTop sz="96612"/>
  </p:normalViewPr>
  <p:slideViewPr>
    <p:cSldViewPr>
      <p:cViewPr varScale="1">
        <p:scale>
          <a:sx n="122" d="100"/>
          <a:sy n="122" d="100"/>
        </p:scale>
        <p:origin x="1272" y="200"/>
      </p:cViewPr>
      <p:guideLst>
        <p:guide orient="horz" pos="2160"/>
        <p:guide pos="5952"/>
        <p:guide pos="5664"/>
        <p:guide pos="55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63D1AE-04B2-F147-8122-2A32BD7879DD}" type="datetimeFigureOut">
              <a:rPr lang="en-US" smtClean="0"/>
              <a:t>3/1/23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BC6CBF-D31D-B841-861D-EC168426F20E}" type="slidenum">
              <a:rPr lang="en-US" smtClean="0"/>
              <a:t>‹#›</a:t>
            </a:fld>
            <a:endParaRPr lang="en-US"/>
          </a:p>
        </p:txBody>
      </p:sp>
    </p:spTree>
    <p:extLst>
      <p:ext uri="{BB962C8B-B14F-4D97-AF65-F5344CB8AC3E}">
        <p14:creationId xmlns:p14="http://schemas.microsoft.com/office/powerpoint/2010/main" val="26231545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2BC6CBF-D31D-B841-861D-EC168426F20E}" type="slidenum">
              <a:rPr lang="en-US" smtClean="0"/>
              <a:t>1</a:t>
            </a:fld>
            <a:endParaRPr lang="en-US"/>
          </a:p>
        </p:txBody>
      </p:sp>
    </p:spTree>
    <p:extLst>
      <p:ext uri="{BB962C8B-B14F-4D97-AF65-F5344CB8AC3E}">
        <p14:creationId xmlns:p14="http://schemas.microsoft.com/office/powerpoint/2010/main" val="8202465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416854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5126"/>
            <a:ext cx="10820400" cy="121627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457200" y="1825625"/>
            <a:ext cx="10820400" cy="411797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5285551"/>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svg"/><Relationship Id="rId12" Type="http://schemas.openxmlformats.org/officeDocument/2006/relationships/image" Target="../media/image10.png"/><Relationship Id="rId17" Type="http://schemas.openxmlformats.org/officeDocument/2006/relationships/image" Target="../media/image15.sv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sv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Rectangle 188">
            <a:extLst>
              <a:ext uri="{FF2B5EF4-FFF2-40B4-BE49-F238E27FC236}">
                <a16:creationId xmlns:a16="http://schemas.microsoft.com/office/drawing/2014/main" id="{262CB65F-9F64-4945-BE78-1D7852925EB7}"/>
              </a:ext>
            </a:extLst>
          </p:cNvPr>
          <p:cNvSpPr/>
          <p:nvPr/>
        </p:nvSpPr>
        <p:spPr>
          <a:xfrm>
            <a:off x="4104412" y="2305619"/>
            <a:ext cx="1331884" cy="1839741"/>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eaLnBrk="1" fontAlgn="auto" hangingPunct="1">
              <a:spcBef>
                <a:spcPts val="0"/>
              </a:spcBef>
              <a:spcAft>
                <a:spcPts val="0"/>
              </a:spcAft>
              <a:defRPr/>
            </a:pPr>
            <a:endParaRPr lang="en-US" sz="105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29" name="Rectangle 128">
            <a:extLst>
              <a:ext uri="{FF2B5EF4-FFF2-40B4-BE49-F238E27FC236}">
                <a16:creationId xmlns:a16="http://schemas.microsoft.com/office/drawing/2014/main" id="{105B1FA5-0E92-4D41-A058-BDF5935F44AD}"/>
              </a:ext>
            </a:extLst>
          </p:cNvPr>
          <p:cNvSpPr/>
          <p:nvPr/>
        </p:nvSpPr>
        <p:spPr>
          <a:xfrm>
            <a:off x="5502833" y="1651566"/>
            <a:ext cx="1573264" cy="4402390"/>
          </a:xfrm>
          <a:prstGeom prst="rect">
            <a:avLst/>
          </a:prstGeom>
          <a:solidFill>
            <a:srgbClr val="007CBC">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432000"/>
          <a:lstStyle/>
          <a:p>
            <a:pPr eaLnBrk="1" fontAlgn="auto" hangingPunct="1">
              <a:spcBef>
                <a:spcPts val="0"/>
              </a:spcBef>
              <a:spcAft>
                <a:spcPts val="0"/>
              </a:spcAft>
              <a:defRPr/>
            </a:pPr>
            <a:r>
              <a:rPr lang="en-US" sz="1050">
                <a:solidFill>
                  <a:srgbClr val="5B9CD5"/>
                </a:solidFill>
                <a:latin typeface="Amazon Ember" panose="020B0603020204020204" pitchFamily="34" charset="0"/>
                <a:ea typeface="Amazon Ember" panose="020B0603020204020204" pitchFamily="34" charset="0"/>
                <a:cs typeface="Amazon Ember" panose="020B0603020204020204" pitchFamily="34" charset="0"/>
              </a:rPr>
              <a:t>Closed circuit </a:t>
            </a:r>
            <a:br>
              <a:rPr lang="en-US" sz="1050">
                <a:solidFill>
                  <a:srgbClr val="5B9CD5"/>
                </a:solidFill>
                <a:latin typeface="Amazon Ember" panose="020B0603020204020204" pitchFamily="34" charset="0"/>
                <a:ea typeface="Amazon Ember" panose="020B0603020204020204" pitchFamily="34" charset="0"/>
                <a:cs typeface="Amazon Ember" panose="020B0603020204020204" pitchFamily="34" charset="0"/>
              </a:rPr>
            </a:br>
            <a:r>
              <a:rPr lang="en-US" sz="1050">
                <a:solidFill>
                  <a:srgbClr val="5B9CD5"/>
                </a:solidFill>
                <a:latin typeface="Amazon Ember" panose="020B0603020204020204" pitchFamily="34" charset="0"/>
                <a:ea typeface="Amazon Ember" panose="020B0603020204020204" pitchFamily="34" charset="0"/>
                <a:cs typeface="Amazon Ember" panose="020B0603020204020204" pitchFamily="34" charset="0"/>
              </a:rPr>
              <a:t>check-point</a:t>
            </a:r>
            <a:endPar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70" name="Rectangle 169">
            <a:extLst>
              <a:ext uri="{FF2B5EF4-FFF2-40B4-BE49-F238E27FC236}">
                <a16:creationId xmlns:a16="http://schemas.microsoft.com/office/drawing/2014/main" id="{580F3B0D-DCDA-4B49-A8FB-B2BD63633F69}"/>
              </a:ext>
            </a:extLst>
          </p:cNvPr>
          <p:cNvSpPr/>
          <p:nvPr/>
        </p:nvSpPr>
        <p:spPr>
          <a:xfrm>
            <a:off x="5611664" y="2148975"/>
            <a:ext cx="1331715" cy="1743025"/>
          </a:xfrm>
          <a:prstGeom prst="rect">
            <a:avLst/>
          </a:prstGeom>
          <a:solidFill>
            <a:schemeClr val="bg1"/>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defRPr/>
            </a:pPr>
            <a:r>
              <a:rPr lang="en-US" sz="105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sticker validation</a:t>
            </a:r>
          </a:p>
        </p:txBody>
      </p:sp>
      <p:sp>
        <p:nvSpPr>
          <p:cNvPr id="117" name="Rectangle 116">
            <a:extLst>
              <a:ext uri="{FF2B5EF4-FFF2-40B4-BE49-F238E27FC236}">
                <a16:creationId xmlns:a16="http://schemas.microsoft.com/office/drawing/2014/main" id="{C54A4F46-5747-ED40-B212-7A54595B7A15}"/>
              </a:ext>
            </a:extLst>
          </p:cNvPr>
          <p:cNvSpPr/>
          <p:nvPr/>
        </p:nvSpPr>
        <p:spPr>
          <a:xfrm>
            <a:off x="1903960" y="4215389"/>
            <a:ext cx="3532336" cy="1834476"/>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eaLnBrk="1" fontAlgn="auto" hangingPunct="1">
              <a:spcBef>
                <a:spcPts val="0"/>
              </a:spcBef>
              <a:spcAft>
                <a:spcPts val="0"/>
              </a:spcAft>
              <a:defRPr/>
            </a:pPr>
            <a:r>
              <a:rPr lang="en-US" sz="105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Other</a:t>
            </a:r>
            <a:br>
              <a:rPr lang="en-US" sz="105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br>
            <a:r>
              <a:rPr lang="en-US" sz="105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tokens</a:t>
            </a:r>
          </a:p>
        </p:txBody>
      </p:sp>
      <p:sp>
        <p:nvSpPr>
          <p:cNvPr id="182" name="Rectangle 181">
            <a:extLst>
              <a:ext uri="{FF2B5EF4-FFF2-40B4-BE49-F238E27FC236}">
                <a16:creationId xmlns:a16="http://schemas.microsoft.com/office/drawing/2014/main" id="{0F2814F9-15EA-E74D-8D07-7956A4E657AB}"/>
              </a:ext>
            </a:extLst>
          </p:cNvPr>
          <p:cNvSpPr/>
          <p:nvPr/>
        </p:nvSpPr>
        <p:spPr>
          <a:xfrm>
            <a:off x="1822761" y="1659936"/>
            <a:ext cx="2200452" cy="4465876"/>
          </a:xfrm>
          <a:prstGeom prst="rect">
            <a:avLst/>
          </a:prstGeom>
          <a:noFill/>
          <a:ln w="12700">
            <a:solidFill>
              <a:srgbClr val="5A6B86"/>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a:r>
              <a:rPr lang="en-US" sz="1050" dirty="0">
                <a:solidFill>
                  <a:schemeClr val="tx2"/>
                </a:solidFill>
                <a:latin typeface="Amazon Ember" panose="020B0603020204020204" pitchFamily="34" charset="0"/>
                <a:ea typeface="Amazon Ember" panose="020B0603020204020204" pitchFamily="34" charset="0"/>
                <a:cs typeface="Amazon Ember" panose="020B0603020204020204" pitchFamily="34" charset="0"/>
              </a:rPr>
              <a:t>Self-service token kiosk</a:t>
            </a:r>
          </a:p>
          <a:p>
            <a:pPr algn="ctr"/>
            <a:endParaRPr lang="en-US" sz="1050" dirty="0">
              <a:solidFill>
                <a:schemeClr val="tx2"/>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19" name="Rectangle 118">
            <a:extLst>
              <a:ext uri="{FF2B5EF4-FFF2-40B4-BE49-F238E27FC236}">
                <a16:creationId xmlns:a16="http://schemas.microsoft.com/office/drawing/2014/main" id="{5B7043CD-16B7-0D47-896C-41D708922E4D}"/>
              </a:ext>
            </a:extLst>
          </p:cNvPr>
          <p:cNvSpPr/>
          <p:nvPr/>
        </p:nvSpPr>
        <p:spPr>
          <a:xfrm>
            <a:off x="1905595" y="2010401"/>
            <a:ext cx="2047626" cy="2145047"/>
          </a:xfrm>
          <a:prstGeom prst="rect">
            <a:avLst/>
          </a:prstGeom>
          <a:solidFill>
            <a:srgbClr val="1D8900">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432000"/>
          <a:lstStyle/>
          <a:p>
            <a:pPr eaLnBrk="1" fontAlgn="auto" hangingPunct="1">
              <a:spcBef>
                <a:spcPts val="0"/>
              </a:spcBef>
              <a:spcAft>
                <a:spcPts val="0"/>
              </a:spcAft>
              <a:defRPr/>
            </a:pPr>
            <a:r>
              <a:rPr lang="en-US" sz="1050" dirty="0">
                <a:solidFill>
                  <a:srgbClr val="1E8900"/>
                </a:solidFill>
                <a:latin typeface="Amazon Ember" panose="020B0603020204020204" pitchFamily="34" charset="0"/>
                <a:ea typeface="Amazon Ember" panose="020B0603020204020204" pitchFamily="34" charset="0"/>
                <a:cs typeface="Amazon Ember" panose="020B0603020204020204" pitchFamily="34" charset="0"/>
              </a:rPr>
              <a:t>3P sticker validations</a:t>
            </a:r>
          </a:p>
        </p:txBody>
      </p:sp>
      <p:pic>
        <p:nvPicPr>
          <p:cNvPr id="120" name="Graphic 119">
            <a:extLst>
              <a:ext uri="{FF2B5EF4-FFF2-40B4-BE49-F238E27FC236}">
                <a16:creationId xmlns:a16="http://schemas.microsoft.com/office/drawing/2014/main" id="{707BD872-27A6-7F43-87BC-CC2BDD29414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06230" y="2011991"/>
            <a:ext cx="381000" cy="381000"/>
          </a:xfrm>
          <a:prstGeom prst="rect">
            <a:avLst/>
          </a:prstGeom>
        </p:spPr>
      </p:pic>
      <p:sp>
        <p:nvSpPr>
          <p:cNvPr id="37" name="Title text box">
            <a:extLst>
              <a:ext uri="{FF2B5EF4-FFF2-40B4-BE49-F238E27FC236}">
                <a16:creationId xmlns:a16="http://schemas.microsoft.com/office/drawing/2014/main" id="{38DEF82B-A559-1247-8E2D-F3C452A29826}"/>
              </a:ext>
            </a:extLst>
          </p:cNvPr>
          <p:cNvSpPr txBox="1"/>
          <p:nvPr/>
        </p:nvSpPr>
        <p:spPr>
          <a:xfrm>
            <a:off x="207580" y="158447"/>
            <a:ext cx="8641350" cy="1261884"/>
          </a:xfrm>
          <a:prstGeom prst="rect">
            <a:avLst/>
          </a:prstGeom>
          <a:noFill/>
        </p:spPr>
        <p:txBody>
          <a:bodyPr wrap="square" rtlCol="0">
            <a:spAutoFit/>
          </a:bodyPr>
          <a:lstStyle/>
          <a:p>
            <a:r>
              <a:rPr lang="en-US" sz="2800" b="1" dirty="0">
                <a:latin typeface="Amazon Ember" panose="020B0603020204020204" pitchFamily="34" charset="0"/>
                <a:ea typeface="Amazon Ember" panose="020B0603020204020204" pitchFamily="34" charset="0"/>
                <a:cs typeface="Amazon Ember" panose="020B0603020204020204" pitchFamily="34" charset="0"/>
              </a:rPr>
              <a:t>Closed circuits </a:t>
            </a:r>
          </a:p>
          <a:p>
            <a:r>
              <a:rPr lang="en-US" sz="1200" dirty="0">
                <a:solidFill>
                  <a:srgbClr val="232E3C"/>
                </a:solidFill>
                <a:latin typeface="Amazon Ember" panose="020B0603020204020204" pitchFamily="34" charset="0"/>
                <a:ea typeface="Amazon Ember" panose="020B0603020204020204" pitchFamily="34" charset="0"/>
                <a:cs typeface="Amazon Ember" panose="020B0603020204020204" pitchFamily="34" charset="0"/>
              </a:rPr>
              <a:t>A closed circuit is a physical area with multiple user-touchpoints connected with a high-speed local network (e.g., airports). In such spaces, users may use token kiosks to replace their 3P stickers (e.g., airline checked-in) with tokens (e.g., face, NFC passport, NFC bank cards, and phones with NFC payment). Check-points (e.g., gates, kiosks) verify sticker signatures for fraud, and verify the face hash for ownership. Users that opt-in for face recognition just walk pass.</a:t>
            </a:r>
          </a:p>
        </p:txBody>
      </p:sp>
      <p:sp>
        <p:nvSpPr>
          <p:cNvPr id="41" name="Sidebar Background">
            <a:extLst>
              <a:ext uri="{FF2B5EF4-FFF2-40B4-BE49-F238E27FC236}">
                <a16:creationId xmlns:a16="http://schemas.microsoft.com/office/drawing/2014/main" id="{B0A83432-3797-164E-B817-BA71B523944F}"/>
              </a:ext>
            </a:extLst>
          </p:cNvPr>
          <p:cNvSpPr/>
          <p:nvPr/>
        </p:nvSpPr>
        <p:spPr>
          <a:xfrm>
            <a:off x="8981240" y="37069"/>
            <a:ext cx="3177809" cy="6783859"/>
          </a:xfrm>
          <a:prstGeom prst="rect">
            <a:avLst/>
          </a:prstGeom>
          <a:solidFill>
            <a:srgbClr val="EA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NumBox 8">
            <a:extLst>
              <a:ext uri="{FF2B5EF4-FFF2-40B4-BE49-F238E27FC236}">
                <a16:creationId xmlns:a16="http://schemas.microsoft.com/office/drawing/2014/main" id="{3E4874A0-68B7-3F46-930A-3DF954503CB0}"/>
              </a:ext>
            </a:extLst>
          </p:cNvPr>
          <p:cNvSpPr/>
          <p:nvPr/>
        </p:nvSpPr>
        <p:spPr>
          <a:xfrm>
            <a:off x="9133881" y="521280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6</a:t>
            </a:r>
          </a:p>
        </p:txBody>
      </p:sp>
      <p:sp>
        <p:nvSpPr>
          <p:cNvPr id="45" name="NumBox 7">
            <a:extLst>
              <a:ext uri="{FF2B5EF4-FFF2-40B4-BE49-F238E27FC236}">
                <a16:creationId xmlns:a16="http://schemas.microsoft.com/office/drawing/2014/main" id="{68CCBE0C-C2CD-E347-9CED-CC285006AE94}"/>
              </a:ext>
            </a:extLst>
          </p:cNvPr>
          <p:cNvSpPr/>
          <p:nvPr/>
        </p:nvSpPr>
        <p:spPr>
          <a:xfrm>
            <a:off x="9133881" y="3095249"/>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4</a:t>
            </a:r>
          </a:p>
        </p:txBody>
      </p:sp>
      <p:sp>
        <p:nvSpPr>
          <p:cNvPr id="47" name="NumBox 5">
            <a:extLst>
              <a:ext uri="{FF2B5EF4-FFF2-40B4-BE49-F238E27FC236}">
                <a16:creationId xmlns:a16="http://schemas.microsoft.com/office/drawing/2014/main" id="{A2290CE2-D8F1-634A-905A-BA66C42AEBC9}"/>
              </a:ext>
            </a:extLst>
          </p:cNvPr>
          <p:cNvSpPr/>
          <p:nvPr/>
        </p:nvSpPr>
        <p:spPr>
          <a:xfrm>
            <a:off x="9133881" y="2363508"/>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3</a:t>
            </a:r>
          </a:p>
        </p:txBody>
      </p:sp>
      <p:sp>
        <p:nvSpPr>
          <p:cNvPr id="49" name="NumBox 3">
            <a:extLst>
              <a:ext uri="{FF2B5EF4-FFF2-40B4-BE49-F238E27FC236}">
                <a16:creationId xmlns:a16="http://schemas.microsoft.com/office/drawing/2014/main" id="{FBB6C579-1AAE-E74E-B11A-6E47F977F102}"/>
              </a:ext>
            </a:extLst>
          </p:cNvPr>
          <p:cNvSpPr/>
          <p:nvPr/>
        </p:nvSpPr>
        <p:spPr>
          <a:xfrm>
            <a:off x="9133881" y="125904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2</a:t>
            </a:r>
          </a:p>
        </p:txBody>
      </p:sp>
      <p:sp>
        <p:nvSpPr>
          <p:cNvPr id="51" name="NumBox 1">
            <a:extLst>
              <a:ext uri="{FF2B5EF4-FFF2-40B4-BE49-F238E27FC236}">
                <a16:creationId xmlns:a16="http://schemas.microsoft.com/office/drawing/2014/main" id="{61A833CA-45E5-DA44-9841-E3816A71ECCE}"/>
              </a:ext>
            </a:extLst>
          </p:cNvPr>
          <p:cNvSpPr/>
          <p:nvPr/>
        </p:nvSpPr>
        <p:spPr>
          <a:xfrm>
            <a:off x="9133881" y="11899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1</a:t>
            </a:r>
          </a:p>
        </p:txBody>
      </p:sp>
      <p:sp>
        <p:nvSpPr>
          <p:cNvPr id="52" name="TextBox 51">
            <a:extLst>
              <a:ext uri="{FF2B5EF4-FFF2-40B4-BE49-F238E27FC236}">
                <a16:creationId xmlns:a16="http://schemas.microsoft.com/office/drawing/2014/main" id="{03393564-6C13-FC4F-8F33-3F02A10C52BC}"/>
              </a:ext>
            </a:extLst>
          </p:cNvPr>
          <p:cNvSpPr txBox="1"/>
          <p:nvPr/>
        </p:nvSpPr>
        <p:spPr>
          <a:xfrm>
            <a:off x="9408893" y="76200"/>
            <a:ext cx="2733426" cy="6832640"/>
          </a:xfrm>
          <a:prstGeom prst="rect">
            <a:avLst/>
          </a:prstGeom>
          <a:noFill/>
        </p:spPr>
        <p:txBody>
          <a:bodyPr wrap="square" rtlCol="0">
            <a:spAutoFit/>
          </a:bodyPr>
          <a:lstStyle/>
          <a:p>
            <a:pPr>
              <a:spcAft>
                <a:spcPts val="1200"/>
              </a:spcAft>
            </a:pPr>
            <a:r>
              <a:rPr lang="en-US" sz="1050" dirty="0">
                <a:solidFill>
                  <a:schemeClr val="bg1">
                    <a:lumMod val="10000"/>
                  </a:schemeClr>
                </a:solidFill>
                <a:latin typeface="Amazon Ember" panose="020B0603020204020204" pitchFamily="34" charset="0"/>
                <a:ea typeface="Amazon Ember" panose="020B0603020204020204" pitchFamily="34" charset="0"/>
                <a:cs typeface="Amazon Ember" panose="020B0603020204020204" pitchFamily="34" charset="0"/>
              </a:rPr>
              <a:t>Users start by providing a 3P sticker to the closed circuit at a self-service token kiosk. If the kiosk recognizes the sticker’s domain, then it verifies the authenticity of the sticker by validating its signature using the 3P’s public key.</a:t>
            </a:r>
          </a:p>
          <a:p>
            <a:pPr>
              <a:spcAft>
                <a:spcPts val="1200"/>
              </a:spcAft>
            </a:pPr>
            <a:r>
              <a:rPr lang="en-US" sz="1050" dirty="0">
                <a:solidFill>
                  <a:schemeClr val="bg1">
                    <a:lumMod val="10000"/>
                  </a:schemeClr>
                </a:solidFill>
                <a:latin typeface="Amazon Ember" panose="020B0603020204020204" pitchFamily="34" charset="0"/>
                <a:ea typeface="Amazon Ember" panose="020B0603020204020204" pitchFamily="34" charset="0"/>
                <a:cs typeface="Amazon Ember" panose="020B0603020204020204" pitchFamily="34" charset="0"/>
              </a:rPr>
              <a:t>The kiosk then verifies the ownership of the sticker by calculating the hash of the user’s face and comparing it with the face hash contained in the 3P sticker. If all is OK, then the 3P sticker is stored on an on-premises database, and events are raised.</a:t>
            </a:r>
          </a:p>
          <a:p>
            <a:pPr>
              <a:spcAft>
                <a:spcPts val="1200"/>
              </a:spcAft>
            </a:pPr>
            <a:r>
              <a:rPr lang="en-US" sz="1050" dirty="0">
                <a:solidFill>
                  <a:schemeClr val="bg1">
                    <a:lumMod val="10000"/>
                  </a:schemeClr>
                </a:solidFill>
                <a:latin typeface="Amazon Ember" panose="020B0603020204020204" pitchFamily="34" charset="0"/>
                <a:ea typeface="Amazon Ember" panose="020B0603020204020204" pitchFamily="34" charset="0"/>
                <a:cs typeface="Amazon Ember" panose="020B0603020204020204" pitchFamily="34" charset="0"/>
              </a:rPr>
              <a:t>Users can then opt-in to store their face biometrics so that the close circuit can automatically recognize them inside the perimeter with smart cameras.</a:t>
            </a:r>
          </a:p>
          <a:p>
            <a:pPr>
              <a:spcAft>
                <a:spcPts val="1200"/>
              </a:spcAft>
            </a:pPr>
            <a:r>
              <a:rPr lang="en-US" sz="1050" dirty="0">
                <a:solidFill>
                  <a:schemeClr val="bg1">
                    <a:lumMod val="10000"/>
                  </a:schemeClr>
                </a:solidFill>
                <a:latin typeface="Amazon Ember" panose="020B0603020204020204" pitchFamily="34" charset="0"/>
                <a:ea typeface="Amazon Ember" panose="020B0603020204020204" pitchFamily="34" charset="0"/>
                <a:cs typeface="Amazon Ember" panose="020B0603020204020204" pitchFamily="34" charset="0"/>
              </a:rPr>
              <a:t>Users can also register any NFC token to replace their sticker (e.g., e-passport, NFC bank cards, NFC-enabled  smartphones).</a:t>
            </a:r>
          </a:p>
          <a:p>
            <a:pPr>
              <a:spcAft>
                <a:spcPts val="1200"/>
              </a:spcAft>
            </a:pPr>
            <a:r>
              <a:rPr lang="en-US" sz="1050" dirty="0">
                <a:solidFill>
                  <a:schemeClr val="bg1">
                    <a:lumMod val="10000"/>
                  </a:schemeClr>
                </a:solidFill>
                <a:latin typeface="Amazon Ember" panose="020B0603020204020204" pitchFamily="34" charset="0"/>
                <a:ea typeface="Amazon Ember" panose="020B0603020204020204" pitchFamily="34" charset="0"/>
                <a:cs typeface="Amazon Ember" panose="020B0603020204020204" pitchFamily="34" charset="0"/>
              </a:rPr>
              <a:t>When reaching a check-point (e.g., gates), users scan their stickers to be authorized. The check-point verifies the signature of the sticker and then scans the user’s face to calculate the face hash and compare it to the face hash in the sticker. It then reads the sticker’s codes and metadata to access if the user has the right grants.</a:t>
            </a:r>
          </a:p>
          <a:p>
            <a:pPr>
              <a:spcAft>
                <a:spcPts val="1200"/>
              </a:spcAft>
            </a:pPr>
            <a:r>
              <a:rPr lang="en-US" sz="1050" dirty="0">
                <a:solidFill>
                  <a:schemeClr val="bg1">
                    <a:lumMod val="10000"/>
                  </a:schemeClr>
                </a:solidFill>
                <a:latin typeface="Amazon Ember" panose="020B0603020204020204" pitchFamily="34" charset="0"/>
                <a:ea typeface="Amazon Ember" panose="020B0603020204020204" pitchFamily="34" charset="0"/>
                <a:cs typeface="Amazon Ember" panose="020B0603020204020204" pitchFamily="34" charset="0"/>
              </a:rPr>
              <a:t>Users with face biometrics registered are automatically recognized (e.g., just need to walk pass the gates). The check-point finds the registered face, then maps it to the stored 3P sticker already validated.</a:t>
            </a:r>
          </a:p>
          <a:p>
            <a:pPr>
              <a:spcAft>
                <a:spcPts val="1200"/>
              </a:spcAft>
            </a:pPr>
            <a:r>
              <a:rPr lang="en-US" sz="1050" dirty="0">
                <a:solidFill>
                  <a:schemeClr val="bg1">
                    <a:lumMod val="10000"/>
                  </a:schemeClr>
                </a:solidFill>
                <a:latin typeface="Amazon Ember" panose="020B0603020204020204" pitchFamily="34" charset="0"/>
                <a:ea typeface="Amazon Ember" panose="020B0603020204020204" pitchFamily="34" charset="0"/>
                <a:cs typeface="Amazon Ember" panose="020B0603020204020204" pitchFamily="34" charset="0"/>
              </a:rPr>
              <a:t>For users with NFC tokens registered, the check-point finds the stored sticker and only verifies the face hash. </a:t>
            </a:r>
          </a:p>
        </p:txBody>
      </p:sp>
      <p:cxnSp>
        <p:nvCxnSpPr>
          <p:cNvPr id="36" name="Separator">
            <a:extLst>
              <a:ext uri="{FF2B5EF4-FFF2-40B4-BE49-F238E27FC236}">
                <a16:creationId xmlns:a16="http://schemas.microsoft.com/office/drawing/2014/main" id="{21C15EAE-984B-C241-B4CF-3AB0A0313E3C}"/>
              </a:ext>
            </a:extLst>
          </p:cNvPr>
          <p:cNvCxnSpPr>
            <a:cxnSpLocks/>
          </p:cNvCxnSpPr>
          <p:nvPr/>
        </p:nvCxnSpPr>
        <p:spPr>
          <a:xfrm>
            <a:off x="304800" y="1447800"/>
            <a:ext cx="8544130" cy="0"/>
          </a:xfrm>
          <a:prstGeom prst="line">
            <a:avLst/>
          </a:prstGeom>
          <a:ln w="25400">
            <a:solidFill>
              <a:srgbClr val="545B64"/>
            </a:solidFill>
          </a:ln>
        </p:spPr>
        <p:style>
          <a:lnRef idx="3">
            <a:schemeClr val="dk1"/>
          </a:lnRef>
          <a:fillRef idx="0">
            <a:schemeClr val="dk1"/>
          </a:fillRef>
          <a:effectRef idx="2">
            <a:schemeClr val="dk1"/>
          </a:effectRef>
          <a:fontRef idx="minor">
            <a:schemeClr val="tx1"/>
          </a:fontRef>
        </p:style>
      </p:cxnSp>
      <p:sp>
        <p:nvSpPr>
          <p:cNvPr id="160" name="NumBox 8">
            <a:extLst>
              <a:ext uri="{FF2B5EF4-FFF2-40B4-BE49-F238E27FC236}">
                <a16:creationId xmlns:a16="http://schemas.microsoft.com/office/drawing/2014/main" id="{0D273327-7879-024D-95BD-BF18FEAB46A2}"/>
              </a:ext>
            </a:extLst>
          </p:cNvPr>
          <p:cNvSpPr/>
          <p:nvPr/>
        </p:nvSpPr>
        <p:spPr>
          <a:xfrm>
            <a:off x="9133881" y="616924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7</a:t>
            </a:r>
          </a:p>
        </p:txBody>
      </p:sp>
      <p:sp>
        <p:nvSpPr>
          <p:cNvPr id="326" name="NumBox 8">
            <a:extLst>
              <a:ext uri="{FF2B5EF4-FFF2-40B4-BE49-F238E27FC236}">
                <a16:creationId xmlns:a16="http://schemas.microsoft.com/office/drawing/2014/main" id="{70869823-279E-BE4F-933C-EA086FF2F5E0}"/>
              </a:ext>
            </a:extLst>
          </p:cNvPr>
          <p:cNvSpPr/>
          <p:nvPr/>
        </p:nvSpPr>
        <p:spPr>
          <a:xfrm>
            <a:off x="9133881" y="373380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5</a:t>
            </a:r>
          </a:p>
        </p:txBody>
      </p:sp>
      <p:pic>
        <p:nvPicPr>
          <p:cNvPr id="84" name="Graphic 26">
            <a:extLst>
              <a:ext uri="{FF2B5EF4-FFF2-40B4-BE49-F238E27FC236}">
                <a16:creationId xmlns:a16="http://schemas.microsoft.com/office/drawing/2014/main" id="{B9F4C0C7-DCAC-1048-9B83-6AA908310C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70409" y="4722874"/>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5" name="Group 84">
            <a:extLst>
              <a:ext uri="{FF2B5EF4-FFF2-40B4-BE49-F238E27FC236}">
                <a16:creationId xmlns:a16="http://schemas.microsoft.com/office/drawing/2014/main" id="{C9F55FC8-50EA-E347-881A-A2AD9F8A6887}"/>
              </a:ext>
            </a:extLst>
          </p:cNvPr>
          <p:cNvGrpSpPr/>
          <p:nvPr/>
        </p:nvGrpSpPr>
        <p:grpSpPr>
          <a:xfrm>
            <a:off x="355283" y="3286324"/>
            <a:ext cx="469900" cy="727224"/>
            <a:chOff x="908854" y="3224699"/>
            <a:chExt cx="469900" cy="727224"/>
          </a:xfrm>
        </p:grpSpPr>
        <p:pic>
          <p:nvPicPr>
            <p:cNvPr id="91" name="Graphic 22">
              <a:extLst>
                <a:ext uri="{FF2B5EF4-FFF2-40B4-BE49-F238E27FC236}">
                  <a16:creationId xmlns:a16="http://schemas.microsoft.com/office/drawing/2014/main" id="{A4A7F821-29AB-EA41-9A8F-A0E9DCC748BB}"/>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908854" y="3224699"/>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 name="TextBox 34">
              <a:extLst>
                <a:ext uri="{FF2B5EF4-FFF2-40B4-BE49-F238E27FC236}">
                  <a16:creationId xmlns:a16="http://schemas.microsoft.com/office/drawing/2014/main" id="{9CE78EBA-CF4C-0B46-A669-75CB3747FE6F}"/>
                </a:ext>
              </a:extLst>
            </p:cNvPr>
            <p:cNvSpPr txBox="1">
              <a:spLocks noChangeArrowheads="1"/>
            </p:cNvSpPr>
            <p:nvPr/>
          </p:nvSpPr>
          <p:spPr bwMode="auto">
            <a:xfrm>
              <a:off x="916243" y="3698007"/>
              <a:ext cx="45512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User</a:t>
              </a:r>
              <a:endPar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endParaRPr>
            </a:p>
          </p:txBody>
        </p:sp>
      </p:grpSp>
      <p:grpSp>
        <p:nvGrpSpPr>
          <p:cNvPr id="9" name="Group 8">
            <a:extLst>
              <a:ext uri="{FF2B5EF4-FFF2-40B4-BE49-F238E27FC236}">
                <a16:creationId xmlns:a16="http://schemas.microsoft.com/office/drawing/2014/main" id="{F59D1E00-87BF-ED46-80DC-09E63D2CD9B9}"/>
              </a:ext>
            </a:extLst>
          </p:cNvPr>
          <p:cNvGrpSpPr/>
          <p:nvPr/>
        </p:nvGrpSpPr>
        <p:grpSpPr>
          <a:xfrm>
            <a:off x="805550" y="2759066"/>
            <a:ext cx="808497" cy="523613"/>
            <a:chOff x="901989" y="1909145"/>
            <a:chExt cx="808497" cy="523613"/>
          </a:xfrm>
        </p:grpSpPr>
        <p:pic>
          <p:nvPicPr>
            <p:cNvPr id="93" name="Picture 92">
              <a:extLst>
                <a:ext uri="{FF2B5EF4-FFF2-40B4-BE49-F238E27FC236}">
                  <a16:creationId xmlns:a16="http://schemas.microsoft.com/office/drawing/2014/main" id="{227241B5-F686-BE4E-A85D-1B4792CDA183}"/>
                </a:ext>
              </a:extLst>
            </p:cNvPr>
            <p:cNvPicPr>
              <a:picLocks noChangeAspect="1"/>
            </p:cNvPicPr>
            <p:nvPr/>
          </p:nvPicPr>
          <p:blipFill>
            <a:blip r:embed="rId8"/>
            <a:stretch>
              <a:fillRect/>
            </a:stretch>
          </p:blipFill>
          <p:spPr>
            <a:xfrm>
              <a:off x="1162296" y="1909145"/>
              <a:ext cx="287885" cy="288608"/>
            </a:xfrm>
            <a:prstGeom prst="rect">
              <a:avLst/>
            </a:prstGeom>
          </p:spPr>
        </p:pic>
        <p:sp>
          <p:nvSpPr>
            <p:cNvPr id="96" name="TextBox 34">
              <a:extLst>
                <a:ext uri="{FF2B5EF4-FFF2-40B4-BE49-F238E27FC236}">
                  <a16:creationId xmlns:a16="http://schemas.microsoft.com/office/drawing/2014/main" id="{A062B658-0D4C-1140-8D43-6920C96E306C}"/>
                </a:ext>
              </a:extLst>
            </p:cNvPr>
            <p:cNvSpPr txBox="1">
              <a:spLocks noChangeArrowheads="1"/>
            </p:cNvSpPr>
            <p:nvPr/>
          </p:nvSpPr>
          <p:spPr bwMode="auto">
            <a:xfrm>
              <a:off x="901989" y="2178842"/>
              <a:ext cx="808497"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3P sticker </a:t>
              </a:r>
            </a:p>
          </p:txBody>
        </p:sp>
      </p:grpSp>
      <p:grpSp>
        <p:nvGrpSpPr>
          <p:cNvPr id="14" name="Group 13">
            <a:extLst>
              <a:ext uri="{FF2B5EF4-FFF2-40B4-BE49-F238E27FC236}">
                <a16:creationId xmlns:a16="http://schemas.microsoft.com/office/drawing/2014/main" id="{0CDDDF17-2F35-9F4C-B571-0D8A9572246D}"/>
              </a:ext>
            </a:extLst>
          </p:cNvPr>
          <p:cNvGrpSpPr/>
          <p:nvPr/>
        </p:nvGrpSpPr>
        <p:grpSpPr>
          <a:xfrm>
            <a:off x="2438400" y="2462367"/>
            <a:ext cx="1159290" cy="457200"/>
            <a:chOff x="2459620" y="2513062"/>
            <a:chExt cx="1159290" cy="457200"/>
          </a:xfrm>
        </p:grpSpPr>
        <p:pic>
          <p:nvPicPr>
            <p:cNvPr id="113" name="Graphic 48">
              <a:extLst>
                <a:ext uri="{FF2B5EF4-FFF2-40B4-BE49-F238E27FC236}">
                  <a16:creationId xmlns:a16="http://schemas.microsoft.com/office/drawing/2014/main" id="{43C614BC-8C81-B243-854F-DBCCCDA7A24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59620" y="2513062"/>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4" name="TextBox 34">
              <a:extLst>
                <a:ext uri="{FF2B5EF4-FFF2-40B4-BE49-F238E27FC236}">
                  <a16:creationId xmlns:a16="http://schemas.microsoft.com/office/drawing/2014/main" id="{B752B27C-C490-BE4B-9D0D-0D7CD6392490}"/>
                </a:ext>
              </a:extLst>
            </p:cNvPr>
            <p:cNvSpPr txBox="1">
              <a:spLocks noChangeArrowheads="1"/>
            </p:cNvSpPr>
            <p:nvPr/>
          </p:nvSpPr>
          <p:spPr bwMode="auto">
            <a:xfrm>
              <a:off x="2874178" y="2533913"/>
              <a:ext cx="744732"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verify 3P signature</a:t>
              </a:r>
            </a:p>
          </p:txBody>
        </p:sp>
      </p:grpSp>
      <p:grpSp>
        <p:nvGrpSpPr>
          <p:cNvPr id="13" name="Group 12">
            <a:extLst>
              <a:ext uri="{FF2B5EF4-FFF2-40B4-BE49-F238E27FC236}">
                <a16:creationId xmlns:a16="http://schemas.microsoft.com/office/drawing/2014/main" id="{3CB5FB9E-46B2-9340-9AD3-2EA1CD5FE2F1}"/>
              </a:ext>
            </a:extLst>
          </p:cNvPr>
          <p:cNvGrpSpPr/>
          <p:nvPr/>
        </p:nvGrpSpPr>
        <p:grpSpPr>
          <a:xfrm>
            <a:off x="2438400" y="3291930"/>
            <a:ext cx="1203155" cy="457200"/>
            <a:chOff x="2459620" y="3384502"/>
            <a:chExt cx="1203155" cy="457200"/>
          </a:xfrm>
        </p:grpSpPr>
        <p:pic>
          <p:nvPicPr>
            <p:cNvPr id="99" name="Graphic 26">
              <a:extLst>
                <a:ext uri="{FF2B5EF4-FFF2-40B4-BE49-F238E27FC236}">
                  <a16:creationId xmlns:a16="http://schemas.microsoft.com/office/drawing/2014/main" id="{AABC9375-9B90-FA4D-A153-5017784710F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59620" y="3384502"/>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 name="TextBox 34">
              <a:extLst>
                <a:ext uri="{FF2B5EF4-FFF2-40B4-BE49-F238E27FC236}">
                  <a16:creationId xmlns:a16="http://schemas.microsoft.com/office/drawing/2014/main" id="{7695F55D-0D92-6041-B4B2-958AE5D04A9B}"/>
                </a:ext>
              </a:extLst>
            </p:cNvPr>
            <p:cNvSpPr txBox="1">
              <a:spLocks noChangeArrowheads="1"/>
            </p:cNvSpPr>
            <p:nvPr/>
          </p:nvSpPr>
          <p:spPr bwMode="auto">
            <a:xfrm>
              <a:off x="2874179" y="3405353"/>
              <a:ext cx="78859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verify face hash</a:t>
              </a:r>
            </a:p>
          </p:txBody>
        </p:sp>
      </p:grpSp>
      <p:cxnSp>
        <p:nvCxnSpPr>
          <p:cNvPr id="121" name="Straight Arrow Connector 202">
            <a:extLst>
              <a:ext uri="{FF2B5EF4-FFF2-40B4-BE49-F238E27FC236}">
                <a16:creationId xmlns:a16="http://schemas.microsoft.com/office/drawing/2014/main" id="{41F49FA5-F09A-5245-BE7B-32D78832202E}"/>
              </a:ext>
            </a:extLst>
          </p:cNvPr>
          <p:cNvCxnSpPr>
            <a:cxnSpLocks/>
            <a:stCxn id="91" idx="0"/>
            <a:endCxn id="113" idx="1"/>
          </p:cNvCxnSpPr>
          <p:nvPr/>
        </p:nvCxnSpPr>
        <p:spPr>
          <a:xfrm rot="5400000" flipH="1" flipV="1">
            <a:off x="1216638" y="2064563"/>
            <a:ext cx="595357" cy="1848167"/>
          </a:xfrm>
          <a:prstGeom prst="bentConnector2">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123" name="Straight Arrow Connector 202">
            <a:extLst>
              <a:ext uri="{FF2B5EF4-FFF2-40B4-BE49-F238E27FC236}">
                <a16:creationId xmlns:a16="http://schemas.microsoft.com/office/drawing/2014/main" id="{D6CB02F6-DC5D-8949-85B9-E6C1678B0668}"/>
              </a:ext>
            </a:extLst>
          </p:cNvPr>
          <p:cNvCxnSpPr>
            <a:cxnSpLocks/>
            <a:stCxn id="92" idx="2"/>
            <a:endCxn id="164" idx="1"/>
          </p:cNvCxnSpPr>
          <p:nvPr/>
        </p:nvCxnSpPr>
        <p:spPr>
          <a:xfrm rot="16200000" flipH="1">
            <a:off x="905071" y="3698709"/>
            <a:ext cx="1675691" cy="2305368"/>
          </a:xfrm>
          <a:prstGeom prst="bentConnector2">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id="{3450A2B1-CCE5-514A-A60B-CB2CABB4431F}"/>
              </a:ext>
            </a:extLst>
          </p:cNvPr>
          <p:cNvCxnSpPr>
            <a:cxnSpLocks/>
            <a:stCxn id="91" idx="3"/>
            <a:endCxn id="99" idx="1"/>
          </p:cNvCxnSpPr>
          <p:nvPr/>
        </p:nvCxnSpPr>
        <p:spPr>
          <a:xfrm flipV="1">
            <a:off x="825183" y="3520530"/>
            <a:ext cx="1613217" cy="744"/>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pic>
        <p:nvPicPr>
          <p:cNvPr id="1036" name="Picture 12" descr="Nfc - Free networking icons">
            <a:extLst>
              <a:ext uri="{FF2B5EF4-FFF2-40B4-BE49-F238E27FC236}">
                <a16:creationId xmlns:a16="http://schemas.microsoft.com/office/drawing/2014/main" id="{9549AB80-EE57-7845-82CC-5AC505D2511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9378" y="5248714"/>
            <a:ext cx="355543" cy="355543"/>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Tiptopblue | Get Expert Cleaning &amp; Repair Services at Home - tiptopblue">
            <a:extLst>
              <a:ext uri="{FF2B5EF4-FFF2-40B4-BE49-F238E27FC236}">
                <a16:creationId xmlns:a16="http://schemas.microsoft.com/office/drawing/2014/main" id="{EB74FAAD-6A78-0F42-B6D3-AE548DB544D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77187" y="5208147"/>
            <a:ext cx="396110" cy="396110"/>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Como se conectar ao Wifi com um Android - AndroidPhone">
            <a:extLst>
              <a:ext uri="{FF2B5EF4-FFF2-40B4-BE49-F238E27FC236}">
                <a16:creationId xmlns:a16="http://schemas.microsoft.com/office/drawing/2014/main" id="{90844D3F-B002-7B4B-8462-6F64E43F633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70826" y="5225160"/>
            <a:ext cx="381148" cy="381148"/>
          </a:xfrm>
          <a:prstGeom prst="rect">
            <a:avLst/>
          </a:prstGeom>
          <a:noFill/>
          <a:extLst>
            <a:ext uri="{909E8E84-426E-40DD-AFC4-6F175D3DCCD1}">
              <a14:hiddenFill xmlns:a14="http://schemas.microsoft.com/office/drawing/2010/main">
                <a:solidFill>
                  <a:srgbClr val="FFFFFF"/>
                </a:solidFill>
              </a14:hiddenFill>
            </a:ext>
          </a:extLst>
        </p:spPr>
      </p:pic>
      <p:cxnSp>
        <p:nvCxnSpPr>
          <p:cNvPr id="126" name="Straight Arrow Connector 125">
            <a:extLst>
              <a:ext uri="{FF2B5EF4-FFF2-40B4-BE49-F238E27FC236}">
                <a16:creationId xmlns:a16="http://schemas.microsoft.com/office/drawing/2014/main" id="{B3EA115C-CD2E-4F41-869E-6209F001CE46}"/>
              </a:ext>
            </a:extLst>
          </p:cNvPr>
          <p:cNvCxnSpPr>
            <a:cxnSpLocks/>
            <a:stCxn id="113" idx="2"/>
            <a:endCxn id="99" idx="0"/>
          </p:cNvCxnSpPr>
          <p:nvPr/>
        </p:nvCxnSpPr>
        <p:spPr>
          <a:xfrm>
            <a:off x="2667000" y="2919567"/>
            <a:ext cx="0" cy="372363"/>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pic>
        <p:nvPicPr>
          <p:cNvPr id="130" name="Graphic 129">
            <a:extLst>
              <a:ext uri="{FF2B5EF4-FFF2-40B4-BE49-F238E27FC236}">
                <a16:creationId xmlns:a16="http://schemas.microsoft.com/office/drawing/2014/main" id="{CA747479-1239-3441-85F8-4CB38EBE6BF0}"/>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507595" y="1653155"/>
            <a:ext cx="381000" cy="381000"/>
          </a:xfrm>
          <a:prstGeom prst="rect">
            <a:avLst/>
          </a:prstGeom>
        </p:spPr>
      </p:pic>
      <p:grpSp>
        <p:nvGrpSpPr>
          <p:cNvPr id="1044" name="Group 1043">
            <a:extLst>
              <a:ext uri="{FF2B5EF4-FFF2-40B4-BE49-F238E27FC236}">
                <a16:creationId xmlns:a16="http://schemas.microsoft.com/office/drawing/2014/main" id="{5D0155D2-6D03-9041-9FD5-88BF729C416C}"/>
              </a:ext>
            </a:extLst>
          </p:cNvPr>
          <p:cNvGrpSpPr/>
          <p:nvPr/>
        </p:nvGrpSpPr>
        <p:grpSpPr>
          <a:xfrm>
            <a:off x="4444652" y="3287627"/>
            <a:ext cx="1183721" cy="700089"/>
            <a:chOff x="3761929" y="2480127"/>
            <a:chExt cx="1183721" cy="700089"/>
          </a:xfrm>
        </p:grpSpPr>
        <p:pic>
          <p:nvPicPr>
            <p:cNvPr id="131" name="Graphic 11">
              <a:extLst>
                <a:ext uri="{FF2B5EF4-FFF2-40B4-BE49-F238E27FC236}">
                  <a16:creationId xmlns:a16="http://schemas.microsoft.com/office/drawing/2014/main" id="{937AE990-C109-494B-88AD-2648A8298599}"/>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118839" y="2480127"/>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0" name="TextBox 34">
              <a:extLst>
                <a:ext uri="{FF2B5EF4-FFF2-40B4-BE49-F238E27FC236}">
                  <a16:creationId xmlns:a16="http://schemas.microsoft.com/office/drawing/2014/main" id="{D14982C4-A63A-DE45-B147-5CA5AE78A10A}"/>
                </a:ext>
              </a:extLst>
            </p:cNvPr>
            <p:cNvSpPr txBox="1">
              <a:spLocks noChangeArrowheads="1"/>
            </p:cNvSpPr>
            <p:nvPr/>
          </p:nvSpPr>
          <p:spPr bwMode="auto">
            <a:xfrm>
              <a:off x="3761929" y="2926300"/>
              <a:ext cx="1183721"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3P stickers</a:t>
              </a:r>
            </a:p>
          </p:txBody>
        </p:sp>
      </p:grpSp>
      <p:sp>
        <p:nvSpPr>
          <p:cNvPr id="141" name="TextBox 34">
            <a:extLst>
              <a:ext uri="{FF2B5EF4-FFF2-40B4-BE49-F238E27FC236}">
                <a16:creationId xmlns:a16="http://schemas.microsoft.com/office/drawing/2014/main" id="{63A04239-DCEA-7B44-92FB-E6965477617C}"/>
              </a:ext>
            </a:extLst>
          </p:cNvPr>
          <p:cNvSpPr txBox="1">
            <a:spLocks noChangeArrowheads="1"/>
          </p:cNvSpPr>
          <p:nvPr/>
        </p:nvSpPr>
        <p:spPr bwMode="auto">
          <a:xfrm>
            <a:off x="1193342" y="3529827"/>
            <a:ext cx="808497"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face</a:t>
            </a:r>
          </a:p>
        </p:txBody>
      </p:sp>
      <p:sp>
        <p:nvSpPr>
          <p:cNvPr id="142" name="TextBox 34">
            <a:extLst>
              <a:ext uri="{FF2B5EF4-FFF2-40B4-BE49-F238E27FC236}">
                <a16:creationId xmlns:a16="http://schemas.microsoft.com/office/drawing/2014/main" id="{8B4DB4CB-9EC4-354D-9B3A-07A7509A98BD}"/>
              </a:ext>
            </a:extLst>
          </p:cNvPr>
          <p:cNvSpPr txBox="1">
            <a:spLocks noChangeArrowheads="1"/>
          </p:cNvSpPr>
          <p:nvPr/>
        </p:nvSpPr>
        <p:spPr bwMode="auto">
          <a:xfrm>
            <a:off x="1911712" y="5436747"/>
            <a:ext cx="1060088"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NFC tokens</a:t>
            </a:r>
          </a:p>
        </p:txBody>
      </p:sp>
      <p:sp>
        <p:nvSpPr>
          <p:cNvPr id="155" name="TextBox 34">
            <a:extLst>
              <a:ext uri="{FF2B5EF4-FFF2-40B4-BE49-F238E27FC236}">
                <a16:creationId xmlns:a16="http://schemas.microsoft.com/office/drawing/2014/main" id="{99F14CFC-1183-6C45-A723-802C9D5E5566}"/>
              </a:ext>
            </a:extLst>
          </p:cNvPr>
          <p:cNvSpPr txBox="1">
            <a:spLocks noChangeArrowheads="1"/>
          </p:cNvSpPr>
          <p:nvPr/>
        </p:nvSpPr>
        <p:spPr bwMode="auto">
          <a:xfrm>
            <a:off x="4535468" y="5501383"/>
            <a:ext cx="572327"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NFC </a:t>
            </a:r>
          </a:p>
          <a:p>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tokens</a:t>
            </a:r>
          </a:p>
        </p:txBody>
      </p:sp>
      <p:pic>
        <p:nvPicPr>
          <p:cNvPr id="164" name="Graphic 42">
            <a:extLst>
              <a:ext uri="{FF2B5EF4-FFF2-40B4-BE49-F238E27FC236}">
                <a16:creationId xmlns:a16="http://schemas.microsoft.com/office/drawing/2014/main" id="{33B56A82-F314-F44D-86F1-4B63903445D7}"/>
              </a:ext>
            </a:extLst>
          </p:cNvPr>
          <p:cNvPicPr>
            <a:picLocks noChangeAspect="1" noChangeArrowheads="1"/>
          </p:cNvPicPr>
          <p:nvPr/>
        </p:nvPicPr>
        <p:blipFill>
          <a:blip r:embed="rId16">
            <a:extLst>
              <a:ext uri="{96DAC541-7B7A-43D3-8B79-37D633B846F1}">
                <asvg:svgBlip xmlns:asvg="http://schemas.microsoft.com/office/drawing/2016/SVG/main" r:embed="rId17"/>
              </a:ext>
            </a:extLst>
          </a:blip>
          <a:srcRect/>
          <a:stretch/>
        </p:blipFill>
        <p:spPr bwMode="auto">
          <a:xfrm>
            <a:off x="2895600" y="5460639"/>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93" name="Straight Arrow Connector 192">
            <a:extLst>
              <a:ext uri="{FF2B5EF4-FFF2-40B4-BE49-F238E27FC236}">
                <a16:creationId xmlns:a16="http://schemas.microsoft.com/office/drawing/2014/main" id="{C58AF1D4-A76E-944F-B4BE-E6F2E0474025}"/>
              </a:ext>
            </a:extLst>
          </p:cNvPr>
          <p:cNvCxnSpPr>
            <a:cxnSpLocks/>
            <a:stCxn id="84" idx="1"/>
            <a:endCxn id="128" idx="3"/>
          </p:cNvCxnSpPr>
          <p:nvPr/>
        </p:nvCxnSpPr>
        <p:spPr>
          <a:xfrm flipH="1" flipV="1">
            <a:off x="5321474" y="4945674"/>
            <a:ext cx="948935" cy="5800"/>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pic>
        <p:nvPicPr>
          <p:cNvPr id="207" name="Graphic 11">
            <a:extLst>
              <a:ext uri="{FF2B5EF4-FFF2-40B4-BE49-F238E27FC236}">
                <a16:creationId xmlns:a16="http://schemas.microsoft.com/office/drawing/2014/main" id="{F5628B55-8A4A-D44A-864A-0B2B30C823E4}"/>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114800" y="5455831"/>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17" name="Straight Arrow Connector 216">
            <a:extLst>
              <a:ext uri="{FF2B5EF4-FFF2-40B4-BE49-F238E27FC236}">
                <a16:creationId xmlns:a16="http://schemas.microsoft.com/office/drawing/2014/main" id="{FBBF94FA-9C74-E84C-8CD0-7B8B5D1DBFFC}"/>
              </a:ext>
            </a:extLst>
          </p:cNvPr>
          <p:cNvCxnSpPr>
            <a:cxnSpLocks/>
            <a:stCxn id="115" idx="3"/>
            <a:endCxn id="131" idx="1"/>
          </p:cNvCxnSpPr>
          <p:nvPr/>
        </p:nvCxnSpPr>
        <p:spPr>
          <a:xfrm>
            <a:off x="3641555" y="3520530"/>
            <a:ext cx="1160007" cy="2047"/>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pic>
        <p:nvPicPr>
          <p:cNvPr id="220" name="Graphic 42">
            <a:extLst>
              <a:ext uri="{FF2B5EF4-FFF2-40B4-BE49-F238E27FC236}">
                <a16:creationId xmlns:a16="http://schemas.microsoft.com/office/drawing/2014/main" id="{8D26F7D1-1E92-6543-BBD1-294FE7B6EA6C}"/>
              </a:ext>
            </a:extLst>
          </p:cNvPr>
          <p:cNvPicPr>
            <a:picLocks noChangeAspect="1" noChangeArrowheads="1"/>
          </p:cNvPicPr>
          <p:nvPr/>
        </p:nvPicPr>
        <p:blipFill>
          <a:blip r:embed="rId16">
            <a:extLst>
              <a:ext uri="{96DAC541-7B7A-43D3-8B79-37D633B846F1}">
                <asvg:svgBlip xmlns:asvg="http://schemas.microsoft.com/office/drawing/2016/SVG/main" r:embed="rId17"/>
              </a:ext>
            </a:extLst>
          </a:blip>
          <a:srcRect/>
          <a:stretch/>
        </p:blipFill>
        <p:spPr bwMode="auto">
          <a:xfrm>
            <a:off x="6260926" y="54864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21" name="Group 220">
            <a:extLst>
              <a:ext uri="{FF2B5EF4-FFF2-40B4-BE49-F238E27FC236}">
                <a16:creationId xmlns:a16="http://schemas.microsoft.com/office/drawing/2014/main" id="{3760E050-FA01-D84D-AB27-B58CE06CE97D}"/>
              </a:ext>
            </a:extLst>
          </p:cNvPr>
          <p:cNvGrpSpPr/>
          <p:nvPr/>
        </p:nvGrpSpPr>
        <p:grpSpPr>
          <a:xfrm>
            <a:off x="7563237" y="3508446"/>
            <a:ext cx="1428363" cy="695694"/>
            <a:chOff x="429622" y="3224699"/>
            <a:chExt cx="1428363" cy="695694"/>
          </a:xfrm>
        </p:grpSpPr>
        <p:pic>
          <p:nvPicPr>
            <p:cNvPr id="222" name="Graphic 22">
              <a:extLst>
                <a:ext uri="{FF2B5EF4-FFF2-40B4-BE49-F238E27FC236}">
                  <a16:creationId xmlns:a16="http://schemas.microsoft.com/office/drawing/2014/main" id="{4D9A03FA-B951-0A42-B8E0-8AB58F171363}"/>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908854" y="3224699"/>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3" name="TextBox 34">
              <a:extLst>
                <a:ext uri="{FF2B5EF4-FFF2-40B4-BE49-F238E27FC236}">
                  <a16:creationId xmlns:a16="http://schemas.microsoft.com/office/drawing/2014/main" id="{959FCEBD-7B44-4F42-9D7E-8FFC7B6FF283}"/>
                </a:ext>
              </a:extLst>
            </p:cNvPr>
            <p:cNvSpPr txBox="1">
              <a:spLocks noChangeArrowheads="1"/>
            </p:cNvSpPr>
            <p:nvPr/>
          </p:nvSpPr>
          <p:spPr bwMode="auto">
            <a:xfrm>
              <a:off x="429622" y="3666477"/>
              <a:ext cx="1428363"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User</a:t>
              </a:r>
              <a:endPar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endParaRPr>
            </a:p>
          </p:txBody>
        </p:sp>
      </p:grpSp>
      <p:cxnSp>
        <p:nvCxnSpPr>
          <p:cNvPr id="224" name="Straight Arrow Connector 223">
            <a:extLst>
              <a:ext uri="{FF2B5EF4-FFF2-40B4-BE49-F238E27FC236}">
                <a16:creationId xmlns:a16="http://schemas.microsoft.com/office/drawing/2014/main" id="{DAB8B150-4306-8E45-B913-1D4EC41223DF}"/>
              </a:ext>
            </a:extLst>
          </p:cNvPr>
          <p:cNvCxnSpPr>
            <a:cxnSpLocks/>
            <a:stCxn id="223" idx="2"/>
            <a:endCxn id="220" idx="3"/>
          </p:cNvCxnSpPr>
          <p:nvPr/>
        </p:nvCxnSpPr>
        <p:spPr>
          <a:xfrm rot="5400000">
            <a:off x="6742343" y="4179924"/>
            <a:ext cx="1510860" cy="1559293"/>
          </a:xfrm>
          <a:prstGeom prst="bentConnector2">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227" name="Straight Arrow Connector 226">
            <a:extLst>
              <a:ext uri="{FF2B5EF4-FFF2-40B4-BE49-F238E27FC236}">
                <a16:creationId xmlns:a16="http://schemas.microsoft.com/office/drawing/2014/main" id="{BFDA1324-531E-3C42-BCF7-C063F846DABD}"/>
              </a:ext>
            </a:extLst>
          </p:cNvPr>
          <p:cNvCxnSpPr>
            <a:cxnSpLocks/>
            <a:stCxn id="220" idx="1"/>
            <a:endCxn id="155" idx="3"/>
          </p:cNvCxnSpPr>
          <p:nvPr/>
        </p:nvCxnSpPr>
        <p:spPr>
          <a:xfrm flipH="1" flipV="1">
            <a:off x="5107795" y="5709132"/>
            <a:ext cx="1153131" cy="5868"/>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sp>
        <p:nvSpPr>
          <p:cNvPr id="235" name="TextBox 34">
            <a:extLst>
              <a:ext uri="{FF2B5EF4-FFF2-40B4-BE49-F238E27FC236}">
                <a16:creationId xmlns:a16="http://schemas.microsoft.com/office/drawing/2014/main" id="{DB8003A4-238B-4843-8F4C-21BA6F5C6BE7}"/>
              </a:ext>
            </a:extLst>
          </p:cNvPr>
          <p:cNvSpPr txBox="1">
            <a:spLocks noChangeArrowheads="1"/>
          </p:cNvSpPr>
          <p:nvPr/>
        </p:nvSpPr>
        <p:spPr bwMode="auto">
          <a:xfrm>
            <a:off x="5497602" y="4550762"/>
            <a:ext cx="968394"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050" i="1" dirty="0">
                <a:solidFill>
                  <a:srgbClr val="000000"/>
                </a:solidFill>
                <a:effectLst>
                  <a:glow>
                    <a:schemeClr val="bg1">
                      <a:alpha val="40000"/>
                    </a:schemeClr>
                  </a:glow>
                </a:effectLst>
                <a:latin typeface="Amazon Ember" panose="020B0603020204020204" pitchFamily="34" charset="0"/>
                <a:ea typeface="Amazon Ember" panose="020B0603020204020204" pitchFamily="34" charset="0"/>
                <a:cs typeface="Amazon Ember" panose="020B0603020204020204" pitchFamily="34" charset="0"/>
              </a:rPr>
              <a:t>find pass </a:t>
            </a:r>
            <a:br>
              <a:rPr lang="en-US" altLang="en-US" sz="1050" i="1" dirty="0">
                <a:solidFill>
                  <a:srgbClr val="000000"/>
                </a:solidFill>
                <a:effectLst>
                  <a:glow>
                    <a:schemeClr val="bg1">
                      <a:alpha val="40000"/>
                    </a:schemeClr>
                  </a:glow>
                </a:effectLst>
                <a:latin typeface="Amazon Ember" panose="020B0603020204020204" pitchFamily="34" charset="0"/>
                <a:ea typeface="Amazon Ember" panose="020B0603020204020204" pitchFamily="34" charset="0"/>
                <a:cs typeface="Amazon Ember" panose="020B0603020204020204" pitchFamily="34" charset="0"/>
              </a:rPr>
            </a:br>
            <a:r>
              <a:rPr lang="en-US" altLang="en-US" sz="1050" i="1" dirty="0">
                <a:solidFill>
                  <a:srgbClr val="000000"/>
                </a:solidFill>
                <a:effectLst>
                  <a:glow>
                    <a:schemeClr val="bg1">
                      <a:alpha val="40000"/>
                    </a:schemeClr>
                  </a:glow>
                </a:effectLst>
                <a:latin typeface="Amazon Ember" panose="020B0603020204020204" pitchFamily="34" charset="0"/>
                <a:ea typeface="Amazon Ember" panose="020B0603020204020204" pitchFamily="34" charset="0"/>
                <a:cs typeface="Amazon Ember" panose="020B0603020204020204" pitchFamily="34" charset="0"/>
              </a:rPr>
              <a:t>by face</a:t>
            </a:r>
          </a:p>
        </p:txBody>
      </p:sp>
      <p:sp>
        <p:nvSpPr>
          <p:cNvPr id="237" name="TextBox 34">
            <a:extLst>
              <a:ext uri="{FF2B5EF4-FFF2-40B4-BE49-F238E27FC236}">
                <a16:creationId xmlns:a16="http://schemas.microsoft.com/office/drawing/2014/main" id="{2D6EC302-09E2-5642-95A6-DBC3918D6963}"/>
              </a:ext>
            </a:extLst>
          </p:cNvPr>
          <p:cNvSpPr txBox="1">
            <a:spLocks noChangeArrowheads="1"/>
          </p:cNvSpPr>
          <p:nvPr/>
        </p:nvSpPr>
        <p:spPr bwMode="auto">
          <a:xfrm>
            <a:off x="5510752" y="5300997"/>
            <a:ext cx="1193524"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defRPr sz="1050" i="1">
                <a:solidFill>
                  <a:srgbClr val="000000"/>
                </a:solidFill>
                <a:effectLst>
                  <a:glow>
                    <a:schemeClr val="bg1">
                      <a:alpha val="40000"/>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dirty="0"/>
              <a:t>find pass by</a:t>
            </a:r>
            <a:br>
              <a:rPr lang="en-US" altLang="en-US" dirty="0"/>
            </a:br>
            <a:r>
              <a:rPr lang="en-US" altLang="en-US" dirty="0"/>
              <a:t>NFC token</a:t>
            </a:r>
          </a:p>
        </p:txBody>
      </p:sp>
      <p:sp>
        <p:nvSpPr>
          <p:cNvPr id="242" name="NumBox 1">
            <a:extLst>
              <a:ext uri="{FF2B5EF4-FFF2-40B4-BE49-F238E27FC236}">
                <a16:creationId xmlns:a16="http://schemas.microsoft.com/office/drawing/2014/main" id="{A1187E0C-E637-C640-B9D6-189F2B838876}"/>
              </a:ext>
            </a:extLst>
          </p:cNvPr>
          <p:cNvSpPr/>
          <p:nvPr/>
        </p:nvSpPr>
        <p:spPr>
          <a:xfrm>
            <a:off x="703890" y="2556484"/>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1</a:t>
            </a:r>
          </a:p>
        </p:txBody>
      </p:sp>
      <p:sp>
        <p:nvSpPr>
          <p:cNvPr id="243" name="NumBox 1">
            <a:extLst>
              <a:ext uri="{FF2B5EF4-FFF2-40B4-BE49-F238E27FC236}">
                <a16:creationId xmlns:a16="http://schemas.microsoft.com/office/drawing/2014/main" id="{81092D40-BAA4-474E-91A5-B1D733598269}"/>
              </a:ext>
            </a:extLst>
          </p:cNvPr>
          <p:cNvSpPr/>
          <p:nvPr/>
        </p:nvSpPr>
        <p:spPr>
          <a:xfrm>
            <a:off x="929404" y="3411228"/>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2</a:t>
            </a:r>
          </a:p>
        </p:txBody>
      </p:sp>
      <p:sp>
        <p:nvSpPr>
          <p:cNvPr id="245" name="NumBox 1">
            <a:extLst>
              <a:ext uri="{FF2B5EF4-FFF2-40B4-BE49-F238E27FC236}">
                <a16:creationId xmlns:a16="http://schemas.microsoft.com/office/drawing/2014/main" id="{4ABC689C-51E7-5C47-8E9E-9493DA7EC785}"/>
              </a:ext>
            </a:extLst>
          </p:cNvPr>
          <p:cNvSpPr/>
          <p:nvPr/>
        </p:nvSpPr>
        <p:spPr>
          <a:xfrm>
            <a:off x="1758748" y="5340599"/>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4</a:t>
            </a:r>
          </a:p>
        </p:txBody>
      </p:sp>
      <p:sp>
        <p:nvSpPr>
          <p:cNvPr id="249" name="NumBox 1">
            <a:extLst>
              <a:ext uri="{FF2B5EF4-FFF2-40B4-BE49-F238E27FC236}">
                <a16:creationId xmlns:a16="http://schemas.microsoft.com/office/drawing/2014/main" id="{4686A73B-10D2-D04C-A064-945796E52970}"/>
              </a:ext>
            </a:extLst>
          </p:cNvPr>
          <p:cNvSpPr/>
          <p:nvPr/>
        </p:nvSpPr>
        <p:spPr>
          <a:xfrm>
            <a:off x="6875748" y="5613548"/>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7</a:t>
            </a:r>
          </a:p>
        </p:txBody>
      </p:sp>
      <p:grpSp>
        <p:nvGrpSpPr>
          <p:cNvPr id="1035" name="Group 1034">
            <a:extLst>
              <a:ext uri="{FF2B5EF4-FFF2-40B4-BE49-F238E27FC236}">
                <a16:creationId xmlns:a16="http://schemas.microsoft.com/office/drawing/2014/main" id="{EF9DA30E-9E80-D046-B8FE-425D833EB792}"/>
              </a:ext>
            </a:extLst>
          </p:cNvPr>
          <p:cNvGrpSpPr/>
          <p:nvPr/>
        </p:nvGrpSpPr>
        <p:grpSpPr>
          <a:xfrm>
            <a:off x="7567119" y="2147034"/>
            <a:ext cx="834318" cy="524508"/>
            <a:chOff x="7395282" y="3608624"/>
            <a:chExt cx="834318" cy="524508"/>
          </a:xfrm>
        </p:grpSpPr>
        <p:sp>
          <p:nvSpPr>
            <p:cNvPr id="174" name="TextBox 34">
              <a:extLst>
                <a:ext uri="{FF2B5EF4-FFF2-40B4-BE49-F238E27FC236}">
                  <a16:creationId xmlns:a16="http://schemas.microsoft.com/office/drawing/2014/main" id="{90324B74-5DED-1F4D-ABC4-B5B928D53AF1}"/>
                </a:ext>
              </a:extLst>
            </p:cNvPr>
            <p:cNvSpPr txBox="1">
              <a:spLocks noChangeArrowheads="1"/>
            </p:cNvSpPr>
            <p:nvPr/>
          </p:nvSpPr>
          <p:spPr bwMode="auto">
            <a:xfrm>
              <a:off x="7395282" y="3879216"/>
              <a:ext cx="605765"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sticker</a:t>
              </a:r>
            </a:p>
          </p:txBody>
        </p:sp>
        <p:grpSp>
          <p:nvGrpSpPr>
            <p:cNvPr id="175" name="Group 174">
              <a:extLst>
                <a:ext uri="{FF2B5EF4-FFF2-40B4-BE49-F238E27FC236}">
                  <a16:creationId xmlns:a16="http://schemas.microsoft.com/office/drawing/2014/main" id="{36A54560-F312-1B43-BCDA-8426DC871EA1}"/>
                </a:ext>
              </a:extLst>
            </p:cNvPr>
            <p:cNvGrpSpPr/>
            <p:nvPr/>
          </p:nvGrpSpPr>
          <p:grpSpPr>
            <a:xfrm>
              <a:off x="7494603" y="3608624"/>
              <a:ext cx="734997" cy="359677"/>
              <a:chOff x="938739" y="2073081"/>
              <a:chExt cx="734997" cy="359677"/>
            </a:xfrm>
          </p:grpSpPr>
          <p:pic>
            <p:nvPicPr>
              <p:cNvPr id="176" name="Picture 175">
                <a:extLst>
                  <a:ext uri="{FF2B5EF4-FFF2-40B4-BE49-F238E27FC236}">
                    <a16:creationId xmlns:a16="http://schemas.microsoft.com/office/drawing/2014/main" id="{FA109F47-65BA-4B43-B55D-8B66EE00A33F}"/>
                  </a:ext>
                </a:extLst>
              </p:cNvPr>
              <p:cNvPicPr>
                <a:picLocks noChangeAspect="1"/>
              </p:cNvPicPr>
              <p:nvPr/>
            </p:nvPicPr>
            <p:blipFill>
              <a:blip r:embed="rId8"/>
              <a:stretch>
                <a:fillRect/>
              </a:stretch>
            </p:blipFill>
            <p:spPr>
              <a:xfrm>
                <a:off x="997340" y="2073081"/>
                <a:ext cx="287885" cy="288608"/>
              </a:xfrm>
              <a:prstGeom prst="rect">
                <a:avLst/>
              </a:prstGeom>
            </p:spPr>
          </p:pic>
          <p:sp>
            <p:nvSpPr>
              <p:cNvPr id="177" name="TextBox 34">
                <a:extLst>
                  <a:ext uri="{FF2B5EF4-FFF2-40B4-BE49-F238E27FC236}">
                    <a16:creationId xmlns:a16="http://schemas.microsoft.com/office/drawing/2014/main" id="{44D57C24-2AA1-B44C-9166-61356AE8C1C3}"/>
                  </a:ext>
                </a:extLst>
              </p:cNvPr>
              <p:cNvSpPr txBox="1">
                <a:spLocks noChangeArrowheads="1"/>
              </p:cNvSpPr>
              <p:nvPr/>
            </p:nvSpPr>
            <p:spPr bwMode="auto">
              <a:xfrm>
                <a:off x="938739" y="2178842"/>
                <a:ext cx="734997"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endParaRPr>
              </a:p>
            </p:txBody>
          </p:sp>
        </p:grpSp>
      </p:grpSp>
      <p:cxnSp>
        <p:nvCxnSpPr>
          <p:cNvPr id="178" name="Straight Arrow Connector 177">
            <a:extLst>
              <a:ext uri="{FF2B5EF4-FFF2-40B4-BE49-F238E27FC236}">
                <a16:creationId xmlns:a16="http://schemas.microsoft.com/office/drawing/2014/main" id="{EB3C32E5-F577-5A4A-8B2E-78D8AD468F31}"/>
              </a:ext>
            </a:extLst>
          </p:cNvPr>
          <p:cNvCxnSpPr>
            <a:cxnSpLocks/>
            <a:stCxn id="222" idx="0"/>
            <a:endCxn id="82" idx="3"/>
          </p:cNvCxnSpPr>
          <p:nvPr/>
        </p:nvCxnSpPr>
        <p:spPr>
          <a:xfrm rot="16200000" flipV="1">
            <a:off x="7155366" y="2386393"/>
            <a:ext cx="841446" cy="1402660"/>
          </a:xfrm>
          <a:prstGeom prst="bentConnector2">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sp>
        <p:nvSpPr>
          <p:cNvPr id="247" name="NumBox 1">
            <a:extLst>
              <a:ext uri="{FF2B5EF4-FFF2-40B4-BE49-F238E27FC236}">
                <a16:creationId xmlns:a16="http://schemas.microsoft.com/office/drawing/2014/main" id="{212F4390-BF9C-C74E-B642-2BC934D59439}"/>
              </a:ext>
            </a:extLst>
          </p:cNvPr>
          <p:cNvSpPr/>
          <p:nvPr/>
        </p:nvSpPr>
        <p:spPr>
          <a:xfrm>
            <a:off x="7329199" y="2531771"/>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5</a:t>
            </a:r>
          </a:p>
        </p:txBody>
      </p:sp>
      <p:sp>
        <p:nvSpPr>
          <p:cNvPr id="128" name="TextBox 34">
            <a:extLst>
              <a:ext uri="{FF2B5EF4-FFF2-40B4-BE49-F238E27FC236}">
                <a16:creationId xmlns:a16="http://schemas.microsoft.com/office/drawing/2014/main" id="{A55C1293-9728-B64E-83C5-6C6417D5ABAF}"/>
              </a:ext>
            </a:extLst>
          </p:cNvPr>
          <p:cNvSpPr txBox="1">
            <a:spLocks noChangeArrowheads="1"/>
          </p:cNvSpPr>
          <p:nvPr/>
        </p:nvSpPr>
        <p:spPr bwMode="auto">
          <a:xfrm>
            <a:off x="4512977" y="4737925"/>
            <a:ext cx="808497"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face biometrics</a:t>
            </a:r>
          </a:p>
        </p:txBody>
      </p:sp>
      <p:pic>
        <p:nvPicPr>
          <p:cNvPr id="132" name="Graphic 11">
            <a:extLst>
              <a:ext uri="{FF2B5EF4-FFF2-40B4-BE49-F238E27FC236}">
                <a16:creationId xmlns:a16="http://schemas.microsoft.com/office/drawing/2014/main" id="{9C6A0821-02FA-0448-8AA6-AF6477A46A0A}"/>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121279" y="4711700"/>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57" name="Straight Arrow Connector 156">
            <a:extLst>
              <a:ext uri="{FF2B5EF4-FFF2-40B4-BE49-F238E27FC236}">
                <a16:creationId xmlns:a16="http://schemas.microsoft.com/office/drawing/2014/main" id="{D2E52882-A07A-D344-94E3-8D0F3A9EE23C}"/>
              </a:ext>
            </a:extLst>
          </p:cNvPr>
          <p:cNvCxnSpPr>
            <a:cxnSpLocks/>
            <a:stCxn id="164" idx="3"/>
            <a:endCxn id="207" idx="1"/>
          </p:cNvCxnSpPr>
          <p:nvPr/>
        </p:nvCxnSpPr>
        <p:spPr>
          <a:xfrm>
            <a:off x="3352800" y="5689239"/>
            <a:ext cx="762000" cy="1542"/>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9AE82D19-9FA9-084F-A1E8-DD19E4E5C11E}"/>
              </a:ext>
            </a:extLst>
          </p:cNvPr>
          <p:cNvCxnSpPr>
            <a:cxnSpLocks/>
            <a:stCxn id="99" idx="2"/>
            <a:endCxn id="132" idx="1"/>
          </p:cNvCxnSpPr>
          <p:nvPr/>
        </p:nvCxnSpPr>
        <p:spPr>
          <a:xfrm rot="16200000" flipH="1">
            <a:off x="2795379" y="3620750"/>
            <a:ext cx="1197520" cy="1454279"/>
          </a:xfrm>
          <a:prstGeom prst="bentConnector2">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sp>
        <p:nvSpPr>
          <p:cNvPr id="166" name="TextBox 34">
            <a:extLst>
              <a:ext uri="{FF2B5EF4-FFF2-40B4-BE49-F238E27FC236}">
                <a16:creationId xmlns:a16="http://schemas.microsoft.com/office/drawing/2014/main" id="{FBAA0C1D-9004-7941-A559-A291ED9C07CD}"/>
              </a:ext>
            </a:extLst>
          </p:cNvPr>
          <p:cNvSpPr txBox="1">
            <a:spLocks noChangeArrowheads="1"/>
          </p:cNvSpPr>
          <p:nvPr/>
        </p:nvSpPr>
        <p:spPr bwMode="auto">
          <a:xfrm>
            <a:off x="2665933" y="4232702"/>
            <a:ext cx="114204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050" i="1" dirty="0">
                <a:solidFill>
                  <a:srgbClr val="000000"/>
                </a:solidFill>
                <a:effectLst>
                  <a:glow>
                    <a:srgbClr val="EBEBF0"/>
                  </a:glow>
                </a:effectLst>
                <a:latin typeface="Amazon Ember" panose="020B0603020204020204" pitchFamily="34" charset="0"/>
                <a:ea typeface="Amazon Ember" panose="020B0603020204020204" pitchFamily="34" charset="0"/>
                <a:cs typeface="Amazon Ember" panose="020B0603020204020204" pitchFamily="34" charset="0"/>
              </a:rPr>
              <a:t>opt-in for face recognition </a:t>
            </a:r>
          </a:p>
        </p:txBody>
      </p:sp>
      <p:grpSp>
        <p:nvGrpSpPr>
          <p:cNvPr id="3" name="Group 2">
            <a:extLst>
              <a:ext uri="{FF2B5EF4-FFF2-40B4-BE49-F238E27FC236}">
                <a16:creationId xmlns:a16="http://schemas.microsoft.com/office/drawing/2014/main" id="{C484E50F-6778-194E-99E5-931179EB0FAE}"/>
              </a:ext>
            </a:extLst>
          </p:cNvPr>
          <p:cNvGrpSpPr/>
          <p:nvPr/>
        </p:nvGrpSpPr>
        <p:grpSpPr>
          <a:xfrm>
            <a:off x="5527678" y="2929395"/>
            <a:ext cx="1347081" cy="457200"/>
            <a:chOff x="5527678" y="3084844"/>
            <a:chExt cx="1347081" cy="457200"/>
          </a:xfrm>
        </p:grpSpPr>
        <p:pic>
          <p:nvPicPr>
            <p:cNvPr id="192" name="Graphic 26">
              <a:extLst>
                <a:ext uri="{FF2B5EF4-FFF2-40B4-BE49-F238E27FC236}">
                  <a16:creationId xmlns:a16="http://schemas.microsoft.com/office/drawing/2014/main" id="{D7362429-09FF-3A42-ADA7-296CA06D4A2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7559" y="3084844"/>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8" name="TextBox 34">
              <a:extLst>
                <a:ext uri="{FF2B5EF4-FFF2-40B4-BE49-F238E27FC236}">
                  <a16:creationId xmlns:a16="http://schemas.microsoft.com/office/drawing/2014/main" id="{02792505-7FEE-AA41-93EA-D99CAD12ED15}"/>
                </a:ext>
              </a:extLst>
            </p:cNvPr>
            <p:cNvSpPr txBox="1">
              <a:spLocks noChangeArrowheads="1"/>
            </p:cNvSpPr>
            <p:nvPr/>
          </p:nvSpPr>
          <p:spPr bwMode="auto">
            <a:xfrm>
              <a:off x="5527678" y="3126002"/>
              <a:ext cx="910584"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r" eaLnBrk="1" hangingPunct="1"/>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verify </a:t>
              </a:r>
              <a:b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face hash</a:t>
              </a:r>
            </a:p>
          </p:txBody>
        </p:sp>
      </p:grpSp>
      <p:grpSp>
        <p:nvGrpSpPr>
          <p:cNvPr id="2" name="Group 1">
            <a:extLst>
              <a:ext uri="{FF2B5EF4-FFF2-40B4-BE49-F238E27FC236}">
                <a16:creationId xmlns:a16="http://schemas.microsoft.com/office/drawing/2014/main" id="{80D12909-61A1-B840-B61F-F0A7D253DAB5}"/>
              </a:ext>
            </a:extLst>
          </p:cNvPr>
          <p:cNvGrpSpPr/>
          <p:nvPr/>
        </p:nvGrpSpPr>
        <p:grpSpPr>
          <a:xfrm>
            <a:off x="5693540" y="2438400"/>
            <a:ext cx="1181219" cy="464223"/>
            <a:chOff x="5693540" y="2593849"/>
            <a:chExt cx="1181219" cy="464223"/>
          </a:xfrm>
        </p:grpSpPr>
        <p:pic>
          <p:nvPicPr>
            <p:cNvPr id="82" name="Graphic 48">
              <a:extLst>
                <a:ext uri="{FF2B5EF4-FFF2-40B4-BE49-F238E27FC236}">
                  <a16:creationId xmlns:a16="http://schemas.microsoft.com/office/drawing/2014/main" id="{6453A39F-3A91-D74C-B18A-A50FB322FAB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17559" y="2593849"/>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9" name="TextBox 34">
              <a:extLst>
                <a:ext uri="{FF2B5EF4-FFF2-40B4-BE49-F238E27FC236}">
                  <a16:creationId xmlns:a16="http://schemas.microsoft.com/office/drawing/2014/main" id="{6BCE4EF4-779F-2146-8B6C-6072C28AC8FD}"/>
                </a:ext>
              </a:extLst>
            </p:cNvPr>
            <p:cNvSpPr txBox="1">
              <a:spLocks noChangeArrowheads="1"/>
            </p:cNvSpPr>
            <p:nvPr/>
          </p:nvSpPr>
          <p:spPr bwMode="auto">
            <a:xfrm>
              <a:off x="5693540" y="2642574"/>
              <a:ext cx="753757"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r" eaLnBrk="1" hangingPunct="1"/>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verify 3P signature</a:t>
              </a:r>
            </a:p>
          </p:txBody>
        </p:sp>
      </p:grpSp>
      <p:cxnSp>
        <p:nvCxnSpPr>
          <p:cNvPr id="171" name="Straight Arrow Connector 170">
            <a:extLst>
              <a:ext uri="{FF2B5EF4-FFF2-40B4-BE49-F238E27FC236}">
                <a16:creationId xmlns:a16="http://schemas.microsoft.com/office/drawing/2014/main" id="{7010CDB4-A3F0-6744-84D2-56D614207AE6}"/>
              </a:ext>
            </a:extLst>
          </p:cNvPr>
          <p:cNvCxnSpPr>
            <a:cxnSpLocks/>
            <a:stCxn id="114" idx="3"/>
            <a:endCxn id="153" idx="1"/>
          </p:cNvCxnSpPr>
          <p:nvPr/>
        </p:nvCxnSpPr>
        <p:spPr>
          <a:xfrm flipV="1">
            <a:off x="3597690" y="2689278"/>
            <a:ext cx="665462" cy="1689"/>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187" name="Straight Arrow Connector 202">
            <a:extLst>
              <a:ext uri="{FF2B5EF4-FFF2-40B4-BE49-F238E27FC236}">
                <a16:creationId xmlns:a16="http://schemas.microsoft.com/office/drawing/2014/main" id="{8DB92D07-63E1-C04C-BEE6-EE29DA50ECB7}"/>
              </a:ext>
            </a:extLst>
          </p:cNvPr>
          <p:cNvCxnSpPr>
            <a:cxnSpLocks/>
            <a:stCxn id="223" idx="2"/>
            <a:endCxn id="84" idx="3"/>
          </p:cNvCxnSpPr>
          <p:nvPr/>
        </p:nvCxnSpPr>
        <p:spPr>
          <a:xfrm rot="5400000">
            <a:off x="7128847" y="3802902"/>
            <a:ext cx="747334" cy="1549810"/>
          </a:xfrm>
          <a:prstGeom prst="bentConnector2">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sp>
        <p:nvSpPr>
          <p:cNvPr id="246" name="NumBox 1">
            <a:extLst>
              <a:ext uri="{FF2B5EF4-FFF2-40B4-BE49-F238E27FC236}">
                <a16:creationId xmlns:a16="http://schemas.microsoft.com/office/drawing/2014/main" id="{7945DB72-4D15-B347-8831-403BC474B11F}"/>
              </a:ext>
            </a:extLst>
          </p:cNvPr>
          <p:cNvSpPr/>
          <p:nvPr/>
        </p:nvSpPr>
        <p:spPr>
          <a:xfrm>
            <a:off x="6879687" y="4799095"/>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6</a:t>
            </a:r>
          </a:p>
        </p:txBody>
      </p:sp>
      <p:cxnSp>
        <p:nvCxnSpPr>
          <p:cNvPr id="190" name="Straight Arrow Connector 177">
            <a:extLst>
              <a:ext uri="{FF2B5EF4-FFF2-40B4-BE49-F238E27FC236}">
                <a16:creationId xmlns:a16="http://schemas.microsoft.com/office/drawing/2014/main" id="{E6344926-1DF2-E84E-A975-E1DD64359E4E}"/>
              </a:ext>
            </a:extLst>
          </p:cNvPr>
          <p:cNvCxnSpPr>
            <a:cxnSpLocks/>
            <a:stCxn id="222" idx="0"/>
            <a:endCxn id="192" idx="3"/>
          </p:cNvCxnSpPr>
          <p:nvPr/>
        </p:nvCxnSpPr>
        <p:spPr>
          <a:xfrm rot="16200000" flipV="1">
            <a:off x="7400864" y="2631891"/>
            <a:ext cx="350451" cy="1402660"/>
          </a:xfrm>
          <a:prstGeom prst="bentConnector2">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sp>
        <p:nvSpPr>
          <p:cNvPr id="195" name="NumBox 1">
            <a:extLst>
              <a:ext uri="{FF2B5EF4-FFF2-40B4-BE49-F238E27FC236}">
                <a16:creationId xmlns:a16="http://schemas.microsoft.com/office/drawing/2014/main" id="{95164229-67F1-F943-8E7B-E6B23A7F89EB}"/>
              </a:ext>
            </a:extLst>
          </p:cNvPr>
          <p:cNvSpPr/>
          <p:nvPr/>
        </p:nvSpPr>
        <p:spPr>
          <a:xfrm>
            <a:off x="7317187" y="302481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5</a:t>
            </a:r>
          </a:p>
        </p:txBody>
      </p:sp>
      <p:sp>
        <p:nvSpPr>
          <p:cNvPr id="134" name="TextBox 34">
            <a:extLst>
              <a:ext uri="{FF2B5EF4-FFF2-40B4-BE49-F238E27FC236}">
                <a16:creationId xmlns:a16="http://schemas.microsoft.com/office/drawing/2014/main" id="{50CE6487-ECC1-BA4B-96B8-4A42A9557F30}"/>
              </a:ext>
            </a:extLst>
          </p:cNvPr>
          <p:cNvSpPr txBox="1">
            <a:spLocks noChangeArrowheads="1"/>
          </p:cNvSpPr>
          <p:nvPr/>
        </p:nvSpPr>
        <p:spPr bwMode="auto">
          <a:xfrm>
            <a:off x="3611103" y="3276600"/>
            <a:ext cx="808497"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i="1" dirty="0">
                <a:solidFill>
                  <a:srgbClr val="000000"/>
                </a:solidFill>
                <a:effectLst>
                  <a:glow rad="297098">
                    <a:schemeClr val="bg1"/>
                  </a:glow>
                </a:effectLst>
                <a:latin typeface="Amazon Ember" panose="020B0603020204020204" pitchFamily="34" charset="0"/>
                <a:ea typeface="Amazon Ember" panose="020B0603020204020204" pitchFamily="34" charset="0"/>
                <a:cs typeface="Amazon Ember" panose="020B0603020204020204" pitchFamily="34" charset="0"/>
              </a:rPr>
              <a:t>store</a:t>
            </a:r>
          </a:p>
        </p:txBody>
      </p:sp>
      <p:sp>
        <p:nvSpPr>
          <p:cNvPr id="136" name="TextBox 34">
            <a:extLst>
              <a:ext uri="{FF2B5EF4-FFF2-40B4-BE49-F238E27FC236}">
                <a16:creationId xmlns:a16="http://schemas.microsoft.com/office/drawing/2014/main" id="{61B0128D-1491-9F42-B738-31EA0309641D}"/>
              </a:ext>
            </a:extLst>
          </p:cNvPr>
          <p:cNvSpPr txBox="1">
            <a:spLocks noChangeArrowheads="1"/>
          </p:cNvSpPr>
          <p:nvPr/>
        </p:nvSpPr>
        <p:spPr bwMode="auto">
          <a:xfrm>
            <a:off x="3458703" y="2426626"/>
            <a:ext cx="808497"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i="1" dirty="0">
                <a:solidFill>
                  <a:srgbClr val="000000"/>
                </a:solidFill>
                <a:effectLst>
                  <a:glow rad="297098">
                    <a:schemeClr val="bg1"/>
                  </a:glow>
                </a:effectLst>
                <a:latin typeface="Amazon Ember" panose="020B0603020204020204" pitchFamily="34" charset="0"/>
                <a:ea typeface="Amazon Ember" panose="020B0603020204020204" pitchFamily="34" charset="0"/>
                <a:cs typeface="Amazon Ember" panose="020B0603020204020204" pitchFamily="34" charset="0"/>
              </a:rPr>
              <a:t>get key</a:t>
            </a:r>
          </a:p>
        </p:txBody>
      </p:sp>
      <p:sp>
        <p:nvSpPr>
          <p:cNvPr id="137" name="TextBox 34">
            <a:extLst>
              <a:ext uri="{FF2B5EF4-FFF2-40B4-BE49-F238E27FC236}">
                <a16:creationId xmlns:a16="http://schemas.microsoft.com/office/drawing/2014/main" id="{4AAEF58B-016A-2C47-B8E0-4ABB339B4E68}"/>
              </a:ext>
            </a:extLst>
          </p:cNvPr>
          <p:cNvSpPr txBox="1">
            <a:spLocks noChangeArrowheads="1"/>
          </p:cNvSpPr>
          <p:nvPr/>
        </p:nvSpPr>
        <p:spPr bwMode="auto">
          <a:xfrm>
            <a:off x="3383504" y="4692246"/>
            <a:ext cx="808497"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050" i="1" dirty="0">
                <a:solidFill>
                  <a:srgbClr val="000000"/>
                </a:solidFill>
                <a:effectLst>
                  <a:glow rad="297098">
                    <a:srgbClr val="EBEBF0"/>
                  </a:glow>
                </a:effectLst>
                <a:latin typeface="Amazon Ember" panose="020B0603020204020204" pitchFamily="34" charset="0"/>
                <a:ea typeface="Amazon Ember" panose="020B0603020204020204" pitchFamily="34" charset="0"/>
                <a:cs typeface="Amazon Ember" panose="020B0603020204020204" pitchFamily="34" charset="0"/>
              </a:rPr>
              <a:t>store</a:t>
            </a:r>
          </a:p>
        </p:txBody>
      </p:sp>
      <p:sp>
        <p:nvSpPr>
          <p:cNvPr id="139" name="TextBox 34">
            <a:extLst>
              <a:ext uri="{FF2B5EF4-FFF2-40B4-BE49-F238E27FC236}">
                <a16:creationId xmlns:a16="http://schemas.microsoft.com/office/drawing/2014/main" id="{B515B5AB-C773-2846-9273-6185F740F0B7}"/>
              </a:ext>
            </a:extLst>
          </p:cNvPr>
          <p:cNvSpPr txBox="1">
            <a:spLocks noChangeArrowheads="1"/>
          </p:cNvSpPr>
          <p:nvPr/>
        </p:nvSpPr>
        <p:spPr bwMode="auto">
          <a:xfrm>
            <a:off x="3425731" y="5432464"/>
            <a:ext cx="808497"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050" i="1" dirty="0">
                <a:solidFill>
                  <a:srgbClr val="000000"/>
                </a:solidFill>
                <a:effectLst>
                  <a:glow rad="297098">
                    <a:srgbClr val="EBEBF0"/>
                  </a:glow>
                </a:effectLst>
                <a:latin typeface="Amazon Ember" panose="020B0603020204020204" pitchFamily="34" charset="0"/>
                <a:ea typeface="Amazon Ember" panose="020B0603020204020204" pitchFamily="34" charset="0"/>
                <a:cs typeface="Amazon Ember" panose="020B0603020204020204" pitchFamily="34" charset="0"/>
              </a:rPr>
              <a:t>store</a:t>
            </a:r>
          </a:p>
        </p:txBody>
      </p:sp>
      <p:sp>
        <p:nvSpPr>
          <p:cNvPr id="145" name="TextBox 34">
            <a:extLst>
              <a:ext uri="{FF2B5EF4-FFF2-40B4-BE49-F238E27FC236}">
                <a16:creationId xmlns:a16="http://schemas.microsoft.com/office/drawing/2014/main" id="{2EDD4B41-5AE5-EA42-9C04-D03EF9BFA12B}"/>
              </a:ext>
            </a:extLst>
          </p:cNvPr>
          <p:cNvSpPr txBox="1">
            <a:spLocks noChangeArrowheads="1"/>
          </p:cNvSpPr>
          <p:nvPr/>
        </p:nvSpPr>
        <p:spPr bwMode="auto">
          <a:xfrm>
            <a:off x="7291209" y="4694300"/>
            <a:ext cx="89591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face</a:t>
            </a:r>
          </a:p>
        </p:txBody>
      </p:sp>
      <p:sp>
        <p:nvSpPr>
          <p:cNvPr id="147" name="TextBox 34">
            <a:extLst>
              <a:ext uri="{FF2B5EF4-FFF2-40B4-BE49-F238E27FC236}">
                <a16:creationId xmlns:a16="http://schemas.microsoft.com/office/drawing/2014/main" id="{F1E2523E-E7A4-D14F-8220-A5B6368E0017}"/>
              </a:ext>
            </a:extLst>
          </p:cNvPr>
          <p:cNvSpPr txBox="1">
            <a:spLocks noChangeArrowheads="1"/>
          </p:cNvSpPr>
          <p:nvPr/>
        </p:nvSpPr>
        <p:spPr bwMode="auto">
          <a:xfrm>
            <a:off x="7166662" y="5465226"/>
            <a:ext cx="1060088"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NFC token</a:t>
            </a:r>
          </a:p>
        </p:txBody>
      </p:sp>
      <p:sp>
        <p:nvSpPr>
          <p:cNvPr id="148" name="TextBox 34">
            <a:extLst>
              <a:ext uri="{FF2B5EF4-FFF2-40B4-BE49-F238E27FC236}">
                <a16:creationId xmlns:a16="http://schemas.microsoft.com/office/drawing/2014/main" id="{70449006-77F3-1D4F-B116-94BCCB4DF941}"/>
              </a:ext>
            </a:extLst>
          </p:cNvPr>
          <p:cNvSpPr txBox="1">
            <a:spLocks noChangeArrowheads="1"/>
          </p:cNvSpPr>
          <p:nvPr/>
        </p:nvSpPr>
        <p:spPr bwMode="auto">
          <a:xfrm>
            <a:off x="4315056" y="4199877"/>
            <a:ext cx="1122542"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r">
              <a:defRPr/>
            </a:pPr>
            <a:r>
              <a:rPr lang="en-US" altLang="en-US" sz="1050" dirty="0">
                <a:latin typeface="Amazon Ember" panose="020B0603020204020204" pitchFamily="34" charset="0"/>
                <a:ea typeface="Amazon Ember" panose="020B0603020204020204" pitchFamily="34" charset="0"/>
                <a:cs typeface="Amazon Ember" panose="020B0603020204020204" pitchFamily="34" charset="0"/>
              </a:rPr>
              <a:t>Temporary</a:t>
            </a:r>
            <a:br>
              <a:rPr lang="en-US" altLang="en-US" sz="1050" dirty="0">
                <a:latin typeface="Amazon Ember" panose="020B0603020204020204" pitchFamily="34" charset="0"/>
                <a:ea typeface="Amazon Ember" panose="020B0603020204020204" pitchFamily="34" charset="0"/>
                <a:cs typeface="Amazon Ember" panose="020B0603020204020204" pitchFamily="34" charset="0"/>
              </a:rPr>
            </a:br>
            <a:r>
              <a:rPr lang="en-US" altLang="en-US" sz="1050" dirty="0">
                <a:latin typeface="Amazon Ember" panose="020B0603020204020204" pitchFamily="34" charset="0"/>
                <a:ea typeface="Amazon Ember" panose="020B0603020204020204" pitchFamily="34" charset="0"/>
                <a:cs typeface="Amazon Ember" panose="020B0603020204020204" pitchFamily="34" charset="0"/>
              </a:rPr>
              <a:t>data</a:t>
            </a:r>
          </a:p>
        </p:txBody>
      </p:sp>
      <p:pic>
        <p:nvPicPr>
          <p:cNvPr id="122" name="Graphic 49">
            <a:extLst>
              <a:ext uri="{FF2B5EF4-FFF2-40B4-BE49-F238E27FC236}">
                <a16:creationId xmlns:a16="http://schemas.microsoft.com/office/drawing/2014/main" id="{AF05E217-8D5D-C549-AA2C-C0F211288A4E}"/>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458266" y="3421165"/>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7" name="TextBox 34">
            <a:extLst>
              <a:ext uri="{FF2B5EF4-FFF2-40B4-BE49-F238E27FC236}">
                <a16:creationId xmlns:a16="http://schemas.microsoft.com/office/drawing/2014/main" id="{80AD15BC-5A8D-424C-8DC9-CA99A4A45733}"/>
              </a:ext>
            </a:extLst>
          </p:cNvPr>
          <p:cNvSpPr txBox="1">
            <a:spLocks noChangeArrowheads="1"/>
          </p:cNvSpPr>
          <p:nvPr/>
        </p:nvSpPr>
        <p:spPr bwMode="auto">
          <a:xfrm>
            <a:off x="5566416" y="3429000"/>
            <a:ext cx="910584"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r" eaLnBrk="1" hangingPunct="1"/>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verify codes &amp; metadata</a:t>
            </a:r>
          </a:p>
        </p:txBody>
      </p:sp>
      <p:sp>
        <p:nvSpPr>
          <p:cNvPr id="149" name="NumBox 1">
            <a:extLst>
              <a:ext uri="{FF2B5EF4-FFF2-40B4-BE49-F238E27FC236}">
                <a16:creationId xmlns:a16="http://schemas.microsoft.com/office/drawing/2014/main" id="{9F992C7E-864F-374A-945E-B06F20605215}"/>
              </a:ext>
            </a:extLst>
          </p:cNvPr>
          <p:cNvSpPr/>
          <p:nvPr/>
        </p:nvSpPr>
        <p:spPr>
          <a:xfrm>
            <a:off x="7647464" y="302481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7</a:t>
            </a:r>
          </a:p>
        </p:txBody>
      </p:sp>
      <p:sp>
        <p:nvSpPr>
          <p:cNvPr id="150" name="TextBox 34">
            <a:extLst>
              <a:ext uri="{FF2B5EF4-FFF2-40B4-BE49-F238E27FC236}">
                <a16:creationId xmlns:a16="http://schemas.microsoft.com/office/drawing/2014/main" id="{F06012BE-FE54-514B-9134-FC7D82B56527}"/>
              </a:ext>
            </a:extLst>
          </p:cNvPr>
          <p:cNvSpPr txBox="1">
            <a:spLocks noChangeArrowheads="1"/>
          </p:cNvSpPr>
          <p:nvPr/>
        </p:nvSpPr>
        <p:spPr bwMode="auto">
          <a:xfrm>
            <a:off x="7253106" y="3321609"/>
            <a:ext cx="1042155"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additional  face check</a:t>
            </a:r>
          </a:p>
        </p:txBody>
      </p:sp>
      <p:grpSp>
        <p:nvGrpSpPr>
          <p:cNvPr id="152" name="Group 151">
            <a:extLst>
              <a:ext uri="{FF2B5EF4-FFF2-40B4-BE49-F238E27FC236}">
                <a16:creationId xmlns:a16="http://schemas.microsoft.com/office/drawing/2014/main" id="{DCC8F560-EBA8-1D46-91A3-744FAE267EA5}"/>
              </a:ext>
            </a:extLst>
          </p:cNvPr>
          <p:cNvGrpSpPr/>
          <p:nvPr/>
        </p:nvGrpSpPr>
        <p:grpSpPr>
          <a:xfrm>
            <a:off x="4063653" y="2454328"/>
            <a:ext cx="889347" cy="821323"/>
            <a:chOff x="3919340" y="2480127"/>
            <a:chExt cx="889347" cy="821323"/>
          </a:xfrm>
        </p:grpSpPr>
        <p:pic>
          <p:nvPicPr>
            <p:cNvPr id="153" name="Graphic 11">
              <a:extLst>
                <a:ext uri="{FF2B5EF4-FFF2-40B4-BE49-F238E27FC236}">
                  <a16:creationId xmlns:a16="http://schemas.microsoft.com/office/drawing/2014/main" id="{3F73EF1C-29C0-9B46-ADF0-BEF7474D64A1}"/>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118839" y="2480127"/>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8" name="TextBox 34">
              <a:extLst>
                <a:ext uri="{FF2B5EF4-FFF2-40B4-BE49-F238E27FC236}">
                  <a16:creationId xmlns:a16="http://schemas.microsoft.com/office/drawing/2014/main" id="{81CF8E62-7A19-1146-B1B0-03E0563AA5D3}"/>
                </a:ext>
              </a:extLst>
            </p:cNvPr>
            <p:cNvSpPr txBox="1">
              <a:spLocks noChangeArrowheads="1"/>
            </p:cNvSpPr>
            <p:nvPr/>
          </p:nvSpPr>
          <p:spPr bwMode="auto">
            <a:xfrm>
              <a:off x="3919340" y="2885952"/>
              <a:ext cx="889347"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trusted 3P public keys</a:t>
              </a:r>
            </a:p>
          </p:txBody>
        </p:sp>
      </p:grpSp>
      <p:cxnSp>
        <p:nvCxnSpPr>
          <p:cNvPr id="161" name="Straight Arrow Connector 160">
            <a:extLst>
              <a:ext uri="{FF2B5EF4-FFF2-40B4-BE49-F238E27FC236}">
                <a16:creationId xmlns:a16="http://schemas.microsoft.com/office/drawing/2014/main" id="{5772063C-F438-0F4B-9EED-D20A38E30C63}"/>
              </a:ext>
            </a:extLst>
          </p:cNvPr>
          <p:cNvCxnSpPr>
            <a:cxnSpLocks/>
            <a:endCxn id="140" idx="2"/>
          </p:cNvCxnSpPr>
          <p:nvPr/>
        </p:nvCxnSpPr>
        <p:spPr>
          <a:xfrm flipV="1">
            <a:off x="5036513" y="3987716"/>
            <a:ext cx="0" cy="244986"/>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181" name="Straight Arrow Connector 180">
            <a:extLst>
              <a:ext uri="{FF2B5EF4-FFF2-40B4-BE49-F238E27FC236}">
                <a16:creationId xmlns:a16="http://schemas.microsoft.com/office/drawing/2014/main" id="{A38A2BD7-B224-1F42-9CA5-78DD0C0026DD}"/>
              </a:ext>
            </a:extLst>
          </p:cNvPr>
          <p:cNvCxnSpPr>
            <a:cxnSpLocks/>
            <a:stCxn id="169" idx="1"/>
            <a:endCxn id="153" idx="3"/>
          </p:cNvCxnSpPr>
          <p:nvPr/>
        </p:nvCxnSpPr>
        <p:spPr>
          <a:xfrm flipH="1" flipV="1">
            <a:off x="4733052" y="2689278"/>
            <a:ext cx="960488" cy="5596"/>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B5798355-41D1-3A42-BD8D-9A761A69F681}"/>
              </a:ext>
            </a:extLst>
          </p:cNvPr>
          <p:cNvGrpSpPr/>
          <p:nvPr/>
        </p:nvGrpSpPr>
        <p:grpSpPr>
          <a:xfrm>
            <a:off x="4494138" y="1568670"/>
            <a:ext cx="1073150" cy="675290"/>
            <a:chOff x="346288" y="1454484"/>
            <a:chExt cx="1073150" cy="675290"/>
          </a:xfrm>
        </p:grpSpPr>
        <p:sp>
          <p:nvSpPr>
            <p:cNvPr id="183" name="TextBox 34">
              <a:extLst>
                <a:ext uri="{FF2B5EF4-FFF2-40B4-BE49-F238E27FC236}">
                  <a16:creationId xmlns:a16="http://schemas.microsoft.com/office/drawing/2014/main" id="{0136394C-E87B-D249-A48D-A3390EE94591}"/>
                </a:ext>
              </a:extLst>
            </p:cNvPr>
            <p:cNvSpPr txBox="1">
              <a:spLocks noChangeArrowheads="1"/>
            </p:cNvSpPr>
            <p:nvPr/>
          </p:nvSpPr>
          <p:spPr bwMode="auto">
            <a:xfrm>
              <a:off x="346288" y="1454484"/>
              <a:ext cx="107315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Trust Graph</a:t>
              </a:r>
              <a:endPar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184" name="Graphic 23">
              <a:extLst>
                <a:ext uri="{FF2B5EF4-FFF2-40B4-BE49-F238E27FC236}">
                  <a16:creationId xmlns:a16="http://schemas.microsoft.com/office/drawing/2014/main" id="{68AD1BF3-ACCC-E24A-BDEA-159954A8D60F}"/>
                </a:ext>
              </a:extLst>
            </p:cNvPr>
            <p:cNvPicPr>
              <a:picLocks noChangeAspect="1" noChangeArrowheads="1"/>
            </p:cNvPicPr>
            <p:nvPr/>
          </p:nvPicPr>
          <p:blipFill>
            <a:blip r:embed="rId19">
              <a:extLst>
                <a:ext uri="{96DAC541-7B7A-43D3-8B79-37D633B846F1}">
                  <asvg:svgBlip xmlns:asvg="http://schemas.microsoft.com/office/drawing/2016/SVG/main" r:embed="rId20"/>
                </a:ext>
              </a:extLst>
            </a:blip>
            <a:srcRect/>
            <a:stretch/>
          </p:blipFill>
          <p:spPr bwMode="auto">
            <a:xfrm>
              <a:off x="636070" y="1658174"/>
              <a:ext cx="471600" cy="4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185" name="Straight Arrow Connector 164">
            <a:extLst>
              <a:ext uri="{FF2B5EF4-FFF2-40B4-BE49-F238E27FC236}">
                <a16:creationId xmlns:a16="http://schemas.microsoft.com/office/drawing/2014/main" id="{6E121112-1435-8C41-9F95-27FB3A7F88C9}"/>
              </a:ext>
            </a:extLst>
          </p:cNvPr>
          <p:cNvCxnSpPr>
            <a:cxnSpLocks/>
            <a:stCxn id="184" idx="1"/>
            <a:endCxn id="153" idx="0"/>
          </p:cNvCxnSpPr>
          <p:nvPr/>
        </p:nvCxnSpPr>
        <p:spPr>
          <a:xfrm rot="10800000" flipV="1">
            <a:off x="4498102" y="2008160"/>
            <a:ext cx="285818" cy="446168"/>
          </a:xfrm>
          <a:prstGeom prst="bentConnector2">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sp>
        <p:nvSpPr>
          <p:cNvPr id="186" name="TextBox 34">
            <a:extLst>
              <a:ext uri="{FF2B5EF4-FFF2-40B4-BE49-F238E27FC236}">
                <a16:creationId xmlns:a16="http://schemas.microsoft.com/office/drawing/2014/main" id="{ADF0ABB4-ED9B-4746-89B0-3F01F1B6DA9C}"/>
              </a:ext>
            </a:extLst>
          </p:cNvPr>
          <p:cNvSpPr txBox="1">
            <a:spLocks noChangeArrowheads="1"/>
          </p:cNvSpPr>
          <p:nvPr/>
        </p:nvSpPr>
        <p:spPr bwMode="auto">
          <a:xfrm>
            <a:off x="4094399" y="2057400"/>
            <a:ext cx="808497"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i="1" dirty="0">
                <a:solidFill>
                  <a:srgbClr val="000000"/>
                </a:solidFill>
                <a:effectLst>
                  <a:glow rad="297098">
                    <a:schemeClr val="bg1"/>
                  </a:glow>
                </a:effectLst>
                <a:latin typeface="Amazon Ember" panose="020B0603020204020204" pitchFamily="34" charset="0"/>
                <a:ea typeface="Amazon Ember" panose="020B0603020204020204" pitchFamily="34" charset="0"/>
                <a:cs typeface="Amazon Ember" panose="020B0603020204020204" pitchFamily="34" charset="0"/>
              </a:rPr>
              <a:t>export</a:t>
            </a:r>
          </a:p>
        </p:txBody>
      </p:sp>
      <p:sp>
        <p:nvSpPr>
          <p:cNvPr id="188" name="TextBox 34">
            <a:extLst>
              <a:ext uri="{FF2B5EF4-FFF2-40B4-BE49-F238E27FC236}">
                <a16:creationId xmlns:a16="http://schemas.microsoft.com/office/drawing/2014/main" id="{E544361F-8452-1F49-B56B-C36476E7C3BA}"/>
              </a:ext>
            </a:extLst>
          </p:cNvPr>
          <p:cNvSpPr txBox="1">
            <a:spLocks noChangeArrowheads="1"/>
          </p:cNvSpPr>
          <p:nvPr/>
        </p:nvSpPr>
        <p:spPr bwMode="auto">
          <a:xfrm>
            <a:off x="4674626" y="2431814"/>
            <a:ext cx="808497"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i="1" dirty="0">
                <a:solidFill>
                  <a:srgbClr val="000000"/>
                </a:solidFill>
                <a:effectLst>
                  <a:glow>
                    <a:schemeClr val="bg1"/>
                  </a:glow>
                </a:effectLst>
                <a:latin typeface="Amazon Ember" panose="020B0603020204020204" pitchFamily="34" charset="0"/>
                <a:ea typeface="Amazon Ember" panose="020B0603020204020204" pitchFamily="34" charset="0"/>
                <a:cs typeface="Amazon Ember" panose="020B0603020204020204" pitchFamily="34" charset="0"/>
              </a:rPr>
              <a:t>get key</a:t>
            </a:r>
          </a:p>
        </p:txBody>
      </p:sp>
      <p:sp>
        <p:nvSpPr>
          <p:cNvPr id="191" name="NumBox 5">
            <a:extLst>
              <a:ext uri="{FF2B5EF4-FFF2-40B4-BE49-F238E27FC236}">
                <a16:creationId xmlns:a16="http://schemas.microsoft.com/office/drawing/2014/main" id="{012926E9-B95B-5248-A41E-74D973F488A4}"/>
              </a:ext>
            </a:extLst>
          </p:cNvPr>
          <p:cNvSpPr/>
          <p:nvPr/>
        </p:nvSpPr>
        <p:spPr>
          <a:xfrm>
            <a:off x="2750650" y="4796175"/>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3</a:t>
            </a:r>
          </a:p>
        </p:txBody>
      </p:sp>
      <p:pic>
        <p:nvPicPr>
          <p:cNvPr id="110" name="Graphic 44">
            <a:extLst>
              <a:ext uri="{FF2B5EF4-FFF2-40B4-BE49-F238E27FC236}">
                <a16:creationId xmlns:a16="http://schemas.microsoft.com/office/drawing/2014/main" id="{88D86422-BDEB-184C-8F21-69ADEAAD6AE0}"/>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702863" y="3675461"/>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1" name="TextBox 9">
            <a:extLst>
              <a:ext uri="{FF2B5EF4-FFF2-40B4-BE49-F238E27FC236}">
                <a16:creationId xmlns:a16="http://schemas.microsoft.com/office/drawing/2014/main" id="{4383EFF0-A2A1-E54C-9A6E-5C363CE9610E}"/>
              </a:ext>
            </a:extLst>
          </p:cNvPr>
          <p:cNvSpPr txBox="1">
            <a:spLocks noChangeArrowheads="1"/>
          </p:cNvSpPr>
          <p:nvPr/>
        </p:nvSpPr>
        <p:spPr bwMode="auto">
          <a:xfrm>
            <a:off x="3083625" y="3700860"/>
            <a:ext cx="1062274"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pPr algn="l"/>
            <a:r>
              <a:rPr lang="en-US" altLang="en-US" i="0" dirty="0">
                <a:effectLst>
                  <a:glow>
                    <a:schemeClr val="bg1"/>
                  </a:glow>
                </a:effectLst>
              </a:rPr>
              <a:t>trust stamp</a:t>
            </a:r>
            <a:br>
              <a:rPr lang="en-US" altLang="en-US" i="0" dirty="0">
                <a:effectLst>
                  <a:glow>
                    <a:schemeClr val="bg1"/>
                  </a:glow>
                </a:effectLst>
              </a:rPr>
            </a:br>
            <a:r>
              <a:rPr lang="en-US" altLang="en-US" i="0" dirty="0">
                <a:effectLst>
                  <a:glow>
                    <a:schemeClr val="bg1"/>
                  </a:glow>
                </a:effectLst>
              </a:rPr>
              <a:t>algorithm</a:t>
            </a:r>
          </a:p>
        </p:txBody>
      </p:sp>
      <p:sp>
        <p:nvSpPr>
          <p:cNvPr id="112" name="TextBox 34">
            <a:extLst>
              <a:ext uri="{FF2B5EF4-FFF2-40B4-BE49-F238E27FC236}">
                <a16:creationId xmlns:a16="http://schemas.microsoft.com/office/drawing/2014/main" id="{BDCDF0EA-7AF3-7146-A52D-1A12A495C914}"/>
              </a:ext>
            </a:extLst>
          </p:cNvPr>
          <p:cNvSpPr txBox="1">
            <a:spLocks noChangeArrowheads="1"/>
          </p:cNvSpPr>
          <p:nvPr/>
        </p:nvSpPr>
        <p:spPr bwMode="auto">
          <a:xfrm>
            <a:off x="7737190" y="2174175"/>
            <a:ext cx="31131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200" b="1" dirty="0">
                <a:solidFill>
                  <a:schemeClr val="accent5"/>
                </a:solidFill>
                <a:effectLst>
                  <a:glow rad="127000">
                    <a:schemeClr val="bg1"/>
                  </a:glow>
                </a:effectLst>
                <a:latin typeface="APPLE CHANCERY" panose="03020702040506060504" pitchFamily="66" charset="-79"/>
                <a:ea typeface="Amazon Ember Heavy" panose="020B0603020204020204" pitchFamily="34" charset="0"/>
                <a:cs typeface="APPLE CHANCERY" panose="03020702040506060504" pitchFamily="66" charset="-79"/>
              </a:rPr>
              <a:t>S</a:t>
            </a:r>
          </a:p>
        </p:txBody>
      </p:sp>
      <p:sp>
        <p:nvSpPr>
          <p:cNvPr id="116" name="TextBox 34">
            <a:extLst>
              <a:ext uri="{FF2B5EF4-FFF2-40B4-BE49-F238E27FC236}">
                <a16:creationId xmlns:a16="http://schemas.microsoft.com/office/drawing/2014/main" id="{D93E4834-55CA-A447-BC5A-1757CB8260BD}"/>
              </a:ext>
            </a:extLst>
          </p:cNvPr>
          <p:cNvSpPr txBox="1">
            <a:spLocks noChangeArrowheads="1"/>
          </p:cNvSpPr>
          <p:nvPr/>
        </p:nvSpPr>
        <p:spPr bwMode="auto">
          <a:xfrm>
            <a:off x="1066800" y="2778825"/>
            <a:ext cx="31131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200" b="1" dirty="0">
                <a:solidFill>
                  <a:schemeClr val="accent5"/>
                </a:solidFill>
                <a:effectLst>
                  <a:glow rad="127000">
                    <a:schemeClr val="bg1"/>
                  </a:glow>
                </a:effectLst>
                <a:latin typeface="APPLE CHANCERY" panose="03020702040506060504" pitchFamily="66" charset="-79"/>
                <a:ea typeface="Amazon Ember Heavy" panose="020B0603020204020204" pitchFamily="34" charset="0"/>
                <a:cs typeface="APPLE CHANCERY" panose="03020702040506060504" pitchFamily="66" charset="-79"/>
              </a:rPr>
              <a:t>S</a:t>
            </a:r>
          </a:p>
        </p:txBody>
      </p:sp>
    </p:spTree>
    <p:extLst>
      <p:ext uri="{BB962C8B-B14F-4D97-AF65-F5344CB8AC3E}">
        <p14:creationId xmlns:p14="http://schemas.microsoft.com/office/powerpoint/2010/main" val="1309490934"/>
      </p:ext>
    </p:extLst>
  </p:cSld>
  <p:clrMapOvr>
    <a:masterClrMapping/>
  </p:clrMapOvr>
</p:sld>
</file>

<file path=ppt/theme/theme1.xml><?xml version="1.0" encoding="utf-8"?>
<a:theme xmlns:a="http://schemas.openxmlformats.org/drawingml/2006/main" name="Office Theme">
  <a:themeElements>
    <a:clrScheme name="AWS-architecture-icons">
      <a:dk1>
        <a:srgbClr val="232F3C"/>
      </a:dk1>
      <a:lt1>
        <a:srgbClr val="FAFAFA"/>
      </a:lt1>
      <a:dk2>
        <a:srgbClr val="545B63"/>
      </a:dk2>
      <a:lt2>
        <a:srgbClr val="E5ECEF"/>
      </a:lt2>
      <a:accent1>
        <a:srgbClr val="FF9900"/>
      </a:accent1>
      <a:accent2>
        <a:srgbClr val="F0613C"/>
      </a:accent2>
      <a:accent3>
        <a:srgbClr val="007CBD"/>
      </a:accent3>
      <a:accent4>
        <a:srgbClr val="00A0C8"/>
      </a:accent4>
      <a:accent5>
        <a:srgbClr val="1D8900"/>
      </a:accent5>
      <a:accent6>
        <a:srgbClr val="69AE34"/>
      </a:accent6>
      <a:hlink>
        <a:srgbClr val="007CBC"/>
      </a:hlink>
      <a:folHlink>
        <a:srgbClr val="007CB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5646</TotalTime>
  <Words>480</Words>
  <Application>Microsoft Macintosh PowerPoint</Application>
  <PresentationFormat>Widescreen</PresentationFormat>
  <Paragraphs>64</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Amazon Ember</vt:lpstr>
      <vt:lpstr>APPLE CHANCERY</vt:lpstr>
      <vt:lpstr>Arial</vt:lpstr>
      <vt:lpstr>Calibri</vt:lpstr>
      <vt:lpstr>Office Theme</vt:lpstr>
      <vt:lpstr>PowerPoint Presentation</vt:lpstr>
    </vt:vector>
  </TitlesOfParts>
  <Manager/>
  <Company>Amazon.com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Reference Architecture Title</dc:title>
  <dc:subject/>
  <dc:creator>Amazon Web Services</dc:creator>
  <cp:keywords/>
  <dc:description/>
  <cp:lastModifiedBy>Jorge Fonseca</cp:lastModifiedBy>
  <cp:revision>131</cp:revision>
  <dcterms:created xsi:type="dcterms:W3CDTF">2018-02-11T04:20:17Z</dcterms:created>
  <dcterms:modified xsi:type="dcterms:W3CDTF">2023-03-01T00:09:09Z</dcterms:modified>
  <cp:category/>
</cp:coreProperties>
</file>