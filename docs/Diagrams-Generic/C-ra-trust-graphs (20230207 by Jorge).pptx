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5952" userDrawn="1">
          <p15:clr>
            <a:srgbClr val="A4A3A4"/>
          </p15:clr>
        </p15:guide>
        <p15:guide id="3" pos="5664" userDrawn="1">
          <p15:clr>
            <a:srgbClr val="A4A3A4"/>
          </p15:clr>
        </p15:guide>
        <p15:guide id="4" pos="556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nelle Nolan" initials="JN" lastIdx="7" clrIdx="0">
    <p:extLst>
      <p:ext uri="{19B8F6BF-5375-455C-9EA6-DF929625EA0E}">
        <p15:presenceInfo xmlns:p15="http://schemas.microsoft.com/office/powerpoint/2012/main" userId="Janelle Nol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F3E7"/>
    <a:srgbClr val="CD2264"/>
    <a:srgbClr val="232E3C"/>
    <a:srgbClr val="ECEDF0"/>
    <a:srgbClr val="5B9CD5"/>
    <a:srgbClr val="545B64"/>
    <a:srgbClr val="EAEDED"/>
    <a:srgbClr val="D5DBDB"/>
    <a:srgbClr val="FF9900"/>
    <a:srgbClr val="232F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771" autoAdjust="0"/>
    <p:restoredTop sz="96612"/>
  </p:normalViewPr>
  <p:slideViewPr>
    <p:cSldViewPr>
      <p:cViewPr varScale="1">
        <p:scale>
          <a:sx n="122" d="100"/>
          <a:sy n="122" d="100"/>
        </p:scale>
        <p:origin x="1208" y="200"/>
      </p:cViewPr>
      <p:guideLst>
        <p:guide orient="horz" pos="2160"/>
        <p:guide pos="5952"/>
        <p:guide pos="5664"/>
        <p:guide pos="55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63D1AE-04B2-F147-8122-2A32BD7879DD}" type="datetimeFigureOut">
              <a:rPr lang="en-US" smtClean="0"/>
              <a:t>3/1/23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BC6CBF-D31D-B841-861D-EC168426F20E}" type="slidenum">
              <a:rPr lang="en-US" smtClean="0"/>
              <a:t>‹#›</a:t>
            </a:fld>
            <a:endParaRPr lang="en-US"/>
          </a:p>
        </p:txBody>
      </p:sp>
    </p:spTree>
    <p:extLst>
      <p:ext uri="{BB962C8B-B14F-4D97-AF65-F5344CB8AC3E}">
        <p14:creationId xmlns:p14="http://schemas.microsoft.com/office/powerpoint/2010/main" val="2623154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2BC6CBF-D31D-B841-861D-EC168426F20E}" type="slidenum">
              <a:rPr lang="en-US" smtClean="0"/>
              <a:t>1</a:t>
            </a:fld>
            <a:endParaRPr lang="en-US"/>
          </a:p>
        </p:txBody>
      </p:sp>
    </p:spTree>
    <p:extLst>
      <p:ext uri="{BB962C8B-B14F-4D97-AF65-F5344CB8AC3E}">
        <p14:creationId xmlns:p14="http://schemas.microsoft.com/office/powerpoint/2010/main" val="820246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416854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5126"/>
            <a:ext cx="10820400" cy="121627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457200" y="1825625"/>
            <a:ext cx="10820400" cy="41179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528555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sv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text box">
            <a:extLst>
              <a:ext uri="{FF2B5EF4-FFF2-40B4-BE49-F238E27FC236}">
                <a16:creationId xmlns:a16="http://schemas.microsoft.com/office/drawing/2014/main" id="{38DEF82B-A559-1247-8E2D-F3C452A29826}"/>
              </a:ext>
            </a:extLst>
          </p:cNvPr>
          <p:cNvSpPr txBox="1"/>
          <p:nvPr/>
        </p:nvSpPr>
        <p:spPr>
          <a:xfrm>
            <a:off x="207580" y="158447"/>
            <a:ext cx="8641350" cy="892552"/>
          </a:xfrm>
          <a:prstGeom prst="rect">
            <a:avLst/>
          </a:prstGeom>
          <a:noFill/>
        </p:spPr>
        <p:txBody>
          <a:bodyPr wrap="square" rtlCol="0">
            <a:spAutoFit/>
          </a:bodyPr>
          <a:lstStyle/>
          <a:p>
            <a:r>
              <a:rPr lang="en-US" sz="2800" b="1" dirty="0">
                <a:latin typeface="Amazon Ember" panose="020B0603020204020204" pitchFamily="34" charset="0"/>
                <a:ea typeface="Amazon Ember" panose="020B0603020204020204" pitchFamily="34" charset="0"/>
                <a:cs typeface="Amazon Ember" panose="020B0603020204020204" pitchFamily="34" charset="0"/>
              </a:rPr>
              <a:t>Trust Graphs</a:t>
            </a:r>
          </a:p>
          <a:p>
            <a:r>
              <a:rPr lang="en-US" sz="1200" dirty="0">
                <a:solidFill>
                  <a:srgbClr val="232E3C"/>
                </a:solidFill>
                <a:latin typeface="Amazon Ember" panose="020B0603020204020204" pitchFamily="34" charset="0"/>
                <a:ea typeface="Amazon Ember" panose="020B0603020204020204" pitchFamily="34" charset="0"/>
                <a:cs typeface="Amazon Ember" panose="020B0603020204020204" pitchFamily="34" charset="0"/>
              </a:rPr>
              <a:t>Trust Graphs consume domain manifests, and keep a network representation of trust relationships between domains. Domains ask if there’s a trust path to other domains they need to interact with, while  wallets ask for code translations. </a:t>
            </a:r>
          </a:p>
        </p:txBody>
      </p:sp>
      <p:sp>
        <p:nvSpPr>
          <p:cNvPr id="41" name="Sidebar Background">
            <a:extLst>
              <a:ext uri="{FF2B5EF4-FFF2-40B4-BE49-F238E27FC236}">
                <a16:creationId xmlns:a16="http://schemas.microsoft.com/office/drawing/2014/main" id="{B0A83432-3797-164E-B817-BA71B523944F}"/>
              </a:ext>
            </a:extLst>
          </p:cNvPr>
          <p:cNvSpPr/>
          <p:nvPr/>
        </p:nvSpPr>
        <p:spPr>
          <a:xfrm>
            <a:off x="8981240" y="37069"/>
            <a:ext cx="3177809" cy="6783859"/>
          </a:xfrm>
          <a:prstGeom prst="rect">
            <a:avLst/>
          </a:prstGeom>
          <a:solidFill>
            <a:srgbClr val="EA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NumBox 7">
            <a:extLst>
              <a:ext uri="{FF2B5EF4-FFF2-40B4-BE49-F238E27FC236}">
                <a16:creationId xmlns:a16="http://schemas.microsoft.com/office/drawing/2014/main" id="{68CCBE0C-C2CD-E347-9CED-CC285006AE94}"/>
              </a:ext>
            </a:extLst>
          </p:cNvPr>
          <p:cNvSpPr/>
          <p:nvPr/>
        </p:nvSpPr>
        <p:spPr>
          <a:xfrm>
            <a:off x="9134573" y="4354285"/>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4</a:t>
            </a:r>
          </a:p>
        </p:txBody>
      </p:sp>
      <p:sp>
        <p:nvSpPr>
          <p:cNvPr id="47" name="NumBox 5">
            <a:extLst>
              <a:ext uri="{FF2B5EF4-FFF2-40B4-BE49-F238E27FC236}">
                <a16:creationId xmlns:a16="http://schemas.microsoft.com/office/drawing/2014/main" id="{A2290CE2-D8F1-634A-905A-BA66C42AEBC9}"/>
              </a:ext>
            </a:extLst>
          </p:cNvPr>
          <p:cNvSpPr/>
          <p:nvPr/>
        </p:nvSpPr>
        <p:spPr>
          <a:xfrm>
            <a:off x="9134573" y="3083229"/>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3</a:t>
            </a:r>
          </a:p>
        </p:txBody>
      </p:sp>
      <p:sp>
        <p:nvSpPr>
          <p:cNvPr id="49" name="NumBox 3">
            <a:extLst>
              <a:ext uri="{FF2B5EF4-FFF2-40B4-BE49-F238E27FC236}">
                <a16:creationId xmlns:a16="http://schemas.microsoft.com/office/drawing/2014/main" id="{FBB6C579-1AAE-E74E-B11A-6E47F977F102}"/>
              </a:ext>
            </a:extLst>
          </p:cNvPr>
          <p:cNvSpPr/>
          <p:nvPr/>
        </p:nvSpPr>
        <p:spPr>
          <a:xfrm>
            <a:off x="9134573" y="1640462"/>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2</a:t>
            </a:r>
          </a:p>
        </p:txBody>
      </p:sp>
      <p:sp>
        <p:nvSpPr>
          <p:cNvPr id="51" name="NumBox 1">
            <a:extLst>
              <a:ext uri="{FF2B5EF4-FFF2-40B4-BE49-F238E27FC236}">
                <a16:creationId xmlns:a16="http://schemas.microsoft.com/office/drawing/2014/main" id="{61A833CA-45E5-DA44-9841-E3816A71ECCE}"/>
              </a:ext>
            </a:extLst>
          </p:cNvPr>
          <p:cNvSpPr/>
          <p:nvPr/>
        </p:nvSpPr>
        <p:spPr>
          <a:xfrm>
            <a:off x="9134573" y="187222"/>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1</a:t>
            </a:r>
          </a:p>
        </p:txBody>
      </p:sp>
      <p:sp>
        <p:nvSpPr>
          <p:cNvPr id="52" name="TextBox 51">
            <a:extLst>
              <a:ext uri="{FF2B5EF4-FFF2-40B4-BE49-F238E27FC236}">
                <a16:creationId xmlns:a16="http://schemas.microsoft.com/office/drawing/2014/main" id="{03393564-6C13-FC4F-8F33-3F02A10C52BC}"/>
              </a:ext>
            </a:extLst>
          </p:cNvPr>
          <p:cNvSpPr txBox="1"/>
          <p:nvPr/>
        </p:nvSpPr>
        <p:spPr>
          <a:xfrm>
            <a:off x="9408893" y="133546"/>
            <a:ext cx="2733426" cy="6040115"/>
          </a:xfrm>
          <a:prstGeom prst="rect">
            <a:avLst/>
          </a:prstGeom>
          <a:noFill/>
        </p:spPr>
        <p:txBody>
          <a:bodyPr wrap="square" rtlCol="0">
            <a:spAutoFit/>
          </a:bodyPr>
          <a:lstStyle/>
          <a:p>
            <a:pPr>
              <a:spcAft>
                <a:spcPts val="1200"/>
              </a:spcAft>
            </a:pPr>
            <a:r>
              <a:rPr lang="en-US" sz="1050" dirty="0">
                <a:solidFill>
                  <a:srgbClr val="232E3C"/>
                </a:solidFill>
                <a:latin typeface="Amazon Ember" panose="020B0603020204020204" pitchFamily="34" charset="0"/>
                <a:ea typeface="Amazon Ember" panose="020B0603020204020204" pitchFamily="34" charset="0"/>
                <a:cs typeface="Amazon Ember" panose="020B0603020204020204" pitchFamily="34" charset="0"/>
              </a:rPr>
              <a:t>Trust Graphs keep an updated view of all trust relationships and information code translations, as shared by Trust Authorities. In their database, Graphs identify actors by DNS domain name. Graphs also provide REST API endpoints for actors to ask for trust relationships and information code translations. </a:t>
            </a:r>
          </a:p>
          <a:p>
            <a:pPr>
              <a:spcAft>
                <a:spcPts val="1200"/>
              </a:spcAft>
            </a:pPr>
            <a:r>
              <a:rPr lang="en-US" sz="1050" dirty="0">
                <a:solidFill>
                  <a:srgbClr val="232E3C"/>
                </a:solidFill>
                <a:latin typeface="Amazon Ember" panose="020B0603020204020204" pitchFamily="34" charset="0"/>
                <a:ea typeface="Amazon Ember" panose="020B0603020204020204" pitchFamily="34" charset="0"/>
                <a:cs typeface="Amazon Ember" panose="020B0603020204020204" pitchFamily="34" charset="0"/>
              </a:rPr>
              <a:t>Domains interact with Trust Graphs by asking them if the domain can trust the responses from a Vault’s domain for a given information code – i.e., if there is a result-oriented chain of trust between the Consumer’s domain and the domain of the Vault that the Consumer needs to interact with.</a:t>
            </a:r>
          </a:p>
          <a:p>
            <a:pPr>
              <a:spcAft>
                <a:spcPts val="1200"/>
              </a:spcAft>
            </a:pPr>
            <a:r>
              <a:rPr lang="en-US" sz="1050" dirty="0">
                <a:solidFill>
                  <a:srgbClr val="232E3C"/>
                </a:solidFill>
                <a:latin typeface="Amazon Ember" panose="020B0603020204020204" pitchFamily="34" charset="0"/>
                <a:ea typeface="Amazon Ember" panose="020B0603020204020204" pitchFamily="34" charset="0"/>
                <a:cs typeface="Amazon Ember" panose="020B0603020204020204" pitchFamily="34" charset="0"/>
              </a:rPr>
              <a:t>Vaults interact with Trust Graphs by asking Graphs if the Vault can trust the requests from a Consumer domain for a given information code – i.e., if there is a query-oriented chain of trust between the Vault’s own domain and the domain of the 3P who wants the interaction.</a:t>
            </a:r>
          </a:p>
          <a:p>
            <a:pPr>
              <a:spcAft>
                <a:spcPts val="12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Wallets interact with Trust Graphs by asking for the translation of a given info code to a given language, so that Wallets can request users to share their Vault’s info by asking for that info a language the user has to set the Wallet to be displayed.</a:t>
            </a:r>
          </a:p>
          <a:p>
            <a:pPr>
              <a:spcAft>
                <a:spcPts val="12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Trust Graphs listen to changes from domains, fetching and centralizing their manifests. Domains use these keys to find trust paths between domains.</a:t>
            </a:r>
          </a:p>
        </p:txBody>
      </p:sp>
      <p:cxnSp>
        <p:nvCxnSpPr>
          <p:cNvPr id="36" name="Separator">
            <a:extLst>
              <a:ext uri="{FF2B5EF4-FFF2-40B4-BE49-F238E27FC236}">
                <a16:creationId xmlns:a16="http://schemas.microsoft.com/office/drawing/2014/main" id="{21C15EAE-984B-C241-B4CF-3AB0A0313E3C}"/>
              </a:ext>
            </a:extLst>
          </p:cNvPr>
          <p:cNvCxnSpPr>
            <a:cxnSpLocks/>
          </p:cNvCxnSpPr>
          <p:nvPr/>
        </p:nvCxnSpPr>
        <p:spPr>
          <a:xfrm>
            <a:off x="304800" y="1066800"/>
            <a:ext cx="8544130" cy="0"/>
          </a:xfrm>
          <a:prstGeom prst="line">
            <a:avLst/>
          </a:prstGeom>
          <a:ln w="25400">
            <a:solidFill>
              <a:srgbClr val="545B64"/>
            </a:solidFill>
          </a:ln>
        </p:spPr>
        <p:style>
          <a:lnRef idx="3">
            <a:schemeClr val="dk1"/>
          </a:lnRef>
          <a:fillRef idx="0">
            <a:schemeClr val="dk1"/>
          </a:fillRef>
          <a:effectRef idx="2">
            <a:schemeClr val="dk1"/>
          </a:effectRef>
          <a:fontRef idx="minor">
            <a:schemeClr val="tx1"/>
          </a:fontRef>
        </p:style>
      </p:cxnSp>
      <p:sp>
        <p:nvSpPr>
          <p:cNvPr id="14" name="TextBox 34">
            <a:extLst>
              <a:ext uri="{FF2B5EF4-FFF2-40B4-BE49-F238E27FC236}">
                <a16:creationId xmlns:a16="http://schemas.microsoft.com/office/drawing/2014/main" id="{DA0540CA-535F-AC4C-A983-202C6BC47035}"/>
              </a:ext>
            </a:extLst>
          </p:cNvPr>
          <p:cNvSpPr txBox="1">
            <a:spLocks noChangeArrowheads="1"/>
          </p:cNvSpPr>
          <p:nvPr/>
        </p:nvSpPr>
        <p:spPr bwMode="auto">
          <a:xfrm>
            <a:off x="1373061" y="1344600"/>
            <a:ext cx="806274" cy="4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Any Trust </a:t>
            </a:r>
            <a:b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Graph</a:t>
            </a:r>
          </a:p>
        </p:txBody>
      </p:sp>
      <p:pic>
        <p:nvPicPr>
          <p:cNvPr id="15" name="Graphic 23">
            <a:extLst>
              <a:ext uri="{FF2B5EF4-FFF2-40B4-BE49-F238E27FC236}">
                <a16:creationId xmlns:a16="http://schemas.microsoft.com/office/drawing/2014/main" id="{D285472A-41DE-5C48-BC26-F96A2561302F}"/>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1555478" y="1713026"/>
            <a:ext cx="471600" cy="4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
            <a:extLst>
              <a:ext uri="{FF2B5EF4-FFF2-40B4-BE49-F238E27FC236}">
                <a16:creationId xmlns:a16="http://schemas.microsoft.com/office/drawing/2014/main" id="{435511BF-E45D-5A43-810A-E1B6D19BF6D0}"/>
              </a:ext>
            </a:extLst>
          </p:cNvPr>
          <p:cNvGrpSpPr/>
          <p:nvPr/>
        </p:nvGrpSpPr>
        <p:grpSpPr>
          <a:xfrm>
            <a:off x="280554" y="3397137"/>
            <a:ext cx="975591" cy="704152"/>
            <a:chOff x="280554" y="3397137"/>
            <a:chExt cx="975591" cy="704152"/>
          </a:xfrm>
        </p:grpSpPr>
        <p:pic>
          <p:nvPicPr>
            <p:cNvPr id="16" name="Graphic 23">
              <a:extLst>
                <a:ext uri="{FF2B5EF4-FFF2-40B4-BE49-F238E27FC236}">
                  <a16:creationId xmlns:a16="http://schemas.microsoft.com/office/drawing/2014/main" id="{DE9244AA-6AB9-364A-9EB4-79231FA02565}"/>
                </a:ext>
              </a:extLst>
            </p:cNvPr>
            <p:cNvPicPr>
              <a:picLocks noChangeAspect="1" noChangeArrowheads="1"/>
            </p:cNvPicPr>
            <p:nvPr/>
          </p:nvPicPr>
          <p:blipFill>
            <a:blip r:embed="rId5">
              <a:extLst>
                <a:ext uri="{96DAC541-7B7A-43D3-8B79-37D633B846F1}">
                  <asvg:svgBlip xmlns:asvg="http://schemas.microsoft.com/office/drawing/2016/SVG/main" r:embed="rId6"/>
                </a:ext>
              </a:extLst>
            </a:blip>
            <a:srcRect/>
            <a:stretch/>
          </p:blipFill>
          <p:spPr bwMode="auto">
            <a:xfrm flipH="1">
              <a:off x="533400" y="3397137"/>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34">
              <a:extLst>
                <a:ext uri="{FF2B5EF4-FFF2-40B4-BE49-F238E27FC236}">
                  <a16:creationId xmlns:a16="http://schemas.microsoft.com/office/drawing/2014/main" id="{4713D1A9-ACED-684A-BA91-5376088AC829}"/>
                </a:ext>
              </a:extLst>
            </p:cNvPr>
            <p:cNvSpPr txBox="1">
              <a:spLocks noChangeArrowheads="1"/>
            </p:cNvSpPr>
            <p:nvPr/>
          </p:nvSpPr>
          <p:spPr bwMode="auto">
            <a:xfrm>
              <a:off x="280554" y="3847373"/>
              <a:ext cx="975591"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3</a:t>
              </a:r>
              <a:r>
                <a:rPr lang="en-US" altLang="en-US" sz="1050" baseline="300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rd</a:t>
              </a:r>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 Parties</a:t>
              </a:r>
              <a:endPar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3" name="Group 2">
            <a:extLst>
              <a:ext uri="{FF2B5EF4-FFF2-40B4-BE49-F238E27FC236}">
                <a16:creationId xmlns:a16="http://schemas.microsoft.com/office/drawing/2014/main" id="{F503892A-C1B5-6E4C-9DB8-6BC79C314A41}"/>
              </a:ext>
            </a:extLst>
          </p:cNvPr>
          <p:cNvGrpSpPr/>
          <p:nvPr/>
        </p:nvGrpSpPr>
        <p:grpSpPr>
          <a:xfrm>
            <a:off x="1303483" y="3397137"/>
            <a:ext cx="975591" cy="704152"/>
            <a:chOff x="1303483" y="3397137"/>
            <a:chExt cx="975591" cy="704152"/>
          </a:xfrm>
        </p:grpSpPr>
        <p:pic>
          <p:nvPicPr>
            <p:cNvPr id="18" name="Graphic 43">
              <a:extLst>
                <a:ext uri="{FF2B5EF4-FFF2-40B4-BE49-F238E27FC236}">
                  <a16:creationId xmlns:a16="http://schemas.microsoft.com/office/drawing/2014/main" id="{97B83106-6942-6F4B-87FE-2050F794E45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56328" y="3397137"/>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Box 34">
              <a:extLst>
                <a:ext uri="{FF2B5EF4-FFF2-40B4-BE49-F238E27FC236}">
                  <a16:creationId xmlns:a16="http://schemas.microsoft.com/office/drawing/2014/main" id="{24461F77-1BB8-3245-8D6D-A54A44AB96F6}"/>
                </a:ext>
              </a:extLst>
            </p:cNvPr>
            <p:cNvSpPr txBox="1">
              <a:spLocks noChangeArrowheads="1"/>
            </p:cNvSpPr>
            <p:nvPr/>
          </p:nvSpPr>
          <p:spPr bwMode="auto">
            <a:xfrm>
              <a:off x="1303483" y="3847373"/>
              <a:ext cx="975591"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Vaults</a:t>
              </a:r>
              <a:endPar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endParaRPr>
            </a:p>
          </p:txBody>
        </p:sp>
      </p:grpSp>
      <p:pic>
        <p:nvPicPr>
          <p:cNvPr id="20" name="Graphic 16">
            <a:extLst>
              <a:ext uri="{FF2B5EF4-FFF2-40B4-BE49-F238E27FC236}">
                <a16:creationId xmlns:a16="http://schemas.microsoft.com/office/drawing/2014/main" id="{C6693A52-8FFD-AC4A-B7BB-C8045136768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p:blipFill>
        <p:spPr bwMode="auto">
          <a:xfrm>
            <a:off x="2639291" y="3403487"/>
            <a:ext cx="469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Box 34">
            <a:extLst>
              <a:ext uri="{FF2B5EF4-FFF2-40B4-BE49-F238E27FC236}">
                <a16:creationId xmlns:a16="http://schemas.microsoft.com/office/drawing/2014/main" id="{81F90116-AFB6-AE46-9D15-E2CA36F8CBD6}"/>
              </a:ext>
            </a:extLst>
          </p:cNvPr>
          <p:cNvSpPr txBox="1">
            <a:spLocks noChangeArrowheads="1"/>
          </p:cNvSpPr>
          <p:nvPr/>
        </p:nvSpPr>
        <p:spPr bwMode="auto">
          <a:xfrm>
            <a:off x="2386446" y="3847373"/>
            <a:ext cx="975591"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Wallets</a:t>
            </a:r>
            <a:endPar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endParaRPr>
          </a:p>
        </p:txBody>
      </p:sp>
      <p:cxnSp>
        <p:nvCxnSpPr>
          <p:cNvPr id="22" name="Straight Arrow Connector 202">
            <a:extLst>
              <a:ext uri="{FF2B5EF4-FFF2-40B4-BE49-F238E27FC236}">
                <a16:creationId xmlns:a16="http://schemas.microsoft.com/office/drawing/2014/main" id="{E734A3F4-EBF7-BA4F-976B-7DB05F1043C4}"/>
              </a:ext>
            </a:extLst>
          </p:cNvPr>
          <p:cNvCxnSpPr>
            <a:cxnSpLocks/>
            <a:stCxn id="16" idx="0"/>
            <a:endCxn id="15" idx="1"/>
          </p:cNvCxnSpPr>
          <p:nvPr/>
        </p:nvCxnSpPr>
        <p:spPr>
          <a:xfrm rot="5400000" flipH="1" flipV="1">
            <a:off x="437759" y="2279418"/>
            <a:ext cx="1448311" cy="787128"/>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28" name="Straight Arrow Connector 202">
            <a:extLst>
              <a:ext uri="{FF2B5EF4-FFF2-40B4-BE49-F238E27FC236}">
                <a16:creationId xmlns:a16="http://schemas.microsoft.com/office/drawing/2014/main" id="{4292A850-3FC8-1B45-8300-F4014D0572EF}"/>
              </a:ext>
            </a:extLst>
          </p:cNvPr>
          <p:cNvCxnSpPr>
            <a:cxnSpLocks/>
            <a:stCxn id="20" idx="0"/>
            <a:endCxn id="15" idx="3"/>
          </p:cNvCxnSpPr>
          <p:nvPr/>
        </p:nvCxnSpPr>
        <p:spPr>
          <a:xfrm rot="16200000" flipV="1">
            <a:off x="1726505" y="2249400"/>
            <a:ext cx="1448311" cy="847163"/>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1A49F249-0E70-8E45-85B2-DC7BB8FB0D53}"/>
              </a:ext>
            </a:extLst>
          </p:cNvPr>
          <p:cNvCxnSpPr>
            <a:cxnSpLocks/>
            <a:stCxn id="18" idx="0"/>
            <a:endCxn id="15" idx="2"/>
          </p:cNvCxnSpPr>
          <p:nvPr/>
        </p:nvCxnSpPr>
        <p:spPr>
          <a:xfrm flipV="1">
            <a:off x="1791278" y="2184626"/>
            <a:ext cx="0" cy="1212511"/>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42" name="TextBox 9">
            <a:extLst>
              <a:ext uri="{FF2B5EF4-FFF2-40B4-BE49-F238E27FC236}">
                <a16:creationId xmlns:a16="http://schemas.microsoft.com/office/drawing/2014/main" id="{1B1AC1AF-F30C-7843-B237-F17626EA8554}"/>
              </a:ext>
            </a:extLst>
          </p:cNvPr>
          <p:cNvSpPr txBox="1">
            <a:spLocks noChangeArrowheads="1"/>
          </p:cNvSpPr>
          <p:nvPr/>
        </p:nvSpPr>
        <p:spPr bwMode="auto">
          <a:xfrm>
            <a:off x="2391320" y="2521276"/>
            <a:ext cx="96570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dirty="0">
                <a:effectLst>
                  <a:glow rad="321067">
                    <a:schemeClr val="bg1">
                      <a:alpha val="89960"/>
                    </a:schemeClr>
                  </a:glow>
                </a:effectLst>
              </a:rPr>
              <a:t>translations </a:t>
            </a:r>
          </a:p>
        </p:txBody>
      </p:sp>
      <p:sp>
        <p:nvSpPr>
          <p:cNvPr id="43" name="TextBox 9">
            <a:extLst>
              <a:ext uri="{FF2B5EF4-FFF2-40B4-BE49-F238E27FC236}">
                <a16:creationId xmlns:a16="http://schemas.microsoft.com/office/drawing/2014/main" id="{1063CE26-2F3E-9442-A44E-B70DBBE280C0}"/>
              </a:ext>
            </a:extLst>
          </p:cNvPr>
          <p:cNvSpPr txBox="1">
            <a:spLocks noChangeArrowheads="1"/>
          </p:cNvSpPr>
          <p:nvPr/>
        </p:nvSpPr>
        <p:spPr bwMode="auto">
          <a:xfrm>
            <a:off x="1464876" y="2359694"/>
            <a:ext cx="65958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dirty="0">
                <a:effectLst>
                  <a:glow rad="321067">
                    <a:schemeClr val="bg1">
                      <a:alpha val="89960"/>
                    </a:schemeClr>
                  </a:glow>
                </a:effectLst>
              </a:rPr>
              <a:t>trust query?</a:t>
            </a:r>
          </a:p>
        </p:txBody>
      </p:sp>
      <p:sp>
        <p:nvSpPr>
          <p:cNvPr id="46" name="TextBox 9">
            <a:extLst>
              <a:ext uri="{FF2B5EF4-FFF2-40B4-BE49-F238E27FC236}">
                <a16:creationId xmlns:a16="http://schemas.microsoft.com/office/drawing/2014/main" id="{02146826-0F1E-0341-833C-95107FBE51AB}"/>
              </a:ext>
            </a:extLst>
          </p:cNvPr>
          <p:cNvSpPr txBox="1">
            <a:spLocks noChangeArrowheads="1"/>
          </p:cNvSpPr>
          <p:nvPr/>
        </p:nvSpPr>
        <p:spPr bwMode="auto">
          <a:xfrm>
            <a:off x="372383" y="2359694"/>
            <a:ext cx="79810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dirty="0">
                <a:effectLst>
                  <a:glow rad="321067">
                    <a:schemeClr val="bg1">
                      <a:alpha val="89960"/>
                    </a:schemeClr>
                  </a:glow>
                </a:effectLst>
              </a:rPr>
              <a:t>trust response?</a:t>
            </a:r>
          </a:p>
        </p:txBody>
      </p:sp>
      <p:sp>
        <p:nvSpPr>
          <p:cNvPr id="53" name="Rectangle 52">
            <a:extLst>
              <a:ext uri="{FF2B5EF4-FFF2-40B4-BE49-F238E27FC236}">
                <a16:creationId xmlns:a16="http://schemas.microsoft.com/office/drawing/2014/main" id="{19157A4B-2BCF-F847-9B19-8C1FD610ECEC}"/>
              </a:ext>
            </a:extLst>
          </p:cNvPr>
          <p:cNvSpPr/>
          <p:nvPr/>
        </p:nvSpPr>
        <p:spPr>
          <a:xfrm>
            <a:off x="301635" y="4141312"/>
            <a:ext cx="938098" cy="591364"/>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a:lstStyle/>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does domain [A]</a:t>
            </a:r>
            <a:b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b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trust domain [B]</a:t>
            </a:r>
            <a:b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b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with code [X]</a:t>
            </a:r>
            <a:b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b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answers?</a:t>
            </a:r>
          </a:p>
        </p:txBody>
      </p:sp>
      <p:sp>
        <p:nvSpPr>
          <p:cNvPr id="55" name="Rectangle 54">
            <a:extLst>
              <a:ext uri="{FF2B5EF4-FFF2-40B4-BE49-F238E27FC236}">
                <a16:creationId xmlns:a16="http://schemas.microsoft.com/office/drawing/2014/main" id="{331A8F31-0CDE-FF4C-BE53-45726F03791A}"/>
              </a:ext>
            </a:extLst>
          </p:cNvPr>
          <p:cNvSpPr/>
          <p:nvPr/>
        </p:nvSpPr>
        <p:spPr>
          <a:xfrm>
            <a:off x="1322229" y="4141312"/>
            <a:ext cx="938098" cy="591364"/>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a:lstStyle/>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does domain [B]</a:t>
            </a:r>
            <a:b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b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trust domain [A]</a:t>
            </a:r>
            <a:b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b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with code [X]</a:t>
            </a:r>
            <a:b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b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queries?</a:t>
            </a:r>
          </a:p>
        </p:txBody>
      </p:sp>
      <p:sp>
        <p:nvSpPr>
          <p:cNvPr id="56" name="Rectangle 55">
            <a:extLst>
              <a:ext uri="{FF2B5EF4-FFF2-40B4-BE49-F238E27FC236}">
                <a16:creationId xmlns:a16="http://schemas.microsoft.com/office/drawing/2014/main" id="{CC3D6578-3179-8341-9F19-5F0BB24EF153}"/>
              </a:ext>
            </a:extLst>
          </p:cNvPr>
          <p:cNvSpPr/>
          <p:nvPr/>
        </p:nvSpPr>
        <p:spPr>
          <a:xfrm>
            <a:off x="2449424" y="4141312"/>
            <a:ext cx="849634" cy="455669"/>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a:lstStyle/>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translate </a:t>
            </a:r>
            <a:b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b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code [X]</a:t>
            </a:r>
            <a:b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b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to language [L]</a:t>
            </a:r>
          </a:p>
        </p:txBody>
      </p:sp>
      <p:cxnSp>
        <p:nvCxnSpPr>
          <p:cNvPr id="57" name="Separator">
            <a:extLst>
              <a:ext uri="{FF2B5EF4-FFF2-40B4-BE49-F238E27FC236}">
                <a16:creationId xmlns:a16="http://schemas.microsoft.com/office/drawing/2014/main" id="{49968DB3-EFF3-5041-A37D-DF05727FC504}"/>
              </a:ext>
            </a:extLst>
          </p:cNvPr>
          <p:cNvCxnSpPr>
            <a:cxnSpLocks/>
          </p:cNvCxnSpPr>
          <p:nvPr/>
        </p:nvCxnSpPr>
        <p:spPr>
          <a:xfrm flipV="1">
            <a:off x="3581400" y="1278575"/>
            <a:ext cx="0" cy="5046025"/>
          </a:xfrm>
          <a:prstGeom prst="line">
            <a:avLst/>
          </a:prstGeom>
          <a:ln w="25400">
            <a:solidFill>
              <a:srgbClr val="545B64"/>
            </a:solidFill>
          </a:ln>
        </p:spPr>
        <p:style>
          <a:lnRef idx="3">
            <a:schemeClr val="dk1"/>
          </a:lnRef>
          <a:fillRef idx="0">
            <a:schemeClr val="dk1"/>
          </a:fillRef>
          <a:effectRef idx="2">
            <a:schemeClr val="dk1"/>
          </a:effectRef>
          <a:fontRef idx="minor">
            <a:schemeClr val="tx1"/>
          </a:fontRef>
        </p:style>
      </p:cxnSp>
      <p:sp>
        <p:nvSpPr>
          <p:cNvPr id="58" name="TextBox 9">
            <a:extLst>
              <a:ext uri="{FF2B5EF4-FFF2-40B4-BE49-F238E27FC236}">
                <a16:creationId xmlns:a16="http://schemas.microsoft.com/office/drawing/2014/main" id="{CBE30657-7454-E44C-94E8-FF54D13F808A}"/>
              </a:ext>
            </a:extLst>
          </p:cNvPr>
          <p:cNvSpPr txBox="1">
            <a:spLocks noChangeArrowheads="1"/>
          </p:cNvSpPr>
          <p:nvPr/>
        </p:nvSpPr>
        <p:spPr bwMode="auto">
          <a:xfrm>
            <a:off x="228600" y="1343011"/>
            <a:ext cx="1830408"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pPr algn="l"/>
            <a:r>
              <a:rPr lang="en-US" altLang="en-US" i="0" dirty="0">
                <a:effectLst>
                  <a:glow rad="321067">
                    <a:schemeClr val="bg1">
                      <a:alpha val="89960"/>
                    </a:schemeClr>
                  </a:glow>
                </a:effectLst>
              </a:rPr>
              <a:t>Architecture</a:t>
            </a:r>
          </a:p>
        </p:txBody>
      </p:sp>
      <p:sp>
        <p:nvSpPr>
          <p:cNvPr id="59" name="Rectangle 58">
            <a:extLst>
              <a:ext uri="{FF2B5EF4-FFF2-40B4-BE49-F238E27FC236}">
                <a16:creationId xmlns:a16="http://schemas.microsoft.com/office/drawing/2014/main" id="{E334AEE8-CB32-194A-B429-2E0BCB6FE55F}"/>
              </a:ext>
            </a:extLst>
          </p:cNvPr>
          <p:cNvSpPr/>
          <p:nvPr/>
        </p:nvSpPr>
        <p:spPr>
          <a:xfrm>
            <a:off x="3748737" y="1667466"/>
            <a:ext cx="5100181" cy="1971280"/>
          </a:xfrm>
          <a:prstGeom prst="rect">
            <a:avLst/>
          </a:prstGeom>
          <a:solidFill>
            <a:schemeClr val="accent6">
              <a:alpha val="9804"/>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vert="horz" lIns="108000" tIns="72000" anchor="t"/>
          <a:lstStyle/>
          <a:p>
            <a:r>
              <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Any </a:t>
            </a:r>
            <a:br>
              <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br>
            <a:r>
              <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Trust </a:t>
            </a:r>
            <a:br>
              <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br>
            <a:r>
              <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Graph</a:t>
            </a:r>
          </a:p>
        </p:txBody>
      </p:sp>
      <p:sp>
        <p:nvSpPr>
          <p:cNvPr id="60" name="TextBox 9">
            <a:extLst>
              <a:ext uri="{FF2B5EF4-FFF2-40B4-BE49-F238E27FC236}">
                <a16:creationId xmlns:a16="http://schemas.microsoft.com/office/drawing/2014/main" id="{5F229616-E572-FF49-BA8C-18FB20FA56FE}"/>
              </a:ext>
            </a:extLst>
          </p:cNvPr>
          <p:cNvSpPr txBox="1">
            <a:spLocks noChangeArrowheads="1"/>
          </p:cNvSpPr>
          <p:nvPr/>
        </p:nvSpPr>
        <p:spPr bwMode="auto">
          <a:xfrm>
            <a:off x="3657601" y="1341456"/>
            <a:ext cx="5191322"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i="0" dirty="0">
                <a:effectLst>
                  <a:glow rad="321067">
                    <a:schemeClr val="bg1">
                      <a:alpha val="89960"/>
                    </a:schemeClr>
                  </a:glow>
                </a:effectLst>
              </a:rPr>
              <a:t>Sample scenario</a:t>
            </a:r>
          </a:p>
        </p:txBody>
      </p:sp>
      <p:pic>
        <p:nvPicPr>
          <p:cNvPr id="62" name="Graphic 43">
            <a:extLst>
              <a:ext uri="{FF2B5EF4-FFF2-40B4-BE49-F238E27FC236}">
                <a16:creationId xmlns:a16="http://schemas.microsoft.com/office/drawing/2014/main" id="{EA18E768-AA69-EA41-B8A1-D6353DC0495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89082" y="2656490"/>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 name="TextBox 34">
            <a:extLst>
              <a:ext uri="{FF2B5EF4-FFF2-40B4-BE49-F238E27FC236}">
                <a16:creationId xmlns:a16="http://schemas.microsoft.com/office/drawing/2014/main" id="{810377A9-EE72-584D-A78A-D0A776C2E955}"/>
              </a:ext>
            </a:extLst>
          </p:cNvPr>
          <p:cNvSpPr txBox="1">
            <a:spLocks noChangeArrowheads="1"/>
          </p:cNvSpPr>
          <p:nvPr/>
        </p:nvSpPr>
        <p:spPr bwMode="auto">
          <a:xfrm>
            <a:off x="3674776" y="3057566"/>
            <a:ext cx="1298512"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French Mobility</a:t>
            </a:r>
            <a:b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t>
            </a:r>
            <a:r>
              <a:rPr lang="en-US" altLang="en-US" sz="1050" i="1" dirty="0" err="1">
                <a:solidFill>
                  <a:srgbClr val="000000"/>
                </a:solidFill>
                <a:latin typeface="Amazon Ember" panose="020B0603020204020204" pitchFamily="34" charset="0"/>
                <a:ea typeface="Amazon Ember" panose="020B0603020204020204" pitchFamily="34" charset="0"/>
                <a:cs typeface="Amazon Ember" panose="020B0603020204020204" pitchFamily="34" charset="0"/>
              </a:rPr>
              <a:t>mobility.gov.fr</a:t>
            </a: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t>
            </a:r>
            <a:b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vault</a:t>
            </a:r>
          </a:p>
        </p:txBody>
      </p:sp>
      <p:sp>
        <p:nvSpPr>
          <p:cNvPr id="64" name="TextBox 34">
            <a:extLst>
              <a:ext uri="{FF2B5EF4-FFF2-40B4-BE49-F238E27FC236}">
                <a16:creationId xmlns:a16="http://schemas.microsoft.com/office/drawing/2014/main" id="{AED54345-A5FC-FD45-8F94-075EE71EEC05}"/>
              </a:ext>
            </a:extLst>
          </p:cNvPr>
          <p:cNvSpPr txBox="1">
            <a:spLocks noChangeArrowheads="1"/>
          </p:cNvSpPr>
          <p:nvPr/>
        </p:nvSpPr>
        <p:spPr bwMode="auto">
          <a:xfrm>
            <a:off x="5105400" y="2077583"/>
            <a:ext cx="975591"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EU Gov</a:t>
            </a:r>
            <a:b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authority</a:t>
            </a:r>
          </a:p>
        </p:txBody>
      </p:sp>
      <p:pic>
        <p:nvPicPr>
          <p:cNvPr id="65" name="Graphic 19">
            <a:extLst>
              <a:ext uri="{FF2B5EF4-FFF2-40B4-BE49-F238E27FC236}">
                <a16:creationId xmlns:a16="http://schemas.microsoft.com/office/drawing/2014/main" id="{D0F5C8EB-D274-3C4D-A497-D0D6E4ECE68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95195" y="1726955"/>
            <a:ext cx="396000" cy="3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 name="TextBox 34">
            <a:extLst>
              <a:ext uri="{FF2B5EF4-FFF2-40B4-BE49-F238E27FC236}">
                <a16:creationId xmlns:a16="http://schemas.microsoft.com/office/drawing/2014/main" id="{92FDEE46-168C-404C-BD42-A9180846FDCE}"/>
              </a:ext>
            </a:extLst>
          </p:cNvPr>
          <p:cNvSpPr txBox="1">
            <a:spLocks noChangeArrowheads="1"/>
          </p:cNvSpPr>
          <p:nvPr/>
        </p:nvSpPr>
        <p:spPr bwMode="auto">
          <a:xfrm>
            <a:off x="4495800" y="2564764"/>
            <a:ext cx="975591"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French Gov</a:t>
            </a:r>
            <a:b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authority</a:t>
            </a:r>
          </a:p>
        </p:txBody>
      </p:sp>
      <p:pic>
        <p:nvPicPr>
          <p:cNvPr id="67" name="Graphic 19">
            <a:extLst>
              <a:ext uri="{FF2B5EF4-FFF2-40B4-BE49-F238E27FC236}">
                <a16:creationId xmlns:a16="http://schemas.microsoft.com/office/drawing/2014/main" id="{E03E967F-F317-784A-88A0-ED8A0988527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85595" y="2224544"/>
            <a:ext cx="396000" cy="3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 name="TextBox 34">
            <a:extLst>
              <a:ext uri="{FF2B5EF4-FFF2-40B4-BE49-F238E27FC236}">
                <a16:creationId xmlns:a16="http://schemas.microsoft.com/office/drawing/2014/main" id="{89C790AD-2DA0-DF4B-8FAE-AA7672CA4CEA}"/>
              </a:ext>
            </a:extLst>
          </p:cNvPr>
          <p:cNvSpPr txBox="1">
            <a:spLocks noChangeArrowheads="1"/>
          </p:cNvSpPr>
          <p:nvPr/>
        </p:nvSpPr>
        <p:spPr bwMode="auto">
          <a:xfrm>
            <a:off x="5943600" y="2067175"/>
            <a:ext cx="1073150"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Japan Gov</a:t>
            </a:r>
            <a:b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t>
            </a:r>
            <a:r>
              <a:rPr lang="en-US" altLang="en-US" sz="1050" i="1" dirty="0" err="1">
                <a:solidFill>
                  <a:srgbClr val="000000"/>
                </a:solidFill>
                <a:latin typeface="Amazon Ember" panose="020B0603020204020204" pitchFamily="34" charset="0"/>
                <a:ea typeface="Amazon Ember" panose="020B0603020204020204" pitchFamily="34" charset="0"/>
                <a:cs typeface="Amazon Ember" panose="020B0603020204020204" pitchFamily="34" charset="0"/>
              </a:rPr>
              <a:t>go.jp</a:t>
            </a: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t>
            </a:r>
            <a:b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authority</a:t>
            </a:r>
          </a:p>
        </p:txBody>
      </p:sp>
      <p:pic>
        <p:nvPicPr>
          <p:cNvPr id="69" name="Graphic 19">
            <a:extLst>
              <a:ext uri="{FF2B5EF4-FFF2-40B4-BE49-F238E27FC236}">
                <a16:creationId xmlns:a16="http://schemas.microsoft.com/office/drawing/2014/main" id="{4B3EB9F1-2E69-E040-BA00-927564E9821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82175" y="1726955"/>
            <a:ext cx="396000" cy="3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 name="Graphic 23">
            <a:extLst>
              <a:ext uri="{FF2B5EF4-FFF2-40B4-BE49-F238E27FC236}">
                <a16:creationId xmlns:a16="http://schemas.microsoft.com/office/drawing/2014/main" id="{09DECEEC-81A8-0A45-8AD9-66DE9FC0DB4D}"/>
              </a:ext>
            </a:extLst>
          </p:cNvPr>
          <p:cNvPicPr>
            <a:picLocks noChangeAspect="1" noChangeArrowheads="1"/>
          </p:cNvPicPr>
          <p:nvPr/>
        </p:nvPicPr>
        <p:blipFill>
          <a:blip r:embed="rId5">
            <a:extLst>
              <a:ext uri="{96DAC541-7B7A-43D3-8B79-37D633B846F1}">
                <asvg:svgBlip xmlns:asvg="http://schemas.microsoft.com/office/drawing/2016/SVG/main" r:embed="rId6"/>
              </a:ext>
            </a:extLst>
          </a:blip>
          <a:srcRect/>
          <a:stretch/>
        </p:blipFill>
        <p:spPr bwMode="auto">
          <a:xfrm flipH="1">
            <a:off x="7022235" y="2605277"/>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 name="TextBox 34">
            <a:extLst>
              <a:ext uri="{FF2B5EF4-FFF2-40B4-BE49-F238E27FC236}">
                <a16:creationId xmlns:a16="http://schemas.microsoft.com/office/drawing/2014/main" id="{7B261EAE-AB07-8A48-B800-96881B7F4EA8}"/>
              </a:ext>
            </a:extLst>
          </p:cNvPr>
          <p:cNvSpPr txBox="1">
            <a:spLocks noChangeArrowheads="1"/>
          </p:cNvSpPr>
          <p:nvPr/>
        </p:nvSpPr>
        <p:spPr bwMode="auto">
          <a:xfrm>
            <a:off x="6720609" y="3035849"/>
            <a:ext cx="1073150"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Japan Airlines</a:t>
            </a:r>
            <a:b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t>
            </a:r>
            <a:r>
              <a:rPr lang="en-US" altLang="en-US" sz="1050" i="1" dirty="0" err="1">
                <a:solidFill>
                  <a:srgbClr val="000000"/>
                </a:solidFill>
                <a:latin typeface="Amazon Ember" panose="020B0603020204020204" pitchFamily="34" charset="0"/>
                <a:ea typeface="Amazon Ember" panose="020B0603020204020204" pitchFamily="34" charset="0"/>
                <a:cs typeface="Amazon Ember" panose="020B0603020204020204" pitchFamily="34" charset="0"/>
              </a:rPr>
              <a:t>jal.com</a:t>
            </a: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t>
            </a:r>
            <a:b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consumer</a:t>
            </a:r>
          </a:p>
        </p:txBody>
      </p:sp>
      <p:pic>
        <p:nvPicPr>
          <p:cNvPr id="74" name="Graphic 43">
            <a:extLst>
              <a:ext uri="{FF2B5EF4-FFF2-40B4-BE49-F238E27FC236}">
                <a16:creationId xmlns:a16="http://schemas.microsoft.com/office/drawing/2014/main" id="{C6E4DC4B-6AD8-FF4A-AAA8-3BECB88CDD1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31407" y="2624263"/>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 name="TextBox 34">
            <a:extLst>
              <a:ext uri="{FF2B5EF4-FFF2-40B4-BE49-F238E27FC236}">
                <a16:creationId xmlns:a16="http://schemas.microsoft.com/office/drawing/2014/main" id="{52B0C77D-B5C7-274A-9403-259C86FDDBBD}"/>
              </a:ext>
            </a:extLst>
          </p:cNvPr>
          <p:cNvSpPr txBox="1">
            <a:spLocks noChangeArrowheads="1"/>
          </p:cNvSpPr>
          <p:nvPr/>
        </p:nvSpPr>
        <p:spPr bwMode="auto">
          <a:xfrm>
            <a:off x="7978562" y="3025339"/>
            <a:ext cx="975591"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IDnow</a:t>
            </a:r>
            <a:b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digital ID</a:t>
            </a:r>
            <a:b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vault</a:t>
            </a:r>
          </a:p>
        </p:txBody>
      </p:sp>
      <p:cxnSp>
        <p:nvCxnSpPr>
          <p:cNvPr id="77" name="Straight Arrow Connector 202">
            <a:extLst>
              <a:ext uri="{FF2B5EF4-FFF2-40B4-BE49-F238E27FC236}">
                <a16:creationId xmlns:a16="http://schemas.microsoft.com/office/drawing/2014/main" id="{BAF36762-14FD-8644-92C9-C07997C20EDF}"/>
              </a:ext>
            </a:extLst>
          </p:cNvPr>
          <p:cNvCxnSpPr>
            <a:cxnSpLocks/>
            <a:stCxn id="67" idx="1"/>
            <a:endCxn id="62" idx="0"/>
          </p:cNvCxnSpPr>
          <p:nvPr/>
        </p:nvCxnSpPr>
        <p:spPr>
          <a:xfrm rot="10800000" flipV="1">
            <a:off x="4324033" y="2422544"/>
            <a:ext cx="461563" cy="233946"/>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80" name="Straight Arrow Connector 202">
            <a:extLst>
              <a:ext uri="{FF2B5EF4-FFF2-40B4-BE49-F238E27FC236}">
                <a16:creationId xmlns:a16="http://schemas.microsoft.com/office/drawing/2014/main" id="{C8B2ACEE-E402-314B-AE6D-5120B6D14169}"/>
              </a:ext>
            </a:extLst>
          </p:cNvPr>
          <p:cNvCxnSpPr>
            <a:cxnSpLocks/>
            <a:stCxn id="65" idx="1"/>
            <a:endCxn id="67" idx="0"/>
          </p:cNvCxnSpPr>
          <p:nvPr/>
        </p:nvCxnSpPr>
        <p:spPr>
          <a:xfrm rot="10800000" flipV="1">
            <a:off x="4983595" y="1924954"/>
            <a:ext cx="411600" cy="299589"/>
          </a:xfrm>
          <a:prstGeom prst="bentConnector2">
            <a:avLst/>
          </a:prstGeom>
          <a:ln w="12700">
            <a:solidFill>
              <a:srgbClr val="545B64"/>
            </a:solidFill>
            <a:headEnd type="arrow"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7B861BF0-9847-B64D-B403-5F39F46C658A}"/>
              </a:ext>
            </a:extLst>
          </p:cNvPr>
          <p:cNvCxnSpPr>
            <a:cxnSpLocks/>
            <a:stCxn id="69" idx="1"/>
            <a:endCxn id="65" idx="3"/>
          </p:cNvCxnSpPr>
          <p:nvPr/>
        </p:nvCxnSpPr>
        <p:spPr>
          <a:xfrm flipH="1">
            <a:off x="5791195" y="1924955"/>
            <a:ext cx="490980" cy="0"/>
          </a:xfrm>
          <a:prstGeom prst="straightConnector1">
            <a:avLst/>
          </a:prstGeom>
          <a:ln w="12700">
            <a:solidFill>
              <a:srgbClr val="545B64"/>
            </a:solidFill>
            <a:headEnd type="arrow"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89" name="Straight Arrow Connector 202">
            <a:extLst>
              <a:ext uri="{FF2B5EF4-FFF2-40B4-BE49-F238E27FC236}">
                <a16:creationId xmlns:a16="http://schemas.microsoft.com/office/drawing/2014/main" id="{6C308392-F925-0D46-ABEB-F970A8B209B1}"/>
              </a:ext>
            </a:extLst>
          </p:cNvPr>
          <p:cNvCxnSpPr>
            <a:cxnSpLocks/>
            <a:stCxn id="72" idx="0"/>
            <a:endCxn id="69" idx="3"/>
          </p:cNvCxnSpPr>
          <p:nvPr/>
        </p:nvCxnSpPr>
        <p:spPr>
          <a:xfrm rot="16200000" flipV="1">
            <a:off x="6627519" y="1975611"/>
            <a:ext cx="680322" cy="579010"/>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92" name="Straight Arrow Connector 202">
            <a:extLst>
              <a:ext uri="{FF2B5EF4-FFF2-40B4-BE49-F238E27FC236}">
                <a16:creationId xmlns:a16="http://schemas.microsoft.com/office/drawing/2014/main" id="{D1E2E206-9F97-0B4C-B323-BEDE108789E0}"/>
              </a:ext>
            </a:extLst>
          </p:cNvPr>
          <p:cNvCxnSpPr>
            <a:cxnSpLocks/>
            <a:stCxn id="72" idx="1"/>
            <a:endCxn id="107" idx="0"/>
          </p:cNvCxnSpPr>
          <p:nvPr/>
        </p:nvCxnSpPr>
        <p:spPr>
          <a:xfrm>
            <a:off x="7492135" y="2840227"/>
            <a:ext cx="485891" cy="1503173"/>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105" name="Rectangle 104">
            <a:extLst>
              <a:ext uri="{FF2B5EF4-FFF2-40B4-BE49-F238E27FC236}">
                <a16:creationId xmlns:a16="http://schemas.microsoft.com/office/drawing/2014/main" id="{A82303D2-C653-E245-8521-CF4DDC2AB474}"/>
              </a:ext>
            </a:extLst>
          </p:cNvPr>
          <p:cNvSpPr/>
          <p:nvPr/>
        </p:nvSpPr>
        <p:spPr>
          <a:xfrm>
            <a:off x="7028091" y="3771421"/>
            <a:ext cx="1813862" cy="2692441"/>
          </a:xfrm>
          <a:prstGeom prst="rect">
            <a:avLst/>
          </a:prstGeom>
          <a:solidFill>
            <a:schemeClr val="accent6">
              <a:alpha val="9804"/>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vert="horz" lIns="108000" tIns="72000" anchor="t"/>
          <a:lstStyle/>
          <a:p>
            <a:r>
              <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Any </a:t>
            </a:r>
            <a:br>
              <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br>
            <a:r>
              <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Trust </a:t>
            </a:r>
            <a:br>
              <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br>
            <a:r>
              <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Graph</a:t>
            </a:r>
          </a:p>
        </p:txBody>
      </p:sp>
      <p:sp>
        <p:nvSpPr>
          <p:cNvPr id="106" name="TextBox 34">
            <a:extLst>
              <a:ext uri="{FF2B5EF4-FFF2-40B4-BE49-F238E27FC236}">
                <a16:creationId xmlns:a16="http://schemas.microsoft.com/office/drawing/2014/main" id="{C8ABDB6B-A8D2-FE40-8C8A-7E6E7CF61AEF}"/>
              </a:ext>
            </a:extLst>
          </p:cNvPr>
          <p:cNvSpPr txBox="1">
            <a:spLocks noChangeArrowheads="1"/>
          </p:cNvSpPr>
          <p:nvPr/>
        </p:nvSpPr>
        <p:spPr bwMode="auto">
          <a:xfrm>
            <a:off x="7490231" y="4683620"/>
            <a:ext cx="975591"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IATA</a:t>
            </a:r>
            <a:b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t>
            </a:r>
            <a:r>
              <a:rPr lang="en-US" altLang="en-US" sz="1050" i="1" dirty="0" err="1">
                <a:solidFill>
                  <a:srgbClr val="000000"/>
                </a:solidFill>
                <a:latin typeface="Amazon Ember" panose="020B0603020204020204" pitchFamily="34" charset="0"/>
                <a:ea typeface="Amazon Ember" panose="020B0603020204020204" pitchFamily="34" charset="0"/>
                <a:cs typeface="Amazon Ember" panose="020B0603020204020204" pitchFamily="34" charset="0"/>
              </a:rPr>
              <a:t>iata.org</a:t>
            </a: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t>
            </a:r>
            <a:b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authority</a:t>
            </a:r>
          </a:p>
        </p:txBody>
      </p:sp>
      <p:pic>
        <p:nvPicPr>
          <p:cNvPr id="107" name="Graphic 19">
            <a:extLst>
              <a:ext uri="{FF2B5EF4-FFF2-40B4-BE49-F238E27FC236}">
                <a16:creationId xmlns:a16="http://schemas.microsoft.com/office/drawing/2014/main" id="{ACF3B229-908B-4846-A094-69D19D26E2F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780026" y="4343400"/>
            <a:ext cx="396000" cy="3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 name="Rectangle 107">
            <a:extLst>
              <a:ext uri="{FF2B5EF4-FFF2-40B4-BE49-F238E27FC236}">
                <a16:creationId xmlns:a16="http://schemas.microsoft.com/office/drawing/2014/main" id="{BFE94BC3-E547-004B-8662-F11E10C62C4E}"/>
              </a:ext>
            </a:extLst>
          </p:cNvPr>
          <p:cNvSpPr/>
          <p:nvPr/>
        </p:nvSpPr>
        <p:spPr>
          <a:xfrm>
            <a:off x="7165553" y="5323559"/>
            <a:ext cx="1534172" cy="994759"/>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a:lstStyle/>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SSR</a:t>
            </a:r>
          </a:p>
          <a:p>
            <a:pPr>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/WCHR </a:t>
            </a:r>
          </a:p>
          <a:p>
            <a:pPr>
              <a:defRPr/>
            </a:pPr>
            <a:r>
              <a:rPr lang="en-US" sz="1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a:t>
            </a:r>
            <a:b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b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a:t>
            </a:r>
            <a:r>
              <a:rPr lang="en-US" sz="800" i="1" dirty="0" err="1">
                <a:solidFill>
                  <a:schemeClr val="tx1"/>
                </a:solidFill>
                <a:latin typeface="Amazon Ember" panose="020B0603020204020204" pitchFamily="34" charset="0"/>
                <a:ea typeface="Amazon Ember" panose="020B0603020204020204" pitchFamily="34" charset="0"/>
                <a:cs typeface="Amazon Ember" panose="020B0603020204020204" pitchFamily="34" charset="0"/>
              </a:rPr>
              <a:t>en</a:t>
            </a: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-us:</a:t>
            </a:r>
            <a:b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b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Wheelchair with stairs</a:t>
            </a:r>
          </a:p>
          <a:p>
            <a:pPr>
              <a:defRPr/>
            </a:pPr>
            <a:r>
              <a:rPr lang="en-US" sz="2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a:t>
            </a:r>
          </a:p>
          <a:p>
            <a:pPr>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ja-</a:t>
            </a:r>
            <a:r>
              <a:rPr lang="en-US" sz="800" i="1" dirty="0" err="1">
                <a:solidFill>
                  <a:schemeClr val="tx1"/>
                </a:solidFill>
                <a:latin typeface="Amazon Ember" panose="020B0603020204020204" pitchFamily="34" charset="0"/>
                <a:ea typeface="Amazon Ember" panose="020B0603020204020204" pitchFamily="34" charset="0"/>
                <a:cs typeface="Amazon Ember" panose="020B0603020204020204" pitchFamily="34" charset="0"/>
              </a:rPr>
              <a:t>jp</a:t>
            </a: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t>
            </a:r>
          </a:p>
          <a:p>
            <a:pPr>
              <a:defRPr/>
            </a:pPr>
            <a:r>
              <a:rPr lang="en-US" altLang="ja-JP"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a:t>
            </a:r>
            <a:r>
              <a:rPr lang="ja-JP" altLang="en-US" sz="800" i="1">
                <a:solidFill>
                  <a:schemeClr val="tx1"/>
                </a:solidFill>
                <a:latin typeface="Amazon Ember" panose="020B0603020204020204" pitchFamily="34" charset="0"/>
                <a:ea typeface="Amazon Ember" panose="020B0603020204020204" pitchFamily="34" charset="0"/>
                <a:cs typeface="Amazon Ember" panose="020B0603020204020204" pitchFamily="34" charset="0"/>
              </a:rPr>
              <a:t>階段付き車椅子</a:t>
            </a:r>
            <a:r>
              <a:rPr lang="en-US" altLang="ja-JP"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a:t>
            </a:r>
          </a:p>
          <a:p>
            <a:pPr>
              <a:defRPr/>
            </a:pPr>
            <a:r>
              <a:rPr lang="en-US" altLang="ja-JP"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a:t>
            </a:r>
            <a:endParaRPr lang="en-GB" altLang="ja-JP"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09" name="TextBox 34">
            <a:extLst>
              <a:ext uri="{FF2B5EF4-FFF2-40B4-BE49-F238E27FC236}">
                <a16:creationId xmlns:a16="http://schemas.microsoft.com/office/drawing/2014/main" id="{E4A83A7E-2137-6D4C-B62C-693B5125A6D1}"/>
              </a:ext>
            </a:extLst>
          </p:cNvPr>
          <p:cNvSpPr txBox="1">
            <a:spLocks noChangeArrowheads="1"/>
          </p:cNvSpPr>
          <p:nvPr/>
        </p:nvSpPr>
        <p:spPr bwMode="auto">
          <a:xfrm>
            <a:off x="5210601" y="3195369"/>
            <a:ext cx="157119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The Netherlands Gov</a:t>
            </a:r>
            <a:b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authority</a:t>
            </a:r>
          </a:p>
        </p:txBody>
      </p:sp>
      <p:pic>
        <p:nvPicPr>
          <p:cNvPr id="110" name="Graphic 19">
            <a:extLst>
              <a:ext uri="{FF2B5EF4-FFF2-40B4-BE49-F238E27FC236}">
                <a16:creationId xmlns:a16="http://schemas.microsoft.com/office/drawing/2014/main" id="{FF28990B-5FB4-564A-A8A0-609B82BA227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98200" y="2855149"/>
            <a:ext cx="396000" cy="3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1" name="Straight Arrow Connector 202">
            <a:extLst>
              <a:ext uri="{FF2B5EF4-FFF2-40B4-BE49-F238E27FC236}">
                <a16:creationId xmlns:a16="http://schemas.microsoft.com/office/drawing/2014/main" id="{6E018DEA-3A0D-D247-B7A6-9C03CF40D559}"/>
              </a:ext>
            </a:extLst>
          </p:cNvPr>
          <p:cNvCxnSpPr>
            <a:cxnSpLocks/>
            <a:stCxn id="64" idx="2"/>
            <a:endCxn id="110" idx="1"/>
          </p:cNvCxnSpPr>
          <p:nvPr/>
        </p:nvCxnSpPr>
        <p:spPr>
          <a:xfrm rot="16200000" flipH="1">
            <a:off x="5415664" y="2670613"/>
            <a:ext cx="560068" cy="205004"/>
          </a:xfrm>
          <a:prstGeom prst="bentConnector2">
            <a:avLst/>
          </a:prstGeom>
          <a:ln w="12700">
            <a:solidFill>
              <a:srgbClr val="545B64"/>
            </a:solidFill>
            <a:headEnd type="arrow" w="med" len="med"/>
            <a:tailEnd type="arrow" w="med" len="sm"/>
          </a:ln>
        </p:spPr>
        <p:style>
          <a:lnRef idx="1">
            <a:schemeClr val="accent1"/>
          </a:lnRef>
          <a:fillRef idx="0">
            <a:schemeClr val="accent1"/>
          </a:fillRef>
          <a:effectRef idx="0">
            <a:schemeClr val="accent1"/>
          </a:effectRef>
          <a:fontRef idx="minor">
            <a:schemeClr val="tx1"/>
          </a:fontRef>
        </p:style>
      </p:cxnSp>
      <p:pic>
        <p:nvPicPr>
          <p:cNvPr id="123" name="Graphic 23">
            <a:extLst>
              <a:ext uri="{FF2B5EF4-FFF2-40B4-BE49-F238E27FC236}">
                <a16:creationId xmlns:a16="http://schemas.microsoft.com/office/drawing/2014/main" id="{3E6CEDC3-D338-3348-82C6-E32152C9A03B}"/>
              </a:ext>
            </a:extLst>
          </p:cNvPr>
          <p:cNvPicPr>
            <a:picLocks noChangeAspect="1" noChangeArrowheads="1"/>
          </p:cNvPicPr>
          <p:nvPr/>
        </p:nvPicPr>
        <p:blipFill>
          <a:blip r:embed="rId5">
            <a:extLst>
              <a:ext uri="{96DAC541-7B7A-43D3-8B79-37D633B846F1}">
                <asvg:svgBlip xmlns:asvg="http://schemas.microsoft.com/office/drawing/2016/SVG/main" r:embed="rId6"/>
              </a:ext>
            </a:extLst>
          </a:blip>
          <a:srcRect/>
          <a:stretch/>
        </p:blipFill>
        <p:spPr bwMode="auto">
          <a:xfrm flipH="1">
            <a:off x="4212902" y="3773846"/>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 name="TextBox 34">
            <a:extLst>
              <a:ext uri="{FF2B5EF4-FFF2-40B4-BE49-F238E27FC236}">
                <a16:creationId xmlns:a16="http://schemas.microsoft.com/office/drawing/2014/main" id="{7142670A-9A2C-BD4B-9C4C-F090EF4F9D0B}"/>
              </a:ext>
            </a:extLst>
          </p:cNvPr>
          <p:cNvSpPr txBox="1">
            <a:spLocks noChangeArrowheads="1"/>
          </p:cNvSpPr>
          <p:nvPr/>
        </p:nvSpPr>
        <p:spPr bwMode="auto">
          <a:xfrm>
            <a:off x="3857620" y="4224082"/>
            <a:ext cx="1180465"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Japan Airlines</a:t>
            </a:r>
            <a:b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t>
            </a:r>
            <a:r>
              <a:rPr lang="en-US" altLang="en-US" sz="1050" i="1" dirty="0" err="1">
                <a:solidFill>
                  <a:srgbClr val="000000"/>
                </a:solidFill>
                <a:latin typeface="Amazon Ember" panose="020B0603020204020204" pitchFamily="34" charset="0"/>
                <a:ea typeface="Amazon Ember" panose="020B0603020204020204" pitchFamily="34" charset="0"/>
                <a:cs typeface="Amazon Ember" panose="020B0603020204020204" pitchFamily="34" charset="0"/>
              </a:rPr>
              <a:t>jal.com</a:t>
            </a: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t>
            </a:r>
            <a:b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consumer</a:t>
            </a:r>
          </a:p>
        </p:txBody>
      </p:sp>
      <p:pic>
        <p:nvPicPr>
          <p:cNvPr id="125" name="Graphic 43">
            <a:extLst>
              <a:ext uri="{FF2B5EF4-FFF2-40B4-BE49-F238E27FC236}">
                <a16:creationId xmlns:a16="http://schemas.microsoft.com/office/drawing/2014/main" id="{E8767FEE-20E5-6547-BE19-E157E16B407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36237" y="3773846"/>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 name="TextBox 34">
            <a:extLst>
              <a:ext uri="{FF2B5EF4-FFF2-40B4-BE49-F238E27FC236}">
                <a16:creationId xmlns:a16="http://schemas.microsoft.com/office/drawing/2014/main" id="{8E49114A-9AC7-654E-A0DE-430B12726CBE}"/>
              </a:ext>
            </a:extLst>
          </p:cNvPr>
          <p:cNvSpPr txBox="1">
            <a:spLocks noChangeArrowheads="1"/>
          </p:cNvSpPr>
          <p:nvPr/>
        </p:nvSpPr>
        <p:spPr bwMode="auto">
          <a:xfrm>
            <a:off x="5480955" y="4224082"/>
            <a:ext cx="1180465"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French Mobility</a:t>
            </a:r>
            <a:b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t>
            </a:r>
            <a:r>
              <a:rPr lang="en-US" altLang="en-US" sz="1050" i="1" dirty="0" err="1">
                <a:solidFill>
                  <a:srgbClr val="000000"/>
                </a:solidFill>
                <a:latin typeface="Amazon Ember" panose="020B0603020204020204" pitchFamily="34" charset="0"/>
                <a:ea typeface="Amazon Ember" panose="020B0603020204020204" pitchFamily="34" charset="0"/>
                <a:cs typeface="Amazon Ember" panose="020B0603020204020204" pitchFamily="34" charset="0"/>
              </a:rPr>
              <a:t>mobility.gov.fr</a:t>
            </a: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t>
            </a:r>
            <a:b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vault</a:t>
            </a:r>
          </a:p>
        </p:txBody>
      </p:sp>
      <p:sp>
        <p:nvSpPr>
          <p:cNvPr id="127" name="Rectangle 126">
            <a:extLst>
              <a:ext uri="{FF2B5EF4-FFF2-40B4-BE49-F238E27FC236}">
                <a16:creationId xmlns:a16="http://schemas.microsoft.com/office/drawing/2014/main" id="{06A21EEA-64AB-E343-8361-59B3476D1DAE}"/>
              </a:ext>
            </a:extLst>
          </p:cNvPr>
          <p:cNvSpPr/>
          <p:nvPr/>
        </p:nvSpPr>
        <p:spPr>
          <a:xfrm>
            <a:off x="3757576" y="4818836"/>
            <a:ext cx="1380553" cy="591364"/>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a:lstStyle/>
          <a:p>
            <a:pPr>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does [</a:t>
            </a:r>
            <a:r>
              <a:rPr lang="en-US" sz="800" i="1" dirty="0" err="1">
                <a:solidFill>
                  <a:schemeClr val="tx1"/>
                </a:solidFill>
                <a:latin typeface="Amazon Ember" panose="020B0603020204020204" pitchFamily="34" charset="0"/>
                <a:ea typeface="Amazon Ember" panose="020B0603020204020204" pitchFamily="34" charset="0"/>
                <a:cs typeface="Amazon Ember" panose="020B0603020204020204" pitchFamily="34" charset="0"/>
              </a:rPr>
              <a:t>jal.com</a:t>
            </a: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t>
            </a:r>
            <a:b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b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trust [</a:t>
            </a:r>
            <a:r>
              <a:rPr lang="en-US" sz="800" i="1" dirty="0" err="1">
                <a:solidFill>
                  <a:schemeClr val="tx1"/>
                </a:solidFill>
                <a:latin typeface="Amazon Ember" panose="020B0603020204020204" pitchFamily="34" charset="0"/>
                <a:ea typeface="Amazon Ember" panose="020B0603020204020204" pitchFamily="34" charset="0"/>
                <a:cs typeface="Amazon Ember" panose="020B0603020204020204" pitchFamily="34" charset="0"/>
              </a:rPr>
              <a:t>mobility.gov.fr</a:t>
            </a: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t>
            </a:r>
            <a:b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b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with [</a:t>
            </a:r>
            <a:r>
              <a:rPr lang="en-US" sz="800" i="1" dirty="0" err="1">
                <a:solidFill>
                  <a:schemeClr val="tx1"/>
                </a:solidFill>
                <a:latin typeface="Amazon Ember" panose="020B0603020204020204" pitchFamily="34" charset="0"/>
                <a:ea typeface="Amazon Ember" panose="020B0603020204020204" pitchFamily="34" charset="0"/>
                <a:cs typeface="Amazon Ember" panose="020B0603020204020204" pitchFamily="34" charset="0"/>
              </a:rPr>
              <a:t>iata.org</a:t>
            </a: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/SSR/WCHR]</a:t>
            </a:r>
            <a:b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b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responses?</a:t>
            </a:r>
          </a:p>
        </p:txBody>
      </p:sp>
      <p:sp>
        <p:nvSpPr>
          <p:cNvPr id="128" name="Rectangle 127">
            <a:extLst>
              <a:ext uri="{FF2B5EF4-FFF2-40B4-BE49-F238E27FC236}">
                <a16:creationId xmlns:a16="http://schemas.microsoft.com/office/drawing/2014/main" id="{8E8B7BE7-628A-474D-ABDE-06881115C848}"/>
              </a:ext>
            </a:extLst>
          </p:cNvPr>
          <p:cNvSpPr/>
          <p:nvPr/>
        </p:nvSpPr>
        <p:spPr>
          <a:xfrm>
            <a:off x="5360574" y="4818836"/>
            <a:ext cx="1421226" cy="591364"/>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a:lstStyle/>
          <a:p>
            <a:pPr>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does [</a:t>
            </a:r>
            <a:r>
              <a:rPr lang="en-US" sz="800" i="1" dirty="0" err="1">
                <a:solidFill>
                  <a:schemeClr val="tx1"/>
                </a:solidFill>
                <a:latin typeface="Amazon Ember" panose="020B0603020204020204" pitchFamily="34" charset="0"/>
                <a:ea typeface="Amazon Ember" panose="020B0603020204020204" pitchFamily="34" charset="0"/>
                <a:cs typeface="Amazon Ember" panose="020B0603020204020204" pitchFamily="34" charset="0"/>
              </a:rPr>
              <a:t>mobility.gov.fr</a:t>
            </a: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t>
            </a:r>
            <a:b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b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trust [</a:t>
            </a:r>
            <a:r>
              <a:rPr lang="en-US" sz="800" i="1" dirty="0" err="1">
                <a:solidFill>
                  <a:schemeClr val="tx1"/>
                </a:solidFill>
                <a:latin typeface="Amazon Ember" panose="020B0603020204020204" pitchFamily="34" charset="0"/>
                <a:ea typeface="Amazon Ember" panose="020B0603020204020204" pitchFamily="34" charset="0"/>
                <a:cs typeface="Amazon Ember" panose="020B0603020204020204" pitchFamily="34" charset="0"/>
              </a:rPr>
              <a:t>jal.com</a:t>
            </a: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t>
            </a:r>
            <a:b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b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with [</a:t>
            </a:r>
            <a:r>
              <a:rPr lang="en-US" sz="800" i="1" dirty="0" err="1">
                <a:solidFill>
                  <a:schemeClr val="tx1"/>
                </a:solidFill>
                <a:latin typeface="Amazon Ember" panose="020B0603020204020204" pitchFamily="34" charset="0"/>
                <a:ea typeface="Amazon Ember" panose="020B0603020204020204" pitchFamily="34" charset="0"/>
                <a:cs typeface="Amazon Ember" panose="020B0603020204020204" pitchFamily="34" charset="0"/>
              </a:rPr>
              <a:t>iata.org</a:t>
            </a: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/SSR/WCHR]</a:t>
            </a:r>
            <a:b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b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queries?</a:t>
            </a:r>
          </a:p>
        </p:txBody>
      </p:sp>
      <p:cxnSp>
        <p:nvCxnSpPr>
          <p:cNvPr id="129" name="Straight Arrow Connector 202">
            <a:extLst>
              <a:ext uri="{FF2B5EF4-FFF2-40B4-BE49-F238E27FC236}">
                <a16:creationId xmlns:a16="http://schemas.microsoft.com/office/drawing/2014/main" id="{80966D7A-61E9-CD47-A3CA-974AAB482FB5}"/>
              </a:ext>
            </a:extLst>
          </p:cNvPr>
          <p:cNvCxnSpPr>
            <a:cxnSpLocks/>
            <a:stCxn id="123" idx="1"/>
          </p:cNvCxnSpPr>
          <p:nvPr/>
        </p:nvCxnSpPr>
        <p:spPr>
          <a:xfrm flipV="1">
            <a:off x="4682802" y="3638746"/>
            <a:ext cx="205640" cy="370050"/>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32" name="Straight Arrow Connector 202">
            <a:extLst>
              <a:ext uri="{FF2B5EF4-FFF2-40B4-BE49-F238E27FC236}">
                <a16:creationId xmlns:a16="http://schemas.microsoft.com/office/drawing/2014/main" id="{F9226794-EB83-3540-AF79-9A5AD6324525}"/>
              </a:ext>
            </a:extLst>
          </p:cNvPr>
          <p:cNvCxnSpPr>
            <a:cxnSpLocks/>
            <a:stCxn id="125" idx="1"/>
          </p:cNvCxnSpPr>
          <p:nvPr/>
        </p:nvCxnSpPr>
        <p:spPr>
          <a:xfrm rot="10800000">
            <a:off x="5598755" y="3638746"/>
            <a:ext cx="237483" cy="370050"/>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pic>
        <p:nvPicPr>
          <p:cNvPr id="137" name="Graphic 16">
            <a:extLst>
              <a:ext uri="{FF2B5EF4-FFF2-40B4-BE49-F238E27FC236}">
                <a16:creationId xmlns:a16="http://schemas.microsoft.com/office/drawing/2014/main" id="{6C3957A5-66DF-C344-908E-E7DB419656F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p:blipFill>
        <p:spPr bwMode="auto">
          <a:xfrm>
            <a:off x="6165850" y="5693816"/>
            <a:ext cx="469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8" name="TextBox 34">
            <a:extLst>
              <a:ext uri="{FF2B5EF4-FFF2-40B4-BE49-F238E27FC236}">
                <a16:creationId xmlns:a16="http://schemas.microsoft.com/office/drawing/2014/main" id="{CC395740-DEFD-9D4E-AB96-ECD8656E8EAA}"/>
              </a:ext>
            </a:extLst>
          </p:cNvPr>
          <p:cNvSpPr txBox="1">
            <a:spLocks noChangeArrowheads="1"/>
          </p:cNvSpPr>
          <p:nvPr/>
        </p:nvSpPr>
        <p:spPr bwMode="auto">
          <a:xfrm>
            <a:off x="5913005" y="6137702"/>
            <a:ext cx="975591"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Any Wallet</a:t>
            </a:r>
            <a:b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wallet</a:t>
            </a:r>
          </a:p>
        </p:txBody>
      </p:sp>
      <p:cxnSp>
        <p:nvCxnSpPr>
          <p:cNvPr id="139" name="Straight Arrow Connector 138">
            <a:extLst>
              <a:ext uri="{FF2B5EF4-FFF2-40B4-BE49-F238E27FC236}">
                <a16:creationId xmlns:a16="http://schemas.microsoft.com/office/drawing/2014/main" id="{FCF0AF45-F951-054F-BB39-B220048C6532}"/>
              </a:ext>
            </a:extLst>
          </p:cNvPr>
          <p:cNvCxnSpPr>
            <a:cxnSpLocks/>
            <a:stCxn id="137" idx="3"/>
          </p:cNvCxnSpPr>
          <p:nvPr/>
        </p:nvCxnSpPr>
        <p:spPr>
          <a:xfrm>
            <a:off x="6635750" y="5922416"/>
            <a:ext cx="392341" cy="0"/>
          </a:xfrm>
          <a:prstGeom prst="straightConnector1">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143" name="Rectangle 142">
            <a:extLst>
              <a:ext uri="{FF2B5EF4-FFF2-40B4-BE49-F238E27FC236}">
                <a16:creationId xmlns:a16="http://schemas.microsoft.com/office/drawing/2014/main" id="{8ECEC586-C871-524A-8804-7CF974EB954C}"/>
              </a:ext>
            </a:extLst>
          </p:cNvPr>
          <p:cNvSpPr/>
          <p:nvPr/>
        </p:nvSpPr>
        <p:spPr>
          <a:xfrm>
            <a:off x="4498532" y="5742536"/>
            <a:ext cx="1612428" cy="319597"/>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a:lstStyle/>
          <a:p>
            <a:pPr>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translate [</a:t>
            </a:r>
            <a:r>
              <a:rPr lang="en-US" sz="800" i="1" dirty="0" err="1">
                <a:solidFill>
                  <a:schemeClr val="tx1"/>
                </a:solidFill>
                <a:latin typeface="Amazon Ember" panose="020B0603020204020204" pitchFamily="34" charset="0"/>
                <a:ea typeface="Amazon Ember" panose="020B0603020204020204" pitchFamily="34" charset="0"/>
                <a:cs typeface="Amazon Ember" panose="020B0603020204020204" pitchFamily="34" charset="0"/>
              </a:rPr>
              <a:t>iata.org</a:t>
            </a: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/SSR/WCHR]</a:t>
            </a:r>
            <a:b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b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to [ja-</a:t>
            </a:r>
            <a:r>
              <a:rPr lang="en-US" sz="800" i="1" dirty="0" err="1">
                <a:solidFill>
                  <a:schemeClr val="tx1"/>
                </a:solidFill>
                <a:latin typeface="Amazon Ember" panose="020B0603020204020204" pitchFamily="34" charset="0"/>
                <a:ea typeface="Amazon Ember" panose="020B0603020204020204" pitchFamily="34" charset="0"/>
                <a:cs typeface="Amazon Ember" panose="020B0603020204020204" pitchFamily="34" charset="0"/>
              </a:rPr>
              <a:t>jp</a:t>
            </a: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t>
            </a:r>
          </a:p>
        </p:txBody>
      </p:sp>
      <p:cxnSp>
        <p:nvCxnSpPr>
          <p:cNvPr id="148" name="Straight Arrow Connector 202">
            <a:extLst>
              <a:ext uri="{FF2B5EF4-FFF2-40B4-BE49-F238E27FC236}">
                <a16:creationId xmlns:a16="http://schemas.microsoft.com/office/drawing/2014/main" id="{36A99A25-16B0-0346-9737-1C57BD221130}"/>
              </a:ext>
            </a:extLst>
          </p:cNvPr>
          <p:cNvCxnSpPr>
            <a:cxnSpLocks/>
            <a:stCxn id="107" idx="3"/>
            <a:endCxn id="75" idx="2"/>
          </p:cNvCxnSpPr>
          <p:nvPr/>
        </p:nvCxnSpPr>
        <p:spPr>
          <a:xfrm flipV="1">
            <a:off x="8176026" y="3602420"/>
            <a:ext cx="290332" cy="938980"/>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158" name="NumBox 1">
            <a:extLst>
              <a:ext uri="{FF2B5EF4-FFF2-40B4-BE49-F238E27FC236}">
                <a16:creationId xmlns:a16="http://schemas.microsoft.com/office/drawing/2014/main" id="{A6FABF07-430F-4341-9DB0-B1E625FE4B40}"/>
              </a:ext>
            </a:extLst>
          </p:cNvPr>
          <p:cNvSpPr/>
          <p:nvPr/>
        </p:nvSpPr>
        <p:spPr>
          <a:xfrm>
            <a:off x="629805" y="2782404"/>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2</a:t>
            </a:r>
          </a:p>
        </p:txBody>
      </p:sp>
      <p:sp>
        <p:nvSpPr>
          <p:cNvPr id="161" name="NumBox 1">
            <a:extLst>
              <a:ext uri="{FF2B5EF4-FFF2-40B4-BE49-F238E27FC236}">
                <a16:creationId xmlns:a16="http://schemas.microsoft.com/office/drawing/2014/main" id="{FEA74A32-85AC-2D44-9B5F-8E05B448660C}"/>
              </a:ext>
            </a:extLst>
          </p:cNvPr>
          <p:cNvSpPr/>
          <p:nvPr/>
        </p:nvSpPr>
        <p:spPr>
          <a:xfrm>
            <a:off x="4765674" y="5283536"/>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2</a:t>
            </a:r>
          </a:p>
        </p:txBody>
      </p:sp>
      <p:sp>
        <p:nvSpPr>
          <p:cNvPr id="162" name="NumBox 3">
            <a:extLst>
              <a:ext uri="{FF2B5EF4-FFF2-40B4-BE49-F238E27FC236}">
                <a16:creationId xmlns:a16="http://schemas.microsoft.com/office/drawing/2014/main" id="{D776332E-6C87-F542-B42F-D872E295870C}"/>
              </a:ext>
            </a:extLst>
          </p:cNvPr>
          <p:cNvSpPr/>
          <p:nvPr/>
        </p:nvSpPr>
        <p:spPr>
          <a:xfrm>
            <a:off x="6398981" y="5287881"/>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3</a:t>
            </a:r>
          </a:p>
        </p:txBody>
      </p:sp>
      <p:sp>
        <p:nvSpPr>
          <p:cNvPr id="163" name="NumBox 1">
            <a:extLst>
              <a:ext uri="{FF2B5EF4-FFF2-40B4-BE49-F238E27FC236}">
                <a16:creationId xmlns:a16="http://schemas.microsoft.com/office/drawing/2014/main" id="{37C0B894-DD7F-2442-BA33-D4926C73688D}"/>
              </a:ext>
            </a:extLst>
          </p:cNvPr>
          <p:cNvSpPr/>
          <p:nvPr/>
        </p:nvSpPr>
        <p:spPr>
          <a:xfrm>
            <a:off x="2158581" y="1389681"/>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1</a:t>
            </a:r>
          </a:p>
        </p:txBody>
      </p:sp>
      <p:sp>
        <p:nvSpPr>
          <p:cNvPr id="164" name="NumBox 1">
            <a:extLst>
              <a:ext uri="{FF2B5EF4-FFF2-40B4-BE49-F238E27FC236}">
                <a16:creationId xmlns:a16="http://schemas.microsoft.com/office/drawing/2014/main" id="{02850A50-2CAC-7D4E-B837-1995DA83804F}"/>
              </a:ext>
            </a:extLst>
          </p:cNvPr>
          <p:cNvSpPr/>
          <p:nvPr/>
        </p:nvSpPr>
        <p:spPr>
          <a:xfrm>
            <a:off x="4231945" y="1564225"/>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1</a:t>
            </a:r>
          </a:p>
        </p:txBody>
      </p:sp>
      <p:sp>
        <p:nvSpPr>
          <p:cNvPr id="165" name="NumBox 1">
            <a:extLst>
              <a:ext uri="{FF2B5EF4-FFF2-40B4-BE49-F238E27FC236}">
                <a16:creationId xmlns:a16="http://schemas.microsoft.com/office/drawing/2014/main" id="{5E68C50F-8026-4D4C-BB18-56FB9590913D}"/>
              </a:ext>
            </a:extLst>
          </p:cNvPr>
          <p:cNvSpPr/>
          <p:nvPr/>
        </p:nvSpPr>
        <p:spPr>
          <a:xfrm>
            <a:off x="1652524" y="2782404"/>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3</a:t>
            </a:r>
          </a:p>
        </p:txBody>
      </p:sp>
      <p:sp>
        <p:nvSpPr>
          <p:cNvPr id="166" name="NumBox 1">
            <a:extLst>
              <a:ext uri="{FF2B5EF4-FFF2-40B4-BE49-F238E27FC236}">
                <a16:creationId xmlns:a16="http://schemas.microsoft.com/office/drawing/2014/main" id="{B9385167-2C2D-2046-9D88-059A61425856}"/>
              </a:ext>
            </a:extLst>
          </p:cNvPr>
          <p:cNvSpPr/>
          <p:nvPr/>
        </p:nvSpPr>
        <p:spPr>
          <a:xfrm>
            <a:off x="2739929" y="2780778"/>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4</a:t>
            </a:r>
          </a:p>
        </p:txBody>
      </p:sp>
      <p:sp>
        <p:nvSpPr>
          <p:cNvPr id="167" name="NumBox 1">
            <a:extLst>
              <a:ext uri="{FF2B5EF4-FFF2-40B4-BE49-F238E27FC236}">
                <a16:creationId xmlns:a16="http://schemas.microsoft.com/office/drawing/2014/main" id="{58400B9F-1F7B-624E-8BF2-DA5869CCD476}"/>
              </a:ext>
            </a:extLst>
          </p:cNvPr>
          <p:cNvSpPr/>
          <p:nvPr/>
        </p:nvSpPr>
        <p:spPr>
          <a:xfrm>
            <a:off x="5670000" y="5963118"/>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4</a:t>
            </a:r>
          </a:p>
        </p:txBody>
      </p:sp>
      <p:grpSp>
        <p:nvGrpSpPr>
          <p:cNvPr id="85" name="Group 84">
            <a:extLst>
              <a:ext uri="{FF2B5EF4-FFF2-40B4-BE49-F238E27FC236}">
                <a16:creationId xmlns:a16="http://schemas.microsoft.com/office/drawing/2014/main" id="{7DF656C4-B55F-5E4D-A0B2-BA3E15BE1BF8}"/>
              </a:ext>
            </a:extLst>
          </p:cNvPr>
          <p:cNvGrpSpPr/>
          <p:nvPr/>
        </p:nvGrpSpPr>
        <p:grpSpPr>
          <a:xfrm>
            <a:off x="288149" y="4997263"/>
            <a:ext cx="975590" cy="333024"/>
            <a:chOff x="3055140" y="1442468"/>
            <a:chExt cx="975590" cy="421630"/>
          </a:xfrm>
        </p:grpSpPr>
        <p:sp>
          <p:nvSpPr>
            <p:cNvPr id="86" name="Rectangle 85">
              <a:extLst>
                <a:ext uri="{FF2B5EF4-FFF2-40B4-BE49-F238E27FC236}">
                  <a16:creationId xmlns:a16="http://schemas.microsoft.com/office/drawing/2014/main" id="{4D9FD175-C551-F244-9439-A12D4EB77D1B}"/>
                </a:ext>
              </a:extLst>
            </p:cNvPr>
            <p:cNvSpPr/>
            <p:nvPr/>
          </p:nvSpPr>
          <p:spPr>
            <a:xfrm>
              <a:off x="3055140" y="1442468"/>
              <a:ext cx="975590" cy="421630"/>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a:lstStyle/>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trusted: </a:t>
              </a:r>
              <a:b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b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yes/no</a:t>
              </a:r>
            </a:p>
          </p:txBody>
        </p:sp>
        <p:sp>
          <p:nvSpPr>
            <p:cNvPr id="87" name="Double Brace 86">
              <a:extLst>
                <a:ext uri="{FF2B5EF4-FFF2-40B4-BE49-F238E27FC236}">
                  <a16:creationId xmlns:a16="http://schemas.microsoft.com/office/drawing/2014/main" id="{7B9B9F53-1489-FF4B-83B2-3E1B8882230E}"/>
                </a:ext>
              </a:extLst>
            </p:cNvPr>
            <p:cNvSpPr/>
            <p:nvPr/>
          </p:nvSpPr>
          <p:spPr>
            <a:xfrm>
              <a:off x="3088480" y="1496665"/>
              <a:ext cx="904757" cy="327772"/>
            </a:xfrm>
            <a:prstGeom prst="bracePair">
              <a:avLst>
                <a:gd name="adj" fmla="val 4230"/>
              </a:avLst>
            </a:prstGeom>
            <a:ln>
              <a:solidFill>
                <a:schemeClr val="bg1">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91" name="TextBox 9">
            <a:extLst>
              <a:ext uri="{FF2B5EF4-FFF2-40B4-BE49-F238E27FC236}">
                <a16:creationId xmlns:a16="http://schemas.microsoft.com/office/drawing/2014/main" id="{A44EB329-9A82-C94C-86CD-E98A9B87081F}"/>
              </a:ext>
            </a:extLst>
          </p:cNvPr>
          <p:cNvSpPr txBox="1">
            <a:spLocks noChangeArrowheads="1"/>
          </p:cNvSpPr>
          <p:nvPr/>
        </p:nvSpPr>
        <p:spPr bwMode="auto">
          <a:xfrm>
            <a:off x="202737" y="4746022"/>
            <a:ext cx="1185403"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dirty="0">
                <a:effectLst>
                  <a:glow rad="321067">
                    <a:schemeClr val="bg1">
                      <a:alpha val="89960"/>
                    </a:schemeClr>
                  </a:glow>
                </a:effectLst>
              </a:rPr>
              <a:t>response</a:t>
            </a:r>
          </a:p>
        </p:txBody>
      </p:sp>
      <p:grpSp>
        <p:nvGrpSpPr>
          <p:cNvPr id="93" name="Group 92">
            <a:extLst>
              <a:ext uri="{FF2B5EF4-FFF2-40B4-BE49-F238E27FC236}">
                <a16:creationId xmlns:a16="http://schemas.microsoft.com/office/drawing/2014/main" id="{B8E33597-FA62-4246-BB29-F05CC0F17C88}"/>
              </a:ext>
            </a:extLst>
          </p:cNvPr>
          <p:cNvGrpSpPr/>
          <p:nvPr/>
        </p:nvGrpSpPr>
        <p:grpSpPr>
          <a:xfrm>
            <a:off x="1318781" y="4997263"/>
            <a:ext cx="975590" cy="333024"/>
            <a:chOff x="3055140" y="1442468"/>
            <a:chExt cx="975590" cy="421630"/>
          </a:xfrm>
        </p:grpSpPr>
        <p:sp>
          <p:nvSpPr>
            <p:cNvPr id="94" name="Rectangle 93">
              <a:extLst>
                <a:ext uri="{FF2B5EF4-FFF2-40B4-BE49-F238E27FC236}">
                  <a16:creationId xmlns:a16="http://schemas.microsoft.com/office/drawing/2014/main" id="{CF3B852E-2267-1D48-8FB5-68E377453593}"/>
                </a:ext>
              </a:extLst>
            </p:cNvPr>
            <p:cNvSpPr/>
            <p:nvPr/>
          </p:nvSpPr>
          <p:spPr>
            <a:xfrm>
              <a:off x="3055140" y="1442468"/>
              <a:ext cx="975590" cy="421630"/>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a:lstStyle/>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trusted: </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    yes/no</a:t>
              </a:r>
            </a:p>
          </p:txBody>
        </p:sp>
        <p:sp>
          <p:nvSpPr>
            <p:cNvPr id="95" name="Double Brace 94">
              <a:extLst>
                <a:ext uri="{FF2B5EF4-FFF2-40B4-BE49-F238E27FC236}">
                  <a16:creationId xmlns:a16="http://schemas.microsoft.com/office/drawing/2014/main" id="{BFFD10D5-6CAB-3D40-93F2-A53522130FBD}"/>
                </a:ext>
              </a:extLst>
            </p:cNvPr>
            <p:cNvSpPr/>
            <p:nvPr/>
          </p:nvSpPr>
          <p:spPr>
            <a:xfrm>
              <a:off x="3088480" y="1496665"/>
              <a:ext cx="904757" cy="327772"/>
            </a:xfrm>
            <a:prstGeom prst="bracePair">
              <a:avLst>
                <a:gd name="adj" fmla="val 4230"/>
              </a:avLst>
            </a:prstGeom>
            <a:ln>
              <a:solidFill>
                <a:schemeClr val="bg1">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96" name="TextBox 9">
            <a:extLst>
              <a:ext uri="{FF2B5EF4-FFF2-40B4-BE49-F238E27FC236}">
                <a16:creationId xmlns:a16="http://schemas.microsoft.com/office/drawing/2014/main" id="{3CBC9005-914A-D947-B576-6D5A2A77B918}"/>
              </a:ext>
            </a:extLst>
          </p:cNvPr>
          <p:cNvSpPr txBox="1">
            <a:spLocks noChangeArrowheads="1"/>
          </p:cNvSpPr>
          <p:nvPr/>
        </p:nvSpPr>
        <p:spPr bwMode="auto">
          <a:xfrm>
            <a:off x="1233369" y="4746022"/>
            <a:ext cx="1185403"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dirty="0">
                <a:effectLst>
                  <a:glow rad="321067">
                    <a:schemeClr val="bg1">
                      <a:alpha val="89960"/>
                    </a:schemeClr>
                  </a:glow>
                </a:effectLst>
              </a:rPr>
              <a:t>response</a:t>
            </a:r>
          </a:p>
        </p:txBody>
      </p:sp>
      <p:grpSp>
        <p:nvGrpSpPr>
          <p:cNvPr id="97" name="Group 96">
            <a:extLst>
              <a:ext uri="{FF2B5EF4-FFF2-40B4-BE49-F238E27FC236}">
                <a16:creationId xmlns:a16="http://schemas.microsoft.com/office/drawing/2014/main" id="{280DDB90-E3D9-7D4F-956D-0371BA29484E}"/>
              </a:ext>
            </a:extLst>
          </p:cNvPr>
          <p:cNvGrpSpPr/>
          <p:nvPr/>
        </p:nvGrpSpPr>
        <p:grpSpPr>
          <a:xfrm>
            <a:off x="2453410" y="4832988"/>
            <a:ext cx="975590" cy="333024"/>
            <a:chOff x="3055140" y="1442468"/>
            <a:chExt cx="975590" cy="421630"/>
          </a:xfrm>
        </p:grpSpPr>
        <p:sp>
          <p:nvSpPr>
            <p:cNvPr id="98" name="Rectangle 97">
              <a:extLst>
                <a:ext uri="{FF2B5EF4-FFF2-40B4-BE49-F238E27FC236}">
                  <a16:creationId xmlns:a16="http://schemas.microsoft.com/office/drawing/2014/main" id="{B186B37D-DC83-DD4D-B207-615AF81E4E8E}"/>
                </a:ext>
              </a:extLst>
            </p:cNvPr>
            <p:cNvSpPr/>
            <p:nvPr/>
          </p:nvSpPr>
          <p:spPr>
            <a:xfrm>
              <a:off x="3055140" y="1442468"/>
              <a:ext cx="975590" cy="421630"/>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tIns="36000" rIns="36000" bIns="36000"/>
            <a:lstStyle/>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translation</a:t>
              </a:r>
            </a:p>
            <a:p>
              <a:pPr eaLnBrk="1" fontAlgn="auto" hangingPunct="1">
                <a:spcBef>
                  <a:spcPts val="0"/>
                </a:spcBef>
                <a:spcAft>
                  <a:spcPts val="0"/>
                </a:spcAft>
                <a:defRPr/>
              </a:pPr>
              <a:r>
                <a:rPr lang="en-US" sz="800" i="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language</a:t>
              </a:r>
            </a:p>
          </p:txBody>
        </p:sp>
        <p:sp>
          <p:nvSpPr>
            <p:cNvPr id="99" name="Double Brace 98">
              <a:extLst>
                <a:ext uri="{FF2B5EF4-FFF2-40B4-BE49-F238E27FC236}">
                  <a16:creationId xmlns:a16="http://schemas.microsoft.com/office/drawing/2014/main" id="{774CE922-083B-A94D-A1E7-6A8061965755}"/>
                </a:ext>
              </a:extLst>
            </p:cNvPr>
            <p:cNvSpPr/>
            <p:nvPr/>
          </p:nvSpPr>
          <p:spPr>
            <a:xfrm>
              <a:off x="3088480" y="1496665"/>
              <a:ext cx="904757" cy="327772"/>
            </a:xfrm>
            <a:prstGeom prst="bracePair">
              <a:avLst>
                <a:gd name="adj" fmla="val 4230"/>
              </a:avLst>
            </a:prstGeom>
            <a:ln>
              <a:solidFill>
                <a:schemeClr val="bg1">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
        <p:nvSpPr>
          <p:cNvPr id="100" name="TextBox 9">
            <a:extLst>
              <a:ext uri="{FF2B5EF4-FFF2-40B4-BE49-F238E27FC236}">
                <a16:creationId xmlns:a16="http://schemas.microsoft.com/office/drawing/2014/main" id="{B7806386-3F78-864F-9C22-B930484F6072}"/>
              </a:ext>
            </a:extLst>
          </p:cNvPr>
          <p:cNvSpPr txBox="1">
            <a:spLocks noChangeArrowheads="1"/>
          </p:cNvSpPr>
          <p:nvPr/>
        </p:nvSpPr>
        <p:spPr bwMode="auto">
          <a:xfrm>
            <a:off x="2243597" y="4581747"/>
            <a:ext cx="1185403"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dirty="0">
                <a:effectLst>
                  <a:glow rad="321067">
                    <a:schemeClr val="bg1">
                      <a:alpha val="89960"/>
                    </a:schemeClr>
                  </a:glow>
                </a:effectLst>
              </a:rPr>
              <a:t>response</a:t>
            </a:r>
          </a:p>
        </p:txBody>
      </p:sp>
      <p:sp>
        <p:nvSpPr>
          <p:cNvPr id="101" name="Rectangle 100">
            <a:extLst>
              <a:ext uri="{FF2B5EF4-FFF2-40B4-BE49-F238E27FC236}">
                <a16:creationId xmlns:a16="http://schemas.microsoft.com/office/drawing/2014/main" id="{3B4D5018-48E7-9047-B1F6-781622C01A4F}"/>
              </a:ext>
            </a:extLst>
          </p:cNvPr>
          <p:cNvSpPr/>
          <p:nvPr/>
        </p:nvSpPr>
        <p:spPr>
          <a:xfrm>
            <a:off x="206226" y="3203876"/>
            <a:ext cx="2125177" cy="2217735"/>
          </a:xfrm>
          <a:prstGeom prst="rect">
            <a:avLst/>
          </a:prstGeom>
          <a:noFill/>
          <a:ln w="12700">
            <a:solidFill>
              <a:srgbClr val="5A6B86"/>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rgbClr val="5A6B86"/>
              </a:solidFill>
              <a:latin typeface="Arial" panose="020B0604020202020204" pitchFamily="34" charset="0"/>
              <a:cs typeface="Arial" panose="020B0604020202020204" pitchFamily="34" charset="0"/>
            </a:endParaRPr>
          </a:p>
        </p:txBody>
      </p:sp>
      <p:pic>
        <p:nvPicPr>
          <p:cNvPr id="102" name="Graphic 29">
            <a:extLst>
              <a:ext uri="{FF2B5EF4-FFF2-40B4-BE49-F238E27FC236}">
                <a16:creationId xmlns:a16="http://schemas.microsoft.com/office/drawing/2014/main" id="{0FE29BE3-64A4-664E-BE74-1E8F3ABDAD6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9312" y="5537474"/>
            <a:ext cx="471600" cy="4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 name="TextBox 34">
            <a:extLst>
              <a:ext uri="{FF2B5EF4-FFF2-40B4-BE49-F238E27FC236}">
                <a16:creationId xmlns:a16="http://schemas.microsoft.com/office/drawing/2014/main" id="{431B1DFA-4FCE-D845-9A6E-CEE54530AC1E}"/>
              </a:ext>
            </a:extLst>
          </p:cNvPr>
          <p:cNvSpPr txBox="1">
            <a:spLocks noChangeArrowheads="1"/>
          </p:cNvSpPr>
          <p:nvPr/>
        </p:nvSpPr>
        <p:spPr bwMode="auto">
          <a:xfrm>
            <a:off x="638624" y="5923755"/>
            <a:ext cx="732976"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Listeners</a:t>
            </a:r>
            <a:endPar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endParaRPr>
          </a:p>
        </p:txBody>
      </p:sp>
      <p:cxnSp>
        <p:nvCxnSpPr>
          <p:cNvPr id="104" name="Straight Arrow Connector 202">
            <a:extLst>
              <a:ext uri="{FF2B5EF4-FFF2-40B4-BE49-F238E27FC236}">
                <a16:creationId xmlns:a16="http://schemas.microsoft.com/office/drawing/2014/main" id="{EDFB5117-58EA-0F45-9284-E3EFA9B263D1}"/>
              </a:ext>
            </a:extLst>
          </p:cNvPr>
          <p:cNvCxnSpPr>
            <a:cxnSpLocks/>
            <a:endCxn id="102" idx="1"/>
          </p:cNvCxnSpPr>
          <p:nvPr/>
        </p:nvCxnSpPr>
        <p:spPr>
          <a:xfrm rot="16200000" flipH="1">
            <a:off x="508409" y="5512371"/>
            <a:ext cx="327124" cy="194682"/>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115" name="TextBox 34">
            <a:extLst>
              <a:ext uri="{FF2B5EF4-FFF2-40B4-BE49-F238E27FC236}">
                <a16:creationId xmlns:a16="http://schemas.microsoft.com/office/drawing/2014/main" id="{89BE76CF-16C7-5E41-A35B-E434BA788FEA}"/>
              </a:ext>
            </a:extLst>
          </p:cNvPr>
          <p:cNvSpPr txBox="1">
            <a:spLocks noChangeArrowheads="1"/>
          </p:cNvSpPr>
          <p:nvPr/>
        </p:nvSpPr>
        <p:spPr bwMode="auto">
          <a:xfrm>
            <a:off x="1249938" y="5923755"/>
            <a:ext cx="80627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Graphs</a:t>
            </a:r>
          </a:p>
        </p:txBody>
      </p:sp>
      <p:pic>
        <p:nvPicPr>
          <p:cNvPr id="116" name="Graphic 23">
            <a:extLst>
              <a:ext uri="{FF2B5EF4-FFF2-40B4-BE49-F238E27FC236}">
                <a16:creationId xmlns:a16="http://schemas.microsoft.com/office/drawing/2014/main" id="{7E4FE998-B590-2341-A08A-260A7116023F}"/>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1455733" y="5531171"/>
            <a:ext cx="471600" cy="4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7" name="Straight Arrow Connector 202">
            <a:extLst>
              <a:ext uri="{FF2B5EF4-FFF2-40B4-BE49-F238E27FC236}">
                <a16:creationId xmlns:a16="http://schemas.microsoft.com/office/drawing/2014/main" id="{0DE42BAD-F6B0-2C4E-8D26-AC4C0054B4D8}"/>
              </a:ext>
            </a:extLst>
          </p:cNvPr>
          <p:cNvCxnSpPr>
            <a:cxnSpLocks/>
            <a:stCxn id="116" idx="3"/>
          </p:cNvCxnSpPr>
          <p:nvPr/>
        </p:nvCxnSpPr>
        <p:spPr>
          <a:xfrm flipV="1">
            <a:off x="1927333" y="5449441"/>
            <a:ext cx="152400" cy="317530"/>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B56AAB54-1845-354B-9109-3F012CFE76FD}"/>
              </a:ext>
            </a:extLst>
          </p:cNvPr>
          <p:cNvCxnSpPr>
            <a:cxnSpLocks/>
            <a:stCxn id="102" idx="3"/>
            <a:endCxn id="116" idx="1"/>
          </p:cNvCxnSpPr>
          <p:nvPr/>
        </p:nvCxnSpPr>
        <p:spPr>
          <a:xfrm flipV="1">
            <a:off x="1240912" y="5766971"/>
            <a:ext cx="214821" cy="6303"/>
          </a:xfrm>
          <a:prstGeom prst="straightConnector1">
            <a:avLst/>
          </a:prstGeom>
          <a:ln w="12700">
            <a:solidFill>
              <a:srgbClr val="545B64"/>
            </a:solidFill>
            <a:prstDash val="sysDash"/>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120" name="TextBox 9">
            <a:extLst>
              <a:ext uri="{FF2B5EF4-FFF2-40B4-BE49-F238E27FC236}">
                <a16:creationId xmlns:a16="http://schemas.microsoft.com/office/drawing/2014/main" id="{B6F6C15A-6087-FD4A-AEBA-1B3E6E33F338}"/>
              </a:ext>
            </a:extLst>
          </p:cNvPr>
          <p:cNvSpPr txBox="1">
            <a:spLocks noChangeArrowheads="1"/>
          </p:cNvSpPr>
          <p:nvPr/>
        </p:nvSpPr>
        <p:spPr bwMode="auto">
          <a:xfrm>
            <a:off x="1918893" y="5530367"/>
            <a:ext cx="770765"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defRPr sz="1050" b="0" i="1">
                <a:effectLst>
                  <a:glow rad="101600">
                    <a:schemeClr val="bg1"/>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dirty="0"/>
              <a:t>fetch</a:t>
            </a:r>
            <a:br>
              <a:rPr lang="en-US" altLang="en-US" dirty="0"/>
            </a:br>
            <a:endParaRPr lang="en-US" altLang="en-US" dirty="0"/>
          </a:p>
        </p:txBody>
      </p:sp>
      <p:sp>
        <p:nvSpPr>
          <p:cNvPr id="130" name="NumBox 7">
            <a:extLst>
              <a:ext uri="{FF2B5EF4-FFF2-40B4-BE49-F238E27FC236}">
                <a16:creationId xmlns:a16="http://schemas.microsoft.com/office/drawing/2014/main" id="{C695E2DE-B37C-CA4A-AB50-0BECCB63562C}"/>
              </a:ext>
            </a:extLst>
          </p:cNvPr>
          <p:cNvSpPr/>
          <p:nvPr/>
        </p:nvSpPr>
        <p:spPr>
          <a:xfrm>
            <a:off x="2432130" y="5579425"/>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5</a:t>
            </a:r>
          </a:p>
        </p:txBody>
      </p:sp>
      <p:sp>
        <p:nvSpPr>
          <p:cNvPr id="131" name="NumBox 7">
            <a:extLst>
              <a:ext uri="{FF2B5EF4-FFF2-40B4-BE49-F238E27FC236}">
                <a16:creationId xmlns:a16="http://schemas.microsoft.com/office/drawing/2014/main" id="{15533C29-8ADF-0C4A-BCDB-242CEDF19A0E}"/>
              </a:ext>
            </a:extLst>
          </p:cNvPr>
          <p:cNvSpPr/>
          <p:nvPr/>
        </p:nvSpPr>
        <p:spPr>
          <a:xfrm>
            <a:off x="9134573" y="5464628"/>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5</a:t>
            </a:r>
          </a:p>
        </p:txBody>
      </p:sp>
      <p:sp>
        <p:nvSpPr>
          <p:cNvPr id="121" name="TextBox 9">
            <a:extLst>
              <a:ext uri="{FF2B5EF4-FFF2-40B4-BE49-F238E27FC236}">
                <a16:creationId xmlns:a16="http://schemas.microsoft.com/office/drawing/2014/main" id="{2427AFAF-CE16-A64D-BDD7-12B55068A2BC}"/>
              </a:ext>
            </a:extLst>
          </p:cNvPr>
          <p:cNvSpPr txBox="1">
            <a:spLocks noChangeArrowheads="1"/>
          </p:cNvSpPr>
          <p:nvPr/>
        </p:nvSpPr>
        <p:spPr bwMode="auto">
          <a:xfrm>
            <a:off x="137811" y="5486022"/>
            <a:ext cx="700695"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pPr algn="l"/>
            <a:r>
              <a:rPr lang="en-US" altLang="en-US" dirty="0">
                <a:effectLst>
                  <a:glow rad="101600">
                    <a:schemeClr val="bg1"/>
                  </a:glow>
                </a:effectLst>
              </a:rPr>
              <a:t>updated</a:t>
            </a:r>
          </a:p>
        </p:txBody>
      </p:sp>
    </p:spTree>
    <p:extLst>
      <p:ext uri="{BB962C8B-B14F-4D97-AF65-F5344CB8AC3E}">
        <p14:creationId xmlns:p14="http://schemas.microsoft.com/office/powerpoint/2010/main" val="1309490934"/>
      </p:ext>
    </p:extLst>
  </p:cSld>
  <p:clrMapOvr>
    <a:masterClrMapping/>
  </p:clrMapOvr>
</p:sld>
</file>

<file path=ppt/theme/theme1.xml><?xml version="1.0" encoding="utf-8"?>
<a:theme xmlns:a="http://schemas.openxmlformats.org/drawingml/2006/main" name="Office Theme">
  <a:themeElements>
    <a:clrScheme name="AWS-architecture-icons">
      <a:dk1>
        <a:srgbClr val="232F3C"/>
      </a:dk1>
      <a:lt1>
        <a:srgbClr val="FAFAFA"/>
      </a:lt1>
      <a:dk2>
        <a:srgbClr val="545B63"/>
      </a:dk2>
      <a:lt2>
        <a:srgbClr val="E5ECEF"/>
      </a:lt2>
      <a:accent1>
        <a:srgbClr val="FF9900"/>
      </a:accent1>
      <a:accent2>
        <a:srgbClr val="F0613C"/>
      </a:accent2>
      <a:accent3>
        <a:srgbClr val="007CBD"/>
      </a:accent3>
      <a:accent4>
        <a:srgbClr val="00A0C8"/>
      </a:accent4>
      <a:accent5>
        <a:srgbClr val="1D8900"/>
      </a:accent5>
      <a:accent6>
        <a:srgbClr val="69AE34"/>
      </a:accent6>
      <a:hlink>
        <a:srgbClr val="007CBC"/>
      </a:hlink>
      <a:folHlink>
        <a:srgbClr val="007CB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4389</TotalTime>
  <Words>579</Words>
  <Application>Microsoft Macintosh PowerPoint</Application>
  <PresentationFormat>Widescreen</PresentationFormat>
  <Paragraphs>69</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Amazon Ember</vt:lpstr>
      <vt:lpstr>Arial</vt:lpstr>
      <vt:lpstr>Calibri</vt:lpstr>
      <vt:lpstr>Office Theme</vt:lpstr>
      <vt:lpstr>PowerPoint Presentation</vt:lpstr>
    </vt:vector>
  </TitlesOfParts>
  <Manager/>
  <Company>Amazon.com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Reference Architecture Title</dc:title>
  <dc:subject/>
  <dc:creator>Amazon Web Services</dc:creator>
  <cp:keywords/>
  <dc:description/>
  <cp:lastModifiedBy>Jorge Fonseca</cp:lastModifiedBy>
  <cp:revision>122</cp:revision>
  <dcterms:created xsi:type="dcterms:W3CDTF">2018-02-11T04:20:17Z</dcterms:created>
  <dcterms:modified xsi:type="dcterms:W3CDTF">2023-03-01T00:07:02Z</dcterms:modified>
  <cp:category/>
</cp:coreProperties>
</file>