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F0"/>
    <a:srgbClr val="FF9900"/>
    <a:srgbClr val="CD2264"/>
    <a:srgbClr val="232E3C"/>
    <a:srgbClr val="ECEDF0"/>
    <a:srgbClr val="5B9CD5"/>
    <a:srgbClr val="545B64"/>
    <a:srgbClr val="EAEDED"/>
    <a:srgbClr val="D5DBDB"/>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31" autoAdjust="0"/>
    <p:restoredTop sz="96612"/>
  </p:normalViewPr>
  <p:slideViewPr>
    <p:cSldViewPr>
      <p:cViewPr varScale="1">
        <p:scale>
          <a:sx n="122" d="100"/>
          <a:sy n="122" d="100"/>
        </p:scale>
        <p:origin x="1272"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Rectangle 257">
            <a:extLst>
              <a:ext uri="{FF2B5EF4-FFF2-40B4-BE49-F238E27FC236}">
                <a16:creationId xmlns:a16="http://schemas.microsoft.com/office/drawing/2014/main" id="{540C1C2B-3862-F144-8732-FBD89C479A5E}"/>
              </a:ext>
            </a:extLst>
          </p:cNvPr>
          <p:cNvSpPr/>
          <p:nvPr/>
        </p:nvSpPr>
        <p:spPr>
          <a:xfrm>
            <a:off x="1073150" y="4750874"/>
            <a:ext cx="2688921" cy="1302336"/>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72000" rIns="36000" bIns="36000"/>
          <a:lstStyle/>
          <a:p>
            <a:r>
              <a:rPr lang="en-US" sz="105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3P verifier app</a:t>
            </a:r>
          </a:p>
          <a:p>
            <a:endParaRPr lang="en-US" sz="105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1261884"/>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3P sticker verifier</a:t>
            </a:r>
          </a:p>
          <a:p>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Verifiers are systems that verify stickers issued by 3</a:t>
            </a:r>
            <a:r>
              <a:rPr lang="en-US" sz="1200" baseline="300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rd</a:t>
            </a:r>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 parties (3Ps). They can be mobile apps used by 3P staff or can be physical check-points. They verify stickers' authenticity with the issuer’s public key, verify stickers’ ownership by matching users’ face hash with the hash stored in the stickers, and decode the content of stickers for 3P staff to read it. Verifiers rely on Trust Graphs to cache trusted 3P public keys in advance, allowing them to run sticker verifications even while offline.</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NumBox 8">
            <a:extLst>
              <a:ext uri="{FF2B5EF4-FFF2-40B4-BE49-F238E27FC236}">
                <a16:creationId xmlns:a16="http://schemas.microsoft.com/office/drawing/2014/main" id="{3E4874A0-68B7-3F46-930A-3DF954503CB0}"/>
              </a:ext>
            </a:extLst>
          </p:cNvPr>
          <p:cNvSpPr/>
          <p:nvPr/>
        </p:nvSpPr>
        <p:spPr>
          <a:xfrm>
            <a:off x="9133881" y="540277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45" name="NumBox 7">
            <a:extLst>
              <a:ext uri="{FF2B5EF4-FFF2-40B4-BE49-F238E27FC236}">
                <a16:creationId xmlns:a16="http://schemas.microsoft.com/office/drawing/2014/main" id="{68CCBE0C-C2CD-E347-9CED-CC285006AE94}"/>
              </a:ext>
            </a:extLst>
          </p:cNvPr>
          <p:cNvSpPr/>
          <p:nvPr/>
        </p:nvSpPr>
        <p:spPr>
          <a:xfrm>
            <a:off x="9133881" y="311782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3881" y="240592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3881" y="134654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3881" y="11899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76200"/>
            <a:ext cx="2733426" cy="6771084"/>
          </a:xfrm>
          <a:prstGeom prst="rect">
            <a:avLst/>
          </a:prstGeom>
          <a:noFill/>
        </p:spPr>
        <p:txBody>
          <a:bodyPr wrap="square" rtlCol="0">
            <a:spAutoFit/>
          </a:bodyPr>
          <a:lstStyle/>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On a check-point, 3</a:t>
            </a:r>
            <a:r>
              <a:rPr lang="en-US" sz="1050" baseline="300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rd</a:t>
            </a: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 Party (3P) staff ask users to show the 3P sticker containing their entitlement to a service or area. 3P staff may carry a portable device running a 3P verifier app, or users can reach a physical check-point with or without staff (e.g., kiosks, check-in desks, and gates).</a:t>
            </a:r>
          </a:p>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When users scan their 3P sticker, verifiers lookup the issuer’s domain to extract their public key and verify the authenticity of the sticker’s signature, and to verify if the sticker’s issuer is trusted to mark users’ verifiable credentials as “verified”.</a:t>
            </a:r>
          </a:p>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To allow sticker signatures to be validated offline, validators keep a cache of trusted 3P public keys, and they periodically export public keys from a trust graph.</a:t>
            </a:r>
          </a:p>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3P staff then ask users to scan their face biometrics, either by taking a picture of the user’s face using the portable device, or by scanning users’ faces using a camera attached to the check-point’s hardware.</a:t>
            </a:r>
          </a:p>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Verifiers calculate users’ face hash on the fly using the same open source algorithm used by wallets to calculate users’ face hash on wallet registration. Because the wallet hash is passed down to 3P stickers, verifiers can verify the ownership of the sticker by comparing the face hash on a sticker with the hash they just calculated.</a:t>
            </a:r>
          </a:p>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On their user interface (UI), 3P staff confirms the signature’s authenticity, scan users faces, and view sticker data (e.g., birth day, verified credentials, metadata).</a:t>
            </a:r>
          </a:p>
          <a:p>
            <a:pPr>
              <a:spcAft>
                <a:spcPts val="700"/>
              </a:spcAft>
            </a:pPr>
            <a:r>
              <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If the face hash validation fails, then 3P staff may verify the stickers ownership by comparing the birth day on the 3P sticker with the birth date in a user’s document.</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447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60" name="NumBox 8">
            <a:extLst>
              <a:ext uri="{FF2B5EF4-FFF2-40B4-BE49-F238E27FC236}">
                <a16:creationId xmlns:a16="http://schemas.microsoft.com/office/drawing/2014/main" id="{0D273327-7879-024D-95BD-BF18FEAB46A2}"/>
              </a:ext>
            </a:extLst>
          </p:cNvPr>
          <p:cNvSpPr/>
          <p:nvPr/>
        </p:nvSpPr>
        <p:spPr>
          <a:xfrm>
            <a:off x="9133881" y="610214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326" name="NumBox 8">
            <a:extLst>
              <a:ext uri="{FF2B5EF4-FFF2-40B4-BE49-F238E27FC236}">
                <a16:creationId xmlns:a16="http://schemas.microsoft.com/office/drawing/2014/main" id="{70869823-279E-BE4F-933C-EA086FF2F5E0}"/>
              </a:ext>
            </a:extLst>
          </p:cNvPr>
          <p:cNvSpPr/>
          <p:nvPr/>
        </p:nvSpPr>
        <p:spPr>
          <a:xfrm>
            <a:off x="9133881" y="401865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grpSp>
        <p:nvGrpSpPr>
          <p:cNvPr id="118" name="Group 117">
            <a:extLst>
              <a:ext uri="{FF2B5EF4-FFF2-40B4-BE49-F238E27FC236}">
                <a16:creationId xmlns:a16="http://schemas.microsoft.com/office/drawing/2014/main" id="{AFD6C0E4-DED3-0B46-B151-0134502BC5B8}"/>
              </a:ext>
            </a:extLst>
          </p:cNvPr>
          <p:cNvGrpSpPr/>
          <p:nvPr/>
        </p:nvGrpSpPr>
        <p:grpSpPr>
          <a:xfrm>
            <a:off x="3729009" y="2581412"/>
            <a:ext cx="889347" cy="821323"/>
            <a:chOff x="3919340" y="2480127"/>
            <a:chExt cx="889347" cy="821323"/>
          </a:xfrm>
        </p:grpSpPr>
        <p:pic>
          <p:nvPicPr>
            <p:cNvPr id="125" name="Graphic 11">
              <a:extLst>
                <a:ext uri="{FF2B5EF4-FFF2-40B4-BE49-F238E27FC236}">
                  <a16:creationId xmlns:a16="http://schemas.microsoft.com/office/drawing/2014/main" id="{7FE1C42B-CA45-7940-8831-9D110414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8839" y="248012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TextBox 34">
              <a:extLst>
                <a:ext uri="{FF2B5EF4-FFF2-40B4-BE49-F238E27FC236}">
                  <a16:creationId xmlns:a16="http://schemas.microsoft.com/office/drawing/2014/main" id="{6F27C0E3-97C5-0845-AE8C-33880AA3C735}"/>
                </a:ext>
              </a:extLst>
            </p:cNvPr>
            <p:cNvSpPr txBox="1">
              <a:spLocks noChangeArrowheads="1"/>
            </p:cNvSpPr>
            <p:nvPr/>
          </p:nvSpPr>
          <p:spPr bwMode="auto">
            <a:xfrm>
              <a:off x="3919340" y="2885952"/>
              <a:ext cx="88934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trusted 3P public keys</a:t>
              </a:r>
            </a:p>
          </p:txBody>
        </p:sp>
      </p:grpSp>
      <p:grpSp>
        <p:nvGrpSpPr>
          <p:cNvPr id="135" name="Group 134">
            <a:extLst>
              <a:ext uri="{FF2B5EF4-FFF2-40B4-BE49-F238E27FC236}">
                <a16:creationId xmlns:a16="http://schemas.microsoft.com/office/drawing/2014/main" id="{94BBA1B6-E3A6-C54D-9113-F5AE32A6B924}"/>
              </a:ext>
            </a:extLst>
          </p:cNvPr>
          <p:cNvGrpSpPr/>
          <p:nvPr/>
        </p:nvGrpSpPr>
        <p:grpSpPr>
          <a:xfrm>
            <a:off x="4929576" y="1600200"/>
            <a:ext cx="1073150" cy="675290"/>
            <a:chOff x="346288" y="1454484"/>
            <a:chExt cx="1073150" cy="675290"/>
          </a:xfrm>
        </p:grpSpPr>
        <p:sp>
          <p:nvSpPr>
            <p:cNvPr id="138" name="TextBox 34">
              <a:extLst>
                <a:ext uri="{FF2B5EF4-FFF2-40B4-BE49-F238E27FC236}">
                  <a16:creationId xmlns:a16="http://schemas.microsoft.com/office/drawing/2014/main" id="{5652AE3B-A549-A14C-B7A9-698C6078D08C}"/>
                </a:ext>
              </a:extLst>
            </p:cNvPr>
            <p:cNvSpPr txBox="1">
              <a:spLocks noChangeArrowheads="1"/>
            </p:cNvSpPr>
            <p:nvPr/>
          </p:nvSpPr>
          <p:spPr bwMode="auto">
            <a:xfrm>
              <a:off x="346288" y="1454484"/>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 Graph</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43" name="Graphic 23">
              <a:extLst>
                <a:ext uri="{FF2B5EF4-FFF2-40B4-BE49-F238E27FC236}">
                  <a16:creationId xmlns:a16="http://schemas.microsoft.com/office/drawing/2014/main" id="{77E82010-29F4-384B-A4FE-4A0835FDEF80}"/>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636070" y="1658174"/>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44" name="Straight Arrow Connector 164">
            <a:extLst>
              <a:ext uri="{FF2B5EF4-FFF2-40B4-BE49-F238E27FC236}">
                <a16:creationId xmlns:a16="http://schemas.microsoft.com/office/drawing/2014/main" id="{9044D330-028D-E14E-B287-D836DB572C89}"/>
              </a:ext>
            </a:extLst>
          </p:cNvPr>
          <p:cNvCxnSpPr>
            <a:cxnSpLocks/>
            <a:stCxn id="143" idx="1"/>
            <a:endCxn id="125" idx="0"/>
          </p:cNvCxnSpPr>
          <p:nvPr/>
        </p:nvCxnSpPr>
        <p:spPr>
          <a:xfrm rot="10800000" flipV="1">
            <a:off x="4163458" y="2039690"/>
            <a:ext cx="1055900" cy="541722"/>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46" name="TextBox 34">
            <a:extLst>
              <a:ext uri="{FF2B5EF4-FFF2-40B4-BE49-F238E27FC236}">
                <a16:creationId xmlns:a16="http://schemas.microsoft.com/office/drawing/2014/main" id="{D36A7DE8-4BE5-8F42-AD53-6CEA494D7AE1}"/>
              </a:ext>
            </a:extLst>
          </p:cNvPr>
          <p:cNvSpPr txBox="1">
            <a:spLocks noChangeArrowheads="1"/>
          </p:cNvSpPr>
          <p:nvPr/>
        </p:nvSpPr>
        <p:spPr bwMode="auto">
          <a:xfrm>
            <a:off x="3948811" y="1803112"/>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export</a:t>
            </a:r>
          </a:p>
        </p:txBody>
      </p:sp>
      <p:grpSp>
        <p:nvGrpSpPr>
          <p:cNvPr id="151" name="Group 150">
            <a:extLst>
              <a:ext uri="{FF2B5EF4-FFF2-40B4-BE49-F238E27FC236}">
                <a16:creationId xmlns:a16="http://schemas.microsoft.com/office/drawing/2014/main" id="{0BF26778-EF21-864E-9419-76F40D46E99D}"/>
              </a:ext>
            </a:extLst>
          </p:cNvPr>
          <p:cNvGrpSpPr/>
          <p:nvPr/>
        </p:nvGrpSpPr>
        <p:grpSpPr>
          <a:xfrm>
            <a:off x="538192" y="3413408"/>
            <a:ext cx="469900" cy="727224"/>
            <a:chOff x="908854" y="3224699"/>
            <a:chExt cx="469900" cy="727224"/>
          </a:xfrm>
        </p:grpSpPr>
        <p:pic>
          <p:nvPicPr>
            <p:cNvPr id="154" name="Graphic 22">
              <a:extLst>
                <a:ext uri="{FF2B5EF4-FFF2-40B4-BE49-F238E27FC236}">
                  <a16:creationId xmlns:a16="http://schemas.microsoft.com/office/drawing/2014/main" id="{8FA25411-961A-614E-B586-6FBC58ACE012}"/>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908854"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TextBox 34">
              <a:extLst>
                <a:ext uri="{FF2B5EF4-FFF2-40B4-BE49-F238E27FC236}">
                  <a16:creationId xmlns:a16="http://schemas.microsoft.com/office/drawing/2014/main" id="{12823246-B05A-2840-8ACA-5A7249B17BC0}"/>
                </a:ext>
              </a:extLst>
            </p:cNvPr>
            <p:cNvSpPr txBox="1">
              <a:spLocks noChangeArrowheads="1"/>
            </p:cNvSpPr>
            <p:nvPr/>
          </p:nvSpPr>
          <p:spPr bwMode="auto">
            <a:xfrm>
              <a:off x="916243" y="3698007"/>
              <a:ext cx="4551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59" name="Group 158">
            <a:extLst>
              <a:ext uri="{FF2B5EF4-FFF2-40B4-BE49-F238E27FC236}">
                <a16:creationId xmlns:a16="http://schemas.microsoft.com/office/drawing/2014/main" id="{CAC34BA3-19DF-8648-9349-C157EE218563}"/>
              </a:ext>
            </a:extLst>
          </p:cNvPr>
          <p:cNvGrpSpPr/>
          <p:nvPr/>
        </p:nvGrpSpPr>
        <p:grpSpPr>
          <a:xfrm>
            <a:off x="907467" y="2886150"/>
            <a:ext cx="808497" cy="523613"/>
            <a:chOff x="901989" y="1909145"/>
            <a:chExt cx="808497" cy="523613"/>
          </a:xfrm>
        </p:grpSpPr>
        <p:pic>
          <p:nvPicPr>
            <p:cNvPr id="162" name="Picture 161">
              <a:extLst>
                <a:ext uri="{FF2B5EF4-FFF2-40B4-BE49-F238E27FC236}">
                  <a16:creationId xmlns:a16="http://schemas.microsoft.com/office/drawing/2014/main" id="{9205513C-31A9-B845-9E58-D7AA0ADCBC4C}"/>
                </a:ext>
              </a:extLst>
            </p:cNvPr>
            <p:cNvPicPr>
              <a:picLocks noChangeAspect="1"/>
            </p:cNvPicPr>
            <p:nvPr/>
          </p:nvPicPr>
          <p:blipFill>
            <a:blip r:embed="rId8"/>
            <a:stretch>
              <a:fillRect/>
            </a:stretch>
          </p:blipFill>
          <p:spPr>
            <a:xfrm>
              <a:off x="1162296" y="1909145"/>
              <a:ext cx="287885" cy="288608"/>
            </a:xfrm>
            <a:prstGeom prst="rect">
              <a:avLst/>
            </a:prstGeom>
          </p:spPr>
        </p:pic>
        <p:sp>
          <p:nvSpPr>
            <p:cNvPr id="163" name="TextBox 34">
              <a:extLst>
                <a:ext uri="{FF2B5EF4-FFF2-40B4-BE49-F238E27FC236}">
                  <a16:creationId xmlns:a16="http://schemas.microsoft.com/office/drawing/2014/main" id="{64CEDDFD-1B96-7248-83C2-D1487B9A2001}"/>
                </a:ext>
              </a:extLst>
            </p:cNvPr>
            <p:cNvSpPr txBox="1">
              <a:spLocks noChangeArrowheads="1"/>
            </p:cNvSpPr>
            <p:nvPr/>
          </p:nvSpPr>
          <p:spPr bwMode="auto">
            <a:xfrm>
              <a:off x="901989" y="2178842"/>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sticker </a:t>
              </a:r>
            </a:p>
          </p:txBody>
        </p:sp>
      </p:grpSp>
      <p:grpSp>
        <p:nvGrpSpPr>
          <p:cNvPr id="167" name="Group 166">
            <a:extLst>
              <a:ext uri="{FF2B5EF4-FFF2-40B4-BE49-F238E27FC236}">
                <a16:creationId xmlns:a16="http://schemas.microsoft.com/office/drawing/2014/main" id="{9A3E1704-6883-C440-B002-AFDC69D906D2}"/>
              </a:ext>
            </a:extLst>
          </p:cNvPr>
          <p:cNvGrpSpPr/>
          <p:nvPr/>
        </p:nvGrpSpPr>
        <p:grpSpPr>
          <a:xfrm>
            <a:off x="2103756" y="2589451"/>
            <a:ext cx="1159290" cy="457200"/>
            <a:chOff x="2459620" y="2513062"/>
            <a:chExt cx="1159290" cy="457200"/>
          </a:xfrm>
        </p:grpSpPr>
        <p:pic>
          <p:nvPicPr>
            <p:cNvPr id="172" name="Graphic 48">
              <a:extLst>
                <a:ext uri="{FF2B5EF4-FFF2-40B4-BE49-F238E27FC236}">
                  <a16:creationId xmlns:a16="http://schemas.microsoft.com/office/drawing/2014/main" id="{042101F5-F874-3442-B434-223C5CEF95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9620" y="251306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 name="TextBox 34">
              <a:extLst>
                <a:ext uri="{FF2B5EF4-FFF2-40B4-BE49-F238E27FC236}">
                  <a16:creationId xmlns:a16="http://schemas.microsoft.com/office/drawing/2014/main" id="{21EC52CC-0578-CB43-88EE-F0911E2737BB}"/>
                </a:ext>
              </a:extLst>
            </p:cNvPr>
            <p:cNvSpPr txBox="1">
              <a:spLocks noChangeArrowheads="1"/>
            </p:cNvSpPr>
            <p:nvPr/>
          </p:nvSpPr>
          <p:spPr bwMode="auto">
            <a:xfrm>
              <a:off x="2874178" y="2533913"/>
              <a:ext cx="74473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3P signature</a:t>
              </a:r>
            </a:p>
          </p:txBody>
        </p:sp>
      </p:grpSp>
      <p:grpSp>
        <p:nvGrpSpPr>
          <p:cNvPr id="179" name="Group 178">
            <a:extLst>
              <a:ext uri="{FF2B5EF4-FFF2-40B4-BE49-F238E27FC236}">
                <a16:creationId xmlns:a16="http://schemas.microsoft.com/office/drawing/2014/main" id="{A8F35FC5-15D1-DC4B-BC8B-B905A0E19138}"/>
              </a:ext>
            </a:extLst>
          </p:cNvPr>
          <p:cNvGrpSpPr/>
          <p:nvPr/>
        </p:nvGrpSpPr>
        <p:grpSpPr>
          <a:xfrm>
            <a:off x="2103756" y="3419014"/>
            <a:ext cx="1203155" cy="457200"/>
            <a:chOff x="2459620" y="3384502"/>
            <a:chExt cx="1203155" cy="457200"/>
          </a:xfrm>
        </p:grpSpPr>
        <p:pic>
          <p:nvPicPr>
            <p:cNvPr id="180" name="Graphic 26">
              <a:extLst>
                <a:ext uri="{FF2B5EF4-FFF2-40B4-BE49-F238E27FC236}">
                  <a16:creationId xmlns:a16="http://schemas.microsoft.com/office/drawing/2014/main" id="{D30821FA-01F4-2648-81A5-B7B8EB2D9A3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9620" y="338450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TextBox 34">
              <a:extLst>
                <a:ext uri="{FF2B5EF4-FFF2-40B4-BE49-F238E27FC236}">
                  <a16:creationId xmlns:a16="http://schemas.microsoft.com/office/drawing/2014/main" id="{0521BCFF-BD8B-0844-9508-388C09AB9DA7}"/>
                </a:ext>
              </a:extLst>
            </p:cNvPr>
            <p:cNvSpPr txBox="1">
              <a:spLocks noChangeArrowheads="1"/>
            </p:cNvSpPr>
            <p:nvPr/>
          </p:nvSpPr>
          <p:spPr bwMode="auto">
            <a:xfrm>
              <a:off x="2874179" y="3405353"/>
              <a:ext cx="78859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verify face hash</a:t>
              </a:r>
            </a:p>
          </p:txBody>
        </p:sp>
      </p:grpSp>
      <p:cxnSp>
        <p:nvCxnSpPr>
          <p:cNvPr id="196" name="Straight Arrow Connector 202">
            <a:extLst>
              <a:ext uri="{FF2B5EF4-FFF2-40B4-BE49-F238E27FC236}">
                <a16:creationId xmlns:a16="http://schemas.microsoft.com/office/drawing/2014/main" id="{3C859EBB-DCB9-E24F-8E99-878AF84874AC}"/>
              </a:ext>
            </a:extLst>
          </p:cNvPr>
          <p:cNvCxnSpPr>
            <a:cxnSpLocks/>
            <a:stCxn id="154" idx="0"/>
            <a:endCxn id="172" idx="1"/>
          </p:cNvCxnSpPr>
          <p:nvPr/>
        </p:nvCxnSpPr>
        <p:spPr>
          <a:xfrm rot="5400000" flipH="1" flipV="1">
            <a:off x="1140771" y="2450423"/>
            <a:ext cx="595357" cy="1330614"/>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AA5BA91B-0BAF-184B-A476-042B0EA68BB8}"/>
              </a:ext>
            </a:extLst>
          </p:cNvPr>
          <p:cNvCxnSpPr>
            <a:cxnSpLocks/>
            <a:stCxn id="154" idx="3"/>
            <a:endCxn id="180" idx="1"/>
          </p:cNvCxnSpPr>
          <p:nvPr/>
        </p:nvCxnSpPr>
        <p:spPr>
          <a:xfrm flipV="1">
            <a:off x="1008092" y="3647614"/>
            <a:ext cx="1095664" cy="744"/>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22236CEF-5CAD-C243-AB14-E3405A58E3BF}"/>
              </a:ext>
            </a:extLst>
          </p:cNvPr>
          <p:cNvCxnSpPr>
            <a:cxnSpLocks/>
            <a:stCxn id="172" idx="2"/>
            <a:endCxn id="180" idx="0"/>
          </p:cNvCxnSpPr>
          <p:nvPr/>
        </p:nvCxnSpPr>
        <p:spPr>
          <a:xfrm>
            <a:off x="2332356" y="3046651"/>
            <a:ext cx="0" cy="372363"/>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99" name="TextBox 34">
            <a:extLst>
              <a:ext uri="{FF2B5EF4-FFF2-40B4-BE49-F238E27FC236}">
                <a16:creationId xmlns:a16="http://schemas.microsoft.com/office/drawing/2014/main" id="{96F27B74-F9BD-4648-82BC-A03D4D6725F9}"/>
              </a:ext>
            </a:extLst>
          </p:cNvPr>
          <p:cNvSpPr txBox="1">
            <a:spLocks noChangeArrowheads="1"/>
          </p:cNvSpPr>
          <p:nvPr/>
        </p:nvSpPr>
        <p:spPr bwMode="auto">
          <a:xfrm>
            <a:off x="1376251" y="3656911"/>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face</a:t>
            </a:r>
          </a:p>
        </p:txBody>
      </p:sp>
      <p:sp>
        <p:nvSpPr>
          <p:cNvPr id="200" name="NumBox 1">
            <a:extLst>
              <a:ext uri="{FF2B5EF4-FFF2-40B4-BE49-F238E27FC236}">
                <a16:creationId xmlns:a16="http://schemas.microsoft.com/office/drawing/2014/main" id="{5D93F684-416F-5841-86F8-DCF012BE1AE1}"/>
              </a:ext>
            </a:extLst>
          </p:cNvPr>
          <p:cNvSpPr/>
          <p:nvPr/>
        </p:nvSpPr>
        <p:spPr>
          <a:xfrm>
            <a:off x="843385" y="268356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201" name="NumBox 1">
            <a:extLst>
              <a:ext uri="{FF2B5EF4-FFF2-40B4-BE49-F238E27FC236}">
                <a16:creationId xmlns:a16="http://schemas.microsoft.com/office/drawing/2014/main" id="{61D89AC8-69A1-2041-A4E9-13DFE4F15EA3}"/>
              </a:ext>
            </a:extLst>
          </p:cNvPr>
          <p:cNvSpPr/>
          <p:nvPr/>
        </p:nvSpPr>
        <p:spPr>
          <a:xfrm>
            <a:off x="1112313" y="353831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pic>
        <p:nvPicPr>
          <p:cNvPr id="202" name="Graphic 44">
            <a:extLst>
              <a:ext uri="{FF2B5EF4-FFF2-40B4-BE49-F238E27FC236}">
                <a16:creationId xmlns:a16="http://schemas.microsoft.com/office/drawing/2014/main" id="{D7009F40-37FA-FF47-8484-FEC2CAEF210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68219" y="380254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Box 9">
            <a:extLst>
              <a:ext uri="{FF2B5EF4-FFF2-40B4-BE49-F238E27FC236}">
                <a16:creationId xmlns:a16="http://schemas.microsoft.com/office/drawing/2014/main" id="{3C2C2988-8A35-0541-B5D0-F420C7E072DB}"/>
              </a:ext>
            </a:extLst>
          </p:cNvPr>
          <p:cNvSpPr txBox="1">
            <a:spLocks noChangeArrowheads="1"/>
          </p:cNvSpPr>
          <p:nvPr/>
        </p:nvSpPr>
        <p:spPr bwMode="auto">
          <a:xfrm>
            <a:off x="2748981" y="3827944"/>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a:schemeClr val="bg1"/>
                  </a:glow>
                </a:effectLst>
              </a:rPr>
              <a:t>trust stamp</a:t>
            </a:r>
            <a:br>
              <a:rPr lang="en-US" altLang="en-US" i="0" dirty="0">
                <a:effectLst>
                  <a:glow>
                    <a:schemeClr val="bg1"/>
                  </a:glow>
                </a:effectLst>
              </a:rPr>
            </a:br>
            <a:r>
              <a:rPr lang="en-US" altLang="en-US" i="0" dirty="0">
                <a:effectLst>
                  <a:glow>
                    <a:schemeClr val="bg1"/>
                  </a:glow>
                </a:effectLst>
              </a:rPr>
              <a:t>algorithm</a:t>
            </a:r>
          </a:p>
        </p:txBody>
      </p:sp>
      <p:sp>
        <p:nvSpPr>
          <p:cNvPr id="204" name="TextBox 34">
            <a:extLst>
              <a:ext uri="{FF2B5EF4-FFF2-40B4-BE49-F238E27FC236}">
                <a16:creationId xmlns:a16="http://schemas.microsoft.com/office/drawing/2014/main" id="{13967FEF-68E4-3948-A32D-35A182B2BCCE}"/>
              </a:ext>
            </a:extLst>
          </p:cNvPr>
          <p:cNvSpPr txBox="1">
            <a:spLocks noChangeArrowheads="1"/>
          </p:cNvSpPr>
          <p:nvPr/>
        </p:nvSpPr>
        <p:spPr bwMode="auto">
          <a:xfrm>
            <a:off x="1168717" y="2905909"/>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cxnSp>
        <p:nvCxnSpPr>
          <p:cNvPr id="205" name="Straight Arrow Connector 204">
            <a:extLst>
              <a:ext uri="{FF2B5EF4-FFF2-40B4-BE49-F238E27FC236}">
                <a16:creationId xmlns:a16="http://schemas.microsoft.com/office/drawing/2014/main" id="{11B24342-A7B4-1145-971B-E487DAE1A7A7}"/>
              </a:ext>
            </a:extLst>
          </p:cNvPr>
          <p:cNvCxnSpPr>
            <a:cxnSpLocks/>
          </p:cNvCxnSpPr>
          <p:nvPr/>
        </p:nvCxnSpPr>
        <p:spPr>
          <a:xfrm flipV="1">
            <a:off x="3263046" y="2816362"/>
            <a:ext cx="665462" cy="1689"/>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06" name="TextBox 34">
            <a:extLst>
              <a:ext uri="{FF2B5EF4-FFF2-40B4-BE49-F238E27FC236}">
                <a16:creationId xmlns:a16="http://schemas.microsoft.com/office/drawing/2014/main" id="{B0DFD8BC-A454-DE4B-99FB-4ED0C8989471}"/>
              </a:ext>
            </a:extLst>
          </p:cNvPr>
          <p:cNvSpPr txBox="1">
            <a:spLocks noChangeArrowheads="1"/>
          </p:cNvSpPr>
          <p:nvPr/>
        </p:nvSpPr>
        <p:spPr bwMode="auto">
          <a:xfrm>
            <a:off x="3124059" y="2553710"/>
            <a:ext cx="80849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get key</a:t>
            </a:r>
          </a:p>
        </p:txBody>
      </p:sp>
      <p:grpSp>
        <p:nvGrpSpPr>
          <p:cNvPr id="208" name="Group 207">
            <a:extLst>
              <a:ext uri="{FF2B5EF4-FFF2-40B4-BE49-F238E27FC236}">
                <a16:creationId xmlns:a16="http://schemas.microsoft.com/office/drawing/2014/main" id="{1D40E426-86AE-7440-8BBD-FAEEF621925D}"/>
              </a:ext>
            </a:extLst>
          </p:cNvPr>
          <p:cNvGrpSpPr/>
          <p:nvPr/>
        </p:nvGrpSpPr>
        <p:grpSpPr>
          <a:xfrm>
            <a:off x="4870587" y="3383908"/>
            <a:ext cx="1284539" cy="971362"/>
            <a:chOff x="2784070" y="4892744"/>
            <a:chExt cx="1199708" cy="1127056"/>
          </a:xfrm>
        </p:grpSpPr>
        <p:sp>
          <p:nvSpPr>
            <p:cNvPr id="209" name="Rectangle 208">
              <a:extLst>
                <a:ext uri="{FF2B5EF4-FFF2-40B4-BE49-F238E27FC236}">
                  <a16:creationId xmlns:a16="http://schemas.microsoft.com/office/drawing/2014/main" id="{7F5DAB2D-4E26-054D-B686-901C5885FCCD}"/>
                </a:ext>
              </a:extLst>
            </p:cNvPr>
            <p:cNvSpPr/>
            <p:nvPr/>
          </p:nvSpPr>
          <p:spPr>
            <a:xfrm>
              <a:off x="2784070" y="4892744"/>
              <a:ext cx="1199708" cy="1127056"/>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72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page,</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total pages,</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domains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domain,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codes [ code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public key</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210" name="Double Brace 209">
              <a:extLst>
                <a:ext uri="{FF2B5EF4-FFF2-40B4-BE49-F238E27FC236}">
                  <a16:creationId xmlns:a16="http://schemas.microsoft.com/office/drawing/2014/main" id="{3175C26A-54B2-F543-9870-E1EB236383F1}"/>
                </a:ext>
              </a:extLst>
            </p:cNvPr>
            <p:cNvSpPr/>
            <p:nvPr/>
          </p:nvSpPr>
          <p:spPr>
            <a:xfrm>
              <a:off x="2824555" y="4946939"/>
              <a:ext cx="1128750" cy="1023507"/>
            </a:xfrm>
            <a:prstGeom prst="bracePair">
              <a:avLst>
                <a:gd name="adj" fmla="val 2637"/>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211" name="Group 210">
            <a:extLst>
              <a:ext uri="{FF2B5EF4-FFF2-40B4-BE49-F238E27FC236}">
                <a16:creationId xmlns:a16="http://schemas.microsoft.com/office/drawing/2014/main" id="{FF8C4E71-54B1-3249-9179-D922A98189E1}"/>
              </a:ext>
            </a:extLst>
          </p:cNvPr>
          <p:cNvGrpSpPr/>
          <p:nvPr/>
        </p:nvGrpSpPr>
        <p:grpSpPr>
          <a:xfrm>
            <a:off x="4891111" y="2802023"/>
            <a:ext cx="1238072" cy="389416"/>
            <a:chOff x="2784070" y="4892744"/>
            <a:chExt cx="1199708" cy="1127056"/>
          </a:xfrm>
        </p:grpSpPr>
        <p:sp>
          <p:nvSpPr>
            <p:cNvPr id="212" name="Rectangle 211">
              <a:extLst>
                <a:ext uri="{FF2B5EF4-FFF2-40B4-BE49-F238E27FC236}">
                  <a16:creationId xmlns:a16="http://schemas.microsoft.com/office/drawing/2014/main" id="{353C9FF2-F618-C64E-AABE-424991D1B09C}"/>
                </a:ext>
              </a:extLst>
            </p:cNvPr>
            <p:cNvSpPr/>
            <p:nvPr/>
          </p:nvSpPr>
          <p:spPr>
            <a:xfrm>
              <a:off x="2784070" y="4892744"/>
              <a:ext cx="1199708" cy="1127056"/>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72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authorities [domain],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codes [code]</a:t>
              </a:r>
            </a:p>
          </p:txBody>
        </p:sp>
        <p:sp>
          <p:nvSpPr>
            <p:cNvPr id="213" name="Double Brace 212">
              <a:extLst>
                <a:ext uri="{FF2B5EF4-FFF2-40B4-BE49-F238E27FC236}">
                  <a16:creationId xmlns:a16="http://schemas.microsoft.com/office/drawing/2014/main" id="{0316436A-3C9E-9A4F-A114-184A49565E10}"/>
                </a:ext>
              </a:extLst>
            </p:cNvPr>
            <p:cNvSpPr/>
            <p:nvPr/>
          </p:nvSpPr>
          <p:spPr>
            <a:xfrm>
              <a:off x="2824555" y="4946939"/>
              <a:ext cx="1128750" cy="1023507"/>
            </a:xfrm>
            <a:prstGeom prst="bracePair">
              <a:avLst>
                <a:gd name="adj" fmla="val 5995"/>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14" name="TextBox 34">
            <a:extLst>
              <a:ext uri="{FF2B5EF4-FFF2-40B4-BE49-F238E27FC236}">
                <a16:creationId xmlns:a16="http://schemas.microsoft.com/office/drawing/2014/main" id="{FF276D4C-8F27-384C-95F9-5BF54336EE61}"/>
              </a:ext>
            </a:extLst>
          </p:cNvPr>
          <p:cNvSpPr txBox="1">
            <a:spLocks noChangeArrowheads="1"/>
          </p:cNvSpPr>
          <p:nvPr/>
        </p:nvSpPr>
        <p:spPr bwMode="auto">
          <a:xfrm>
            <a:off x="4710078" y="3174631"/>
            <a:ext cx="116484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Export response</a:t>
            </a:r>
          </a:p>
        </p:txBody>
      </p:sp>
      <p:sp>
        <p:nvSpPr>
          <p:cNvPr id="215" name="TextBox 34">
            <a:extLst>
              <a:ext uri="{FF2B5EF4-FFF2-40B4-BE49-F238E27FC236}">
                <a16:creationId xmlns:a16="http://schemas.microsoft.com/office/drawing/2014/main" id="{CD5C6F6D-63D5-BD43-A996-31EF2582C54C}"/>
              </a:ext>
            </a:extLst>
          </p:cNvPr>
          <p:cNvSpPr txBox="1">
            <a:spLocks noChangeArrowheads="1"/>
          </p:cNvSpPr>
          <p:nvPr/>
        </p:nvSpPr>
        <p:spPr bwMode="auto">
          <a:xfrm>
            <a:off x="4714036" y="2574440"/>
            <a:ext cx="116484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Export request</a:t>
            </a:r>
          </a:p>
        </p:txBody>
      </p:sp>
      <p:sp>
        <p:nvSpPr>
          <p:cNvPr id="216" name="Rectangle 215">
            <a:extLst>
              <a:ext uri="{FF2B5EF4-FFF2-40B4-BE49-F238E27FC236}">
                <a16:creationId xmlns:a16="http://schemas.microsoft.com/office/drawing/2014/main" id="{951CCE8E-A418-3843-8E3C-D010D2FE3E72}"/>
              </a:ext>
            </a:extLst>
          </p:cNvPr>
          <p:cNvSpPr/>
          <p:nvPr/>
        </p:nvSpPr>
        <p:spPr>
          <a:xfrm>
            <a:off x="1855499" y="2209803"/>
            <a:ext cx="2821951" cy="2135246"/>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r>
              <a:rPr lang="en-US" sz="105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3P sticker verifier</a:t>
            </a:r>
          </a:p>
          <a:p>
            <a:endParaRPr lang="en-US" sz="1050" dirty="0">
              <a:solidFill>
                <a:schemeClr val="tx2"/>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0" name="Rectangle 229">
            <a:extLst>
              <a:ext uri="{FF2B5EF4-FFF2-40B4-BE49-F238E27FC236}">
                <a16:creationId xmlns:a16="http://schemas.microsoft.com/office/drawing/2014/main" id="{415B41A8-B704-8144-A3E1-D3456259BCC1}"/>
              </a:ext>
            </a:extLst>
          </p:cNvPr>
          <p:cNvSpPr/>
          <p:nvPr/>
        </p:nvSpPr>
        <p:spPr>
          <a:xfrm>
            <a:off x="7101537" y="1755160"/>
            <a:ext cx="1747393" cy="2593464"/>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JP Air. [3P] Sticker</a:t>
            </a:r>
          </a:p>
          <a:p>
            <a:r>
              <a:rPr lang="en-US" sz="40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 </a:t>
            </a:r>
            <a:endPar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endParaRPr>
          </a:p>
          <a:p>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          </a:t>
            </a:r>
            <a:r>
              <a:rPr lang="en-US" sz="1050" b="1"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VALID</a:t>
            </a:r>
          </a:p>
          <a:p>
            <a:r>
              <a:rPr lang="en-US" sz="1050" b="1"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          SIGN</a:t>
            </a:r>
          </a:p>
          <a:p>
            <a:endPar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endParaRPr>
          </a:p>
          <a:p>
            <a:pPr marL="11113"/>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Birth day:</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May, 14th </a:t>
            </a:r>
          </a:p>
          <a:p>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Verified info:</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Passport </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3rd dose vaccine</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Wheelchair </a:t>
            </a:r>
          </a:p>
          <a:p>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Metadata:</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Flight: BA501</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Date: 02/11/22</a:t>
            </a:r>
          </a:p>
          <a:p>
            <a:pPr marL="171450" indent="-171450">
              <a:buFont typeface="Arial" panose="020B0604020202020204" pitchFamily="34" charset="0"/>
              <a:buChar char="•"/>
            </a:pPr>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Motor wheelchair </a:t>
            </a:r>
          </a:p>
          <a:p>
            <a:r>
              <a:rPr lang="en-US" sz="1050" dirty="0">
                <a:solidFill>
                  <a:srgbClr val="1E8900"/>
                </a:solidFill>
                <a:latin typeface="Amazon Ember" panose="020B0603020204020204" pitchFamily="34" charset="0"/>
                <a:ea typeface="Amazon Ember" panose="020B0603020204020204" pitchFamily="34" charset="0"/>
                <a:cs typeface="Amazon Ember" panose="020B0603020204020204" pitchFamily="34" charset="0"/>
              </a:rPr>
              <a:t>Expires: 10/01/22</a:t>
            </a:r>
          </a:p>
        </p:txBody>
      </p:sp>
      <p:sp>
        <p:nvSpPr>
          <p:cNvPr id="232" name="NumBox 5">
            <a:extLst>
              <a:ext uri="{FF2B5EF4-FFF2-40B4-BE49-F238E27FC236}">
                <a16:creationId xmlns:a16="http://schemas.microsoft.com/office/drawing/2014/main" id="{4764E618-E9AE-764F-AE3D-786D602D00A4}"/>
              </a:ext>
            </a:extLst>
          </p:cNvPr>
          <p:cNvSpPr/>
          <p:nvPr/>
        </p:nvSpPr>
        <p:spPr>
          <a:xfrm>
            <a:off x="8011362" y="2015803"/>
            <a:ext cx="751638" cy="312850"/>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Scan face</a:t>
            </a:r>
          </a:p>
        </p:txBody>
      </p:sp>
      <p:pic>
        <p:nvPicPr>
          <p:cNvPr id="238" name="Graphic 14">
            <a:extLst>
              <a:ext uri="{FF2B5EF4-FFF2-40B4-BE49-F238E27FC236}">
                <a16:creationId xmlns:a16="http://schemas.microsoft.com/office/drawing/2014/main" id="{0D926327-B1D1-9C4C-AA03-4AAB82C52F5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83306" y="2018099"/>
            <a:ext cx="334162" cy="33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TextBox 34">
            <a:extLst>
              <a:ext uri="{FF2B5EF4-FFF2-40B4-BE49-F238E27FC236}">
                <a16:creationId xmlns:a16="http://schemas.microsoft.com/office/drawing/2014/main" id="{FBCDA2FF-59D6-964D-8BE2-D8A3A3440EA7}"/>
              </a:ext>
            </a:extLst>
          </p:cNvPr>
          <p:cNvSpPr txBox="1">
            <a:spLocks noChangeArrowheads="1"/>
          </p:cNvSpPr>
          <p:nvPr/>
        </p:nvSpPr>
        <p:spPr bwMode="auto">
          <a:xfrm>
            <a:off x="7011296" y="1511474"/>
            <a:ext cx="183763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dirty="0">
                <a:solidFill>
                  <a:srgbClr val="000000"/>
                </a:solidFill>
                <a:effectLst>
                  <a:glow rad="297098">
                    <a:schemeClr val="bg1"/>
                  </a:glow>
                </a:effectLst>
                <a:latin typeface="Amazon Ember" panose="020B0603020204020204" pitchFamily="34" charset="0"/>
                <a:ea typeface="Amazon Ember" panose="020B0603020204020204" pitchFamily="34" charset="0"/>
                <a:cs typeface="Amazon Ember" panose="020B0603020204020204" pitchFamily="34" charset="0"/>
              </a:rPr>
              <a:t>User interface (UI)</a:t>
            </a:r>
          </a:p>
        </p:txBody>
      </p:sp>
      <p:grpSp>
        <p:nvGrpSpPr>
          <p:cNvPr id="240" name="Group 239">
            <a:extLst>
              <a:ext uri="{FF2B5EF4-FFF2-40B4-BE49-F238E27FC236}">
                <a16:creationId xmlns:a16="http://schemas.microsoft.com/office/drawing/2014/main" id="{E9CD490C-D28C-394F-96B6-B206C387769A}"/>
              </a:ext>
            </a:extLst>
          </p:cNvPr>
          <p:cNvGrpSpPr/>
          <p:nvPr/>
        </p:nvGrpSpPr>
        <p:grpSpPr>
          <a:xfrm>
            <a:off x="758888" y="1519770"/>
            <a:ext cx="1298512" cy="697318"/>
            <a:chOff x="7583519" y="3661631"/>
            <a:chExt cx="1298512" cy="697318"/>
          </a:xfrm>
        </p:grpSpPr>
        <p:pic>
          <p:nvPicPr>
            <p:cNvPr id="241" name="Graphic 23">
              <a:extLst>
                <a:ext uri="{FF2B5EF4-FFF2-40B4-BE49-F238E27FC236}">
                  <a16:creationId xmlns:a16="http://schemas.microsoft.com/office/drawing/2014/main" id="{645F255A-0E92-6947-9747-683AE126BD7C}"/>
                </a:ext>
              </a:extLst>
            </p:cNvPr>
            <p:cNvPicPr>
              <a:picLocks noChangeAspect="1" noChangeArrowheads="1"/>
            </p:cNvPicPr>
            <p:nvPr/>
          </p:nvPicPr>
          <p:blipFill>
            <a:blip r:embed="rId13">
              <a:extLst>
                <a:ext uri="{96DAC541-7B7A-43D3-8B79-37D633B846F1}">
                  <asvg:svgBlip xmlns:asvg="http://schemas.microsoft.com/office/drawing/2016/SVG/main" r:embed="rId14"/>
                </a:ext>
              </a:extLst>
            </a:blip>
            <a:srcRect/>
            <a:stretch/>
          </p:blipFill>
          <p:spPr bwMode="auto">
            <a:xfrm flipH="1">
              <a:off x="7997825" y="366163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 name="TextBox 34">
              <a:extLst>
                <a:ext uri="{FF2B5EF4-FFF2-40B4-BE49-F238E27FC236}">
                  <a16:creationId xmlns:a16="http://schemas.microsoft.com/office/drawing/2014/main" id="{C8D7E0B6-2B19-344B-B6CB-20F5DF08C0AA}"/>
                </a:ext>
              </a:extLst>
            </p:cNvPr>
            <p:cNvSpPr txBox="1">
              <a:spLocks noChangeArrowheads="1"/>
            </p:cNvSpPr>
            <p:nvPr/>
          </p:nvSpPr>
          <p:spPr bwMode="auto">
            <a:xfrm>
              <a:off x="7583519" y="4105033"/>
              <a:ext cx="129851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staff</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cxnSp>
        <p:nvCxnSpPr>
          <p:cNvPr id="248" name="Straight Arrow Connector 202">
            <a:extLst>
              <a:ext uri="{FF2B5EF4-FFF2-40B4-BE49-F238E27FC236}">
                <a16:creationId xmlns:a16="http://schemas.microsoft.com/office/drawing/2014/main" id="{7AC44D9D-A559-244A-A5FB-A898E8E3AA81}"/>
              </a:ext>
            </a:extLst>
          </p:cNvPr>
          <p:cNvCxnSpPr>
            <a:cxnSpLocks/>
            <a:stCxn id="241" idx="1"/>
            <a:endCxn id="216" idx="0"/>
          </p:cNvCxnSpPr>
          <p:nvPr/>
        </p:nvCxnSpPr>
        <p:spPr>
          <a:xfrm>
            <a:off x="1643094" y="1754720"/>
            <a:ext cx="1623381" cy="455083"/>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250" name="Group 249">
            <a:extLst>
              <a:ext uri="{FF2B5EF4-FFF2-40B4-BE49-F238E27FC236}">
                <a16:creationId xmlns:a16="http://schemas.microsoft.com/office/drawing/2014/main" id="{96949BC0-9193-8E41-A3EE-A9834CE22BB8}"/>
              </a:ext>
            </a:extLst>
          </p:cNvPr>
          <p:cNvGrpSpPr/>
          <p:nvPr/>
        </p:nvGrpSpPr>
        <p:grpSpPr>
          <a:xfrm>
            <a:off x="2397537" y="5421295"/>
            <a:ext cx="1246025" cy="469900"/>
            <a:chOff x="4131365" y="2480127"/>
            <a:chExt cx="1246025" cy="469900"/>
          </a:xfrm>
        </p:grpSpPr>
        <p:pic>
          <p:nvPicPr>
            <p:cNvPr id="251" name="Graphic 11">
              <a:extLst>
                <a:ext uri="{FF2B5EF4-FFF2-40B4-BE49-F238E27FC236}">
                  <a16:creationId xmlns:a16="http://schemas.microsoft.com/office/drawing/2014/main" id="{CF0AF0E9-6D5A-8B4E-89E0-C5565B117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1365" y="248012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TextBox 34">
              <a:extLst>
                <a:ext uri="{FF2B5EF4-FFF2-40B4-BE49-F238E27FC236}">
                  <a16:creationId xmlns:a16="http://schemas.microsoft.com/office/drawing/2014/main" id="{7C8F7E6D-0375-3D41-A5C5-8BD80852C799}"/>
                </a:ext>
              </a:extLst>
            </p:cNvPr>
            <p:cNvSpPr txBox="1">
              <a:spLocks noChangeArrowheads="1"/>
            </p:cNvSpPr>
            <p:nvPr/>
          </p:nvSpPr>
          <p:spPr bwMode="auto">
            <a:xfrm>
              <a:off x="4508097" y="2534529"/>
              <a:ext cx="86929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050" dirty="0">
                  <a:effectLst>
                    <a:glow>
                      <a:schemeClr val="bg1"/>
                    </a:glow>
                  </a:effectLst>
                  <a:latin typeface="Amazon Ember" panose="020B0603020204020204" pitchFamily="34" charset="0"/>
                  <a:ea typeface="Amazon Ember" panose="020B0603020204020204" pitchFamily="34" charset="0"/>
                  <a:cs typeface="Amazon Ember" panose="020B0603020204020204" pitchFamily="34" charset="0"/>
                </a:rPr>
                <a:t>trusted 3P public keys</a:t>
              </a:r>
            </a:p>
          </p:txBody>
        </p:sp>
      </p:grpSp>
      <p:grpSp>
        <p:nvGrpSpPr>
          <p:cNvPr id="253" name="Group 252">
            <a:extLst>
              <a:ext uri="{FF2B5EF4-FFF2-40B4-BE49-F238E27FC236}">
                <a16:creationId xmlns:a16="http://schemas.microsoft.com/office/drawing/2014/main" id="{439FA683-E559-7C4C-98B2-4C47E2868D84}"/>
              </a:ext>
            </a:extLst>
          </p:cNvPr>
          <p:cNvGrpSpPr/>
          <p:nvPr/>
        </p:nvGrpSpPr>
        <p:grpSpPr>
          <a:xfrm>
            <a:off x="76200" y="5264865"/>
            <a:ext cx="1073150" cy="656815"/>
            <a:chOff x="335295" y="1658174"/>
            <a:chExt cx="1073150" cy="656815"/>
          </a:xfrm>
        </p:grpSpPr>
        <p:sp>
          <p:nvSpPr>
            <p:cNvPr id="254" name="TextBox 34">
              <a:extLst>
                <a:ext uri="{FF2B5EF4-FFF2-40B4-BE49-F238E27FC236}">
                  <a16:creationId xmlns:a16="http://schemas.microsoft.com/office/drawing/2014/main" id="{497A7506-6815-E94A-A92B-29E2B136D228}"/>
                </a:ext>
              </a:extLst>
            </p:cNvPr>
            <p:cNvSpPr txBox="1">
              <a:spLocks noChangeArrowheads="1"/>
            </p:cNvSpPr>
            <p:nvPr/>
          </p:nvSpPr>
          <p:spPr bwMode="auto">
            <a:xfrm>
              <a:off x="335295" y="2061073"/>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 Graph</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55" name="Graphic 23">
              <a:extLst>
                <a:ext uri="{FF2B5EF4-FFF2-40B4-BE49-F238E27FC236}">
                  <a16:creationId xmlns:a16="http://schemas.microsoft.com/office/drawing/2014/main" id="{4CB553A3-A815-D94C-8AE0-8504227BB88A}"/>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636070" y="1658174"/>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6" name="Graphic 44">
            <a:extLst>
              <a:ext uri="{FF2B5EF4-FFF2-40B4-BE49-F238E27FC236}">
                <a16:creationId xmlns:a16="http://schemas.microsoft.com/office/drawing/2014/main" id="{63E6A9A6-3280-324B-9F78-9C5C615BACC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1255" y="492706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 name="TextBox 9">
            <a:extLst>
              <a:ext uri="{FF2B5EF4-FFF2-40B4-BE49-F238E27FC236}">
                <a16:creationId xmlns:a16="http://schemas.microsoft.com/office/drawing/2014/main" id="{E49DC2E2-31AA-FF4E-8872-59E8D034E808}"/>
              </a:ext>
            </a:extLst>
          </p:cNvPr>
          <p:cNvSpPr txBox="1">
            <a:spLocks noChangeArrowheads="1"/>
          </p:cNvSpPr>
          <p:nvPr/>
        </p:nvSpPr>
        <p:spPr bwMode="auto">
          <a:xfrm>
            <a:off x="2772017" y="4952460"/>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a:schemeClr val="bg1"/>
                  </a:glow>
                </a:effectLst>
              </a:rPr>
              <a:t>trust stamp</a:t>
            </a:r>
            <a:br>
              <a:rPr lang="en-US" altLang="en-US" i="0" dirty="0">
                <a:effectLst>
                  <a:glow>
                    <a:schemeClr val="bg1"/>
                  </a:glow>
                </a:effectLst>
              </a:rPr>
            </a:br>
            <a:r>
              <a:rPr lang="en-US" altLang="en-US" i="0" dirty="0">
                <a:effectLst>
                  <a:glow>
                    <a:schemeClr val="bg1"/>
                  </a:glow>
                </a:effectLst>
              </a:rPr>
              <a:t>algorithm</a:t>
            </a:r>
          </a:p>
        </p:txBody>
      </p:sp>
      <p:cxnSp>
        <p:nvCxnSpPr>
          <p:cNvPr id="259" name="Straight Arrow Connector 164">
            <a:extLst>
              <a:ext uri="{FF2B5EF4-FFF2-40B4-BE49-F238E27FC236}">
                <a16:creationId xmlns:a16="http://schemas.microsoft.com/office/drawing/2014/main" id="{9AF5534D-0678-8242-9C0E-D23AF831AB8E}"/>
              </a:ext>
            </a:extLst>
          </p:cNvPr>
          <p:cNvCxnSpPr>
            <a:cxnSpLocks/>
            <a:stCxn id="254" idx="2"/>
            <a:endCxn id="260" idx="2"/>
          </p:cNvCxnSpPr>
          <p:nvPr/>
        </p:nvCxnSpPr>
        <p:spPr>
          <a:xfrm rot="5400000" flipH="1" flipV="1">
            <a:off x="1302951" y="5191837"/>
            <a:ext cx="39666" cy="1420019"/>
          </a:xfrm>
          <a:prstGeom prst="bentConnector3">
            <a:avLst>
              <a:gd name="adj1" fmla="val -576312"/>
            </a:avLst>
          </a:prstGeom>
          <a:ln w="12700">
            <a:solidFill>
              <a:srgbClr val="545B64"/>
            </a:solidFill>
            <a:headEnd type="arrow" w="med" len="med"/>
            <a:tailEnd type="none" w="med" len="sm"/>
          </a:ln>
        </p:spPr>
        <p:style>
          <a:lnRef idx="1">
            <a:schemeClr val="accent1"/>
          </a:lnRef>
          <a:fillRef idx="0">
            <a:schemeClr val="accent1"/>
          </a:fillRef>
          <a:effectRef idx="0">
            <a:schemeClr val="accent1"/>
          </a:effectRef>
          <a:fontRef idx="minor">
            <a:schemeClr val="tx1"/>
          </a:fontRef>
        </p:style>
      </p:cxnSp>
      <p:pic>
        <p:nvPicPr>
          <p:cNvPr id="260" name="Graphic 7">
            <a:extLst>
              <a:ext uri="{FF2B5EF4-FFF2-40B4-BE49-F238E27FC236}">
                <a16:creationId xmlns:a16="http://schemas.microsoft.com/office/drawing/2014/main" id="{4D70CEA9-17CD-F145-8555-8F6BBA9A215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5150" y="5486726"/>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 name="TextBox 9">
            <a:extLst>
              <a:ext uri="{FF2B5EF4-FFF2-40B4-BE49-F238E27FC236}">
                <a16:creationId xmlns:a16="http://schemas.microsoft.com/office/drawing/2014/main" id="{EA54D2DA-CBBC-9442-A65E-AFB9151BF72C}"/>
              </a:ext>
            </a:extLst>
          </p:cNvPr>
          <p:cNvSpPr txBox="1">
            <a:spLocks noChangeArrowheads="1"/>
          </p:cNvSpPr>
          <p:nvPr/>
        </p:nvSpPr>
        <p:spPr bwMode="auto">
          <a:xfrm>
            <a:off x="1073150" y="5466516"/>
            <a:ext cx="7602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r"/>
            <a:r>
              <a:rPr lang="en-US" altLang="en-US" i="0" dirty="0">
                <a:effectLst>
                  <a:glow>
                    <a:schemeClr val="bg1"/>
                  </a:glow>
                </a:effectLst>
              </a:rPr>
              <a:t>user interface</a:t>
            </a:r>
          </a:p>
        </p:txBody>
      </p:sp>
      <p:sp>
        <p:nvSpPr>
          <p:cNvPr id="262" name="Rectangle 261">
            <a:extLst>
              <a:ext uri="{FF2B5EF4-FFF2-40B4-BE49-F238E27FC236}">
                <a16:creationId xmlns:a16="http://schemas.microsoft.com/office/drawing/2014/main" id="{860C7592-33BE-DA40-BEEE-F64B260D5EC2}"/>
              </a:ext>
            </a:extLst>
          </p:cNvPr>
          <p:cNvSpPr/>
          <p:nvPr/>
        </p:nvSpPr>
        <p:spPr>
          <a:xfrm>
            <a:off x="4114800" y="4750874"/>
            <a:ext cx="3910622" cy="1302336"/>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72000" rIns="36000" bIns="36000"/>
          <a:lstStyle/>
          <a:p>
            <a:r>
              <a:rPr lang="en-US" sz="105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3P verifier in physical check-point</a:t>
            </a:r>
          </a:p>
          <a:p>
            <a:endParaRPr lang="en-US" sz="105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263" name="Group 262">
            <a:extLst>
              <a:ext uri="{FF2B5EF4-FFF2-40B4-BE49-F238E27FC236}">
                <a16:creationId xmlns:a16="http://schemas.microsoft.com/office/drawing/2014/main" id="{B62F1BF5-5A50-8C42-AF4F-8BD5876CAA61}"/>
              </a:ext>
            </a:extLst>
          </p:cNvPr>
          <p:cNvGrpSpPr/>
          <p:nvPr/>
        </p:nvGrpSpPr>
        <p:grpSpPr>
          <a:xfrm>
            <a:off x="6660887" y="5421295"/>
            <a:ext cx="1278605" cy="469900"/>
            <a:chOff x="4131365" y="2480127"/>
            <a:chExt cx="1278605" cy="469900"/>
          </a:xfrm>
        </p:grpSpPr>
        <p:pic>
          <p:nvPicPr>
            <p:cNvPr id="264" name="Graphic 11">
              <a:extLst>
                <a:ext uri="{FF2B5EF4-FFF2-40B4-BE49-F238E27FC236}">
                  <a16:creationId xmlns:a16="http://schemas.microsoft.com/office/drawing/2014/main" id="{3027A96C-8FB2-DE40-B927-FFF415910D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1365" y="248012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5" name="TextBox 34">
              <a:extLst>
                <a:ext uri="{FF2B5EF4-FFF2-40B4-BE49-F238E27FC236}">
                  <a16:creationId xmlns:a16="http://schemas.microsoft.com/office/drawing/2014/main" id="{0BF06FFF-29C2-9F45-87DC-7F59659AD197}"/>
                </a:ext>
              </a:extLst>
            </p:cNvPr>
            <p:cNvSpPr txBox="1">
              <a:spLocks noChangeArrowheads="1"/>
            </p:cNvSpPr>
            <p:nvPr/>
          </p:nvSpPr>
          <p:spPr bwMode="auto">
            <a:xfrm>
              <a:off x="4520623" y="2534529"/>
              <a:ext cx="88934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trusted 3P public keys</a:t>
              </a:r>
            </a:p>
          </p:txBody>
        </p:sp>
      </p:grpSp>
      <p:grpSp>
        <p:nvGrpSpPr>
          <p:cNvPr id="266" name="Group 265">
            <a:extLst>
              <a:ext uri="{FF2B5EF4-FFF2-40B4-BE49-F238E27FC236}">
                <a16:creationId xmlns:a16="http://schemas.microsoft.com/office/drawing/2014/main" id="{848DD9DA-19F1-B947-A9B2-E42297129434}"/>
              </a:ext>
            </a:extLst>
          </p:cNvPr>
          <p:cNvGrpSpPr/>
          <p:nvPr/>
        </p:nvGrpSpPr>
        <p:grpSpPr>
          <a:xfrm>
            <a:off x="7950288" y="5264865"/>
            <a:ext cx="1073150" cy="656815"/>
            <a:chOff x="335295" y="1658174"/>
            <a:chExt cx="1073150" cy="656815"/>
          </a:xfrm>
        </p:grpSpPr>
        <p:sp>
          <p:nvSpPr>
            <p:cNvPr id="267" name="TextBox 34">
              <a:extLst>
                <a:ext uri="{FF2B5EF4-FFF2-40B4-BE49-F238E27FC236}">
                  <a16:creationId xmlns:a16="http://schemas.microsoft.com/office/drawing/2014/main" id="{FE522FD2-63FD-9344-A034-0C9E97E38B4F}"/>
                </a:ext>
              </a:extLst>
            </p:cNvPr>
            <p:cNvSpPr txBox="1">
              <a:spLocks noChangeArrowheads="1"/>
            </p:cNvSpPr>
            <p:nvPr/>
          </p:nvSpPr>
          <p:spPr bwMode="auto">
            <a:xfrm>
              <a:off x="335295" y="2061073"/>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 Graph</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68" name="Graphic 23">
              <a:extLst>
                <a:ext uri="{FF2B5EF4-FFF2-40B4-BE49-F238E27FC236}">
                  <a16:creationId xmlns:a16="http://schemas.microsoft.com/office/drawing/2014/main" id="{6E396F40-158A-0A49-81BA-220C5893FF23}"/>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636070" y="1658174"/>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9" name="Graphic 44">
            <a:extLst>
              <a:ext uri="{FF2B5EF4-FFF2-40B4-BE49-F238E27FC236}">
                <a16:creationId xmlns:a16="http://schemas.microsoft.com/office/drawing/2014/main" id="{60FB0F77-9432-5248-85CE-A99AA0C5B21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54605" y="4927061"/>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0" name="TextBox 9">
            <a:extLst>
              <a:ext uri="{FF2B5EF4-FFF2-40B4-BE49-F238E27FC236}">
                <a16:creationId xmlns:a16="http://schemas.microsoft.com/office/drawing/2014/main" id="{792AA49D-6BAE-6B4D-8873-E21F72FC4816}"/>
              </a:ext>
            </a:extLst>
          </p:cNvPr>
          <p:cNvSpPr txBox="1">
            <a:spLocks noChangeArrowheads="1"/>
          </p:cNvSpPr>
          <p:nvPr/>
        </p:nvSpPr>
        <p:spPr bwMode="auto">
          <a:xfrm>
            <a:off x="7084026" y="4952460"/>
            <a:ext cx="106227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a:schemeClr val="bg1"/>
                  </a:glow>
                </a:effectLst>
              </a:rPr>
              <a:t>trust stamp</a:t>
            </a:r>
            <a:br>
              <a:rPr lang="en-US" altLang="en-US" i="0" dirty="0">
                <a:effectLst>
                  <a:glow>
                    <a:schemeClr val="bg1"/>
                  </a:glow>
                </a:effectLst>
              </a:rPr>
            </a:br>
            <a:r>
              <a:rPr lang="en-US" altLang="en-US" i="0" dirty="0">
                <a:effectLst>
                  <a:glow>
                    <a:schemeClr val="bg1"/>
                  </a:glow>
                </a:effectLst>
              </a:rPr>
              <a:t>algorithm</a:t>
            </a:r>
          </a:p>
        </p:txBody>
      </p:sp>
      <p:cxnSp>
        <p:nvCxnSpPr>
          <p:cNvPr id="271" name="Straight Arrow Connector 164">
            <a:extLst>
              <a:ext uri="{FF2B5EF4-FFF2-40B4-BE49-F238E27FC236}">
                <a16:creationId xmlns:a16="http://schemas.microsoft.com/office/drawing/2014/main" id="{5F5E35C6-FE68-5846-A6F0-945FD254A020}"/>
              </a:ext>
            </a:extLst>
          </p:cNvPr>
          <p:cNvCxnSpPr>
            <a:cxnSpLocks/>
            <a:stCxn id="267" idx="2"/>
            <a:endCxn id="278" idx="2"/>
          </p:cNvCxnSpPr>
          <p:nvPr/>
        </p:nvCxnSpPr>
        <p:spPr>
          <a:xfrm rot="5400000">
            <a:off x="7300511" y="4785464"/>
            <a:ext cx="50136" cy="2322569"/>
          </a:xfrm>
          <a:prstGeom prst="bentConnector3">
            <a:avLst>
              <a:gd name="adj1" fmla="val 55596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21851870-6A72-C745-8C0C-5FBC3B5F13B6}"/>
              </a:ext>
            </a:extLst>
          </p:cNvPr>
          <p:cNvGrpSpPr/>
          <p:nvPr/>
        </p:nvGrpSpPr>
        <p:grpSpPr>
          <a:xfrm>
            <a:off x="5130939" y="5320513"/>
            <a:ext cx="770306" cy="756437"/>
            <a:chOff x="4751203" y="5307987"/>
            <a:chExt cx="770306" cy="756437"/>
          </a:xfrm>
        </p:grpSpPr>
        <p:pic>
          <p:nvPicPr>
            <p:cNvPr id="272" name="Graphic 7">
              <a:extLst>
                <a:ext uri="{FF2B5EF4-FFF2-40B4-BE49-F238E27FC236}">
                  <a16:creationId xmlns:a16="http://schemas.microsoft.com/office/drawing/2014/main" id="{F7277B27-682D-1F45-A788-15CA54E4501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38712" y="5307987"/>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TextBox 9">
              <a:extLst>
                <a:ext uri="{FF2B5EF4-FFF2-40B4-BE49-F238E27FC236}">
                  <a16:creationId xmlns:a16="http://schemas.microsoft.com/office/drawing/2014/main" id="{80CEB067-3806-3744-AA05-33D7525945EC}"/>
                </a:ext>
              </a:extLst>
            </p:cNvPr>
            <p:cNvSpPr txBox="1">
              <a:spLocks noChangeArrowheads="1"/>
            </p:cNvSpPr>
            <p:nvPr/>
          </p:nvSpPr>
          <p:spPr bwMode="auto">
            <a:xfrm>
              <a:off x="4751203" y="5648926"/>
              <a:ext cx="77030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a:schemeClr val="bg1"/>
                    </a:glow>
                  </a:effectLst>
                </a:rPr>
                <a:t>user interface</a:t>
              </a:r>
            </a:p>
          </p:txBody>
        </p:sp>
      </p:grpSp>
      <p:cxnSp>
        <p:nvCxnSpPr>
          <p:cNvPr id="274" name="Straight Arrow Connector 273">
            <a:extLst>
              <a:ext uri="{FF2B5EF4-FFF2-40B4-BE49-F238E27FC236}">
                <a16:creationId xmlns:a16="http://schemas.microsoft.com/office/drawing/2014/main" id="{DAA78FBB-1785-C144-89B1-6C23610FEF71}"/>
              </a:ext>
            </a:extLst>
          </p:cNvPr>
          <p:cNvCxnSpPr>
            <a:cxnSpLocks/>
            <a:stCxn id="260" idx="3"/>
          </p:cNvCxnSpPr>
          <p:nvPr/>
        </p:nvCxnSpPr>
        <p:spPr>
          <a:xfrm>
            <a:off x="2230438" y="5684370"/>
            <a:ext cx="200274" cy="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75" name="Straight Arrow Connector 164">
            <a:extLst>
              <a:ext uri="{FF2B5EF4-FFF2-40B4-BE49-F238E27FC236}">
                <a16:creationId xmlns:a16="http://schemas.microsoft.com/office/drawing/2014/main" id="{4B419A27-6620-4249-A35C-6C2A559CDA77}"/>
              </a:ext>
            </a:extLst>
          </p:cNvPr>
          <p:cNvCxnSpPr>
            <a:cxnSpLocks/>
            <a:stCxn id="260" idx="0"/>
            <a:endCxn id="256" idx="1"/>
          </p:cNvCxnSpPr>
          <p:nvPr/>
        </p:nvCxnSpPr>
        <p:spPr>
          <a:xfrm rot="5400000" flipH="1" flipV="1">
            <a:off x="2049667" y="5145139"/>
            <a:ext cx="324715" cy="358461"/>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grpSp>
        <p:nvGrpSpPr>
          <p:cNvPr id="276" name="Group 275">
            <a:extLst>
              <a:ext uri="{FF2B5EF4-FFF2-40B4-BE49-F238E27FC236}">
                <a16:creationId xmlns:a16="http://schemas.microsoft.com/office/drawing/2014/main" id="{4A6DA85E-BFD7-3A4C-AE41-5EB23D0FAD48}"/>
              </a:ext>
            </a:extLst>
          </p:cNvPr>
          <p:cNvGrpSpPr/>
          <p:nvPr/>
        </p:nvGrpSpPr>
        <p:grpSpPr>
          <a:xfrm>
            <a:off x="5627719" y="5292693"/>
            <a:ext cx="1073150" cy="679123"/>
            <a:chOff x="2374493" y="2443090"/>
            <a:chExt cx="1073150" cy="679123"/>
          </a:xfrm>
        </p:grpSpPr>
        <p:pic>
          <p:nvPicPr>
            <p:cNvPr id="277" name="Graphic 6">
              <a:extLst>
                <a:ext uri="{FF2B5EF4-FFF2-40B4-BE49-F238E27FC236}">
                  <a16:creationId xmlns:a16="http://schemas.microsoft.com/office/drawing/2014/main" id="{AA0FE72F-4823-3348-BD72-B986DE829DA3}"/>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2682466" y="244309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8" name="TextBox 34">
              <a:extLst>
                <a:ext uri="{FF2B5EF4-FFF2-40B4-BE49-F238E27FC236}">
                  <a16:creationId xmlns:a16="http://schemas.microsoft.com/office/drawing/2014/main" id="{CC1AB017-89FF-E34A-A88D-79EDCE40AF60}"/>
                </a:ext>
              </a:extLst>
            </p:cNvPr>
            <p:cNvSpPr txBox="1">
              <a:spLocks noChangeArrowheads="1"/>
            </p:cNvSpPr>
            <p:nvPr/>
          </p:nvSpPr>
          <p:spPr bwMode="auto">
            <a:xfrm>
              <a:off x="2374493" y="2868297"/>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API</a:t>
              </a:r>
            </a:p>
          </p:txBody>
        </p:sp>
      </p:grpSp>
      <p:cxnSp>
        <p:nvCxnSpPr>
          <p:cNvPr id="279" name="Straight Arrow Connector 164">
            <a:extLst>
              <a:ext uri="{FF2B5EF4-FFF2-40B4-BE49-F238E27FC236}">
                <a16:creationId xmlns:a16="http://schemas.microsoft.com/office/drawing/2014/main" id="{376269BB-481C-9042-BFA0-A5BB03B82F9F}"/>
              </a:ext>
            </a:extLst>
          </p:cNvPr>
          <p:cNvCxnSpPr>
            <a:cxnSpLocks/>
            <a:stCxn id="277" idx="0"/>
            <a:endCxn id="269" idx="1"/>
          </p:cNvCxnSpPr>
          <p:nvPr/>
        </p:nvCxnSpPr>
        <p:spPr>
          <a:xfrm rot="5400000" flipH="1" flipV="1">
            <a:off x="6344107" y="4982196"/>
            <a:ext cx="130682" cy="490313"/>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D4A7F095-F3A0-6B4A-83CB-0E0CA0A3BFE3}"/>
              </a:ext>
            </a:extLst>
          </p:cNvPr>
          <p:cNvCxnSpPr>
            <a:cxnSpLocks/>
            <a:stCxn id="277" idx="3"/>
          </p:cNvCxnSpPr>
          <p:nvPr/>
        </p:nvCxnSpPr>
        <p:spPr>
          <a:xfrm>
            <a:off x="6392892" y="5521293"/>
            <a:ext cx="269563" cy="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283" name="Graphic 26">
            <a:extLst>
              <a:ext uri="{FF2B5EF4-FFF2-40B4-BE49-F238E27FC236}">
                <a16:creationId xmlns:a16="http://schemas.microsoft.com/office/drawing/2014/main" id="{79C46D98-168C-6341-9B25-891597BDD8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9541" y="551319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 name="Graphic 48">
            <a:extLst>
              <a:ext uri="{FF2B5EF4-FFF2-40B4-BE49-F238E27FC236}">
                <a16:creationId xmlns:a16="http://schemas.microsoft.com/office/drawing/2014/main" id="{15E3D430-03B1-E546-95A4-90573CAD225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9541" y="503459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8" name="Straight Arrow Connector 164">
            <a:extLst>
              <a:ext uri="{FF2B5EF4-FFF2-40B4-BE49-F238E27FC236}">
                <a16:creationId xmlns:a16="http://schemas.microsoft.com/office/drawing/2014/main" id="{209DC10B-795C-FD4B-9804-CA0359EF286D}"/>
              </a:ext>
            </a:extLst>
          </p:cNvPr>
          <p:cNvCxnSpPr>
            <a:cxnSpLocks/>
            <a:stCxn id="272" idx="1"/>
            <a:endCxn id="286" idx="3"/>
          </p:cNvCxnSpPr>
          <p:nvPr/>
        </p:nvCxnSpPr>
        <p:spPr>
          <a:xfrm rot="10800000">
            <a:off x="5056742" y="5263191"/>
            <a:ext cx="261707" cy="254966"/>
          </a:xfrm>
          <a:prstGeom prst="bentConnector3">
            <a:avLst>
              <a:gd name="adj1" fmla="val 5000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90" name="Straight Arrow Connector 164">
            <a:extLst>
              <a:ext uri="{FF2B5EF4-FFF2-40B4-BE49-F238E27FC236}">
                <a16:creationId xmlns:a16="http://schemas.microsoft.com/office/drawing/2014/main" id="{FA54743A-DDE4-E949-B023-086429DF9FFF}"/>
              </a:ext>
            </a:extLst>
          </p:cNvPr>
          <p:cNvCxnSpPr>
            <a:cxnSpLocks/>
            <a:stCxn id="272" idx="1"/>
            <a:endCxn id="283" idx="3"/>
          </p:cNvCxnSpPr>
          <p:nvPr/>
        </p:nvCxnSpPr>
        <p:spPr>
          <a:xfrm rot="10800000" flipV="1">
            <a:off x="5056742" y="5518157"/>
            <a:ext cx="261707" cy="223634"/>
          </a:xfrm>
          <a:prstGeom prst="bentConnector3">
            <a:avLst>
              <a:gd name="adj1" fmla="val 5000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C0209055-E316-714F-A996-4713F004259B}"/>
              </a:ext>
            </a:extLst>
          </p:cNvPr>
          <p:cNvCxnSpPr>
            <a:cxnSpLocks/>
            <a:stCxn id="272" idx="3"/>
            <a:endCxn id="277" idx="1"/>
          </p:cNvCxnSpPr>
          <p:nvPr/>
        </p:nvCxnSpPr>
        <p:spPr>
          <a:xfrm>
            <a:off x="5713736" y="5518157"/>
            <a:ext cx="221956" cy="3136"/>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93" name="Straight Arrow Connector 202">
            <a:extLst>
              <a:ext uri="{FF2B5EF4-FFF2-40B4-BE49-F238E27FC236}">
                <a16:creationId xmlns:a16="http://schemas.microsoft.com/office/drawing/2014/main" id="{06778337-D41A-234D-B364-3E6DBB99C2B8}"/>
              </a:ext>
            </a:extLst>
          </p:cNvPr>
          <p:cNvCxnSpPr>
            <a:cxnSpLocks/>
            <a:stCxn id="241" idx="3"/>
            <a:endCxn id="154" idx="1"/>
          </p:cNvCxnSpPr>
          <p:nvPr/>
        </p:nvCxnSpPr>
        <p:spPr>
          <a:xfrm rot="10800000" flipV="1">
            <a:off x="538192" y="1754720"/>
            <a:ext cx="635002" cy="1893638"/>
          </a:xfrm>
          <a:prstGeom prst="bentConnector3">
            <a:avLst>
              <a:gd name="adj1" fmla="val 13600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01" name="NumBox 1">
            <a:extLst>
              <a:ext uri="{FF2B5EF4-FFF2-40B4-BE49-F238E27FC236}">
                <a16:creationId xmlns:a16="http://schemas.microsoft.com/office/drawing/2014/main" id="{F544EED8-35F0-6C48-B607-7124986EB6CE}"/>
              </a:ext>
            </a:extLst>
          </p:cNvPr>
          <p:cNvSpPr/>
          <p:nvPr/>
        </p:nvSpPr>
        <p:spPr>
          <a:xfrm>
            <a:off x="575229" y="162546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02" name="NumBox 1">
            <a:extLst>
              <a:ext uri="{FF2B5EF4-FFF2-40B4-BE49-F238E27FC236}">
                <a16:creationId xmlns:a16="http://schemas.microsoft.com/office/drawing/2014/main" id="{BF8D70BA-CAFC-2E49-ADE4-F7C5F9526550}"/>
              </a:ext>
            </a:extLst>
          </p:cNvPr>
          <p:cNvSpPr/>
          <p:nvPr/>
        </p:nvSpPr>
        <p:spPr>
          <a:xfrm>
            <a:off x="4331049" y="227685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103" name="NumBox 1">
            <a:extLst>
              <a:ext uri="{FF2B5EF4-FFF2-40B4-BE49-F238E27FC236}">
                <a16:creationId xmlns:a16="http://schemas.microsoft.com/office/drawing/2014/main" id="{B4F94575-335A-054E-90CD-158B55CDBC30}"/>
              </a:ext>
            </a:extLst>
          </p:cNvPr>
          <p:cNvSpPr/>
          <p:nvPr/>
        </p:nvSpPr>
        <p:spPr>
          <a:xfrm>
            <a:off x="3603810" y="390649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04" name="NumBox 1">
            <a:extLst>
              <a:ext uri="{FF2B5EF4-FFF2-40B4-BE49-F238E27FC236}">
                <a16:creationId xmlns:a16="http://schemas.microsoft.com/office/drawing/2014/main" id="{A045E47C-4E53-3049-9A2F-489BF461DB53}"/>
              </a:ext>
            </a:extLst>
          </p:cNvPr>
          <p:cNvSpPr/>
          <p:nvPr/>
        </p:nvSpPr>
        <p:spPr>
          <a:xfrm>
            <a:off x="8474775" y="161685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105" name="NumBox 1">
            <a:extLst>
              <a:ext uri="{FF2B5EF4-FFF2-40B4-BE49-F238E27FC236}">
                <a16:creationId xmlns:a16="http://schemas.microsoft.com/office/drawing/2014/main" id="{8AAEFD97-B52E-824C-A70A-6A586B5DAB32}"/>
              </a:ext>
            </a:extLst>
          </p:cNvPr>
          <p:cNvSpPr/>
          <p:nvPr/>
        </p:nvSpPr>
        <p:spPr>
          <a:xfrm>
            <a:off x="8092931" y="255045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5766</TotalTime>
  <Words>559</Words>
  <Application>Microsoft Macintosh PowerPoint</Application>
  <PresentationFormat>Widescreen</PresentationFormat>
  <Paragraphs>77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Amazon Ember</vt:lpstr>
      <vt:lpstr>APPLE CHANCERY</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133</cp:revision>
  <dcterms:created xsi:type="dcterms:W3CDTF">2018-02-11T04:20:17Z</dcterms:created>
  <dcterms:modified xsi:type="dcterms:W3CDTF">2023-03-01T00:08:36Z</dcterms:modified>
  <cp:category/>
</cp:coreProperties>
</file>