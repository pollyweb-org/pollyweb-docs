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5952" userDrawn="1">
          <p15:clr>
            <a:srgbClr val="A4A3A4"/>
          </p15:clr>
        </p15:guide>
        <p15:guide id="3" pos="5664" userDrawn="1">
          <p15:clr>
            <a:srgbClr val="A4A3A4"/>
          </p15:clr>
        </p15:guide>
        <p15:guide id="4" pos="556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nelle Nolan" initials="JN" lastIdx="7" clrIdx="0">
    <p:extLst>
      <p:ext uri="{19B8F6BF-5375-455C-9EA6-DF929625EA0E}">
        <p15:presenceInfo xmlns:p15="http://schemas.microsoft.com/office/powerpoint/2012/main" userId="Janelle Nola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EEF5"/>
    <a:srgbClr val="FF9900"/>
    <a:srgbClr val="CD2264"/>
    <a:srgbClr val="232E3C"/>
    <a:srgbClr val="ECEDF0"/>
    <a:srgbClr val="5B9CD5"/>
    <a:srgbClr val="545B64"/>
    <a:srgbClr val="EAEDED"/>
    <a:srgbClr val="D5DBDB"/>
    <a:srgbClr val="232F3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831" autoAdjust="0"/>
    <p:restoredTop sz="96612"/>
  </p:normalViewPr>
  <p:slideViewPr>
    <p:cSldViewPr>
      <p:cViewPr varScale="1">
        <p:scale>
          <a:sx n="122" d="100"/>
          <a:sy n="122" d="100"/>
        </p:scale>
        <p:origin x="1272" y="200"/>
      </p:cViewPr>
      <p:guideLst>
        <p:guide orient="horz" pos="2160"/>
        <p:guide pos="5952"/>
        <p:guide pos="5664"/>
        <p:guide pos="55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63D1AE-04B2-F147-8122-2A32BD7879DD}" type="datetimeFigureOut">
              <a:rPr lang="en-US" smtClean="0"/>
              <a:t>2/28/23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BC6CBF-D31D-B841-861D-EC168426F20E}" type="slidenum">
              <a:rPr lang="en-US" smtClean="0"/>
              <a:t>‹#›</a:t>
            </a:fld>
            <a:endParaRPr lang="en-US"/>
          </a:p>
        </p:txBody>
      </p:sp>
    </p:spTree>
    <p:extLst>
      <p:ext uri="{BB962C8B-B14F-4D97-AF65-F5344CB8AC3E}">
        <p14:creationId xmlns:p14="http://schemas.microsoft.com/office/powerpoint/2010/main" val="26231545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2BC6CBF-D31D-B841-861D-EC168426F20E}" type="slidenum">
              <a:rPr lang="en-US" smtClean="0"/>
              <a:t>1</a:t>
            </a:fld>
            <a:endParaRPr lang="en-US"/>
          </a:p>
        </p:txBody>
      </p:sp>
    </p:spTree>
    <p:extLst>
      <p:ext uri="{BB962C8B-B14F-4D97-AF65-F5344CB8AC3E}">
        <p14:creationId xmlns:p14="http://schemas.microsoft.com/office/powerpoint/2010/main" val="8202465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4168541"/>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65126"/>
            <a:ext cx="10820400" cy="1216270"/>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457200" y="1825625"/>
            <a:ext cx="10820400" cy="4117975"/>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5285551"/>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svg"/><Relationship Id="rId12" Type="http://schemas.openxmlformats.org/officeDocument/2006/relationships/image" Target="../media/image10.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svg"/><Relationship Id="rId9" Type="http://schemas.openxmlformats.org/officeDocument/2006/relationships/image" Target="../media/image7.svg"/><Relationship Id="rId14" Type="http://schemas.openxmlformats.org/officeDocument/2006/relationships/image" Target="../media/image1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Box 34">
            <a:extLst>
              <a:ext uri="{FF2B5EF4-FFF2-40B4-BE49-F238E27FC236}">
                <a16:creationId xmlns:a16="http://schemas.microsoft.com/office/drawing/2014/main" id="{42AD0BED-6846-5345-AFE1-BA096CADA65D}"/>
              </a:ext>
            </a:extLst>
          </p:cNvPr>
          <p:cNvSpPr txBox="1">
            <a:spLocks noChangeArrowheads="1"/>
          </p:cNvSpPr>
          <p:nvPr/>
        </p:nvSpPr>
        <p:spPr bwMode="auto">
          <a:xfrm>
            <a:off x="1905000" y="4396614"/>
            <a:ext cx="259603"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i="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t>
            </a:r>
          </a:p>
        </p:txBody>
      </p:sp>
      <p:sp>
        <p:nvSpPr>
          <p:cNvPr id="137" name="TextBox 34">
            <a:extLst>
              <a:ext uri="{FF2B5EF4-FFF2-40B4-BE49-F238E27FC236}">
                <a16:creationId xmlns:a16="http://schemas.microsoft.com/office/drawing/2014/main" id="{4052137C-12E2-7144-8BC7-6B08C7154CD7}"/>
              </a:ext>
            </a:extLst>
          </p:cNvPr>
          <p:cNvSpPr txBox="1">
            <a:spLocks noChangeArrowheads="1"/>
          </p:cNvSpPr>
          <p:nvPr/>
        </p:nvSpPr>
        <p:spPr bwMode="auto">
          <a:xfrm>
            <a:off x="1906118" y="3733800"/>
            <a:ext cx="259603"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i="1"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a:t>
            </a:r>
          </a:p>
        </p:txBody>
      </p:sp>
      <p:sp>
        <p:nvSpPr>
          <p:cNvPr id="86" name="Rectangle 85">
            <a:extLst>
              <a:ext uri="{FF2B5EF4-FFF2-40B4-BE49-F238E27FC236}">
                <a16:creationId xmlns:a16="http://schemas.microsoft.com/office/drawing/2014/main" id="{79AC23E5-7268-7141-B041-92BDEFD3A8EE}"/>
              </a:ext>
            </a:extLst>
          </p:cNvPr>
          <p:cNvSpPr/>
          <p:nvPr/>
        </p:nvSpPr>
        <p:spPr>
          <a:xfrm>
            <a:off x="7384530" y="2100889"/>
            <a:ext cx="1472884" cy="717000"/>
          </a:xfrm>
          <a:prstGeom prst="rect">
            <a:avLst/>
          </a:prstGeom>
          <a:solidFill>
            <a:schemeClr val="accent6">
              <a:alpha val="9804"/>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vert="horz" lIns="108000" tIns="72000" anchor="t"/>
          <a:lstStyle/>
          <a:p>
            <a:pPr algn="r"/>
            <a:br>
              <a:rPr lang="en-US" sz="1050"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br>
            <a:endParaRPr lang="en-US" sz="1050"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7" name="Title text box">
            <a:extLst>
              <a:ext uri="{FF2B5EF4-FFF2-40B4-BE49-F238E27FC236}">
                <a16:creationId xmlns:a16="http://schemas.microsoft.com/office/drawing/2014/main" id="{38DEF82B-A559-1247-8E2D-F3C452A29826}"/>
              </a:ext>
            </a:extLst>
          </p:cNvPr>
          <p:cNvSpPr txBox="1"/>
          <p:nvPr/>
        </p:nvSpPr>
        <p:spPr>
          <a:xfrm>
            <a:off x="207580" y="158447"/>
            <a:ext cx="8641350" cy="1261884"/>
          </a:xfrm>
          <a:prstGeom prst="rect">
            <a:avLst/>
          </a:prstGeom>
          <a:noFill/>
        </p:spPr>
        <p:txBody>
          <a:bodyPr wrap="square" rtlCol="0">
            <a:spAutoFit/>
          </a:bodyPr>
          <a:lstStyle/>
          <a:p>
            <a:r>
              <a:rPr lang="en-US" sz="2800" b="1" dirty="0">
                <a:latin typeface="Amazon Ember" panose="020B0603020204020204" pitchFamily="34" charset="0"/>
                <a:ea typeface="Amazon Ember" panose="020B0603020204020204" pitchFamily="34" charset="0"/>
                <a:cs typeface="Amazon Ember" panose="020B0603020204020204" pitchFamily="34" charset="0"/>
              </a:rPr>
              <a:t>User approval to share</a:t>
            </a:r>
          </a:p>
          <a:p>
            <a:r>
              <a:rPr lang="en-US" sz="1200" dirty="0">
                <a:solidFill>
                  <a:schemeClr val="bg1">
                    <a:lumMod val="10000"/>
                  </a:schemeClr>
                </a:solidFill>
                <a:latin typeface="Amazon Ember" panose="020B0603020204020204" pitchFamily="34" charset="0"/>
                <a:ea typeface="Amazon Ember" panose="020B0603020204020204" pitchFamily="34" charset="0"/>
                <a:cs typeface="Amazon Ember" panose="020B0603020204020204" pitchFamily="34" charset="0"/>
              </a:rPr>
              <a:t>Brokers protect user’s privacy by requesting the user’s authorization before disclosing any of the user’s vaults and verifiable credentials. Given that wallets may be implemented with many different technology stacks from a push perspective, Brokers rely on simple webhooks to wallet’s APIs that in turn transform the requests to the wallet’s supported push technology. 3Ps requests contain suggested vaults to help users select from a set of 3P’s trusted vaults.</a:t>
            </a:r>
          </a:p>
        </p:txBody>
      </p:sp>
      <p:sp>
        <p:nvSpPr>
          <p:cNvPr id="41" name="Sidebar Background">
            <a:extLst>
              <a:ext uri="{FF2B5EF4-FFF2-40B4-BE49-F238E27FC236}">
                <a16:creationId xmlns:a16="http://schemas.microsoft.com/office/drawing/2014/main" id="{B0A83432-3797-164E-B817-BA71B523944F}"/>
              </a:ext>
            </a:extLst>
          </p:cNvPr>
          <p:cNvSpPr/>
          <p:nvPr/>
        </p:nvSpPr>
        <p:spPr>
          <a:xfrm>
            <a:off x="8981240" y="37069"/>
            <a:ext cx="3177809" cy="6783859"/>
          </a:xfrm>
          <a:prstGeom prst="rect">
            <a:avLst/>
          </a:prstGeom>
          <a:solidFill>
            <a:srgbClr val="EA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NumBox 8">
            <a:extLst>
              <a:ext uri="{FF2B5EF4-FFF2-40B4-BE49-F238E27FC236}">
                <a16:creationId xmlns:a16="http://schemas.microsoft.com/office/drawing/2014/main" id="{3E4874A0-68B7-3F46-930A-3DF954503CB0}"/>
              </a:ext>
            </a:extLst>
          </p:cNvPr>
          <p:cNvSpPr/>
          <p:nvPr/>
        </p:nvSpPr>
        <p:spPr>
          <a:xfrm>
            <a:off x="9133881" y="3386135"/>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5</a:t>
            </a:r>
          </a:p>
        </p:txBody>
      </p:sp>
      <p:sp>
        <p:nvSpPr>
          <p:cNvPr id="45" name="NumBox 7">
            <a:extLst>
              <a:ext uri="{FF2B5EF4-FFF2-40B4-BE49-F238E27FC236}">
                <a16:creationId xmlns:a16="http://schemas.microsoft.com/office/drawing/2014/main" id="{68CCBE0C-C2CD-E347-9CED-CC285006AE94}"/>
              </a:ext>
            </a:extLst>
          </p:cNvPr>
          <p:cNvSpPr/>
          <p:nvPr/>
        </p:nvSpPr>
        <p:spPr>
          <a:xfrm>
            <a:off x="9133881" y="2622000"/>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4</a:t>
            </a:r>
          </a:p>
        </p:txBody>
      </p:sp>
      <p:sp>
        <p:nvSpPr>
          <p:cNvPr id="47" name="NumBox 5">
            <a:extLst>
              <a:ext uri="{FF2B5EF4-FFF2-40B4-BE49-F238E27FC236}">
                <a16:creationId xmlns:a16="http://schemas.microsoft.com/office/drawing/2014/main" id="{A2290CE2-D8F1-634A-905A-BA66C42AEBC9}"/>
              </a:ext>
            </a:extLst>
          </p:cNvPr>
          <p:cNvSpPr/>
          <p:nvPr/>
        </p:nvSpPr>
        <p:spPr>
          <a:xfrm>
            <a:off x="9133881" y="1828800"/>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3</a:t>
            </a:r>
          </a:p>
        </p:txBody>
      </p:sp>
      <p:sp>
        <p:nvSpPr>
          <p:cNvPr id="49" name="NumBox 3">
            <a:extLst>
              <a:ext uri="{FF2B5EF4-FFF2-40B4-BE49-F238E27FC236}">
                <a16:creationId xmlns:a16="http://schemas.microsoft.com/office/drawing/2014/main" id="{FBB6C579-1AAE-E74E-B11A-6E47F977F102}"/>
              </a:ext>
            </a:extLst>
          </p:cNvPr>
          <p:cNvSpPr/>
          <p:nvPr/>
        </p:nvSpPr>
        <p:spPr>
          <a:xfrm>
            <a:off x="9133881" y="1066800"/>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2</a:t>
            </a:r>
          </a:p>
        </p:txBody>
      </p:sp>
      <p:sp>
        <p:nvSpPr>
          <p:cNvPr id="51" name="NumBox 1">
            <a:extLst>
              <a:ext uri="{FF2B5EF4-FFF2-40B4-BE49-F238E27FC236}">
                <a16:creationId xmlns:a16="http://schemas.microsoft.com/office/drawing/2014/main" id="{61A833CA-45E5-DA44-9841-E3816A71ECCE}"/>
              </a:ext>
            </a:extLst>
          </p:cNvPr>
          <p:cNvSpPr/>
          <p:nvPr/>
        </p:nvSpPr>
        <p:spPr>
          <a:xfrm>
            <a:off x="9133881" y="118990"/>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1</a:t>
            </a:r>
          </a:p>
        </p:txBody>
      </p:sp>
      <p:sp>
        <p:nvSpPr>
          <p:cNvPr id="52" name="TextBox 51">
            <a:extLst>
              <a:ext uri="{FF2B5EF4-FFF2-40B4-BE49-F238E27FC236}">
                <a16:creationId xmlns:a16="http://schemas.microsoft.com/office/drawing/2014/main" id="{03393564-6C13-FC4F-8F33-3F02A10C52BC}"/>
              </a:ext>
            </a:extLst>
          </p:cNvPr>
          <p:cNvSpPr txBox="1"/>
          <p:nvPr/>
        </p:nvSpPr>
        <p:spPr>
          <a:xfrm>
            <a:off x="9408893" y="76200"/>
            <a:ext cx="2733426" cy="6806992"/>
          </a:xfrm>
          <a:prstGeom prst="rect">
            <a:avLst/>
          </a:prstGeom>
          <a:noFill/>
        </p:spPr>
        <p:txBody>
          <a:bodyPr wrap="square" rtlCol="0">
            <a:spAutoFit/>
          </a:bodyPr>
          <a:lstStyle/>
          <a:p>
            <a:pPr>
              <a:spcAft>
                <a:spcPts val="1000"/>
              </a:spcAft>
            </a:pPr>
            <a:r>
              <a:rPr lang="en-US" sz="1050" dirty="0">
                <a:latin typeface="Amazon Ember" panose="020B0603020204020204" pitchFamily="34" charset="0"/>
                <a:ea typeface="Amazon Ember" panose="020B0603020204020204" pitchFamily="34" charset="0"/>
                <a:cs typeface="Amazon Ember" panose="020B0603020204020204" pitchFamily="34" charset="0"/>
              </a:rPr>
              <a:t>Upon check-in on 3</a:t>
            </a:r>
            <a:r>
              <a:rPr lang="en-US" sz="1050" baseline="30000" dirty="0">
                <a:latin typeface="Amazon Ember" panose="020B0603020204020204" pitchFamily="34" charset="0"/>
                <a:ea typeface="Amazon Ember" panose="020B0603020204020204" pitchFamily="34" charset="0"/>
                <a:cs typeface="Amazon Ember" panose="020B0603020204020204" pitchFamily="34" charset="0"/>
              </a:rPr>
              <a:t>rd</a:t>
            </a:r>
            <a:r>
              <a:rPr lang="en-US" sz="1050" dirty="0">
                <a:latin typeface="Amazon Ember" panose="020B0603020204020204" pitchFamily="34" charset="0"/>
                <a:ea typeface="Amazon Ember" panose="020B0603020204020204" pitchFamily="34" charset="0"/>
                <a:cs typeface="Amazon Ember" panose="020B0603020204020204" pitchFamily="34" charset="0"/>
              </a:rPr>
              <a:t> Parties (3P), users shows their wallet’s QR. 3Ps extract the Broker domain and unique ID, and send a post request to the Broker with the list of information codes requested.</a:t>
            </a:r>
          </a:p>
          <a:p>
            <a:pPr>
              <a:spcAft>
                <a:spcPts val="1000"/>
              </a:spcAft>
            </a:pPr>
            <a:r>
              <a:rPr lang="en-US" sz="1050" dirty="0">
                <a:latin typeface="Amazon Ember" panose="020B0603020204020204" pitchFamily="34" charset="0"/>
                <a:ea typeface="Amazon Ember" panose="020B0603020204020204" pitchFamily="34" charset="0"/>
                <a:cs typeface="Amazon Ember" panose="020B0603020204020204" pitchFamily="34" charset="0"/>
              </a:rPr>
              <a:t>The Broker forwards the request to the webhook of the wallet’s API, for it to convert it into a push message that matches the wallet’s technology stack.</a:t>
            </a:r>
          </a:p>
          <a:p>
            <a:pPr>
              <a:spcAft>
                <a:spcPts val="1000"/>
              </a:spcAft>
            </a:pPr>
            <a:r>
              <a:rPr lang="en-US" sz="1050" dirty="0">
                <a:latin typeface="Amazon Ember" panose="020B0603020204020204" pitchFamily="34" charset="0"/>
                <a:ea typeface="Amazon Ember" panose="020B0603020204020204" pitchFamily="34" charset="0"/>
                <a:cs typeface="Amazon Ember" panose="020B0603020204020204" pitchFamily="34" charset="0"/>
              </a:rPr>
              <a:t>Before pushing the message, Brokers translate the info codes to the user’s preferred language by invoking the translation method on a trust graph.</a:t>
            </a:r>
          </a:p>
          <a:p>
            <a:pPr>
              <a:spcAft>
                <a:spcPts val="1000"/>
              </a:spcAft>
            </a:pPr>
            <a:r>
              <a:rPr lang="en-US" sz="1050" dirty="0">
                <a:latin typeface="Amazon Ember" panose="020B0603020204020204" pitchFamily="34" charset="0"/>
                <a:ea typeface="Amazon Ember" panose="020B0603020204020204" pitchFamily="34" charset="0"/>
                <a:cs typeface="Amazon Ember" panose="020B0603020204020204" pitchFamily="34" charset="0"/>
              </a:rPr>
              <a:t>The message sent from the wallet’s API  to wallet’s app is already translated and filtered to show only the user’s vaults that support the codes requested by the 3P.</a:t>
            </a:r>
          </a:p>
          <a:p>
            <a:pPr>
              <a:spcAft>
                <a:spcPts val="1000"/>
              </a:spcAft>
            </a:pPr>
            <a:r>
              <a:rPr lang="en-US" sz="1050" dirty="0">
                <a:latin typeface="Amazon Ember" panose="020B0603020204020204" pitchFamily="34" charset="0"/>
                <a:ea typeface="Amazon Ember" panose="020B0603020204020204" pitchFamily="34" charset="0"/>
                <a:cs typeface="Amazon Ember" panose="020B0603020204020204" pitchFamily="34" charset="0"/>
              </a:rPr>
              <a:t>The user then selects the vaults that they are willing to share with the 3P, and they submit the selection and the attached verifiable credentials back to the Broker for redirection. </a:t>
            </a:r>
          </a:p>
          <a:p>
            <a:pPr>
              <a:spcAft>
                <a:spcPts val="1000"/>
              </a:spcAft>
            </a:pPr>
            <a:r>
              <a:rPr lang="en-US" sz="1050" dirty="0">
                <a:latin typeface="Amazon Ember" panose="020B0603020204020204" pitchFamily="34" charset="0"/>
                <a:ea typeface="Amazon Ember" panose="020B0603020204020204" pitchFamily="34" charset="0"/>
                <a:cs typeface="Amazon Ember" panose="020B0603020204020204" pitchFamily="34" charset="0"/>
              </a:rPr>
              <a:t>The Broker, in turn, sends that information to the 3P for processing.</a:t>
            </a:r>
          </a:p>
          <a:p>
            <a:pPr>
              <a:spcAft>
                <a:spcPts val="1000"/>
              </a:spcAft>
            </a:pPr>
            <a:r>
              <a:rPr lang="en-US" sz="1050" dirty="0">
                <a:latin typeface="Amazon Ember" panose="020B0603020204020204" pitchFamily="34" charset="0"/>
                <a:ea typeface="Amazon Ember" panose="020B0603020204020204" pitchFamily="34" charset="0"/>
                <a:cs typeface="Amazon Ember" panose="020B0603020204020204" pitchFamily="34" charset="0"/>
              </a:rPr>
              <a:t>Meanwhile, the wallet presents the user with a list of suggested vaults sent by the 3P, for the codes that were not supported by any of the user’s vaults. The user then clicks the suggested vaults to navigate to their login/registration UI.</a:t>
            </a:r>
          </a:p>
          <a:p>
            <a:pPr>
              <a:spcAft>
                <a:spcPts val="1000"/>
              </a:spcAft>
            </a:pPr>
            <a:r>
              <a:rPr lang="en-US" sz="1050" dirty="0">
                <a:latin typeface="Amazon Ember" panose="020B0603020204020204" pitchFamily="34" charset="0"/>
                <a:ea typeface="Amazon Ember" panose="020B0603020204020204" pitchFamily="34" charset="0"/>
                <a:cs typeface="Amazon Ember" panose="020B0603020204020204" pitchFamily="34" charset="0"/>
              </a:rPr>
              <a:t>When the check-in cycle is finished, the user is also able to access the 3P sticker that is generated by the 3P upon verifying the verifiable credentials and eventually communicating with the vaults for real-time validation and collect metadata.</a:t>
            </a:r>
          </a:p>
        </p:txBody>
      </p:sp>
      <p:cxnSp>
        <p:nvCxnSpPr>
          <p:cNvPr id="36" name="Separator">
            <a:extLst>
              <a:ext uri="{FF2B5EF4-FFF2-40B4-BE49-F238E27FC236}">
                <a16:creationId xmlns:a16="http://schemas.microsoft.com/office/drawing/2014/main" id="{21C15EAE-984B-C241-B4CF-3AB0A0313E3C}"/>
              </a:ext>
            </a:extLst>
          </p:cNvPr>
          <p:cNvCxnSpPr>
            <a:cxnSpLocks/>
          </p:cNvCxnSpPr>
          <p:nvPr/>
        </p:nvCxnSpPr>
        <p:spPr>
          <a:xfrm>
            <a:off x="304800" y="1447800"/>
            <a:ext cx="8544130" cy="0"/>
          </a:xfrm>
          <a:prstGeom prst="line">
            <a:avLst/>
          </a:prstGeom>
          <a:ln w="25400">
            <a:solidFill>
              <a:srgbClr val="545B64"/>
            </a:solidFill>
          </a:ln>
        </p:spPr>
        <p:style>
          <a:lnRef idx="3">
            <a:schemeClr val="dk1"/>
          </a:lnRef>
          <a:fillRef idx="0">
            <a:schemeClr val="dk1"/>
          </a:fillRef>
          <a:effectRef idx="2">
            <a:schemeClr val="dk1"/>
          </a:effectRef>
          <a:fontRef idx="minor">
            <a:schemeClr val="tx1"/>
          </a:fontRef>
        </p:style>
      </p:cxnSp>
      <p:sp>
        <p:nvSpPr>
          <p:cNvPr id="160" name="NumBox 8">
            <a:extLst>
              <a:ext uri="{FF2B5EF4-FFF2-40B4-BE49-F238E27FC236}">
                <a16:creationId xmlns:a16="http://schemas.microsoft.com/office/drawing/2014/main" id="{0D273327-7879-024D-95BD-BF18FEAB46A2}"/>
              </a:ext>
            </a:extLst>
          </p:cNvPr>
          <p:cNvSpPr/>
          <p:nvPr/>
        </p:nvSpPr>
        <p:spPr>
          <a:xfrm>
            <a:off x="9133881" y="4304489"/>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6</a:t>
            </a:r>
          </a:p>
        </p:txBody>
      </p:sp>
      <p:sp>
        <p:nvSpPr>
          <p:cNvPr id="326" name="NumBox 8">
            <a:extLst>
              <a:ext uri="{FF2B5EF4-FFF2-40B4-BE49-F238E27FC236}">
                <a16:creationId xmlns:a16="http://schemas.microsoft.com/office/drawing/2014/main" id="{70869823-279E-BE4F-933C-EA086FF2F5E0}"/>
              </a:ext>
            </a:extLst>
          </p:cNvPr>
          <p:cNvSpPr/>
          <p:nvPr/>
        </p:nvSpPr>
        <p:spPr>
          <a:xfrm>
            <a:off x="9133881" y="4755600"/>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7</a:t>
            </a:r>
          </a:p>
        </p:txBody>
      </p:sp>
      <p:grpSp>
        <p:nvGrpSpPr>
          <p:cNvPr id="20" name="Group 19">
            <a:extLst>
              <a:ext uri="{FF2B5EF4-FFF2-40B4-BE49-F238E27FC236}">
                <a16:creationId xmlns:a16="http://schemas.microsoft.com/office/drawing/2014/main" id="{955FCA32-9729-5E4A-B460-959989AB8B8A}"/>
              </a:ext>
            </a:extLst>
          </p:cNvPr>
          <p:cNvGrpSpPr/>
          <p:nvPr/>
        </p:nvGrpSpPr>
        <p:grpSpPr>
          <a:xfrm>
            <a:off x="1593850" y="3857696"/>
            <a:ext cx="1073150" cy="866704"/>
            <a:chOff x="2643126" y="3224699"/>
            <a:chExt cx="1073150" cy="864841"/>
          </a:xfrm>
        </p:grpSpPr>
        <p:pic>
          <p:nvPicPr>
            <p:cNvPr id="21" name="Graphic 16">
              <a:extLst>
                <a:ext uri="{FF2B5EF4-FFF2-40B4-BE49-F238E27FC236}">
                  <a16:creationId xmlns:a16="http://schemas.microsoft.com/office/drawing/2014/main" id="{2A22FFD1-C088-F146-A9EB-8267FD48E95C}"/>
                </a:ext>
              </a:extLst>
            </p:cNvPr>
            <p:cNvPicPr>
              <a:picLocks noChangeAspect="1" noChangeArrowheads="1"/>
            </p:cNvPicPr>
            <p:nvPr/>
          </p:nvPicPr>
          <p:blipFill>
            <a:blip r:embed="rId3">
              <a:extLst>
                <a:ext uri="{96DAC541-7B7A-43D3-8B79-37D633B846F1}">
                  <asvg:svgBlip xmlns:asvg="http://schemas.microsoft.com/office/drawing/2016/SVG/main" r:embed="rId4"/>
                </a:ext>
              </a:extLst>
            </a:blip>
            <a:srcRect/>
            <a:stretch/>
          </p:blipFill>
          <p:spPr bwMode="auto">
            <a:xfrm>
              <a:off x="2944751" y="3224699"/>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TextBox 34">
              <a:extLst>
                <a:ext uri="{FF2B5EF4-FFF2-40B4-BE49-F238E27FC236}">
                  <a16:creationId xmlns:a16="http://schemas.microsoft.com/office/drawing/2014/main" id="{B044B796-AE0C-D344-B798-404A5FDADDA6}"/>
                </a:ext>
              </a:extLst>
            </p:cNvPr>
            <p:cNvSpPr txBox="1">
              <a:spLocks noChangeArrowheads="1"/>
            </p:cNvSpPr>
            <p:nvPr/>
          </p:nvSpPr>
          <p:spPr bwMode="auto">
            <a:xfrm>
              <a:off x="2643126" y="3674935"/>
              <a:ext cx="1073150" cy="414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Any Broker</a:t>
              </a:r>
              <a:b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br>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e.g. Infosys</a:t>
              </a:r>
            </a:p>
          </p:txBody>
        </p:sp>
      </p:grpSp>
      <p:grpSp>
        <p:nvGrpSpPr>
          <p:cNvPr id="4" name="Group 3">
            <a:extLst>
              <a:ext uri="{FF2B5EF4-FFF2-40B4-BE49-F238E27FC236}">
                <a16:creationId xmlns:a16="http://schemas.microsoft.com/office/drawing/2014/main" id="{445B7631-773F-674A-A242-A98847D38BD9}"/>
              </a:ext>
            </a:extLst>
          </p:cNvPr>
          <p:cNvGrpSpPr/>
          <p:nvPr/>
        </p:nvGrpSpPr>
        <p:grpSpPr>
          <a:xfrm>
            <a:off x="4114800" y="3765453"/>
            <a:ext cx="1180465" cy="884964"/>
            <a:chOff x="3657600" y="1604042"/>
            <a:chExt cx="1180465" cy="884964"/>
          </a:xfrm>
        </p:grpSpPr>
        <p:sp>
          <p:nvSpPr>
            <p:cNvPr id="16" name="TextBox 34">
              <a:extLst>
                <a:ext uri="{FF2B5EF4-FFF2-40B4-BE49-F238E27FC236}">
                  <a16:creationId xmlns:a16="http://schemas.microsoft.com/office/drawing/2014/main" id="{4F28D6F4-CEAD-714B-BEA3-1C642EEF6BE0}"/>
                </a:ext>
              </a:extLst>
            </p:cNvPr>
            <p:cNvSpPr txBox="1">
              <a:spLocks noChangeArrowheads="1"/>
            </p:cNvSpPr>
            <p:nvPr/>
          </p:nvSpPr>
          <p:spPr bwMode="auto">
            <a:xfrm>
              <a:off x="3657600" y="2073508"/>
              <a:ext cx="1180465"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Any Wallet</a:t>
              </a:r>
              <a:b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br>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e.g., ACME</a:t>
              </a:r>
            </a:p>
          </p:txBody>
        </p:sp>
        <p:pic>
          <p:nvPicPr>
            <p:cNvPr id="119" name="Graphic 15">
              <a:extLst>
                <a:ext uri="{FF2B5EF4-FFF2-40B4-BE49-F238E27FC236}">
                  <a16:creationId xmlns:a16="http://schemas.microsoft.com/office/drawing/2014/main" id="{54BE6C9F-9F53-1449-9B0A-45712DC227C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20928" y="1604042"/>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138" name="Straight Arrow Connector 202">
            <a:extLst>
              <a:ext uri="{FF2B5EF4-FFF2-40B4-BE49-F238E27FC236}">
                <a16:creationId xmlns:a16="http://schemas.microsoft.com/office/drawing/2014/main" id="{E0D8020B-0CB9-A042-B489-EC404697ABF5}"/>
              </a:ext>
            </a:extLst>
          </p:cNvPr>
          <p:cNvCxnSpPr>
            <a:cxnSpLocks/>
            <a:stCxn id="94" idx="3"/>
            <a:endCxn id="119" idx="0"/>
          </p:cNvCxnSpPr>
          <p:nvPr/>
        </p:nvCxnSpPr>
        <p:spPr>
          <a:xfrm>
            <a:off x="3425823" y="3508018"/>
            <a:ext cx="1287255" cy="257435"/>
          </a:xfrm>
          <a:prstGeom prst="bentConnector2">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cxnSp>
        <p:nvCxnSpPr>
          <p:cNvPr id="140" name="Straight Arrow Connector 202">
            <a:extLst>
              <a:ext uri="{FF2B5EF4-FFF2-40B4-BE49-F238E27FC236}">
                <a16:creationId xmlns:a16="http://schemas.microsoft.com/office/drawing/2014/main" id="{920C209E-8D59-D046-9C35-93903C9078F1}"/>
              </a:ext>
            </a:extLst>
          </p:cNvPr>
          <p:cNvCxnSpPr>
            <a:cxnSpLocks/>
            <a:stCxn id="21" idx="3"/>
            <a:endCxn id="202" idx="2"/>
          </p:cNvCxnSpPr>
          <p:nvPr/>
        </p:nvCxnSpPr>
        <p:spPr>
          <a:xfrm flipV="1">
            <a:off x="2365375" y="3958541"/>
            <a:ext cx="831850" cy="134611"/>
          </a:xfrm>
          <a:prstGeom prst="bentConnector2">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pic>
        <p:nvPicPr>
          <p:cNvPr id="189" name="Graphic 22">
            <a:extLst>
              <a:ext uri="{FF2B5EF4-FFF2-40B4-BE49-F238E27FC236}">
                <a16:creationId xmlns:a16="http://schemas.microsoft.com/office/drawing/2014/main" id="{EFD3283C-699C-1540-A482-23A610BE1EEA}"/>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4899711" y="3691079"/>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0" name="TextBox 34">
            <a:extLst>
              <a:ext uri="{FF2B5EF4-FFF2-40B4-BE49-F238E27FC236}">
                <a16:creationId xmlns:a16="http://schemas.microsoft.com/office/drawing/2014/main" id="{DD823EF5-4944-0541-899E-27C09F4EBCC7}"/>
              </a:ext>
            </a:extLst>
          </p:cNvPr>
          <p:cNvSpPr txBox="1">
            <a:spLocks noChangeArrowheads="1"/>
          </p:cNvSpPr>
          <p:nvPr/>
        </p:nvSpPr>
        <p:spPr bwMode="auto">
          <a:xfrm>
            <a:off x="2584756" y="4088600"/>
            <a:ext cx="1226351"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webhook</a:t>
            </a:r>
          </a:p>
        </p:txBody>
      </p:sp>
      <p:sp>
        <p:nvSpPr>
          <p:cNvPr id="191" name="TextBox 34">
            <a:extLst>
              <a:ext uri="{FF2B5EF4-FFF2-40B4-BE49-F238E27FC236}">
                <a16:creationId xmlns:a16="http://schemas.microsoft.com/office/drawing/2014/main" id="{E10B7298-C239-2F47-A4AC-5BC70244EED7}"/>
              </a:ext>
            </a:extLst>
          </p:cNvPr>
          <p:cNvSpPr txBox="1">
            <a:spLocks noChangeArrowheads="1"/>
          </p:cNvSpPr>
          <p:nvPr/>
        </p:nvSpPr>
        <p:spPr bwMode="auto">
          <a:xfrm>
            <a:off x="3415396" y="3269767"/>
            <a:ext cx="1080404"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push </a:t>
            </a:r>
          </a:p>
        </p:txBody>
      </p:sp>
      <p:grpSp>
        <p:nvGrpSpPr>
          <p:cNvPr id="200" name="Group 199">
            <a:extLst>
              <a:ext uri="{FF2B5EF4-FFF2-40B4-BE49-F238E27FC236}">
                <a16:creationId xmlns:a16="http://schemas.microsoft.com/office/drawing/2014/main" id="{7FB58EDF-0BFF-1C46-906F-388BCC9E1F6E}"/>
              </a:ext>
            </a:extLst>
          </p:cNvPr>
          <p:cNvGrpSpPr/>
          <p:nvPr/>
        </p:nvGrpSpPr>
        <p:grpSpPr>
          <a:xfrm>
            <a:off x="2660650" y="3279418"/>
            <a:ext cx="1073150" cy="679123"/>
            <a:chOff x="2374493" y="2443090"/>
            <a:chExt cx="1073150" cy="679123"/>
          </a:xfrm>
        </p:grpSpPr>
        <p:pic>
          <p:nvPicPr>
            <p:cNvPr id="94" name="Graphic 6">
              <a:extLst>
                <a:ext uri="{FF2B5EF4-FFF2-40B4-BE49-F238E27FC236}">
                  <a16:creationId xmlns:a16="http://schemas.microsoft.com/office/drawing/2014/main" id="{916987A9-E7EA-BB41-93E8-1DBF687739EA}"/>
                </a:ext>
              </a:extLst>
            </p:cNvPr>
            <p:cNvPicPr>
              <a:picLocks noChangeAspect="1" noChangeArrowheads="1"/>
            </p:cNvPicPr>
            <p:nvPr/>
          </p:nvPicPr>
          <p:blipFill>
            <a:blip r:embed="rId8">
              <a:extLst>
                <a:ext uri="{96DAC541-7B7A-43D3-8B79-37D633B846F1}">
                  <asvg:svgBlip xmlns:asvg="http://schemas.microsoft.com/office/drawing/2016/SVG/main" r:embed="rId9"/>
                </a:ext>
              </a:extLst>
            </a:blip>
            <a:srcRect/>
            <a:stretch/>
          </p:blipFill>
          <p:spPr bwMode="auto">
            <a:xfrm>
              <a:off x="2682466" y="244309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2" name="TextBox 34">
              <a:extLst>
                <a:ext uri="{FF2B5EF4-FFF2-40B4-BE49-F238E27FC236}">
                  <a16:creationId xmlns:a16="http://schemas.microsoft.com/office/drawing/2014/main" id="{7F404813-2FA9-594E-9DB5-9DCDAFD4B290}"/>
                </a:ext>
              </a:extLst>
            </p:cNvPr>
            <p:cNvSpPr txBox="1">
              <a:spLocks noChangeArrowheads="1"/>
            </p:cNvSpPr>
            <p:nvPr/>
          </p:nvSpPr>
          <p:spPr bwMode="auto">
            <a:xfrm>
              <a:off x="2374493" y="2868297"/>
              <a:ext cx="1073150"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Notifier</a:t>
              </a:r>
              <a:endPar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endParaRPr>
            </a:p>
          </p:txBody>
        </p:sp>
      </p:grpSp>
      <p:cxnSp>
        <p:nvCxnSpPr>
          <p:cNvPr id="209" name="Straight Arrow Connector 202">
            <a:extLst>
              <a:ext uri="{FF2B5EF4-FFF2-40B4-BE49-F238E27FC236}">
                <a16:creationId xmlns:a16="http://schemas.microsoft.com/office/drawing/2014/main" id="{AF78D893-5D38-B84D-B46E-379A2DACA66B}"/>
              </a:ext>
            </a:extLst>
          </p:cNvPr>
          <p:cNvCxnSpPr>
            <a:cxnSpLocks/>
            <a:stCxn id="16" idx="2"/>
            <a:endCxn id="22" idx="2"/>
          </p:cNvCxnSpPr>
          <p:nvPr/>
        </p:nvCxnSpPr>
        <p:spPr>
          <a:xfrm rot="5400000">
            <a:off x="3380738" y="3400104"/>
            <a:ext cx="73983" cy="2574608"/>
          </a:xfrm>
          <a:prstGeom prst="bentConnector3">
            <a:avLst>
              <a:gd name="adj1" fmla="val 521352"/>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sp>
        <p:nvSpPr>
          <p:cNvPr id="214" name="TextBox 34">
            <a:extLst>
              <a:ext uri="{FF2B5EF4-FFF2-40B4-BE49-F238E27FC236}">
                <a16:creationId xmlns:a16="http://schemas.microsoft.com/office/drawing/2014/main" id="{354BEC19-5CF6-BD41-BBB6-CA61F6362A65}"/>
              </a:ext>
            </a:extLst>
          </p:cNvPr>
          <p:cNvSpPr txBox="1">
            <a:spLocks noChangeArrowheads="1"/>
          </p:cNvSpPr>
          <p:nvPr/>
        </p:nvSpPr>
        <p:spPr bwMode="auto">
          <a:xfrm>
            <a:off x="2590800" y="4747483"/>
            <a:ext cx="1740001"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post to Broker domain</a:t>
            </a:r>
          </a:p>
        </p:txBody>
      </p:sp>
      <p:sp>
        <p:nvSpPr>
          <p:cNvPr id="71" name="Rectangle 70">
            <a:extLst>
              <a:ext uri="{FF2B5EF4-FFF2-40B4-BE49-F238E27FC236}">
                <a16:creationId xmlns:a16="http://schemas.microsoft.com/office/drawing/2014/main" id="{C83EBC05-649E-6F4B-8966-90A739F8360D}"/>
              </a:ext>
            </a:extLst>
          </p:cNvPr>
          <p:cNvSpPr/>
          <p:nvPr/>
        </p:nvSpPr>
        <p:spPr>
          <a:xfrm>
            <a:off x="7433952" y="4500748"/>
            <a:ext cx="1414965" cy="2128652"/>
          </a:xfrm>
          <a:prstGeom prst="rect">
            <a:avLst/>
          </a:prstGeom>
          <a:solidFill>
            <a:srgbClr val="007CBC">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108000"/>
          <a:lstStyle/>
          <a:p>
            <a: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&lt;3P&gt; Sticker</a:t>
            </a:r>
          </a:p>
          <a:p>
            <a:r>
              <a:rPr lang="en-US" sz="90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 </a:t>
            </a:r>
            <a:endPar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endParaRPr>
          </a:p>
          <a:p>
            <a: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                 Download</a:t>
            </a:r>
          </a:p>
          <a:p>
            <a:endPar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endParaRPr>
          </a:p>
          <a:p>
            <a: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Codes</a:t>
            </a:r>
          </a:p>
          <a:p>
            <a:pPr marL="171450" indent="-171450">
              <a:buFont typeface="Arial" panose="020B0604020202020204" pitchFamily="34" charset="0"/>
              <a:buChar char="•"/>
            </a:pPr>
            <a: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Passport </a:t>
            </a:r>
          </a:p>
          <a:p>
            <a:pPr marL="171450" indent="-171450">
              <a:buFont typeface="Arial" panose="020B0604020202020204" pitchFamily="34" charset="0"/>
              <a:buChar char="•"/>
            </a:pPr>
            <a: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Covid test </a:t>
            </a:r>
          </a:p>
          <a:p>
            <a:pPr marL="171450" indent="-171450">
              <a:buFont typeface="Arial" panose="020B0604020202020204" pitchFamily="34" charset="0"/>
              <a:buChar char="•"/>
            </a:pPr>
            <a: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Wheelchair </a:t>
            </a:r>
          </a:p>
          <a:p>
            <a: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Metadata </a:t>
            </a:r>
          </a:p>
          <a:p>
            <a:pPr marL="171450" indent="-171450">
              <a:buFont typeface="Arial" panose="020B0604020202020204" pitchFamily="34" charset="0"/>
              <a:buChar char="•"/>
            </a:pPr>
            <a: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Flight: BA501</a:t>
            </a:r>
          </a:p>
          <a:p>
            <a:pPr marL="171450" indent="-171450">
              <a:buFont typeface="Arial" panose="020B0604020202020204" pitchFamily="34" charset="0"/>
              <a:buChar char="•"/>
            </a:pPr>
            <a: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Date: 02/11/22 </a:t>
            </a:r>
          </a:p>
          <a:p>
            <a: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Expires: 10/01/22</a:t>
            </a:r>
          </a:p>
        </p:txBody>
      </p:sp>
      <p:sp>
        <p:nvSpPr>
          <p:cNvPr id="72" name="TextBox 9">
            <a:extLst>
              <a:ext uri="{FF2B5EF4-FFF2-40B4-BE49-F238E27FC236}">
                <a16:creationId xmlns:a16="http://schemas.microsoft.com/office/drawing/2014/main" id="{9BE51F67-7890-004E-897A-4B12872D997A}"/>
              </a:ext>
            </a:extLst>
          </p:cNvPr>
          <p:cNvSpPr txBox="1">
            <a:spLocks noChangeArrowheads="1"/>
          </p:cNvSpPr>
          <p:nvPr/>
        </p:nvSpPr>
        <p:spPr bwMode="auto">
          <a:xfrm>
            <a:off x="5810251" y="1524000"/>
            <a:ext cx="3038672"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050" b="0" i="1">
                <a:effectLst>
                  <a:glow rad="127000">
                    <a:schemeClr val="bg1">
                      <a:alpha val="99994"/>
                    </a:schemeClr>
                  </a:glow>
                </a:effectLst>
                <a:latin typeface="Amazon Ember" panose="020B0603020204020204" pitchFamily="34" charset="0"/>
                <a:ea typeface="Amazon Ember" panose="020B0603020204020204" pitchFamily="34" charset="0"/>
                <a:cs typeface="Amazon Ember" panose="020B0603020204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r>
              <a:rPr lang="en-US" altLang="en-US" i="0" dirty="0">
                <a:effectLst>
                  <a:glow rad="321067">
                    <a:schemeClr val="bg1">
                      <a:alpha val="89960"/>
                    </a:schemeClr>
                  </a:glow>
                </a:effectLst>
              </a:rPr>
              <a:t>Sample scenario</a:t>
            </a:r>
          </a:p>
        </p:txBody>
      </p:sp>
      <p:cxnSp>
        <p:nvCxnSpPr>
          <p:cNvPr id="73" name="Separator">
            <a:extLst>
              <a:ext uri="{FF2B5EF4-FFF2-40B4-BE49-F238E27FC236}">
                <a16:creationId xmlns:a16="http://schemas.microsoft.com/office/drawing/2014/main" id="{56F47481-E2B9-3C42-83A4-B09950442DB6}"/>
              </a:ext>
            </a:extLst>
          </p:cNvPr>
          <p:cNvCxnSpPr>
            <a:cxnSpLocks/>
          </p:cNvCxnSpPr>
          <p:nvPr/>
        </p:nvCxnSpPr>
        <p:spPr>
          <a:xfrm flipV="1">
            <a:off x="5686425" y="1447800"/>
            <a:ext cx="0" cy="5131726"/>
          </a:xfrm>
          <a:prstGeom prst="line">
            <a:avLst/>
          </a:prstGeom>
          <a:ln w="25400">
            <a:solidFill>
              <a:srgbClr val="545B64"/>
            </a:solidFill>
          </a:ln>
        </p:spPr>
        <p:style>
          <a:lnRef idx="3">
            <a:schemeClr val="dk1"/>
          </a:lnRef>
          <a:fillRef idx="0">
            <a:schemeClr val="dk1"/>
          </a:fillRef>
          <a:effectRef idx="2">
            <a:schemeClr val="dk1"/>
          </a:effectRef>
          <a:fontRef idx="minor">
            <a:schemeClr val="tx1"/>
          </a:fontRef>
        </p:style>
      </p:cxnSp>
      <p:sp>
        <p:nvSpPr>
          <p:cNvPr id="74" name="Rectangle 73">
            <a:extLst>
              <a:ext uri="{FF2B5EF4-FFF2-40B4-BE49-F238E27FC236}">
                <a16:creationId xmlns:a16="http://schemas.microsoft.com/office/drawing/2014/main" id="{5EFAE2AF-CEB8-8E44-83EF-AD7110098015}"/>
              </a:ext>
            </a:extLst>
          </p:cNvPr>
          <p:cNvSpPr/>
          <p:nvPr/>
        </p:nvSpPr>
        <p:spPr>
          <a:xfrm>
            <a:off x="5822420" y="2102400"/>
            <a:ext cx="1438283" cy="717000"/>
          </a:xfrm>
          <a:prstGeom prst="rect">
            <a:avLst/>
          </a:prstGeom>
          <a:solidFill>
            <a:schemeClr val="accent6">
              <a:alpha val="9804"/>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vert="horz" lIns="108000" tIns="72000" anchor="t"/>
          <a:lstStyle/>
          <a:p>
            <a:pPr algn="r"/>
            <a:br>
              <a:rPr lang="en-US" sz="1050"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br>
            <a:endParaRPr lang="en-US" sz="1050"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76" name="Rectangle 75">
            <a:extLst>
              <a:ext uri="{FF2B5EF4-FFF2-40B4-BE49-F238E27FC236}">
                <a16:creationId xmlns:a16="http://schemas.microsoft.com/office/drawing/2014/main" id="{D3C68D6E-1BCD-374C-9E72-6696CD5D5BBB}"/>
              </a:ext>
            </a:extLst>
          </p:cNvPr>
          <p:cNvSpPr/>
          <p:nvPr/>
        </p:nvSpPr>
        <p:spPr>
          <a:xfrm>
            <a:off x="5822420" y="2924805"/>
            <a:ext cx="3026498" cy="1530606"/>
          </a:xfrm>
          <a:prstGeom prst="rect">
            <a:avLst/>
          </a:prstGeom>
          <a:solidFill>
            <a:srgbClr val="007CBC">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108000"/>
          <a:lstStyle/>
          <a:p>
            <a:pPr algn="r"/>
            <a:br>
              <a:rPr lang="en-US" sz="70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br>
            <a:endParaRPr lang="en-US" sz="700" dirty="0">
              <a:solidFill>
                <a:srgbClr val="5B9CD5"/>
              </a:solidFill>
              <a:latin typeface="Amazon Ember" panose="020B0603020204020204" pitchFamily="34" charset="0"/>
              <a:ea typeface="Amazon Ember" panose="020B0603020204020204" pitchFamily="34" charset="0"/>
              <a:cs typeface="Amazon Ember" panose="020B0603020204020204" pitchFamily="34" charset="0"/>
            </a:endParaRPr>
          </a:p>
          <a:p>
            <a:pPr>
              <a:spcAft>
                <a:spcPts val="300"/>
              </a:spcAft>
            </a:pPr>
            <a: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Share vaults with &lt;3P&gt;?</a:t>
            </a:r>
          </a:p>
          <a:p>
            <a:pPr marL="90487"/>
            <a:r>
              <a:rPr lang="en-US" sz="1050" i="1"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Passport</a:t>
            </a:r>
            <a:br>
              <a:rPr lang="en-GB" sz="1050" b="1" dirty="0">
                <a:solidFill>
                  <a:schemeClr val="bg1">
                    <a:lumMod val="10000"/>
                  </a:schemeClr>
                </a:solidFill>
              </a:rPr>
            </a:br>
            <a:r>
              <a:rPr lang="en-GB" sz="1050" b="1" dirty="0">
                <a:solidFill>
                  <a:schemeClr val="bg1">
                    <a:lumMod val="10000"/>
                  </a:schemeClr>
                </a:solidFill>
              </a:rPr>
              <a:t>    ✓  </a:t>
            </a:r>
            <a:r>
              <a:rPr lang="en-GB" sz="1050" dirty="0">
                <a:solidFill>
                  <a:schemeClr val="bg1">
                    <a:lumMod val="10000"/>
                  </a:schemeClr>
                </a:solidFill>
              </a:rPr>
              <a:t>IDnow</a:t>
            </a:r>
            <a:endParaRPr lang="en-US" sz="1050" dirty="0">
              <a:solidFill>
                <a:schemeClr val="bg1">
                  <a:lumMod val="10000"/>
                </a:schemeClr>
              </a:solidFill>
              <a:latin typeface="Amazon Ember" panose="020B0603020204020204" pitchFamily="34" charset="0"/>
              <a:ea typeface="Amazon Ember" panose="020B0603020204020204" pitchFamily="34" charset="0"/>
              <a:cs typeface="Amazon Ember" panose="020B0603020204020204" pitchFamily="34" charset="0"/>
            </a:endParaRPr>
          </a:p>
          <a:p>
            <a:pPr marL="90487"/>
            <a:r>
              <a:rPr lang="en-US" sz="1050" i="1"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Vaccination status</a:t>
            </a:r>
            <a:br>
              <a:rPr lang="en-US" sz="1050" i="1"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br>
            <a:r>
              <a:rPr lang="en-GB" sz="1050" dirty="0">
                <a:solidFill>
                  <a:schemeClr val="bg1">
                    <a:lumMod val="10000"/>
                  </a:schemeClr>
                </a:solidFill>
              </a:rPr>
              <a:t>    ✓  Very Fly</a:t>
            </a:r>
            <a:endPar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endParaRPr>
          </a:p>
          <a:p>
            <a:pPr marL="90487"/>
            <a:r>
              <a:rPr lang="en-US" sz="1050" i="1"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Special Service Requests </a:t>
            </a:r>
            <a:br>
              <a:rPr lang="en-US" sz="1050" i="1"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br>
            <a:r>
              <a:rPr lang="en-GB" sz="1050" dirty="0">
                <a:solidFill>
                  <a:schemeClr val="bg1">
                    <a:lumMod val="10000"/>
                  </a:schemeClr>
                </a:solidFill>
              </a:rPr>
              <a:t>    ✓  French Mobility</a:t>
            </a:r>
            <a:b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br>
            <a:endPar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endParaRPr>
          </a:p>
          <a:p>
            <a:endPar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77" name="TextBox 34">
            <a:extLst>
              <a:ext uri="{FF2B5EF4-FFF2-40B4-BE49-F238E27FC236}">
                <a16:creationId xmlns:a16="http://schemas.microsoft.com/office/drawing/2014/main" id="{F8D92BF6-1E5C-1C45-974F-473346D92A65}"/>
              </a:ext>
            </a:extLst>
          </p:cNvPr>
          <p:cNvSpPr txBox="1">
            <a:spLocks noChangeArrowheads="1"/>
          </p:cNvSpPr>
          <p:nvPr/>
        </p:nvSpPr>
        <p:spPr bwMode="auto">
          <a:xfrm>
            <a:off x="5844212" y="2104190"/>
            <a:ext cx="3004706"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3P online check-in             3P physical kiosk</a:t>
            </a:r>
          </a:p>
        </p:txBody>
      </p:sp>
      <p:sp>
        <p:nvSpPr>
          <p:cNvPr id="78" name="NumBox 3">
            <a:extLst>
              <a:ext uri="{FF2B5EF4-FFF2-40B4-BE49-F238E27FC236}">
                <a16:creationId xmlns:a16="http://schemas.microsoft.com/office/drawing/2014/main" id="{86819586-4692-FB4B-9BB5-E36CB70268E7}"/>
              </a:ext>
            </a:extLst>
          </p:cNvPr>
          <p:cNvSpPr/>
          <p:nvPr/>
        </p:nvSpPr>
        <p:spPr>
          <a:xfrm>
            <a:off x="5831480" y="1650919"/>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1</a:t>
            </a:r>
          </a:p>
        </p:txBody>
      </p:sp>
      <p:sp>
        <p:nvSpPr>
          <p:cNvPr id="79" name="NumBox 5">
            <a:extLst>
              <a:ext uri="{FF2B5EF4-FFF2-40B4-BE49-F238E27FC236}">
                <a16:creationId xmlns:a16="http://schemas.microsoft.com/office/drawing/2014/main" id="{899C6C57-32E2-0B49-9D4C-F2556DCF386B}"/>
              </a:ext>
            </a:extLst>
          </p:cNvPr>
          <p:cNvSpPr/>
          <p:nvPr/>
        </p:nvSpPr>
        <p:spPr>
          <a:xfrm>
            <a:off x="8153400" y="3657600"/>
            <a:ext cx="589436" cy="287401"/>
          </a:xfrm>
          <a:prstGeom prst="roundRect">
            <a:avLst/>
          </a:prstGeom>
          <a:ln/>
        </p:spPr>
        <p:style>
          <a:lnRef idx="2">
            <a:schemeClr val="accent3"/>
          </a:lnRef>
          <a:fillRef idx="1">
            <a:schemeClr val="lt1"/>
          </a:fillRef>
          <a:effectRef idx="0">
            <a:schemeClr val="accent3"/>
          </a:effectRef>
          <a:fontRef idx="minor">
            <a:schemeClr val="dk1"/>
          </a:fontRef>
        </p:style>
        <p:txBody>
          <a:bodyPr lIns="45720" rIns="45720" rtlCol="0" anchor="ctr"/>
          <a:lstStyle/>
          <a:p>
            <a:pPr algn="ctr"/>
            <a:r>
              <a:rPr lang="en-US" sz="1050" dirty="0">
                <a:latin typeface="Amazon Ember" panose="020B0603020204020204" pitchFamily="34" charset="0"/>
                <a:ea typeface="Amazon Ember" panose="020B0603020204020204" pitchFamily="34" charset="0"/>
                <a:cs typeface="Amazon Ember" panose="020B0603020204020204" pitchFamily="34" charset="0"/>
              </a:rPr>
              <a:t>OK</a:t>
            </a:r>
          </a:p>
        </p:txBody>
      </p:sp>
      <p:sp>
        <p:nvSpPr>
          <p:cNvPr id="80" name="NumBox 5">
            <a:extLst>
              <a:ext uri="{FF2B5EF4-FFF2-40B4-BE49-F238E27FC236}">
                <a16:creationId xmlns:a16="http://schemas.microsoft.com/office/drawing/2014/main" id="{33B719D6-CE41-BD49-B381-2D311FDB9750}"/>
              </a:ext>
            </a:extLst>
          </p:cNvPr>
          <p:cNvSpPr/>
          <p:nvPr/>
        </p:nvSpPr>
        <p:spPr>
          <a:xfrm>
            <a:off x="8153400" y="4008268"/>
            <a:ext cx="589436" cy="287401"/>
          </a:xfrm>
          <a:prstGeom prst="roundRect">
            <a:avLst/>
          </a:prstGeom>
          <a:ln/>
        </p:spPr>
        <p:style>
          <a:lnRef idx="2">
            <a:schemeClr val="accent3"/>
          </a:lnRef>
          <a:fillRef idx="1">
            <a:schemeClr val="lt1"/>
          </a:fillRef>
          <a:effectRef idx="0">
            <a:schemeClr val="accent3"/>
          </a:effectRef>
          <a:fontRef idx="minor">
            <a:schemeClr val="dk1"/>
          </a:fontRef>
        </p:style>
        <p:txBody>
          <a:bodyPr lIns="45720" rIns="45720" rtlCol="0" anchor="ctr"/>
          <a:lstStyle/>
          <a:p>
            <a:pPr algn="ctr"/>
            <a:r>
              <a:rPr lang="en-US" sz="1050" dirty="0">
                <a:latin typeface="Amazon Ember" panose="020B0603020204020204" pitchFamily="34" charset="0"/>
                <a:ea typeface="Amazon Ember" panose="020B0603020204020204" pitchFamily="34" charset="0"/>
                <a:cs typeface="Amazon Ember" panose="020B0603020204020204" pitchFamily="34" charset="0"/>
              </a:rPr>
              <a:t>Cancel</a:t>
            </a:r>
          </a:p>
        </p:txBody>
      </p:sp>
      <p:sp>
        <p:nvSpPr>
          <p:cNvPr id="81" name="NumBox 3">
            <a:extLst>
              <a:ext uri="{FF2B5EF4-FFF2-40B4-BE49-F238E27FC236}">
                <a16:creationId xmlns:a16="http://schemas.microsoft.com/office/drawing/2014/main" id="{B6763CC8-204B-124E-80E3-0743214AB09A}"/>
              </a:ext>
            </a:extLst>
          </p:cNvPr>
          <p:cNvSpPr/>
          <p:nvPr/>
        </p:nvSpPr>
        <p:spPr>
          <a:xfrm>
            <a:off x="7473162" y="2479495"/>
            <a:ext cx="1291666" cy="288608"/>
          </a:xfrm>
          <a:prstGeom prst="roundRect">
            <a:avLst/>
          </a:prstGeom>
          <a:ln/>
        </p:spPr>
        <p:style>
          <a:lnRef idx="2">
            <a:schemeClr val="accent5"/>
          </a:lnRef>
          <a:fillRef idx="1">
            <a:schemeClr val="lt1"/>
          </a:fillRef>
          <a:effectRef idx="0">
            <a:schemeClr val="accent5"/>
          </a:effectRef>
          <a:fontRef idx="minor">
            <a:schemeClr val="dk1"/>
          </a:fontRef>
        </p:style>
        <p:txBody>
          <a:bodyPr lIns="45720" rIns="45720" rtlCol="0" anchor="t"/>
          <a:lstStyle/>
          <a:p>
            <a:pPr algn="ctr"/>
            <a:r>
              <a:rPr lang="en-US" sz="1050" dirty="0">
                <a:latin typeface="Amazon Ember" panose="020B0603020204020204" pitchFamily="34" charset="0"/>
                <a:ea typeface="Amazon Ember" panose="020B0603020204020204" pitchFamily="34" charset="0"/>
                <a:cs typeface="Amazon Ember" panose="020B0603020204020204" pitchFamily="34" charset="0"/>
              </a:rPr>
              <a:t>            Scan QR</a:t>
            </a:r>
          </a:p>
        </p:txBody>
      </p:sp>
      <p:sp>
        <p:nvSpPr>
          <p:cNvPr id="82" name="TextBox 34">
            <a:extLst>
              <a:ext uri="{FF2B5EF4-FFF2-40B4-BE49-F238E27FC236}">
                <a16:creationId xmlns:a16="http://schemas.microsoft.com/office/drawing/2014/main" id="{857C8B1F-E296-0542-955D-0D92AA1F2C5F}"/>
              </a:ext>
            </a:extLst>
          </p:cNvPr>
          <p:cNvSpPr txBox="1">
            <a:spLocks noChangeArrowheads="1"/>
          </p:cNvSpPr>
          <p:nvPr/>
        </p:nvSpPr>
        <p:spPr bwMode="auto">
          <a:xfrm>
            <a:off x="5831480" y="2933993"/>
            <a:ext cx="3004706"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Wallet’s user interface</a:t>
            </a:r>
          </a:p>
        </p:txBody>
      </p:sp>
      <p:sp>
        <p:nvSpPr>
          <p:cNvPr id="83" name="NumBox 3">
            <a:extLst>
              <a:ext uri="{FF2B5EF4-FFF2-40B4-BE49-F238E27FC236}">
                <a16:creationId xmlns:a16="http://schemas.microsoft.com/office/drawing/2014/main" id="{9E1D71AB-98D0-504C-8E86-30D4351D9293}"/>
              </a:ext>
            </a:extLst>
          </p:cNvPr>
          <p:cNvSpPr/>
          <p:nvPr/>
        </p:nvSpPr>
        <p:spPr>
          <a:xfrm>
            <a:off x="8315274" y="2893247"/>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4</a:t>
            </a:r>
          </a:p>
        </p:txBody>
      </p:sp>
      <p:sp>
        <p:nvSpPr>
          <p:cNvPr id="85" name="NumBox 3">
            <a:extLst>
              <a:ext uri="{FF2B5EF4-FFF2-40B4-BE49-F238E27FC236}">
                <a16:creationId xmlns:a16="http://schemas.microsoft.com/office/drawing/2014/main" id="{731E01B0-E213-5D47-B9E9-61847ADD2D67}"/>
              </a:ext>
            </a:extLst>
          </p:cNvPr>
          <p:cNvSpPr/>
          <p:nvPr/>
        </p:nvSpPr>
        <p:spPr>
          <a:xfrm>
            <a:off x="5940223" y="2478951"/>
            <a:ext cx="1228664" cy="296256"/>
          </a:xfrm>
          <a:prstGeom prst="roundRect">
            <a:avLst/>
          </a:prstGeom>
          <a:ln/>
        </p:spPr>
        <p:style>
          <a:lnRef idx="2">
            <a:schemeClr val="accent5"/>
          </a:lnRef>
          <a:fillRef idx="1">
            <a:schemeClr val="lt1"/>
          </a:fillRef>
          <a:effectRef idx="0">
            <a:schemeClr val="accent5"/>
          </a:effectRef>
          <a:fontRef idx="minor">
            <a:schemeClr val="dk1"/>
          </a:fontRef>
        </p:style>
        <p:txBody>
          <a:bodyPr lIns="45720" rIns="45720" rtlCol="0" anchor="t"/>
          <a:lstStyle/>
          <a:p>
            <a:pPr algn="ctr"/>
            <a:r>
              <a:rPr lang="en-US" sz="1050" dirty="0">
                <a:latin typeface="Amazon Ember" panose="020B0603020204020204" pitchFamily="34" charset="0"/>
                <a:ea typeface="Amazon Ember" panose="020B0603020204020204" pitchFamily="34" charset="0"/>
                <a:cs typeface="Amazon Ember" panose="020B0603020204020204" pitchFamily="34" charset="0"/>
              </a:rPr>
              <a:t>      Open wallet</a:t>
            </a:r>
          </a:p>
        </p:txBody>
      </p:sp>
      <p:pic>
        <p:nvPicPr>
          <p:cNvPr id="87" name="Picture 86">
            <a:extLst>
              <a:ext uri="{FF2B5EF4-FFF2-40B4-BE49-F238E27FC236}">
                <a16:creationId xmlns:a16="http://schemas.microsoft.com/office/drawing/2014/main" id="{840FF3BD-B939-F245-9F68-7A67CCC683CD}"/>
              </a:ext>
            </a:extLst>
          </p:cNvPr>
          <p:cNvPicPr>
            <a:picLocks noChangeAspect="1"/>
          </p:cNvPicPr>
          <p:nvPr/>
        </p:nvPicPr>
        <p:blipFill>
          <a:blip r:embed="rId10"/>
          <a:stretch>
            <a:fillRect/>
          </a:stretch>
        </p:blipFill>
        <p:spPr>
          <a:xfrm>
            <a:off x="7550441" y="2409214"/>
            <a:ext cx="287885" cy="288608"/>
          </a:xfrm>
          <a:prstGeom prst="rect">
            <a:avLst/>
          </a:prstGeom>
        </p:spPr>
      </p:pic>
      <p:pic>
        <p:nvPicPr>
          <p:cNvPr id="88" name="Graphic 15">
            <a:extLst>
              <a:ext uri="{FF2B5EF4-FFF2-40B4-BE49-F238E27FC236}">
                <a16:creationId xmlns:a16="http://schemas.microsoft.com/office/drawing/2014/main" id="{C56DD7DB-DAE9-4949-98B4-21914CA0E9E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22591" y="2355387"/>
            <a:ext cx="363515" cy="363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 name="Rectangle 89">
            <a:extLst>
              <a:ext uri="{FF2B5EF4-FFF2-40B4-BE49-F238E27FC236}">
                <a16:creationId xmlns:a16="http://schemas.microsoft.com/office/drawing/2014/main" id="{80A6BE47-4FCF-AD49-B8A3-56FB3B324C3F}"/>
              </a:ext>
            </a:extLst>
          </p:cNvPr>
          <p:cNvSpPr>
            <a:spLocks noChangeAspect="1"/>
          </p:cNvSpPr>
          <p:nvPr/>
        </p:nvSpPr>
        <p:spPr>
          <a:xfrm>
            <a:off x="6113572" y="3539930"/>
            <a:ext cx="139908" cy="139908"/>
          </a:xfrm>
          <a:prstGeom prst="rect">
            <a:avLst/>
          </a:prstGeom>
          <a:noFill/>
          <a:ln>
            <a:solidFill>
              <a:schemeClr val="bg1">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1" name="Rectangle 90">
            <a:extLst>
              <a:ext uri="{FF2B5EF4-FFF2-40B4-BE49-F238E27FC236}">
                <a16:creationId xmlns:a16="http://schemas.microsoft.com/office/drawing/2014/main" id="{83505360-C8D8-444C-88CF-FD5152488D8C}"/>
              </a:ext>
            </a:extLst>
          </p:cNvPr>
          <p:cNvSpPr>
            <a:spLocks noChangeAspect="1"/>
          </p:cNvSpPr>
          <p:nvPr/>
        </p:nvSpPr>
        <p:spPr>
          <a:xfrm>
            <a:off x="6113572" y="3860397"/>
            <a:ext cx="139908" cy="139908"/>
          </a:xfrm>
          <a:prstGeom prst="rect">
            <a:avLst/>
          </a:prstGeom>
          <a:noFill/>
          <a:ln>
            <a:solidFill>
              <a:schemeClr val="bg1">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 name="Rectangle 91">
            <a:extLst>
              <a:ext uri="{FF2B5EF4-FFF2-40B4-BE49-F238E27FC236}">
                <a16:creationId xmlns:a16="http://schemas.microsoft.com/office/drawing/2014/main" id="{0C3C342D-91F6-6B40-9B1A-C001E55D4AB0}"/>
              </a:ext>
            </a:extLst>
          </p:cNvPr>
          <p:cNvSpPr>
            <a:spLocks noChangeAspect="1"/>
          </p:cNvSpPr>
          <p:nvPr/>
        </p:nvSpPr>
        <p:spPr>
          <a:xfrm>
            <a:off x="6113572" y="4184247"/>
            <a:ext cx="139908" cy="139908"/>
          </a:xfrm>
          <a:prstGeom prst="rect">
            <a:avLst/>
          </a:prstGeom>
          <a:noFill/>
          <a:ln>
            <a:solidFill>
              <a:schemeClr val="bg1">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3" name="Rectangle 92">
            <a:extLst>
              <a:ext uri="{FF2B5EF4-FFF2-40B4-BE49-F238E27FC236}">
                <a16:creationId xmlns:a16="http://schemas.microsoft.com/office/drawing/2014/main" id="{8CCA6B2B-089A-664A-98EF-65C2A81CA88B}"/>
              </a:ext>
            </a:extLst>
          </p:cNvPr>
          <p:cNvSpPr/>
          <p:nvPr/>
        </p:nvSpPr>
        <p:spPr>
          <a:xfrm>
            <a:off x="5822863" y="4499604"/>
            <a:ext cx="1561668" cy="2138702"/>
          </a:xfrm>
          <a:prstGeom prst="rect">
            <a:avLst/>
          </a:prstGeom>
          <a:solidFill>
            <a:srgbClr val="007CBC">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108000"/>
          <a:lstStyle/>
          <a:p>
            <a:pPr>
              <a:spcAft>
                <a:spcPts val="600"/>
              </a:spcAft>
            </a:pPr>
            <a:r>
              <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Vault suggestions</a:t>
            </a:r>
          </a:p>
          <a:p>
            <a:pPr>
              <a:spcAft>
                <a:spcPts val="300"/>
              </a:spcAft>
            </a:pPr>
            <a:endParaRPr lang="en-US" sz="1050" dirty="0">
              <a:solidFill>
                <a:srgbClr val="5B9CD5"/>
              </a:solidFill>
              <a:latin typeface="Amazon Ember" panose="020B0603020204020204" pitchFamily="34" charset="0"/>
              <a:ea typeface="Amazon Ember" panose="020B0603020204020204" pitchFamily="34" charset="0"/>
              <a:cs typeface="Amazon Ember" panose="020B0603020204020204" pitchFamily="34" charset="0"/>
            </a:endParaRPr>
          </a:p>
          <a:p>
            <a:pPr marL="171450" indent="-80963">
              <a:buFont typeface="Arial" panose="020B0604020202020204" pitchFamily="34" charset="0"/>
              <a:buChar char="•"/>
            </a:pPr>
            <a:r>
              <a:rPr lang="en-GB" sz="1050" i="1"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ESTA (USA)</a:t>
            </a:r>
            <a:endParaRPr lang="en-GB" sz="1050" b="1" i="1" dirty="0">
              <a:solidFill>
                <a:schemeClr val="bg1">
                  <a:lumMod val="10000"/>
                </a:schemeClr>
              </a:solidFill>
              <a:latin typeface="Amazon Ember" panose="020B0603020204020204" pitchFamily="34" charset="0"/>
              <a:ea typeface="Amazon Ember" panose="020B0603020204020204" pitchFamily="34" charset="0"/>
              <a:cs typeface="Amazon Ember" panose="020B0603020204020204" pitchFamily="34" charset="0"/>
            </a:endParaRPr>
          </a:p>
          <a:p>
            <a:pPr marL="171450" indent="-80963">
              <a:buFont typeface="Arial" panose="020B0604020202020204" pitchFamily="34" charset="0"/>
              <a:buChar char="•"/>
            </a:pPr>
            <a:endParaRPr lang="en-US" sz="700" i="1" dirty="0">
              <a:solidFill>
                <a:srgbClr val="5B9CD5"/>
              </a:solidFill>
              <a:latin typeface="Amazon Ember" panose="020B0603020204020204" pitchFamily="34" charset="0"/>
              <a:ea typeface="Amazon Ember" panose="020B0603020204020204" pitchFamily="34" charset="0"/>
              <a:cs typeface="Amazon Ember" panose="020B0603020204020204" pitchFamily="34" charset="0"/>
            </a:endParaRPr>
          </a:p>
          <a:p>
            <a:pPr marL="90487"/>
            <a:endParaRPr lang="en-US" sz="700" i="1" dirty="0">
              <a:solidFill>
                <a:srgbClr val="5B9CD5"/>
              </a:solidFill>
              <a:latin typeface="Amazon Ember" panose="020B0603020204020204" pitchFamily="34" charset="0"/>
              <a:ea typeface="Amazon Ember" panose="020B0603020204020204" pitchFamily="34" charset="0"/>
              <a:cs typeface="Amazon Ember" panose="020B0603020204020204" pitchFamily="34" charset="0"/>
            </a:endParaRPr>
          </a:p>
          <a:p>
            <a:pPr marL="171450" indent="-80963">
              <a:buFont typeface="Arial" panose="020B0604020202020204" pitchFamily="34" charset="0"/>
              <a:buChar char="•"/>
            </a:pPr>
            <a:r>
              <a:rPr lang="en-US" sz="1050" i="1"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Seat preferences</a:t>
            </a:r>
          </a:p>
          <a:p>
            <a:pPr marL="171450" indent="-80963">
              <a:buFont typeface="Arial" panose="020B0604020202020204" pitchFamily="34" charset="0"/>
              <a:buChar char="•"/>
            </a:pPr>
            <a:r>
              <a:rPr lang="en-US" sz="1050" i="1"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Booking contacts</a:t>
            </a:r>
          </a:p>
          <a:p>
            <a:pPr marL="171450" indent="-80963">
              <a:buFont typeface="Arial" panose="020B0604020202020204" pitchFamily="34" charset="0"/>
              <a:buChar char="•"/>
            </a:pPr>
            <a:r>
              <a:rPr lang="en-US" sz="1050" i="1" dirty="0">
                <a:solidFill>
                  <a:srgbClr val="5B9CD5"/>
                </a:solidFill>
                <a:latin typeface="Amazon Ember" panose="020B0603020204020204" pitchFamily="34" charset="0"/>
                <a:ea typeface="Amazon Ember" panose="020B0603020204020204" pitchFamily="34" charset="0"/>
                <a:cs typeface="Amazon Ember" panose="020B0603020204020204" pitchFamily="34" charset="0"/>
              </a:rPr>
              <a:t>Allergies </a:t>
            </a:r>
          </a:p>
        </p:txBody>
      </p:sp>
      <p:sp>
        <p:nvSpPr>
          <p:cNvPr id="101" name="NumBox 5">
            <a:extLst>
              <a:ext uri="{FF2B5EF4-FFF2-40B4-BE49-F238E27FC236}">
                <a16:creationId xmlns:a16="http://schemas.microsoft.com/office/drawing/2014/main" id="{DF0CB418-3237-D541-8177-90536505E7EB}"/>
              </a:ext>
            </a:extLst>
          </p:cNvPr>
          <p:cNvSpPr/>
          <p:nvPr/>
        </p:nvSpPr>
        <p:spPr>
          <a:xfrm>
            <a:off x="6023362" y="4767106"/>
            <a:ext cx="1237342" cy="202625"/>
          </a:xfrm>
          <a:prstGeom prst="roundRect">
            <a:avLst/>
          </a:prstGeom>
          <a:ln/>
        </p:spPr>
        <p:style>
          <a:lnRef idx="2">
            <a:schemeClr val="accent3"/>
          </a:lnRef>
          <a:fillRef idx="1">
            <a:schemeClr val="lt1"/>
          </a:fillRef>
          <a:effectRef idx="0">
            <a:schemeClr val="accent3"/>
          </a:effectRef>
          <a:fontRef idx="minor">
            <a:schemeClr val="dk1"/>
          </a:fontRef>
        </p:style>
        <p:txBody>
          <a:bodyPr lIns="45720" rIns="45720" rtlCol="0" anchor="ctr"/>
          <a:lstStyle/>
          <a:p>
            <a:r>
              <a:rPr lang="en-US" sz="1050" dirty="0">
                <a:latin typeface="Amazon Ember" panose="020B0603020204020204" pitchFamily="34" charset="0"/>
                <a:ea typeface="Amazon Ember" panose="020B0603020204020204" pitchFamily="34" charset="0"/>
                <a:cs typeface="Amazon Ember" panose="020B0603020204020204" pitchFamily="34" charset="0"/>
              </a:rPr>
              <a:t>IDnow                &gt;&gt;</a:t>
            </a:r>
          </a:p>
        </p:txBody>
      </p:sp>
      <p:sp>
        <p:nvSpPr>
          <p:cNvPr id="102" name="NumBox 5">
            <a:extLst>
              <a:ext uri="{FF2B5EF4-FFF2-40B4-BE49-F238E27FC236}">
                <a16:creationId xmlns:a16="http://schemas.microsoft.com/office/drawing/2014/main" id="{43133296-99F9-694F-80D5-312D80C5A0D0}"/>
              </a:ext>
            </a:extLst>
          </p:cNvPr>
          <p:cNvSpPr/>
          <p:nvPr/>
        </p:nvSpPr>
        <p:spPr>
          <a:xfrm>
            <a:off x="6023361" y="5146615"/>
            <a:ext cx="1237342" cy="202625"/>
          </a:xfrm>
          <a:prstGeom prst="roundRect">
            <a:avLst/>
          </a:prstGeom>
          <a:ln/>
        </p:spPr>
        <p:style>
          <a:lnRef idx="2">
            <a:schemeClr val="accent3"/>
          </a:lnRef>
          <a:fillRef idx="1">
            <a:schemeClr val="lt1"/>
          </a:fillRef>
          <a:effectRef idx="0">
            <a:schemeClr val="accent3"/>
          </a:effectRef>
          <a:fontRef idx="minor">
            <a:schemeClr val="dk1"/>
          </a:fontRef>
        </p:style>
        <p:txBody>
          <a:bodyPr lIns="45720" rIns="45720" rtlCol="0" anchor="ctr"/>
          <a:lstStyle/>
          <a:p>
            <a:r>
              <a:rPr lang="en-US" sz="1050" dirty="0">
                <a:latin typeface="Amazon Ember" panose="020B0603020204020204" pitchFamily="34" charset="0"/>
                <a:ea typeface="Amazon Ember" panose="020B0603020204020204" pitchFamily="34" charset="0"/>
                <a:cs typeface="Amazon Ember" panose="020B0603020204020204" pitchFamily="34" charset="0"/>
              </a:rPr>
              <a:t>IATA                   &gt;&gt;</a:t>
            </a:r>
          </a:p>
        </p:txBody>
      </p:sp>
      <p:pic>
        <p:nvPicPr>
          <p:cNvPr id="105" name="Picture 104">
            <a:extLst>
              <a:ext uri="{FF2B5EF4-FFF2-40B4-BE49-F238E27FC236}">
                <a16:creationId xmlns:a16="http://schemas.microsoft.com/office/drawing/2014/main" id="{52A07E8F-C39F-974A-AEDE-05A4ACBFA509}"/>
              </a:ext>
            </a:extLst>
          </p:cNvPr>
          <p:cNvPicPr>
            <a:picLocks noChangeAspect="1"/>
          </p:cNvPicPr>
          <p:nvPr/>
        </p:nvPicPr>
        <p:blipFill>
          <a:blip r:embed="rId10"/>
          <a:stretch>
            <a:fillRect/>
          </a:stretch>
        </p:blipFill>
        <p:spPr>
          <a:xfrm>
            <a:off x="7525471" y="4781583"/>
            <a:ext cx="287885" cy="288608"/>
          </a:xfrm>
          <a:prstGeom prst="rect">
            <a:avLst/>
          </a:prstGeom>
        </p:spPr>
      </p:pic>
      <p:sp>
        <p:nvSpPr>
          <p:cNvPr id="109" name="TextBox 108">
            <a:extLst>
              <a:ext uri="{FF2B5EF4-FFF2-40B4-BE49-F238E27FC236}">
                <a16:creationId xmlns:a16="http://schemas.microsoft.com/office/drawing/2014/main" id="{02F89C1D-A92B-7541-977F-B542D854B68E}"/>
              </a:ext>
            </a:extLst>
          </p:cNvPr>
          <p:cNvSpPr txBox="1"/>
          <p:nvPr/>
        </p:nvSpPr>
        <p:spPr>
          <a:xfrm>
            <a:off x="7772400" y="4773190"/>
            <a:ext cx="432487" cy="369332"/>
          </a:xfrm>
          <a:prstGeom prst="rect">
            <a:avLst/>
          </a:prstGeom>
          <a:noFill/>
        </p:spPr>
        <p:txBody>
          <a:bodyPr wrap="square">
            <a:spAutoFit/>
          </a:bodyPr>
          <a:lstStyle/>
          <a:p>
            <a:r>
              <a:rPr lang="en-GB" dirty="0"/>
              <a:t>⬇</a:t>
            </a:r>
          </a:p>
        </p:txBody>
      </p:sp>
      <p:pic>
        <p:nvPicPr>
          <p:cNvPr id="114" name="Graphic 23">
            <a:extLst>
              <a:ext uri="{FF2B5EF4-FFF2-40B4-BE49-F238E27FC236}">
                <a16:creationId xmlns:a16="http://schemas.microsoft.com/office/drawing/2014/main" id="{9259EAE4-5F22-D541-84BE-C29466E91162}"/>
              </a:ext>
            </a:extLst>
          </p:cNvPr>
          <p:cNvPicPr>
            <a:picLocks noChangeAspect="1" noChangeArrowheads="1"/>
          </p:cNvPicPr>
          <p:nvPr/>
        </p:nvPicPr>
        <p:blipFill>
          <a:blip r:embed="rId11">
            <a:extLst>
              <a:ext uri="{96DAC541-7B7A-43D3-8B79-37D633B846F1}">
                <asvg:svgBlip xmlns:asvg="http://schemas.microsoft.com/office/drawing/2016/SVG/main" r:embed="rId12"/>
              </a:ext>
            </a:extLst>
          </a:blip>
          <a:srcRect/>
          <a:stretch/>
        </p:blipFill>
        <p:spPr bwMode="auto">
          <a:xfrm flipH="1">
            <a:off x="530226" y="3761534"/>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 name="TextBox 34">
            <a:extLst>
              <a:ext uri="{FF2B5EF4-FFF2-40B4-BE49-F238E27FC236}">
                <a16:creationId xmlns:a16="http://schemas.microsoft.com/office/drawing/2014/main" id="{AA16F10F-03D0-0D49-88B4-D93BEF2E9C27}"/>
              </a:ext>
            </a:extLst>
          </p:cNvPr>
          <p:cNvSpPr txBox="1">
            <a:spLocks noChangeArrowheads="1"/>
          </p:cNvSpPr>
          <p:nvPr/>
        </p:nvSpPr>
        <p:spPr bwMode="auto">
          <a:xfrm>
            <a:off x="228600" y="4211770"/>
            <a:ext cx="107315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Any 3</a:t>
            </a:r>
            <a:r>
              <a:rPr lang="en-US" altLang="en-US" sz="1050" baseline="300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rd</a:t>
            </a:r>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 Party</a:t>
            </a:r>
            <a:b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br>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e.g. JP Airlines</a:t>
            </a:r>
          </a:p>
        </p:txBody>
      </p:sp>
      <p:cxnSp>
        <p:nvCxnSpPr>
          <p:cNvPr id="116" name="Straight Arrow Connector 115">
            <a:extLst>
              <a:ext uri="{FF2B5EF4-FFF2-40B4-BE49-F238E27FC236}">
                <a16:creationId xmlns:a16="http://schemas.microsoft.com/office/drawing/2014/main" id="{613EB11C-AFD3-BD40-9191-9D592BE64131}"/>
              </a:ext>
            </a:extLst>
          </p:cNvPr>
          <p:cNvCxnSpPr>
            <a:cxnSpLocks/>
            <a:stCxn id="114" idx="0"/>
            <a:endCxn id="137" idx="0"/>
          </p:cNvCxnSpPr>
          <p:nvPr/>
        </p:nvCxnSpPr>
        <p:spPr>
          <a:xfrm rot="5400000" flipH="1" flipV="1">
            <a:off x="1386681" y="3112295"/>
            <a:ext cx="27734" cy="1270744"/>
          </a:xfrm>
          <a:prstGeom prst="bentConnector3">
            <a:avLst>
              <a:gd name="adj1" fmla="val 924259"/>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sp>
        <p:nvSpPr>
          <p:cNvPr id="132" name="NumBox 3">
            <a:extLst>
              <a:ext uri="{FF2B5EF4-FFF2-40B4-BE49-F238E27FC236}">
                <a16:creationId xmlns:a16="http://schemas.microsoft.com/office/drawing/2014/main" id="{0E6E16EE-A533-0544-A8E7-090098CA0C5A}"/>
              </a:ext>
            </a:extLst>
          </p:cNvPr>
          <p:cNvSpPr/>
          <p:nvPr/>
        </p:nvSpPr>
        <p:spPr>
          <a:xfrm>
            <a:off x="420913" y="3336284"/>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1</a:t>
            </a:r>
          </a:p>
        </p:txBody>
      </p:sp>
      <p:sp>
        <p:nvSpPr>
          <p:cNvPr id="133" name="NumBox 3">
            <a:extLst>
              <a:ext uri="{FF2B5EF4-FFF2-40B4-BE49-F238E27FC236}">
                <a16:creationId xmlns:a16="http://schemas.microsoft.com/office/drawing/2014/main" id="{EC689F6B-B8FF-5740-8820-898185657278}"/>
              </a:ext>
            </a:extLst>
          </p:cNvPr>
          <p:cNvSpPr/>
          <p:nvPr/>
        </p:nvSpPr>
        <p:spPr>
          <a:xfrm>
            <a:off x="3539093" y="3935777"/>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2</a:t>
            </a:r>
          </a:p>
        </p:txBody>
      </p:sp>
      <p:sp>
        <p:nvSpPr>
          <p:cNvPr id="136" name="NumBox 3">
            <a:extLst>
              <a:ext uri="{FF2B5EF4-FFF2-40B4-BE49-F238E27FC236}">
                <a16:creationId xmlns:a16="http://schemas.microsoft.com/office/drawing/2014/main" id="{F6AD6E5F-76F6-FC4A-BBA7-F31180CF8EB4}"/>
              </a:ext>
            </a:extLst>
          </p:cNvPr>
          <p:cNvSpPr/>
          <p:nvPr/>
        </p:nvSpPr>
        <p:spPr>
          <a:xfrm>
            <a:off x="4785329" y="4644783"/>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5</a:t>
            </a:r>
          </a:p>
        </p:txBody>
      </p:sp>
      <p:cxnSp>
        <p:nvCxnSpPr>
          <p:cNvPr id="149" name="Straight Arrow Connector 115">
            <a:extLst>
              <a:ext uri="{FF2B5EF4-FFF2-40B4-BE49-F238E27FC236}">
                <a16:creationId xmlns:a16="http://schemas.microsoft.com/office/drawing/2014/main" id="{174B7D10-28D1-9E4B-840C-2278A77B424F}"/>
              </a:ext>
            </a:extLst>
          </p:cNvPr>
          <p:cNvCxnSpPr>
            <a:cxnSpLocks/>
            <a:stCxn id="139" idx="2"/>
            <a:endCxn id="115" idx="2"/>
          </p:cNvCxnSpPr>
          <p:nvPr/>
        </p:nvCxnSpPr>
        <p:spPr>
          <a:xfrm rot="5400000" flipH="1">
            <a:off x="1388358" y="4004086"/>
            <a:ext cx="23262" cy="1269627"/>
          </a:xfrm>
          <a:prstGeom prst="bentConnector3">
            <a:avLst>
              <a:gd name="adj1" fmla="val -1616740"/>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sp>
        <p:nvSpPr>
          <p:cNvPr id="150" name="TextBox 34">
            <a:extLst>
              <a:ext uri="{FF2B5EF4-FFF2-40B4-BE49-F238E27FC236}">
                <a16:creationId xmlns:a16="http://schemas.microsoft.com/office/drawing/2014/main" id="{4AB7B75C-A3F3-6A4A-8D3E-239A40CE4B5C}"/>
              </a:ext>
            </a:extLst>
          </p:cNvPr>
          <p:cNvSpPr txBox="1">
            <a:spLocks noChangeArrowheads="1"/>
          </p:cNvSpPr>
          <p:nvPr/>
        </p:nvSpPr>
        <p:spPr bwMode="auto">
          <a:xfrm>
            <a:off x="675474" y="3256936"/>
            <a:ext cx="1226351"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post to domain</a:t>
            </a:r>
          </a:p>
        </p:txBody>
      </p:sp>
      <p:sp>
        <p:nvSpPr>
          <p:cNvPr id="154" name="TextBox 9">
            <a:extLst>
              <a:ext uri="{FF2B5EF4-FFF2-40B4-BE49-F238E27FC236}">
                <a16:creationId xmlns:a16="http://schemas.microsoft.com/office/drawing/2014/main" id="{6A01E1AF-5980-3F48-8F0A-ACCEEB582DBE}"/>
              </a:ext>
            </a:extLst>
          </p:cNvPr>
          <p:cNvSpPr txBox="1">
            <a:spLocks noChangeArrowheads="1"/>
          </p:cNvSpPr>
          <p:nvPr/>
        </p:nvSpPr>
        <p:spPr bwMode="auto">
          <a:xfrm>
            <a:off x="228600" y="1524000"/>
            <a:ext cx="1830408"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ctr">
              <a:defRPr sz="1050" b="0" i="1">
                <a:effectLst>
                  <a:glow rad="127000">
                    <a:schemeClr val="bg1">
                      <a:alpha val="99994"/>
                    </a:schemeClr>
                  </a:glow>
                </a:effectLst>
                <a:latin typeface="Amazon Ember" panose="020B0603020204020204" pitchFamily="34" charset="0"/>
                <a:ea typeface="Amazon Ember" panose="020B0603020204020204" pitchFamily="34" charset="0"/>
                <a:cs typeface="Amazon Ember" panose="020B0603020204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pPr algn="l"/>
            <a:r>
              <a:rPr lang="en-US" altLang="en-US" i="0" dirty="0">
                <a:effectLst>
                  <a:glow rad="321067">
                    <a:schemeClr val="bg1">
                      <a:alpha val="89960"/>
                    </a:schemeClr>
                  </a:glow>
                </a:effectLst>
              </a:rPr>
              <a:t>Architecture</a:t>
            </a:r>
          </a:p>
        </p:txBody>
      </p:sp>
      <p:sp>
        <p:nvSpPr>
          <p:cNvPr id="84" name="NumBox 3">
            <a:extLst>
              <a:ext uri="{FF2B5EF4-FFF2-40B4-BE49-F238E27FC236}">
                <a16:creationId xmlns:a16="http://schemas.microsoft.com/office/drawing/2014/main" id="{A66B5A9C-AB1B-9445-9E7F-F265C449D039}"/>
              </a:ext>
            </a:extLst>
          </p:cNvPr>
          <p:cNvSpPr/>
          <p:nvPr/>
        </p:nvSpPr>
        <p:spPr>
          <a:xfrm>
            <a:off x="1263189" y="5107102"/>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6</a:t>
            </a:r>
          </a:p>
        </p:txBody>
      </p:sp>
      <p:sp>
        <p:nvSpPr>
          <p:cNvPr id="158" name="TextBox 34">
            <a:extLst>
              <a:ext uri="{FF2B5EF4-FFF2-40B4-BE49-F238E27FC236}">
                <a16:creationId xmlns:a16="http://schemas.microsoft.com/office/drawing/2014/main" id="{89D3A5A6-FB91-D346-96BE-177CFCB67C3B}"/>
              </a:ext>
            </a:extLst>
          </p:cNvPr>
          <p:cNvSpPr txBox="1">
            <a:spLocks noChangeArrowheads="1"/>
          </p:cNvSpPr>
          <p:nvPr/>
        </p:nvSpPr>
        <p:spPr bwMode="auto">
          <a:xfrm>
            <a:off x="4289294" y="2029268"/>
            <a:ext cx="806274" cy="4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Any Trust </a:t>
            </a:r>
            <a:b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br>
            <a:r>
              <a:rPr lang="en-US" altLang="en-US" sz="105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Graph</a:t>
            </a:r>
          </a:p>
        </p:txBody>
      </p:sp>
      <p:pic>
        <p:nvPicPr>
          <p:cNvPr id="161" name="Graphic 23">
            <a:extLst>
              <a:ext uri="{FF2B5EF4-FFF2-40B4-BE49-F238E27FC236}">
                <a16:creationId xmlns:a16="http://schemas.microsoft.com/office/drawing/2014/main" id="{B1A021A5-23D7-5544-B05E-E2CEC0DE188D}"/>
              </a:ext>
            </a:extLst>
          </p:cNvPr>
          <p:cNvPicPr>
            <a:picLocks noChangeAspect="1" noChangeArrowheads="1"/>
          </p:cNvPicPr>
          <p:nvPr/>
        </p:nvPicPr>
        <p:blipFill>
          <a:blip r:embed="rId13">
            <a:extLst>
              <a:ext uri="{96DAC541-7B7A-43D3-8B79-37D633B846F1}">
                <asvg:svgBlip xmlns:asvg="http://schemas.microsoft.com/office/drawing/2016/SVG/main" r:embed="rId14"/>
              </a:ext>
            </a:extLst>
          </a:blip>
          <a:srcRect/>
          <a:stretch/>
        </p:blipFill>
        <p:spPr bwMode="auto">
          <a:xfrm>
            <a:off x="4471711" y="2397694"/>
            <a:ext cx="471600" cy="4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62" name="Straight Arrow Connector 202">
            <a:extLst>
              <a:ext uri="{FF2B5EF4-FFF2-40B4-BE49-F238E27FC236}">
                <a16:creationId xmlns:a16="http://schemas.microsoft.com/office/drawing/2014/main" id="{C98E96A5-E9E9-A148-B46F-6E8F78EB8F53}"/>
              </a:ext>
            </a:extLst>
          </p:cNvPr>
          <p:cNvCxnSpPr>
            <a:cxnSpLocks/>
            <a:stCxn id="21" idx="0"/>
            <a:endCxn id="161" idx="1"/>
          </p:cNvCxnSpPr>
          <p:nvPr/>
        </p:nvCxnSpPr>
        <p:spPr>
          <a:xfrm rot="5400000" flipH="1" flipV="1">
            <a:off x="2688967" y="2074952"/>
            <a:ext cx="1224202" cy="2341286"/>
          </a:xfrm>
          <a:prstGeom prst="bentConnector2">
            <a:avLst/>
          </a:prstGeom>
          <a:ln w="12700">
            <a:solidFill>
              <a:srgbClr val="545B64"/>
            </a:solidFill>
            <a:headEnd type="none" w="med" len="med"/>
            <a:tailEnd type="arrow" w="med" len="sm"/>
          </a:ln>
        </p:spPr>
        <p:style>
          <a:lnRef idx="1">
            <a:schemeClr val="accent1"/>
          </a:lnRef>
          <a:fillRef idx="0">
            <a:schemeClr val="accent1"/>
          </a:fillRef>
          <a:effectRef idx="0">
            <a:schemeClr val="accent1"/>
          </a:effectRef>
          <a:fontRef idx="minor">
            <a:schemeClr val="tx1"/>
          </a:fontRef>
        </p:style>
      </p:cxnSp>
      <p:sp>
        <p:nvSpPr>
          <p:cNvPr id="163" name="TextBox 34">
            <a:extLst>
              <a:ext uri="{FF2B5EF4-FFF2-40B4-BE49-F238E27FC236}">
                <a16:creationId xmlns:a16="http://schemas.microsoft.com/office/drawing/2014/main" id="{9FF4A75C-9F52-6041-B51B-BDD7EEE39BBE}"/>
              </a:ext>
            </a:extLst>
          </p:cNvPr>
          <p:cNvSpPr txBox="1">
            <a:spLocks noChangeArrowheads="1"/>
          </p:cNvSpPr>
          <p:nvPr/>
        </p:nvSpPr>
        <p:spPr bwMode="auto">
          <a:xfrm>
            <a:off x="3105959" y="2223540"/>
            <a:ext cx="1217798"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get code translations </a:t>
            </a:r>
          </a:p>
        </p:txBody>
      </p:sp>
      <p:sp>
        <p:nvSpPr>
          <p:cNvPr id="164" name="TextBox 34">
            <a:extLst>
              <a:ext uri="{FF2B5EF4-FFF2-40B4-BE49-F238E27FC236}">
                <a16:creationId xmlns:a16="http://schemas.microsoft.com/office/drawing/2014/main" id="{F5B60DF6-BF95-3340-B046-B036983280FA}"/>
              </a:ext>
            </a:extLst>
          </p:cNvPr>
          <p:cNvSpPr txBox="1">
            <a:spLocks noChangeArrowheads="1"/>
          </p:cNvSpPr>
          <p:nvPr/>
        </p:nvSpPr>
        <p:spPr bwMode="auto">
          <a:xfrm>
            <a:off x="780093" y="4766719"/>
            <a:ext cx="1226351"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050" i="1"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post to domain</a:t>
            </a:r>
          </a:p>
        </p:txBody>
      </p:sp>
      <p:sp>
        <p:nvSpPr>
          <p:cNvPr id="89" name="NumBox 3">
            <a:extLst>
              <a:ext uri="{FF2B5EF4-FFF2-40B4-BE49-F238E27FC236}">
                <a16:creationId xmlns:a16="http://schemas.microsoft.com/office/drawing/2014/main" id="{E4F45B70-25D6-2A4E-8C52-7D99F6CC108E}"/>
              </a:ext>
            </a:extLst>
          </p:cNvPr>
          <p:cNvSpPr/>
          <p:nvPr/>
        </p:nvSpPr>
        <p:spPr>
          <a:xfrm>
            <a:off x="4024091" y="2307088"/>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3</a:t>
            </a:r>
          </a:p>
        </p:txBody>
      </p:sp>
      <p:sp>
        <p:nvSpPr>
          <p:cNvPr id="95" name="NumBox 3">
            <a:extLst>
              <a:ext uri="{FF2B5EF4-FFF2-40B4-BE49-F238E27FC236}">
                <a16:creationId xmlns:a16="http://schemas.microsoft.com/office/drawing/2014/main" id="{5A16FCB2-923E-FF44-9B97-A689520C2913}"/>
              </a:ext>
            </a:extLst>
          </p:cNvPr>
          <p:cNvSpPr/>
          <p:nvPr/>
        </p:nvSpPr>
        <p:spPr>
          <a:xfrm>
            <a:off x="4343742" y="3368767"/>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4</a:t>
            </a:r>
          </a:p>
        </p:txBody>
      </p:sp>
      <p:sp>
        <p:nvSpPr>
          <p:cNvPr id="96" name="NumBox 8">
            <a:extLst>
              <a:ext uri="{FF2B5EF4-FFF2-40B4-BE49-F238E27FC236}">
                <a16:creationId xmlns:a16="http://schemas.microsoft.com/office/drawing/2014/main" id="{C957C3D2-4BD7-1349-90BA-BBFAA5E6BFC4}"/>
              </a:ext>
            </a:extLst>
          </p:cNvPr>
          <p:cNvSpPr/>
          <p:nvPr/>
        </p:nvSpPr>
        <p:spPr>
          <a:xfrm>
            <a:off x="9133881" y="5886783"/>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8</a:t>
            </a:r>
          </a:p>
        </p:txBody>
      </p:sp>
      <p:sp>
        <p:nvSpPr>
          <p:cNvPr id="97" name="NumBox 8">
            <a:extLst>
              <a:ext uri="{FF2B5EF4-FFF2-40B4-BE49-F238E27FC236}">
                <a16:creationId xmlns:a16="http://schemas.microsoft.com/office/drawing/2014/main" id="{3147D87E-0611-7649-BF67-259DA102B114}"/>
              </a:ext>
            </a:extLst>
          </p:cNvPr>
          <p:cNvSpPr/>
          <p:nvPr/>
        </p:nvSpPr>
        <p:spPr>
          <a:xfrm>
            <a:off x="7003585" y="6251791"/>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7</a:t>
            </a:r>
          </a:p>
        </p:txBody>
      </p:sp>
      <p:sp>
        <p:nvSpPr>
          <p:cNvPr id="98" name="NumBox 8">
            <a:extLst>
              <a:ext uri="{FF2B5EF4-FFF2-40B4-BE49-F238E27FC236}">
                <a16:creationId xmlns:a16="http://schemas.microsoft.com/office/drawing/2014/main" id="{3F8E3FBE-2505-E549-8364-8330865919FA}"/>
              </a:ext>
            </a:extLst>
          </p:cNvPr>
          <p:cNvSpPr/>
          <p:nvPr/>
        </p:nvSpPr>
        <p:spPr>
          <a:xfrm>
            <a:off x="8511457" y="5343113"/>
            <a:ext cx="273600" cy="27360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ctr"/>
            <a:r>
              <a:rPr lang="en-US" sz="1200" b="1" dirty="0">
                <a:latin typeface="Amazon Ember" panose="020B0603020204020204" pitchFamily="34" charset="0"/>
                <a:ea typeface="Amazon Ember" panose="020B0603020204020204" pitchFamily="34" charset="0"/>
                <a:cs typeface="Amazon Ember" panose="020B0603020204020204" pitchFamily="34" charset="0"/>
              </a:rPr>
              <a:t>8</a:t>
            </a:r>
          </a:p>
        </p:txBody>
      </p:sp>
      <p:sp>
        <p:nvSpPr>
          <p:cNvPr id="99" name="TextBox 34">
            <a:extLst>
              <a:ext uri="{FF2B5EF4-FFF2-40B4-BE49-F238E27FC236}">
                <a16:creationId xmlns:a16="http://schemas.microsoft.com/office/drawing/2014/main" id="{BD1B8AD9-2E1B-F845-B543-24EBC6838971}"/>
              </a:ext>
            </a:extLst>
          </p:cNvPr>
          <p:cNvSpPr txBox="1">
            <a:spLocks noChangeArrowheads="1"/>
          </p:cNvSpPr>
          <p:nvPr/>
        </p:nvSpPr>
        <p:spPr bwMode="auto">
          <a:xfrm>
            <a:off x="7525415" y="2430576"/>
            <a:ext cx="31131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200" b="1" dirty="0">
                <a:solidFill>
                  <a:schemeClr val="accent1"/>
                </a:solidFill>
                <a:effectLst>
                  <a:glow rad="127000">
                    <a:schemeClr val="bg1"/>
                  </a:glow>
                </a:effectLst>
                <a:latin typeface="APPLE CHANCERY" panose="03020702040506060504" pitchFamily="66" charset="-79"/>
                <a:ea typeface="Amazon Ember Heavy" panose="020B0603020204020204" pitchFamily="34" charset="0"/>
                <a:cs typeface="APPLE CHANCERY" panose="03020702040506060504" pitchFamily="66" charset="-79"/>
              </a:rPr>
              <a:t>W</a:t>
            </a:r>
          </a:p>
        </p:txBody>
      </p:sp>
      <p:sp>
        <p:nvSpPr>
          <p:cNvPr id="100" name="TextBox 34">
            <a:extLst>
              <a:ext uri="{FF2B5EF4-FFF2-40B4-BE49-F238E27FC236}">
                <a16:creationId xmlns:a16="http://schemas.microsoft.com/office/drawing/2014/main" id="{C89EFCF7-9A9A-E040-9072-EA75E47117FB}"/>
              </a:ext>
            </a:extLst>
          </p:cNvPr>
          <p:cNvSpPr txBox="1">
            <a:spLocks noChangeArrowheads="1"/>
          </p:cNvSpPr>
          <p:nvPr/>
        </p:nvSpPr>
        <p:spPr bwMode="auto">
          <a:xfrm>
            <a:off x="7525415" y="4792776"/>
            <a:ext cx="31131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200" b="1" dirty="0">
                <a:solidFill>
                  <a:schemeClr val="accent5"/>
                </a:solidFill>
                <a:effectLst>
                  <a:glow rad="127000">
                    <a:schemeClr val="bg1"/>
                  </a:glow>
                </a:effectLst>
                <a:latin typeface="APPLE CHANCERY" panose="03020702040506060504" pitchFamily="66" charset="-79"/>
                <a:ea typeface="Amazon Ember Heavy" panose="020B0603020204020204" pitchFamily="34" charset="0"/>
                <a:cs typeface="APPLE CHANCERY" panose="03020702040506060504" pitchFamily="66" charset="-79"/>
              </a:rPr>
              <a:t>S</a:t>
            </a:r>
          </a:p>
        </p:txBody>
      </p:sp>
    </p:spTree>
    <p:extLst>
      <p:ext uri="{BB962C8B-B14F-4D97-AF65-F5344CB8AC3E}">
        <p14:creationId xmlns:p14="http://schemas.microsoft.com/office/powerpoint/2010/main" val="1309490934"/>
      </p:ext>
    </p:extLst>
  </p:cSld>
  <p:clrMapOvr>
    <a:masterClrMapping/>
  </p:clrMapOvr>
</p:sld>
</file>

<file path=ppt/theme/theme1.xml><?xml version="1.0" encoding="utf-8"?>
<a:theme xmlns:a="http://schemas.openxmlformats.org/drawingml/2006/main" name="Office Theme">
  <a:themeElements>
    <a:clrScheme name="AWS-architecture-icons">
      <a:dk1>
        <a:srgbClr val="232F3C"/>
      </a:dk1>
      <a:lt1>
        <a:srgbClr val="FAFAFA"/>
      </a:lt1>
      <a:dk2>
        <a:srgbClr val="545B63"/>
      </a:dk2>
      <a:lt2>
        <a:srgbClr val="E5ECEF"/>
      </a:lt2>
      <a:accent1>
        <a:srgbClr val="FF9900"/>
      </a:accent1>
      <a:accent2>
        <a:srgbClr val="F0613C"/>
      </a:accent2>
      <a:accent3>
        <a:srgbClr val="007CBD"/>
      </a:accent3>
      <a:accent4>
        <a:srgbClr val="00A0C8"/>
      </a:accent4>
      <a:accent5>
        <a:srgbClr val="1D8900"/>
      </a:accent5>
      <a:accent6>
        <a:srgbClr val="69AE34"/>
      </a:accent6>
      <a:hlink>
        <a:srgbClr val="007CBC"/>
      </a:hlink>
      <a:folHlink>
        <a:srgbClr val="007CB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7222</TotalTime>
  <Words>495</Words>
  <Application>Microsoft Macintosh PowerPoint</Application>
  <PresentationFormat>Widescreen</PresentationFormat>
  <Paragraphs>82</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Amazon Ember</vt:lpstr>
      <vt:lpstr>APPLE CHANCERY</vt:lpstr>
      <vt:lpstr>Arial</vt:lpstr>
      <vt:lpstr>Calibri</vt:lpstr>
      <vt:lpstr>Office Theme</vt:lpstr>
      <vt:lpstr>PowerPoint Presentation</vt:lpstr>
    </vt:vector>
  </TitlesOfParts>
  <Manager/>
  <Company>Amazon.com</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Reference Architecture Title</dc:title>
  <dc:subject/>
  <dc:creator>Amazon Web Services</dc:creator>
  <cp:keywords/>
  <dc:description/>
  <cp:lastModifiedBy>Jorge Fonseca</cp:lastModifiedBy>
  <cp:revision>139</cp:revision>
  <dcterms:created xsi:type="dcterms:W3CDTF">2018-02-11T04:20:17Z</dcterms:created>
  <dcterms:modified xsi:type="dcterms:W3CDTF">2023-02-28T23:58:46Z</dcterms:modified>
  <cp:category/>
</cp:coreProperties>
</file>