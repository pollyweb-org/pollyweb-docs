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833" r:id="rId2"/>
    <p:sldId id="1690" r:id="rId3"/>
    <p:sldId id="1720" r:id="rId4"/>
    <p:sldId id="1763" r:id="rId5"/>
    <p:sldId id="1845" r:id="rId6"/>
    <p:sldId id="1855" r:id="rId7"/>
    <p:sldId id="1711" r:id="rId8"/>
  </p:sldIdLst>
  <p:sldSz cx="12192000" cy="6858000"/>
  <p:notesSz cx="6858000" cy="9144000"/>
  <p:embeddedFontLst>
    <p:embeddedFont>
      <p:font typeface="Amazon Ember" panose="020B0603020204020204" pitchFamily="34" charset="0"/>
      <p:regular r:id="rId11"/>
      <p:bold r:id="rId12"/>
      <p:italic r:id="rId13"/>
      <p:boldItalic r:id="rId14"/>
    </p:embeddedFont>
    <p:embeddedFont>
      <p:font typeface="Amazon Ember Display" panose="020B0603020204020204" pitchFamily="34" charset="0"/>
      <p:regular r:id="rId15"/>
      <p:bold r:id="rId16"/>
      <p:italic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📨 Domain Comms" id="{99CFD94D-794F-7A4C-8500-8C4EA52CB0E6}">
          <p14:sldIdLst>
            <p14:sldId id="1833"/>
            <p14:sldId id="1690"/>
            <p14:sldId id="1720"/>
            <p14:sldId id="1763"/>
            <p14:sldId id="1845"/>
            <p14:sldId id="1855"/>
            <p14:sldId id="1711"/>
          </p14:sldIdLst>
        </p14:section>
        <p14:section name="Default Section" id="{3347790E-766C-144A-829B-7966F370A95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6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92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5B13E-3C68-1138-BBD9-9B7E66C79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37BC9-8FAF-59D9-4AA9-C66E1CD7C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385D-8951-8D2E-D666-EE1251B4B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160FAF3-6B3F-6505-310F-5436117D7AF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4BF2-43A4-BFCD-0957-15D50B1E6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A68EFE-32AD-74B1-6F74-ACE606CBE53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9A01D-71DE-3962-A612-17CF548B4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03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0FDE-053D-9513-E820-7D7AEBE5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8C25F-D42C-D22B-B62B-003B6CC5F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CC552-5DD6-388B-0CA4-E12FCA03C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AE6C5D-B674-A70F-1009-573B6625518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96F0-40CB-0EEC-5009-EE3FE117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5B4C053-5896-15E0-9967-E5A40AFB10E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C2E75-415E-9310-EC8B-8B81BC4897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077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3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9F5B9-973A-A05A-3498-1C1939F9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B8276-58F7-FE00-D8D1-0E7C1E53F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ED89-0032-CBCF-02A2-F26023B0C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8202E20-3B6D-C99E-11FC-F047FA2EB5A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B423-A9E7-16CE-1027-6EE52AA70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60F86E-8F4A-63E6-C269-49DF274CD4F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734FD-E1A1-EA58-C498-51A30FDA41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40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4.svg"/><Relationship Id="rId4" Type="http://schemas.openxmlformats.org/officeDocument/2006/relationships/image" Target="../media/image4.sv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76A42-0866-EEEA-6A69-995269F4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6BDC0-948B-EECE-0DAE-75DC571EF25E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📨 Domain Comms</a:t>
            </a:r>
          </a:p>
        </p:txBody>
      </p:sp>
    </p:spTree>
    <p:extLst>
      <p:ext uri="{BB962C8B-B14F-4D97-AF65-F5344CB8AC3E}">
        <p14:creationId xmlns:p14="http://schemas.microsoft.com/office/powerpoint/2010/main" val="67324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F12A-5204-A32C-9F74-9ABA374B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1E93C2-26E4-577E-1041-47EF141B8E4A}"/>
              </a:ext>
            </a:extLst>
          </p:cNvPr>
          <p:cNvSpPr/>
          <p:nvPr/>
        </p:nvSpPr>
        <p:spPr>
          <a:xfrm>
            <a:off x="1836248" y="3046934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FB74DE-1967-654B-76E0-411CDB3BF965}"/>
              </a:ext>
            </a:extLst>
          </p:cNvPr>
          <p:cNvSpPr/>
          <p:nvPr/>
        </p:nvSpPr>
        <p:spPr>
          <a:xfrm>
            <a:off x="8045595" y="3046934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B280AE-AE57-9BA2-7AA9-BA6AF31E9F5E}"/>
              </a:ext>
            </a:extLst>
          </p:cNvPr>
          <p:cNvSpPr/>
          <p:nvPr/>
        </p:nvSpPr>
        <p:spPr>
          <a:xfrm>
            <a:off x="4093884" y="1936077"/>
            <a:ext cx="158281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📚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DNS A</a:t>
            </a: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C0A136AA-549C-B803-7EA9-99ED2325ED9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rot="5400000" flipH="1" flipV="1">
            <a:off x="3075664" y="2028715"/>
            <a:ext cx="829765" cy="1206675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5928354-B998-E393-61B6-0CEA4AF70A73}"/>
              </a:ext>
            </a:extLst>
          </p:cNvPr>
          <p:cNvSpPr txBox="1">
            <a:spLocks/>
          </p:cNvSpPr>
          <p:nvPr/>
        </p:nvSpPr>
        <p:spPr>
          <a:xfrm>
            <a:off x="1180314" y="2239919"/>
            <a:ext cx="238809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DKIM </a:t>
            </a:r>
            <a:b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    public key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36717DF1-8CFC-4BFA-F503-F08AD28FDBD8}"/>
              </a:ext>
            </a:extLst>
          </p:cNvPr>
          <p:cNvCxnSpPr>
            <a:cxnSpLocks/>
            <a:stCxn id="7" idx="2"/>
            <a:endCxn id="42" idx="1"/>
          </p:cNvCxnSpPr>
          <p:nvPr/>
        </p:nvCxnSpPr>
        <p:spPr>
          <a:xfrm rot="16200000" flipH="1">
            <a:off x="3422734" y="3073592"/>
            <a:ext cx="927030" cy="199808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6993B9-65A3-5AF4-BED1-AE1E2905726B}"/>
              </a:ext>
            </a:extLst>
          </p:cNvPr>
          <p:cNvSpPr txBox="1"/>
          <p:nvPr/>
        </p:nvSpPr>
        <p:spPr>
          <a:xfrm>
            <a:off x="4885289" y="4182204"/>
            <a:ext cx="252304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✉️🔏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message signed with private key</a:t>
            </a:r>
          </a:p>
        </p:txBody>
      </p: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E83E8E90-B42F-0084-5CC0-CC65E6CB0298}"/>
              </a:ext>
            </a:extLst>
          </p:cNvPr>
          <p:cNvCxnSpPr>
            <a:cxnSpLocks/>
            <a:stCxn id="42" idx="3"/>
            <a:endCxn id="14" idx="2"/>
          </p:cNvCxnSpPr>
          <p:nvPr/>
        </p:nvCxnSpPr>
        <p:spPr>
          <a:xfrm flipV="1">
            <a:off x="7408332" y="3609117"/>
            <a:ext cx="1688224" cy="9270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8CC18773-72D0-64CC-CAA1-54BE2B675D57}"/>
              </a:ext>
            </a:extLst>
          </p:cNvPr>
          <p:cNvCxnSpPr>
            <a:cxnSpLocks/>
            <a:stCxn id="14" idx="0"/>
            <a:endCxn id="18" idx="3"/>
          </p:cNvCxnSpPr>
          <p:nvPr/>
        </p:nvCxnSpPr>
        <p:spPr>
          <a:xfrm rot="16200000" flipV="1">
            <a:off x="6971744" y="922122"/>
            <a:ext cx="829765" cy="3419860"/>
          </a:xfrm>
          <a:prstGeom prst="bentConnector2">
            <a:avLst/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703F5200-1990-2D34-3634-3770A2F324E1}"/>
              </a:ext>
            </a:extLst>
          </p:cNvPr>
          <p:cNvSpPr txBox="1">
            <a:spLocks/>
          </p:cNvSpPr>
          <p:nvPr/>
        </p:nvSpPr>
        <p:spPr>
          <a:xfrm>
            <a:off x="9199911" y="2299030"/>
            <a:ext cx="140059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signed by sender?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B4E0CE-AF21-EE56-7F2E-763E032E3231}"/>
              </a:ext>
            </a:extLst>
          </p:cNvPr>
          <p:cNvSpPr txBox="1">
            <a:spLocks/>
          </p:cNvSpPr>
          <p:nvPr/>
        </p:nvSpPr>
        <p:spPr>
          <a:xfrm>
            <a:off x="5891266" y="1716784"/>
            <a:ext cx="208050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is it DNSSEC?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BEE8804-1B1B-27EC-2389-E917259EAE5C}"/>
              </a:ext>
            </a:extLst>
          </p:cNvPr>
          <p:cNvSpPr txBox="1"/>
          <p:nvPr/>
        </p:nvSpPr>
        <p:spPr>
          <a:xfrm>
            <a:off x="2992089" y="2631784"/>
            <a:ext cx="5639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1️⃣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2E88B7-02B8-D6B3-7F32-86720BE6FA35}"/>
              </a:ext>
            </a:extLst>
          </p:cNvPr>
          <p:cNvSpPr txBox="1"/>
          <p:nvPr/>
        </p:nvSpPr>
        <p:spPr>
          <a:xfrm>
            <a:off x="2992089" y="3782094"/>
            <a:ext cx="8771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2️⃣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C100D6-A23D-625E-7034-088AF8301382}"/>
              </a:ext>
            </a:extLst>
          </p:cNvPr>
          <p:cNvSpPr txBox="1"/>
          <p:nvPr/>
        </p:nvSpPr>
        <p:spPr>
          <a:xfrm>
            <a:off x="8590311" y="2664301"/>
            <a:ext cx="825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3️⃣</a:t>
            </a: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E02EF77A-B898-8E57-28BB-C47B36BBE9E3}"/>
              </a:ext>
            </a:extLst>
          </p:cNvPr>
          <p:cNvSpPr txBox="1">
            <a:spLocks/>
          </p:cNvSpPr>
          <p:nvPr/>
        </p:nvSpPr>
        <p:spPr>
          <a:xfrm>
            <a:off x="9199911" y="3718688"/>
            <a:ext cx="238809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GB" sz="2000" dirty="0"/>
              <a:t>📨 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Inbox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51C5AF-7F70-F604-E9DE-FB409B3AB606}"/>
              </a:ext>
            </a:extLst>
          </p:cNvPr>
          <p:cNvSpPr txBox="1"/>
          <p:nvPr/>
        </p:nvSpPr>
        <p:spPr>
          <a:xfrm>
            <a:off x="206409" y="6409189"/>
            <a:ext cx="83356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COMMS</a:t>
            </a:r>
          </a:p>
        </p:txBody>
      </p:sp>
    </p:spTree>
    <p:extLst>
      <p:ext uri="{BB962C8B-B14F-4D97-AF65-F5344CB8AC3E}">
        <p14:creationId xmlns:p14="http://schemas.microsoft.com/office/powerpoint/2010/main" val="313803088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BB65-9770-8016-0C81-9EAEF415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826EAFB-1F72-18C5-53B6-3EDEF382ECC9}"/>
              </a:ext>
            </a:extLst>
          </p:cNvPr>
          <p:cNvGrpSpPr/>
          <p:nvPr/>
        </p:nvGrpSpPr>
        <p:grpSpPr>
          <a:xfrm>
            <a:off x="4406040" y="1515806"/>
            <a:ext cx="1601270" cy="1038741"/>
            <a:chOff x="7507403" y="1006813"/>
            <a:chExt cx="691415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D4E9D5-9505-3BEA-C849-C0673D22CBCF}"/>
                </a:ext>
              </a:extLst>
            </p:cNvPr>
            <p:cNvSpPr/>
            <p:nvPr/>
          </p:nvSpPr>
          <p:spPr>
            <a:xfrm>
              <a:off x="7542298" y="1386857"/>
              <a:ext cx="624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36F7CF-05CC-C8C8-1672-7AF38AB7BF83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03CE3937-B459-1653-62E2-3F735AA0114B}"/>
              </a:ext>
            </a:extLst>
          </p:cNvPr>
          <p:cNvCxnSpPr>
            <a:cxnSpLocks/>
            <a:stCxn id="6" idx="1"/>
            <a:endCxn id="145" idx="3"/>
          </p:cNvCxnSpPr>
          <p:nvPr/>
        </p:nvCxnSpPr>
        <p:spPr>
          <a:xfrm flipH="1" flipV="1">
            <a:off x="2201813" y="2030689"/>
            <a:ext cx="2204227" cy="4488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C95B3D97-F07A-B5CB-C884-B6EF2853D2E0}"/>
              </a:ext>
            </a:extLst>
          </p:cNvPr>
          <p:cNvCxnSpPr>
            <a:cxnSpLocks/>
            <a:stCxn id="6" idx="0"/>
            <a:endCxn id="10" idx="0"/>
          </p:cNvCxnSpPr>
          <p:nvPr/>
        </p:nvCxnSpPr>
        <p:spPr>
          <a:xfrm rot="5400000" flipH="1" flipV="1">
            <a:off x="6679017" y="-739664"/>
            <a:ext cx="783129" cy="3727813"/>
          </a:xfrm>
          <a:prstGeom prst="bentConnector3">
            <a:avLst>
              <a:gd name="adj1" fmla="val 151314"/>
            </a:avLst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14345143-860C-55B6-B377-8A97CC1B0A82}"/>
              </a:ext>
            </a:extLst>
          </p:cNvPr>
          <p:cNvSpPr txBox="1">
            <a:spLocks/>
          </p:cNvSpPr>
          <p:nvPr/>
        </p:nvSpPr>
        <p:spPr>
          <a:xfrm>
            <a:off x="2797525" y="1230789"/>
            <a:ext cx="13701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discover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D8865648-A527-87A1-800B-F1B79AE54C77}"/>
              </a:ext>
            </a:extLst>
          </p:cNvPr>
          <p:cNvSpPr/>
          <p:nvPr/>
        </p:nvSpPr>
        <p:spPr>
          <a:xfrm>
            <a:off x="2406116" y="149561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1E64C509-5CE0-62A4-C48E-A94259E481EB}"/>
              </a:ext>
            </a:extLst>
          </p:cNvPr>
          <p:cNvSpPr txBox="1">
            <a:spLocks/>
          </p:cNvSpPr>
          <p:nvPr/>
        </p:nvSpPr>
        <p:spPr>
          <a:xfrm>
            <a:off x="5747205" y="460920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97EFCA28-AB35-45F1-9751-905EF15DCA90}"/>
              </a:ext>
            </a:extLst>
          </p:cNvPr>
          <p:cNvSpPr/>
          <p:nvPr/>
        </p:nvSpPr>
        <p:spPr>
          <a:xfrm>
            <a:off x="5377537" y="48097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1A5CB2F-6C4A-6FAF-768C-6BAC635FF4BD}"/>
              </a:ext>
            </a:extLst>
          </p:cNvPr>
          <p:cNvGrpSpPr/>
          <p:nvPr/>
        </p:nvGrpSpPr>
        <p:grpSpPr>
          <a:xfrm>
            <a:off x="440416" y="1511318"/>
            <a:ext cx="1761397" cy="1038741"/>
            <a:chOff x="7507403" y="1006813"/>
            <a:chExt cx="691415" cy="103874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874E82C7-FD67-1890-F297-D171DF65C85B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8C1F6F3B-C7C1-73A8-D4FD-2A5C28C8AC71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DF40E98-5F43-DE50-0382-C2D1DC8584B3}"/>
              </a:ext>
            </a:extLst>
          </p:cNvPr>
          <p:cNvGrpSpPr/>
          <p:nvPr/>
        </p:nvGrpSpPr>
        <p:grpSpPr>
          <a:xfrm>
            <a:off x="7823896" y="732677"/>
            <a:ext cx="2221184" cy="2000898"/>
            <a:chOff x="7507404" y="1006813"/>
            <a:chExt cx="959089" cy="20008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26E2215-E19A-D9A1-2C11-28CFA48BA7BC}"/>
                </a:ext>
              </a:extLst>
            </p:cNvPr>
            <p:cNvSpPr/>
            <p:nvPr/>
          </p:nvSpPr>
          <p:spPr>
            <a:xfrm>
              <a:off x="7553548" y="1378147"/>
              <a:ext cx="866799" cy="663299"/>
            </a:xfrm>
            <a:prstGeom prst="rect">
              <a:avLst/>
            </a:prstGeom>
            <a:noFill/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 Streamer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D703E1-50F3-54F8-46EA-6A9B11C06674}"/>
                </a:ext>
              </a:extLst>
            </p:cNvPr>
            <p:cNvSpPr/>
            <p:nvPr/>
          </p:nvSpPr>
          <p:spPr>
            <a:xfrm>
              <a:off x="7507404" y="1006813"/>
              <a:ext cx="959089" cy="200089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Integrator</a:t>
              </a: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A1E54C4-6FE0-B8F2-9FF9-D2208F43C9A1}"/>
              </a:ext>
            </a:extLst>
          </p:cNvPr>
          <p:cNvSpPr/>
          <p:nvPr/>
        </p:nvSpPr>
        <p:spPr>
          <a:xfrm>
            <a:off x="925627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E9C677-E580-ABCB-5DC1-E88011369E80}"/>
              </a:ext>
            </a:extLst>
          </p:cNvPr>
          <p:cNvSpPr txBox="1"/>
          <p:nvPr/>
        </p:nvSpPr>
        <p:spPr>
          <a:xfrm>
            <a:off x="7832802" y="2258002"/>
            <a:ext cx="2221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27AAB1D-E06D-B61C-4E8F-E927A014AB0B}"/>
              </a:ext>
            </a:extLst>
          </p:cNvPr>
          <p:cNvSpPr/>
          <p:nvPr/>
        </p:nvSpPr>
        <p:spPr>
          <a:xfrm>
            <a:off x="8767151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6124BE4-87FB-0B04-CD79-A83FE7DDF956}"/>
              </a:ext>
            </a:extLst>
          </p:cNvPr>
          <p:cNvSpPr/>
          <p:nvPr/>
        </p:nvSpPr>
        <p:spPr>
          <a:xfrm>
            <a:off x="8278026" y="18841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246CAAB-2CF0-78F1-F963-265A16A4FC82}"/>
              </a:ext>
            </a:extLst>
          </p:cNvPr>
          <p:cNvGrpSpPr/>
          <p:nvPr/>
        </p:nvGrpSpPr>
        <p:grpSpPr>
          <a:xfrm>
            <a:off x="11078402" y="1511317"/>
            <a:ext cx="701748" cy="1038741"/>
            <a:chOff x="7507403" y="1006813"/>
            <a:chExt cx="303009" cy="1038741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7C7CC8B-6377-7897-7976-D6B3A2805F0B}"/>
                </a:ext>
              </a:extLst>
            </p:cNvPr>
            <p:cNvSpPr/>
            <p:nvPr/>
          </p:nvSpPr>
          <p:spPr>
            <a:xfrm>
              <a:off x="7538137" y="1386857"/>
              <a:ext cx="23492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FF2A587-9DDD-430B-AEC0-26C15C801D4E}"/>
                </a:ext>
              </a:extLst>
            </p:cNvPr>
            <p:cNvSpPr/>
            <p:nvPr/>
          </p:nvSpPr>
          <p:spPr>
            <a:xfrm>
              <a:off x="7507403" y="1006813"/>
              <a:ext cx="30300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B5B09670-42AC-2008-DC1A-C2CA880BC7A9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10053986" y="2030688"/>
            <a:ext cx="1024416" cy="0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EFEE5B55-E62E-E830-3C3D-FBEE7F74A109}"/>
              </a:ext>
            </a:extLst>
          </p:cNvPr>
          <p:cNvSpPr/>
          <p:nvPr/>
        </p:nvSpPr>
        <p:spPr>
          <a:xfrm>
            <a:off x="9078737" y="308195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31D1B9AB-C5E7-F231-FC9F-3C20531F0043}"/>
              </a:ext>
            </a:extLst>
          </p:cNvPr>
          <p:cNvSpPr txBox="1">
            <a:spLocks/>
          </p:cNvSpPr>
          <p:nvPr/>
        </p:nvSpPr>
        <p:spPr>
          <a:xfrm>
            <a:off x="9437584" y="3052891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3CA5C657-14B8-BC4F-765E-B9FC80FD27AD}"/>
              </a:ext>
            </a:extLst>
          </p:cNvPr>
          <p:cNvSpPr/>
          <p:nvPr/>
        </p:nvSpPr>
        <p:spPr>
          <a:xfrm>
            <a:off x="10176921" y="219231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F1CF69-ADE8-3B20-0A57-E42CE9508F63}"/>
              </a:ext>
            </a:extLst>
          </p:cNvPr>
          <p:cNvGrpSpPr/>
          <p:nvPr/>
        </p:nvGrpSpPr>
        <p:grpSpPr>
          <a:xfrm>
            <a:off x="5571348" y="2909629"/>
            <a:ext cx="1774985" cy="1038741"/>
            <a:chOff x="3316779" y="3444986"/>
            <a:chExt cx="1774985" cy="103874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7ACE8D-9A91-F6EC-E8BF-9D782B530727}"/>
                </a:ext>
              </a:extLst>
            </p:cNvPr>
            <p:cNvSpPr/>
            <p:nvPr/>
          </p:nvSpPr>
          <p:spPr>
            <a:xfrm>
              <a:off x="3405663" y="3837321"/>
              <a:ext cx="160228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670A42-5EC5-EC86-61A9-2EF7B857CF1F}"/>
                </a:ext>
              </a:extLst>
            </p:cNvPr>
            <p:cNvSpPr/>
            <p:nvPr/>
          </p:nvSpPr>
          <p:spPr>
            <a:xfrm>
              <a:off x="3316779" y="3444986"/>
              <a:ext cx="17749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host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bound</a:t>
              </a: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3387DBA3-B976-DA17-C571-0E5A98A9C188}"/>
              </a:ext>
            </a:extLst>
          </p:cNvPr>
          <p:cNvCxnSpPr>
            <a:cxnSpLocks/>
            <a:stCxn id="10" idx="2"/>
            <a:endCxn id="12" idx="3"/>
          </p:cNvCxnSpPr>
          <p:nvPr/>
        </p:nvCxnSpPr>
        <p:spPr>
          <a:xfrm rot="5400000">
            <a:off x="7792699" y="2287210"/>
            <a:ext cx="695425" cy="1588155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BD795EBF-9E49-CB5F-249D-A4981B742D87}"/>
              </a:ext>
            </a:extLst>
          </p:cNvPr>
          <p:cNvCxnSpPr>
            <a:cxnSpLocks/>
            <a:stCxn id="12" idx="1"/>
            <a:endCxn id="6" idx="2"/>
          </p:cNvCxnSpPr>
          <p:nvPr/>
        </p:nvCxnSpPr>
        <p:spPr>
          <a:xfrm rot="10800000">
            <a:off x="5206676" y="2554548"/>
            <a:ext cx="364673" cy="874453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775665D-C017-2480-980F-2C5C387B712A}"/>
              </a:ext>
            </a:extLst>
          </p:cNvPr>
          <p:cNvSpPr txBox="1">
            <a:spLocks/>
          </p:cNvSpPr>
          <p:nvPr/>
        </p:nvSpPr>
        <p:spPr>
          <a:xfrm>
            <a:off x="10117999" y="254472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push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11422B-3C6F-5365-C210-0C0C26654CF1}"/>
              </a:ext>
            </a:extLst>
          </p:cNvPr>
          <p:cNvSpPr txBox="1"/>
          <p:nvPr/>
        </p:nvSpPr>
        <p:spPr>
          <a:xfrm>
            <a:off x="7856689" y="937936"/>
            <a:ext cx="5077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47565-6190-1FFB-8C04-74F1FB9C6B4C}"/>
              </a:ext>
            </a:extLst>
          </p:cNvPr>
          <p:cNvSpPr txBox="1"/>
          <p:nvPr/>
        </p:nvSpPr>
        <p:spPr>
          <a:xfrm>
            <a:off x="147264" y="6233934"/>
            <a:ext cx="178734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STREAMER</a:t>
            </a:r>
          </a:p>
        </p:txBody>
      </p:sp>
    </p:spTree>
    <p:extLst>
      <p:ext uri="{BB962C8B-B14F-4D97-AF65-F5344CB8AC3E}">
        <p14:creationId xmlns:p14="http://schemas.microsoft.com/office/powerpoint/2010/main" val="40866123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5AA76E2-5387-0591-6806-A600C2228479}"/>
              </a:ext>
            </a:extLst>
          </p:cNvPr>
          <p:cNvGrpSpPr/>
          <p:nvPr/>
        </p:nvGrpSpPr>
        <p:grpSpPr>
          <a:xfrm>
            <a:off x="4932227" y="590462"/>
            <a:ext cx="1776583" cy="2711002"/>
            <a:chOff x="7507403" y="1006813"/>
            <a:chExt cx="697376" cy="271100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D6AC1D-344D-AA77-6B95-6D3A7A4D98F1}"/>
                </a:ext>
              </a:extLst>
            </p:cNvPr>
            <p:cNvSpPr/>
            <p:nvPr/>
          </p:nvSpPr>
          <p:spPr>
            <a:xfrm>
              <a:off x="7507403" y="1006813"/>
              <a:ext cx="697376" cy="2711002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8DEEFA4-E202-86D3-C618-FA86C0AAF42E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</p:grp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39001D68-FEB3-0A3F-7BAE-4A1CD6E666D8}"/>
              </a:ext>
            </a:extLst>
          </p:cNvPr>
          <p:cNvCxnSpPr>
            <a:cxnSpLocks/>
            <a:endCxn id="33" idx="3"/>
          </p:cNvCxnSpPr>
          <p:nvPr/>
        </p:nvCxnSpPr>
        <p:spPr>
          <a:xfrm rot="16200000" flipH="1">
            <a:off x="4838922" y="1796030"/>
            <a:ext cx="700823" cy="19513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E4AA81-C48C-E0CB-5C31-21CBFCA1FB81}"/>
              </a:ext>
            </a:extLst>
          </p:cNvPr>
          <p:cNvGrpSpPr/>
          <p:nvPr/>
        </p:nvGrpSpPr>
        <p:grpSpPr>
          <a:xfrm>
            <a:off x="688001" y="587245"/>
            <a:ext cx="2131291" cy="1038741"/>
            <a:chOff x="7507403" y="1006813"/>
            <a:chExt cx="691415" cy="103874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193745-5696-4667-3566-77573308F3D0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    Streamer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A1D6169-8A1F-9DBE-16A5-A43E0AD247E9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D5E814C-7135-51A2-FEAF-C06A2BCCEB00}"/>
              </a:ext>
            </a:extLst>
          </p:cNvPr>
          <p:cNvSpPr txBox="1"/>
          <p:nvPr/>
        </p:nvSpPr>
        <p:spPr>
          <a:xfrm>
            <a:off x="705283" y="830863"/>
            <a:ext cx="8922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US" sz="4400" dirty="0"/>
          </a:p>
        </p:txBody>
      </p: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FC545FDC-D3A3-6D5C-C249-0CF8BA67BF55}"/>
              </a:ext>
            </a:extLst>
          </p:cNvPr>
          <p:cNvCxnSpPr>
            <a:cxnSpLocks/>
            <a:stCxn id="20" idx="3"/>
            <a:endCxn id="17" idx="1"/>
          </p:cNvCxnSpPr>
          <p:nvPr/>
        </p:nvCxnSpPr>
        <p:spPr>
          <a:xfrm>
            <a:off x="2721506" y="1248381"/>
            <a:ext cx="2289017" cy="321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59BCF5A2-D11C-B575-A78D-570453732D4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6612809" y="1251598"/>
            <a:ext cx="2782931" cy="1049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505F773-645F-BDD8-1193-33EF43BE5788}"/>
              </a:ext>
            </a:extLst>
          </p:cNvPr>
          <p:cNvSpPr/>
          <p:nvPr/>
        </p:nvSpPr>
        <p:spPr>
          <a:xfrm>
            <a:off x="6840667" y="138326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0A3682A-6963-1A73-AD3D-DF5335D03A42}"/>
              </a:ext>
            </a:extLst>
          </p:cNvPr>
          <p:cNvSpPr txBox="1">
            <a:spLocks/>
          </p:cNvSpPr>
          <p:nvPr/>
        </p:nvSpPr>
        <p:spPr>
          <a:xfrm>
            <a:off x="7199514" y="1354197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wake up!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27E69D1-A6AC-AFEB-E5FC-22652C513132}"/>
              </a:ext>
            </a:extLst>
          </p:cNvPr>
          <p:cNvGrpSpPr/>
          <p:nvPr/>
        </p:nvGrpSpPr>
        <p:grpSpPr>
          <a:xfrm>
            <a:off x="5286902" y="2001369"/>
            <a:ext cx="1126524" cy="485284"/>
            <a:chOff x="6815360" y="4134487"/>
            <a:chExt cx="1126524" cy="645912"/>
          </a:xfrm>
        </p:grpSpPr>
        <p:sp>
          <p:nvSpPr>
            <p:cNvPr id="33" name="Can 32">
              <a:extLst>
                <a:ext uri="{FF2B5EF4-FFF2-40B4-BE49-F238E27FC236}">
                  <a16:creationId xmlns:a16="http://schemas.microsoft.com/office/drawing/2014/main" id="{3CC379A6-8627-54A5-0D6A-6D73DE5EB486}"/>
                </a:ext>
              </a:extLst>
            </p:cNvPr>
            <p:cNvSpPr/>
            <p:nvPr/>
          </p:nvSpPr>
          <p:spPr>
            <a:xfrm rot="5400000">
              <a:off x="7055666" y="3894181"/>
              <a:ext cx="645912" cy="1126524"/>
            </a:xfrm>
            <a:prstGeom prst="ca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2B4EEDC-7498-9162-8649-24052650119E}"/>
                </a:ext>
              </a:extLst>
            </p:cNvPr>
            <p:cNvSpPr txBox="1"/>
            <p:nvPr/>
          </p:nvSpPr>
          <p:spPr>
            <a:xfrm>
              <a:off x="6891891" y="4255059"/>
              <a:ext cx="869994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queue</a:t>
              </a:r>
            </a:p>
          </p:txBody>
        </p: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0AEAB1A-2D18-B765-8A3E-85AA7B169BD5}"/>
              </a:ext>
            </a:extLst>
          </p:cNvPr>
          <p:cNvSpPr/>
          <p:nvPr/>
        </p:nvSpPr>
        <p:spPr>
          <a:xfrm>
            <a:off x="4107705" y="1400739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927CAD9D-DE47-579C-DE15-1EC0C4390D4F}"/>
              </a:ext>
            </a:extLst>
          </p:cNvPr>
          <p:cNvSpPr/>
          <p:nvPr/>
        </p:nvSpPr>
        <p:spPr>
          <a:xfrm>
            <a:off x="3618580" y="1400739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BA9FFC8-F9BE-DA30-29E4-5D66D26B0039}"/>
              </a:ext>
            </a:extLst>
          </p:cNvPr>
          <p:cNvSpPr/>
          <p:nvPr/>
        </p:nvSpPr>
        <p:spPr>
          <a:xfrm>
            <a:off x="3129455" y="140073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317DBD05-EA5B-4123-7DC4-EE72584832C2}"/>
              </a:ext>
            </a:extLst>
          </p:cNvPr>
          <p:cNvCxnSpPr>
            <a:cxnSpLocks/>
            <a:stCxn id="14" idx="2"/>
            <a:endCxn id="33" idx="1"/>
          </p:cNvCxnSpPr>
          <p:nvPr/>
        </p:nvCxnSpPr>
        <p:spPr>
          <a:xfrm rot="5400000">
            <a:off x="8118662" y="-74760"/>
            <a:ext cx="613536" cy="4024007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CA2BA75-A390-059A-4597-B848FBFB94F4}"/>
              </a:ext>
            </a:extLst>
          </p:cNvPr>
          <p:cNvSpPr/>
          <p:nvPr/>
        </p:nvSpPr>
        <p:spPr>
          <a:xfrm>
            <a:off x="6847735" y="237085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D19FE98E-4E57-5434-FF94-BD0C192BA1B2}"/>
              </a:ext>
            </a:extLst>
          </p:cNvPr>
          <p:cNvSpPr txBox="1">
            <a:spLocks/>
          </p:cNvSpPr>
          <p:nvPr/>
        </p:nvSpPr>
        <p:spPr>
          <a:xfrm>
            <a:off x="7206582" y="2341796"/>
            <a:ext cx="200866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8495CD06-B885-3179-222E-958EF372E7B1}"/>
              </a:ext>
            </a:extLst>
          </p:cNvPr>
          <p:cNvSpPr/>
          <p:nvPr/>
        </p:nvSpPr>
        <p:spPr>
          <a:xfrm>
            <a:off x="6840667" y="2860461"/>
            <a:ext cx="360000" cy="360000"/>
          </a:xfrm>
          <a:prstGeom prst="roundRect">
            <a:avLst/>
          </a:prstGeom>
          <a:solidFill>
            <a:srgbClr val="702F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63BDB761-E23A-92AC-2000-86BF81AB8BA9}"/>
              </a:ext>
            </a:extLst>
          </p:cNvPr>
          <p:cNvSpPr txBox="1">
            <a:spLocks/>
          </p:cNvSpPr>
          <p:nvPr/>
        </p:nvSpPr>
        <p:spPr>
          <a:xfrm>
            <a:off x="7199514" y="2831398"/>
            <a:ext cx="200866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consume, sleep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0D6076-AC6B-0C06-0F99-A2AA3BDE7199}"/>
              </a:ext>
            </a:extLst>
          </p:cNvPr>
          <p:cNvGrpSpPr/>
          <p:nvPr/>
        </p:nvGrpSpPr>
        <p:grpSpPr>
          <a:xfrm>
            <a:off x="9314925" y="591734"/>
            <a:ext cx="2245016" cy="1038741"/>
            <a:chOff x="9314925" y="591734"/>
            <a:chExt cx="2245016" cy="103874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5005D1-53E0-02E8-3D2D-02CF5CA99102}"/>
                </a:ext>
              </a:extLst>
            </p:cNvPr>
            <p:cNvSpPr/>
            <p:nvPr/>
          </p:nvSpPr>
          <p:spPr>
            <a:xfrm>
              <a:off x="9314925" y="591734"/>
              <a:ext cx="224501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FACFB15-F1E7-E7D6-9EB6-6B39C56A1588}"/>
                </a:ext>
              </a:extLst>
            </p:cNvPr>
            <p:cNvSpPr/>
            <p:nvPr/>
          </p:nvSpPr>
          <p:spPr>
            <a:xfrm>
              <a:off x="9405365" y="981005"/>
              <a:ext cx="206796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Consumer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5B5F7AA-D24D-A22C-832E-3D9856B81966}"/>
              </a:ext>
            </a:extLst>
          </p:cNvPr>
          <p:cNvGrpSpPr/>
          <p:nvPr/>
        </p:nvGrpSpPr>
        <p:grpSpPr>
          <a:xfrm>
            <a:off x="3090435" y="1852146"/>
            <a:ext cx="1761397" cy="1015663"/>
            <a:chOff x="2215492" y="4207312"/>
            <a:chExt cx="1761397" cy="1015663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410C8F0-E5B1-EEB2-0834-C2A825707D13}"/>
                </a:ext>
              </a:extLst>
            </p:cNvPr>
            <p:cNvSpPr txBox="1"/>
            <p:nvPr/>
          </p:nvSpPr>
          <p:spPr>
            <a:xfrm>
              <a:off x="2548607" y="4207312"/>
              <a:ext cx="142828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public key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encrypted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events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0D09618-129E-A3D7-19C1-A71F3A107798}"/>
                </a:ext>
              </a:extLst>
            </p:cNvPr>
            <p:cNvSpPr txBox="1"/>
            <p:nvPr/>
          </p:nvSpPr>
          <p:spPr>
            <a:xfrm>
              <a:off x="2215492" y="4263081"/>
              <a:ext cx="593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🔐</a:t>
              </a:r>
              <a:endParaRPr lang="en-US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8EF3445-4CD6-EF4E-0D74-BECFF21CAF09}"/>
              </a:ext>
            </a:extLst>
          </p:cNvPr>
          <p:cNvGrpSpPr/>
          <p:nvPr/>
        </p:nvGrpSpPr>
        <p:grpSpPr>
          <a:xfrm>
            <a:off x="9424619" y="2323567"/>
            <a:ext cx="2025627" cy="707886"/>
            <a:chOff x="2225160" y="4207312"/>
            <a:chExt cx="2025627" cy="707886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4E2918D-F08F-E548-0A77-45BBFCD102C2}"/>
                </a:ext>
              </a:extLst>
            </p:cNvPr>
            <p:cNvSpPr txBox="1"/>
            <p:nvPr/>
          </p:nvSpPr>
          <p:spPr>
            <a:xfrm>
              <a:off x="2548607" y="4207312"/>
              <a:ext cx="170218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decrypt with private key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AF6258E-1015-EE87-93AA-600DBD05F11A}"/>
                </a:ext>
              </a:extLst>
            </p:cNvPr>
            <p:cNvSpPr txBox="1"/>
            <p:nvPr/>
          </p:nvSpPr>
          <p:spPr>
            <a:xfrm>
              <a:off x="2225160" y="4268078"/>
              <a:ext cx="18463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🔑</a:t>
              </a:r>
              <a:endParaRPr lang="en-US" dirty="0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099AD5C0-81BD-6C6D-9428-51B66C29487C}"/>
              </a:ext>
            </a:extLst>
          </p:cNvPr>
          <p:cNvSpPr/>
          <p:nvPr/>
        </p:nvSpPr>
        <p:spPr>
          <a:xfrm>
            <a:off x="1133972" y="2016035"/>
            <a:ext cx="1240513" cy="48653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44000" bIns="144000" anchor="t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📚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DNS</a:t>
            </a:r>
          </a:p>
        </p:txBody>
      </p: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83EAF23A-0632-1D7A-653B-AC729C1DB186}"/>
              </a:ext>
            </a:extLst>
          </p:cNvPr>
          <p:cNvCxnSpPr>
            <a:cxnSpLocks/>
            <a:stCxn id="21" idx="2"/>
            <a:endCxn id="87" idx="0"/>
          </p:cNvCxnSpPr>
          <p:nvPr/>
        </p:nvCxnSpPr>
        <p:spPr>
          <a:xfrm>
            <a:off x="1753647" y="1625986"/>
            <a:ext cx="582" cy="39004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6F7A60B2-9A0F-76BB-526C-8343038E26B7}"/>
              </a:ext>
            </a:extLst>
          </p:cNvPr>
          <p:cNvSpPr/>
          <p:nvPr/>
        </p:nvSpPr>
        <p:spPr>
          <a:xfrm>
            <a:off x="617302" y="2069001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7B1B513-E201-061A-AD21-E93BB706B797}"/>
              </a:ext>
            </a:extLst>
          </p:cNvPr>
          <p:cNvGrpSpPr/>
          <p:nvPr/>
        </p:nvGrpSpPr>
        <p:grpSpPr>
          <a:xfrm>
            <a:off x="1041187" y="2604030"/>
            <a:ext cx="1860492" cy="707886"/>
            <a:chOff x="1021937" y="2401900"/>
            <a:chExt cx="1860492" cy="707886"/>
          </a:xfrm>
        </p:grpSpPr>
        <p:sp>
          <p:nvSpPr>
            <p:cNvPr id="89" name="Content Placeholder 2">
              <a:extLst>
                <a:ext uri="{FF2B5EF4-FFF2-40B4-BE49-F238E27FC236}">
                  <a16:creationId xmlns:a16="http://schemas.microsoft.com/office/drawing/2014/main" id="{29667772-5B94-342F-A665-85A9C14F4EEB}"/>
                </a:ext>
              </a:extLst>
            </p:cNvPr>
            <p:cNvSpPr txBox="1">
              <a:spLocks/>
            </p:cNvSpPr>
            <p:nvPr/>
          </p:nvSpPr>
          <p:spPr>
            <a:xfrm>
              <a:off x="1347536" y="2401900"/>
              <a:ext cx="153489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consumer’s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public key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EBF6F8F-D2DE-8217-E7F7-12470CD37ED5}"/>
                </a:ext>
              </a:extLst>
            </p:cNvPr>
            <p:cNvSpPr txBox="1"/>
            <p:nvPr/>
          </p:nvSpPr>
          <p:spPr>
            <a:xfrm>
              <a:off x="1021937" y="2457695"/>
              <a:ext cx="593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🔑</a:t>
              </a:r>
            </a:p>
          </p:txBody>
        </p:sp>
      </p:grp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A5D73FCA-B642-0761-97D9-F98AE39E3211}"/>
              </a:ext>
            </a:extLst>
          </p:cNvPr>
          <p:cNvCxnSpPr>
            <a:cxnSpLocks/>
            <a:stCxn id="14" idx="0"/>
            <a:endCxn id="18" idx="0"/>
          </p:cNvCxnSpPr>
          <p:nvPr/>
        </p:nvCxnSpPr>
        <p:spPr>
          <a:xfrm rot="16200000" flipV="1">
            <a:off x="8128340" y="-1717359"/>
            <a:ext cx="1272" cy="4616914"/>
          </a:xfrm>
          <a:prstGeom prst="bentConnector3">
            <a:avLst>
              <a:gd name="adj1" fmla="val 18071698"/>
            </a:avLst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8758E833-BEDC-DEF7-6FD4-E455A55A53F8}"/>
              </a:ext>
            </a:extLst>
          </p:cNvPr>
          <p:cNvSpPr/>
          <p:nvPr/>
        </p:nvSpPr>
        <p:spPr>
          <a:xfrm>
            <a:off x="6848104" y="487455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8" name="Content Placeholder 2">
            <a:extLst>
              <a:ext uri="{FF2B5EF4-FFF2-40B4-BE49-F238E27FC236}">
                <a16:creationId xmlns:a16="http://schemas.microsoft.com/office/drawing/2014/main" id="{66482743-F5D6-0E22-2F6E-4CB6768B4AB4}"/>
              </a:ext>
            </a:extLst>
          </p:cNvPr>
          <p:cNvSpPr txBox="1">
            <a:spLocks/>
          </p:cNvSpPr>
          <p:nvPr/>
        </p:nvSpPr>
        <p:spPr>
          <a:xfrm>
            <a:off x="7206951" y="458392"/>
            <a:ext cx="12520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7250F7E-736D-A352-FDED-1DA78495308F}"/>
              </a:ext>
            </a:extLst>
          </p:cNvPr>
          <p:cNvGrpSpPr/>
          <p:nvPr/>
        </p:nvGrpSpPr>
        <p:grpSpPr>
          <a:xfrm>
            <a:off x="5534070" y="2634120"/>
            <a:ext cx="879356" cy="485284"/>
            <a:chOff x="6815359" y="4134487"/>
            <a:chExt cx="879356" cy="645912"/>
          </a:xfrm>
        </p:grpSpPr>
        <p:sp>
          <p:nvSpPr>
            <p:cNvPr id="120" name="Can 119">
              <a:extLst>
                <a:ext uri="{FF2B5EF4-FFF2-40B4-BE49-F238E27FC236}">
                  <a16:creationId xmlns:a16="http://schemas.microsoft.com/office/drawing/2014/main" id="{AA10F8E4-D22E-07B9-659D-0AD6B65B5ED5}"/>
                </a:ext>
              </a:extLst>
            </p:cNvPr>
            <p:cNvSpPr/>
            <p:nvPr/>
          </p:nvSpPr>
          <p:spPr>
            <a:xfrm rot="5400000">
              <a:off x="6932081" y="4017765"/>
              <a:ext cx="645912" cy="879355"/>
            </a:xfrm>
            <a:prstGeom prst="ca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635D9AB9-381F-DB23-6018-00BE89C99E37}"/>
                </a:ext>
              </a:extLst>
            </p:cNvPr>
            <p:cNvSpPr txBox="1"/>
            <p:nvPr/>
          </p:nvSpPr>
          <p:spPr>
            <a:xfrm>
              <a:off x="6891891" y="4188843"/>
              <a:ext cx="802824" cy="53254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DLQ</a:t>
              </a:r>
            </a:p>
          </p:txBody>
        </p:sp>
      </p:grpSp>
      <p:cxnSp>
        <p:nvCxnSpPr>
          <p:cNvPr id="122" name="Straight Arrow Connector 12">
            <a:extLst>
              <a:ext uri="{FF2B5EF4-FFF2-40B4-BE49-F238E27FC236}">
                <a16:creationId xmlns:a16="http://schemas.microsoft.com/office/drawing/2014/main" id="{39E6500F-3AB7-91AE-6C99-A2383D2C5574}"/>
              </a:ext>
            </a:extLst>
          </p:cNvPr>
          <p:cNvCxnSpPr>
            <a:cxnSpLocks/>
            <a:endCxn id="120" idx="3"/>
          </p:cNvCxnSpPr>
          <p:nvPr/>
        </p:nvCxnSpPr>
        <p:spPr>
          <a:xfrm rot="16200000" flipH="1">
            <a:off x="5256225" y="2598916"/>
            <a:ext cx="392194" cy="16349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D2A1AAF-476E-5F41-FE04-629944005D56}"/>
              </a:ext>
            </a:extLst>
          </p:cNvPr>
          <p:cNvSpPr txBox="1"/>
          <p:nvPr/>
        </p:nvSpPr>
        <p:spPr>
          <a:xfrm>
            <a:off x="147264" y="6233934"/>
            <a:ext cx="3313408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BUFFER: Daily usage</a:t>
            </a:r>
          </a:p>
        </p:txBody>
      </p:sp>
    </p:spTree>
    <p:extLst>
      <p:ext uri="{BB962C8B-B14F-4D97-AF65-F5344CB8AC3E}">
        <p14:creationId xmlns:p14="http://schemas.microsoft.com/office/powerpoint/2010/main" val="207614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 descr="Region group.">
            <a:extLst>
              <a:ext uri="{FF2B5EF4-FFF2-40B4-BE49-F238E27FC236}">
                <a16:creationId xmlns:a16="http://schemas.microsoft.com/office/drawing/2014/main" id="{09C5923F-A777-82D0-9C6E-75A97532DC0E}"/>
              </a:ext>
            </a:extLst>
          </p:cNvPr>
          <p:cNvGrpSpPr/>
          <p:nvPr/>
        </p:nvGrpSpPr>
        <p:grpSpPr>
          <a:xfrm>
            <a:off x="6734330" y="1575219"/>
            <a:ext cx="3100495" cy="5001422"/>
            <a:chOff x="4215621" y="1281844"/>
            <a:chExt cx="3100495" cy="5001422"/>
          </a:xfrm>
        </p:grpSpPr>
        <p:sp>
          <p:nvSpPr>
            <p:cNvPr id="166" name="Rectangle 165" descr="Region group">
              <a:extLst>
                <a:ext uri="{FF2B5EF4-FFF2-40B4-BE49-F238E27FC236}">
                  <a16:creationId xmlns:a16="http://schemas.microsoft.com/office/drawing/2014/main" id="{9F45BF60-5ABA-2B58-44C2-C224D6D90EAA}"/>
                </a:ext>
              </a:extLst>
            </p:cNvPr>
            <p:cNvSpPr/>
            <p:nvPr/>
          </p:nvSpPr>
          <p:spPr>
            <a:xfrm>
              <a:off x="4215621" y="1281844"/>
              <a:ext cx="3100495" cy="5001422"/>
            </a:xfrm>
            <a:prstGeom prst="rect">
              <a:avLst/>
            </a:prstGeom>
            <a:noFill/>
            <a:ln w="15875" cap="flat" cmpd="sng" algn="ctr">
              <a:solidFill>
                <a:srgbClr val="00A4A6"/>
              </a:solidFill>
              <a:prstDash val="sysDash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Consumer X Region</a:t>
              </a:r>
            </a:p>
          </p:txBody>
        </p:sp>
        <p:pic>
          <p:nvPicPr>
            <p:cNvPr id="167" name="Graphic 166" descr="Region group icon.">
              <a:extLst>
                <a:ext uri="{FF2B5EF4-FFF2-40B4-BE49-F238E27FC236}">
                  <a16:creationId xmlns:a16="http://schemas.microsoft.com/office/drawing/2014/main" id="{E9FEB4DD-4A30-4383-F373-323174199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215623" y="1281844"/>
              <a:ext cx="381000" cy="381000"/>
            </a:xfrm>
            <a:prstGeom prst="rect">
              <a:avLst/>
            </a:prstGeom>
          </p:spPr>
        </p:pic>
      </p:grpSp>
      <p:grpSp>
        <p:nvGrpSpPr>
          <p:cNvPr id="30" name="Group 29" descr="Region group.">
            <a:extLst>
              <a:ext uri="{FF2B5EF4-FFF2-40B4-BE49-F238E27FC236}">
                <a16:creationId xmlns:a16="http://schemas.microsoft.com/office/drawing/2014/main" id="{B74592BF-DDBA-2567-475D-5F6500ADE174}"/>
              </a:ext>
            </a:extLst>
          </p:cNvPr>
          <p:cNvGrpSpPr/>
          <p:nvPr/>
        </p:nvGrpSpPr>
        <p:grpSpPr>
          <a:xfrm>
            <a:off x="3167311" y="1575218"/>
            <a:ext cx="3436836" cy="5001422"/>
            <a:chOff x="4215623" y="1281843"/>
            <a:chExt cx="3436836" cy="5001422"/>
          </a:xfrm>
        </p:grpSpPr>
        <p:sp>
          <p:nvSpPr>
            <p:cNvPr id="31" name="Rectangle 30" descr="Region group">
              <a:extLst>
                <a:ext uri="{FF2B5EF4-FFF2-40B4-BE49-F238E27FC236}">
                  <a16:creationId xmlns:a16="http://schemas.microsoft.com/office/drawing/2014/main" id="{E61118E1-8974-5269-ECC6-F446C7E242A4}"/>
                </a:ext>
              </a:extLst>
            </p:cNvPr>
            <p:cNvSpPr/>
            <p:nvPr/>
          </p:nvSpPr>
          <p:spPr>
            <a:xfrm>
              <a:off x="4215623" y="1281843"/>
              <a:ext cx="3436836" cy="5001422"/>
            </a:xfrm>
            <a:prstGeom prst="rect">
              <a:avLst/>
            </a:prstGeom>
            <a:noFill/>
            <a:ln w="15875" cap="flat" cmpd="sng" algn="ctr">
              <a:solidFill>
                <a:srgbClr val="00A4A6"/>
              </a:solidFill>
              <a:prstDash val="sysDash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Ingestion Region #1</a:t>
              </a:r>
            </a:p>
          </p:txBody>
        </p:sp>
        <p:pic>
          <p:nvPicPr>
            <p:cNvPr id="32" name="Graphic 31" descr="Region group icon.">
              <a:extLst>
                <a:ext uri="{FF2B5EF4-FFF2-40B4-BE49-F238E27FC236}">
                  <a16:creationId xmlns:a16="http://schemas.microsoft.com/office/drawing/2014/main" id="{35806302-91B6-0BF0-8ED6-F04178382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215623" y="1281844"/>
              <a:ext cx="381000" cy="381000"/>
            </a:xfrm>
            <a:prstGeom prst="rect">
              <a:avLst/>
            </a:prstGeom>
          </p:spPr>
        </p:pic>
      </p:grpSp>
      <p:grpSp>
        <p:nvGrpSpPr>
          <p:cNvPr id="33" name="Group 32" descr="Region group.">
            <a:extLst>
              <a:ext uri="{FF2B5EF4-FFF2-40B4-BE49-F238E27FC236}">
                <a16:creationId xmlns:a16="http://schemas.microsoft.com/office/drawing/2014/main" id="{FAC2B81A-8725-A26E-321D-4EA7F1C306F3}"/>
              </a:ext>
            </a:extLst>
          </p:cNvPr>
          <p:cNvGrpSpPr/>
          <p:nvPr/>
        </p:nvGrpSpPr>
        <p:grpSpPr>
          <a:xfrm>
            <a:off x="1567405" y="5568014"/>
            <a:ext cx="1458399" cy="1005544"/>
            <a:chOff x="4215623" y="1512745"/>
            <a:chExt cx="1458399" cy="956208"/>
          </a:xfrm>
        </p:grpSpPr>
        <p:sp>
          <p:nvSpPr>
            <p:cNvPr id="34" name="Rectangle 33" descr="Region group">
              <a:extLst>
                <a:ext uri="{FF2B5EF4-FFF2-40B4-BE49-F238E27FC236}">
                  <a16:creationId xmlns:a16="http://schemas.microsoft.com/office/drawing/2014/main" id="{6D145DAD-00C8-1ED5-C85B-6AA56EF2FB8B}"/>
                </a:ext>
              </a:extLst>
            </p:cNvPr>
            <p:cNvSpPr/>
            <p:nvPr/>
          </p:nvSpPr>
          <p:spPr>
            <a:xfrm>
              <a:off x="4215623" y="1512745"/>
              <a:ext cx="1458399" cy="956208"/>
            </a:xfrm>
            <a:prstGeom prst="rect">
              <a:avLst/>
            </a:prstGeom>
            <a:noFill/>
            <a:ln w="15875" cap="flat" cmpd="sng" algn="ctr">
              <a:solidFill>
                <a:srgbClr val="00A4A6"/>
              </a:solidFill>
              <a:prstDash val="sysDash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Ingestion Region #N</a:t>
              </a:r>
            </a:p>
          </p:txBody>
        </p:sp>
        <p:pic>
          <p:nvPicPr>
            <p:cNvPr id="35" name="Graphic 34" descr="Region group icon.">
              <a:extLst>
                <a:ext uri="{FF2B5EF4-FFF2-40B4-BE49-F238E27FC236}">
                  <a16:creationId xmlns:a16="http://schemas.microsoft.com/office/drawing/2014/main" id="{73D53808-D958-68B9-4C17-02F6696EE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215623" y="1512745"/>
              <a:ext cx="381000" cy="381000"/>
            </a:xfrm>
            <a:prstGeom prst="rect">
              <a:avLst/>
            </a:prstGeom>
          </p:spPr>
        </p:pic>
      </p:grpSp>
      <p:cxnSp>
        <p:nvCxnSpPr>
          <p:cNvPr id="36" name="Straight Arrow Connector 12">
            <a:extLst>
              <a:ext uri="{FF2B5EF4-FFF2-40B4-BE49-F238E27FC236}">
                <a16:creationId xmlns:a16="http://schemas.microsoft.com/office/drawing/2014/main" id="{249DFA21-630A-381F-C445-B14C978B2798}"/>
              </a:ext>
            </a:extLst>
          </p:cNvPr>
          <p:cNvCxnSpPr>
            <a:cxnSpLocks/>
            <a:stCxn id="321" idx="3"/>
            <a:endCxn id="329" idx="1"/>
          </p:cNvCxnSpPr>
          <p:nvPr/>
        </p:nvCxnSpPr>
        <p:spPr>
          <a:xfrm flipV="1">
            <a:off x="2217041" y="2626836"/>
            <a:ext cx="1189202" cy="8231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4B3A1E2E-986E-23C1-8005-A7E32AA53F3C}"/>
              </a:ext>
            </a:extLst>
          </p:cNvPr>
          <p:cNvCxnSpPr>
            <a:cxnSpLocks/>
            <a:stCxn id="321" idx="2"/>
            <a:endCxn id="34" idx="1"/>
          </p:cNvCxnSpPr>
          <p:nvPr/>
        </p:nvCxnSpPr>
        <p:spPr>
          <a:xfrm rot="16200000" flipH="1">
            <a:off x="235266" y="4738646"/>
            <a:ext cx="2422471" cy="241807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DFC4EED-3958-6D86-30C0-6AFFBD38E9B1}"/>
              </a:ext>
            </a:extLst>
          </p:cNvPr>
          <p:cNvSpPr/>
          <p:nvPr/>
        </p:nvSpPr>
        <p:spPr>
          <a:xfrm>
            <a:off x="238628" y="1450332"/>
            <a:ext cx="11798930" cy="5252219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2B32FC2-D5B8-076F-E8D9-B932A392352A}"/>
              </a:ext>
            </a:extLst>
          </p:cNvPr>
          <p:cNvSpPr/>
          <p:nvPr/>
        </p:nvSpPr>
        <p:spPr>
          <a:xfrm>
            <a:off x="3404320" y="4150520"/>
            <a:ext cx="795616" cy="50162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5720" rIns="45720" rtlCol="0" anchor="ctr"/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ingestion</a:t>
            </a:r>
            <a:br>
              <a:rPr lang="en-US" sz="1200" i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cell #N</a:t>
            </a:r>
          </a:p>
        </p:txBody>
      </p:sp>
      <p:cxnSp>
        <p:nvCxnSpPr>
          <p:cNvPr id="159" name="Straight Arrow Connector 12">
            <a:extLst>
              <a:ext uri="{FF2B5EF4-FFF2-40B4-BE49-F238E27FC236}">
                <a16:creationId xmlns:a16="http://schemas.microsoft.com/office/drawing/2014/main" id="{1B93CF22-FD4F-02BE-4E95-5822A8E6472B}"/>
              </a:ext>
            </a:extLst>
          </p:cNvPr>
          <p:cNvCxnSpPr>
            <a:cxnSpLocks/>
            <a:stCxn id="321" idx="3"/>
            <a:endCxn id="158" idx="1"/>
          </p:cNvCxnSpPr>
          <p:nvPr/>
        </p:nvCxnSpPr>
        <p:spPr>
          <a:xfrm>
            <a:off x="2217041" y="3450030"/>
            <a:ext cx="1187279" cy="9513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14B441A-2049-55FC-CA1E-A6217B8D398A}"/>
              </a:ext>
            </a:extLst>
          </p:cNvPr>
          <p:cNvSpPr/>
          <p:nvPr/>
        </p:nvSpPr>
        <p:spPr>
          <a:xfrm>
            <a:off x="1632894" y="6141643"/>
            <a:ext cx="1322729" cy="36377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ingestion cells</a:t>
            </a:r>
            <a:endParaRPr lang="en-US" sz="1600" i="1" dirty="0">
              <a:solidFill>
                <a:schemeClr val="tx1">
                  <a:lumMod val="75000"/>
                </a:schemeClr>
              </a:solidFill>
            </a:endParaRPr>
          </a:p>
        </p:txBody>
      </p: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02DFB03E-B30D-F533-1E05-EE5FB9819CF4}"/>
              </a:ext>
            </a:extLst>
          </p:cNvPr>
          <p:cNvGrpSpPr/>
          <p:nvPr/>
        </p:nvGrpSpPr>
        <p:grpSpPr>
          <a:xfrm>
            <a:off x="232025" y="374472"/>
            <a:ext cx="1866741" cy="900953"/>
            <a:chOff x="232025" y="261257"/>
            <a:chExt cx="1866741" cy="900953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16B4A3E6-D995-FD3C-9865-AA5FC9A4BFCB}"/>
                </a:ext>
              </a:extLst>
            </p:cNvPr>
            <p:cNvGrpSpPr/>
            <p:nvPr/>
          </p:nvGrpSpPr>
          <p:grpSpPr>
            <a:xfrm>
              <a:off x="232025" y="261257"/>
              <a:ext cx="1866741" cy="862150"/>
              <a:chOff x="7507403" y="1057958"/>
              <a:chExt cx="605592" cy="86215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2D601898-4865-C6A3-9861-BD1C6CCA397D}"/>
                  </a:ext>
                </a:extLst>
              </p:cNvPr>
              <p:cNvSpPr/>
              <p:nvPr/>
            </p:nvSpPr>
            <p:spPr>
              <a:xfrm>
                <a:off x="7535312" y="1386858"/>
                <a:ext cx="552257" cy="4338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     Streamer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51B7C6B8-FF13-AC71-9E88-D41A2EC643C7}"/>
                  </a:ext>
                </a:extLst>
              </p:cNvPr>
              <p:cNvSpPr/>
              <p:nvPr/>
            </p:nvSpPr>
            <p:spPr>
              <a:xfrm>
                <a:off x="7507403" y="1057958"/>
                <a:ext cx="605592" cy="862150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👥</a:t>
                </a:r>
                <a:r>
                  <a:rPr lang="en-GB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domain</a:t>
                </a:r>
              </a:p>
            </p:txBody>
          </p:sp>
        </p:grp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B425BC54-BCA3-8B88-98D0-06D5F86C3D2E}"/>
                </a:ext>
              </a:extLst>
            </p:cNvPr>
            <p:cNvSpPr txBox="1"/>
            <p:nvPr/>
          </p:nvSpPr>
          <p:spPr>
            <a:xfrm>
              <a:off x="249308" y="392769"/>
              <a:ext cx="892209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🌬️</a:t>
              </a:r>
              <a:endParaRPr lang="en-US" sz="4400" dirty="0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E92A449D-C79C-CD4F-985D-550A4256DFF8}"/>
              </a:ext>
            </a:extLst>
          </p:cNvPr>
          <p:cNvGrpSpPr/>
          <p:nvPr/>
        </p:nvGrpSpPr>
        <p:grpSpPr>
          <a:xfrm>
            <a:off x="9910354" y="391890"/>
            <a:ext cx="1924595" cy="853440"/>
            <a:chOff x="9432737" y="639887"/>
            <a:chExt cx="1924595" cy="853440"/>
          </a:xfrm>
        </p:grpSpPr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EDDE6937-733F-0010-C899-2B5896A66980}"/>
                </a:ext>
              </a:extLst>
            </p:cNvPr>
            <p:cNvSpPr/>
            <p:nvPr/>
          </p:nvSpPr>
          <p:spPr>
            <a:xfrm>
              <a:off x="9432737" y="639887"/>
              <a:ext cx="1924595" cy="853440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B93F18C7-A906-F71A-6E07-3B1140B79C78}"/>
                </a:ext>
              </a:extLst>
            </p:cNvPr>
            <p:cNvSpPr/>
            <p:nvPr/>
          </p:nvSpPr>
          <p:spPr>
            <a:xfrm>
              <a:off x="9499364" y="981005"/>
              <a:ext cx="1786036" cy="4381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Consumer</a:t>
              </a:r>
            </a:p>
          </p:txBody>
        </p:sp>
      </p:grpSp>
      <p:cxnSp>
        <p:nvCxnSpPr>
          <p:cNvPr id="207" name="Straight Arrow Connector 12">
            <a:extLst>
              <a:ext uri="{FF2B5EF4-FFF2-40B4-BE49-F238E27FC236}">
                <a16:creationId xmlns:a16="http://schemas.microsoft.com/office/drawing/2014/main" id="{25A60149-FDC4-F183-9AB1-0865FEF24C16}"/>
              </a:ext>
            </a:extLst>
          </p:cNvPr>
          <p:cNvCxnSpPr>
            <a:cxnSpLocks/>
            <a:stCxn id="233" idx="0"/>
            <a:endCxn id="332" idx="0"/>
          </p:cNvCxnSpPr>
          <p:nvPr/>
        </p:nvCxnSpPr>
        <p:spPr>
          <a:xfrm>
            <a:off x="10920518" y="1255407"/>
            <a:ext cx="1" cy="116529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4" name="Straight Arrow Connector 12">
            <a:extLst>
              <a:ext uri="{FF2B5EF4-FFF2-40B4-BE49-F238E27FC236}">
                <a16:creationId xmlns:a16="http://schemas.microsoft.com/office/drawing/2014/main" id="{2C194408-659A-05FF-9B7B-4905C27B1AA6}"/>
              </a:ext>
            </a:extLst>
          </p:cNvPr>
          <p:cNvCxnSpPr>
            <a:cxnSpLocks/>
            <a:stCxn id="332" idx="2"/>
          </p:cNvCxnSpPr>
          <p:nvPr/>
        </p:nvCxnSpPr>
        <p:spPr>
          <a:xfrm>
            <a:off x="10920519" y="2817273"/>
            <a:ext cx="0" cy="308656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Arrow Connector 12">
            <a:extLst>
              <a:ext uri="{FF2B5EF4-FFF2-40B4-BE49-F238E27FC236}">
                <a16:creationId xmlns:a16="http://schemas.microsoft.com/office/drawing/2014/main" id="{AC90EFA0-EF4F-FFFB-EA34-004BDD72F8A3}"/>
              </a:ext>
            </a:extLst>
          </p:cNvPr>
          <p:cNvCxnSpPr>
            <a:cxnSpLocks/>
          </p:cNvCxnSpPr>
          <p:nvPr/>
        </p:nvCxnSpPr>
        <p:spPr>
          <a:xfrm>
            <a:off x="5113830" y="3823068"/>
            <a:ext cx="0" cy="203021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3DBE7BF1-290B-80A4-D3E8-E2D2E26CB6BB}"/>
              </a:ext>
            </a:extLst>
          </p:cNvPr>
          <p:cNvSpPr txBox="1"/>
          <p:nvPr/>
        </p:nvSpPr>
        <p:spPr>
          <a:xfrm>
            <a:off x="1180802" y="860022"/>
            <a:ext cx="24365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28" name="TextBox 12">
            <a:extLst>
              <a:ext uri="{FF2B5EF4-FFF2-40B4-BE49-F238E27FC236}">
                <a16:creationId xmlns:a16="http://schemas.microsoft.com/office/drawing/2014/main" id="{73B89D0D-0AAB-B3BE-0693-157BCDED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760" y="1484155"/>
            <a:ext cx="10634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push encrypted message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CF57AEB-39AE-5259-831C-77EDC94B473D}"/>
              </a:ext>
            </a:extLst>
          </p:cNvPr>
          <p:cNvSpPr txBox="1"/>
          <p:nvPr/>
        </p:nvSpPr>
        <p:spPr>
          <a:xfrm flipV="1">
            <a:off x="10809408" y="886075"/>
            <a:ext cx="22222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0417B4C0-9F1B-1F82-5458-3A5D7B27F3CE}"/>
              </a:ext>
            </a:extLst>
          </p:cNvPr>
          <p:cNvSpPr txBox="1"/>
          <p:nvPr/>
        </p:nvSpPr>
        <p:spPr>
          <a:xfrm>
            <a:off x="10169121" y="886075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243" name="Straight Arrow Connector 12">
            <a:extLst>
              <a:ext uri="{FF2B5EF4-FFF2-40B4-BE49-F238E27FC236}">
                <a16:creationId xmlns:a16="http://schemas.microsoft.com/office/drawing/2014/main" id="{7105EF90-078B-4547-06F5-6862EE15FDD4}"/>
              </a:ext>
            </a:extLst>
          </p:cNvPr>
          <p:cNvCxnSpPr>
            <a:cxnSpLocks/>
            <a:stCxn id="340" idx="3"/>
            <a:endCxn id="438" idx="2"/>
          </p:cNvCxnSpPr>
          <p:nvPr/>
        </p:nvCxnSpPr>
        <p:spPr>
          <a:xfrm flipV="1">
            <a:off x="5583931" y="2513929"/>
            <a:ext cx="666836" cy="104583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0" name="TextBox 12">
            <a:extLst>
              <a:ext uri="{FF2B5EF4-FFF2-40B4-BE49-F238E27FC236}">
                <a16:creationId xmlns:a16="http://schemas.microsoft.com/office/drawing/2014/main" id="{640A0A4B-E9E5-76A4-A268-E66F76103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2563" y="339249"/>
            <a:ext cx="16247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wake up,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you’ve got messages!</a:t>
            </a:r>
          </a:p>
        </p:txBody>
      </p:sp>
      <p:pic>
        <p:nvPicPr>
          <p:cNvPr id="269" name="Graphic 268">
            <a:extLst>
              <a:ext uri="{FF2B5EF4-FFF2-40B4-BE49-F238E27FC236}">
                <a16:creationId xmlns:a16="http://schemas.microsoft.com/office/drawing/2014/main" id="{F28E1B65-833B-86E1-76AF-784180E48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2026" y="1450332"/>
            <a:ext cx="381000" cy="381000"/>
          </a:xfrm>
          <a:prstGeom prst="rect">
            <a:avLst/>
          </a:prstGeom>
        </p:spPr>
      </p:pic>
      <p:cxnSp>
        <p:nvCxnSpPr>
          <p:cNvPr id="275" name="Straight Arrow Connector 12">
            <a:extLst>
              <a:ext uri="{FF2B5EF4-FFF2-40B4-BE49-F238E27FC236}">
                <a16:creationId xmlns:a16="http://schemas.microsoft.com/office/drawing/2014/main" id="{F8116ABE-F4E3-2538-8D08-4A15C700F1D0}"/>
              </a:ext>
            </a:extLst>
          </p:cNvPr>
          <p:cNvCxnSpPr>
            <a:cxnSpLocks/>
            <a:stCxn id="280" idx="2"/>
            <a:endCxn id="321" idx="0"/>
          </p:cNvCxnSpPr>
          <p:nvPr/>
        </p:nvCxnSpPr>
        <p:spPr>
          <a:xfrm>
            <a:off x="1316837" y="1244961"/>
            <a:ext cx="8761" cy="200678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51E298E3-11DE-02A8-4CC9-2F76D6ADDE03}"/>
              </a:ext>
            </a:extLst>
          </p:cNvPr>
          <p:cNvSpPr txBox="1"/>
          <p:nvPr/>
        </p:nvSpPr>
        <p:spPr>
          <a:xfrm>
            <a:off x="1195009" y="87562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68F963C2-4EE7-8C11-CCA6-E593D4720D02}"/>
              </a:ext>
            </a:extLst>
          </p:cNvPr>
          <p:cNvSpPr/>
          <p:nvPr/>
        </p:nvSpPr>
        <p:spPr>
          <a:xfrm>
            <a:off x="434154" y="3251744"/>
            <a:ext cx="1782887" cy="396571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🏌️‍♂️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distributor </a:t>
            </a:r>
          </a:p>
        </p:txBody>
      </p: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DCBD3950-B393-43F6-1C80-137527C4EC50}"/>
              </a:ext>
            </a:extLst>
          </p:cNvPr>
          <p:cNvGrpSpPr/>
          <p:nvPr/>
        </p:nvGrpSpPr>
        <p:grpSpPr>
          <a:xfrm>
            <a:off x="3299814" y="2096018"/>
            <a:ext cx="2284117" cy="1732964"/>
            <a:chOff x="3299814" y="2096018"/>
            <a:chExt cx="2284117" cy="1732964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C68CE0F-F674-F334-945A-5B57E3BAF533}"/>
                </a:ext>
              </a:extLst>
            </p:cNvPr>
            <p:cNvSpPr/>
            <p:nvPr/>
          </p:nvSpPr>
          <p:spPr>
            <a:xfrm>
              <a:off x="3299814" y="2096018"/>
              <a:ext cx="2274178" cy="173296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45720" rtlCol="0" anchor="t"/>
            <a:lstStyle/>
            <a:p>
              <a:r>
                <a:rPr lang="en-US" sz="1200" i="1" dirty="0">
                  <a:solidFill>
                    <a:schemeClr val="tx1">
                      <a:lumMod val="75000"/>
                    </a:schemeClr>
                  </a:solidFill>
                </a:rPr>
                <a:t> ingestion cell #1 all streamers</a:t>
              </a:r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3B36F9D-16F4-9EDD-6CEB-86E84D8D56F1}"/>
                </a:ext>
              </a:extLst>
            </p:cNvPr>
            <p:cNvGrpSpPr/>
            <p:nvPr/>
          </p:nvGrpSpPr>
          <p:grpSpPr>
            <a:xfrm>
              <a:off x="3410218" y="2895831"/>
              <a:ext cx="1940072" cy="461665"/>
              <a:chOff x="6777168" y="1766721"/>
              <a:chExt cx="1940072" cy="461665"/>
            </a:xfrm>
          </p:grpSpPr>
          <p:pic>
            <p:nvPicPr>
              <p:cNvPr id="67" name="Graphic 26" descr="Amazon Simple Queue Service (Amazon SQS) service icon.">
                <a:extLst>
                  <a:ext uri="{FF2B5EF4-FFF2-40B4-BE49-F238E27FC236}">
                    <a16:creationId xmlns:a16="http://schemas.microsoft.com/office/drawing/2014/main" id="{D07654AB-5DE3-8C05-761A-2412A5C567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 bwMode="auto">
              <a:xfrm>
                <a:off x="6777168" y="1805950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8" name="TextBox 11">
                <a:extLst>
                  <a:ext uri="{FF2B5EF4-FFF2-40B4-BE49-F238E27FC236}">
                    <a16:creationId xmlns:a16="http://schemas.microsoft.com/office/drawing/2014/main" id="{8FFEBDF3-86D5-E863-C2E0-6BE842F9C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0397" y="1766721"/>
                <a:ext cx="161684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</a:rPr>
                  <a:t>async queue</a:t>
                </a:r>
              </a:p>
            </p:txBody>
          </p:sp>
        </p:grp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CA9CF209-F2F5-E25E-7A48-B2D9F607A98D}"/>
                </a:ext>
              </a:extLst>
            </p:cNvPr>
            <p:cNvSpPr/>
            <p:nvPr/>
          </p:nvSpPr>
          <p:spPr>
            <a:xfrm>
              <a:off x="3406243" y="2428550"/>
              <a:ext cx="2045853" cy="396571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44000" rIns="144000" bIns="144000" anchor="ctr"/>
            <a:lstStyle/>
            <a:p>
              <a:r>
                <a:rPr lang="en-US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⛳ </a:t>
              </a:r>
              <a:r>
                <a:rPr lang="en-US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endpoint</a:t>
              </a:r>
            </a:p>
          </p:txBody>
        </p: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9DBC30E8-2DC8-DC9F-5943-5CD224B94C33}"/>
                </a:ext>
              </a:extLst>
            </p:cNvPr>
            <p:cNvGrpSpPr/>
            <p:nvPr/>
          </p:nvGrpSpPr>
          <p:grpSpPr>
            <a:xfrm>
              <a:off x="3408727" y="3328935"/>
              <a:ext cx="2175204" cy="461665"/>
              <a:chOff x="3651341" y="3085092"/>
              <a:chExt cx="2175204" cy="461665"/>
            </a:xfrm>
          </p:grpSpPr>
          <p:pic>
            <p:nvPicPr>
              <p:cNvPr id="339" name="Graphic 10" descr="AWS Lambda service icon.">
                <a:extLst>
                  <a:ext uri="{FF2B5EF4-FFF2-40B4-BE49-F238E27FC236}">
                    <a16:creationId xmlns:a16="http://schemas.microsoft.com/office/drawing/2014/main" id="{0109082F-EA0D-518E-74CA-5D7AE9AE18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 bwMode="auto">
              <a:xfrm>
                <a:off x="3651341" y="3140377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0" name="TextBox 20">
                <a:extLst>
                  <a:ext uri="{FF2B5EF4-FFF2-40B4-BE49-F238E27FC236}">
                    <a16:creationId xmlns:a16="http://schemas.microsoft.com/office/drawing/2014/main" id="{744C65B5-D670-1AF3-1576-7D56A1DEDF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7743" y="3085092"/>
                <a:ext cx="183880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Async Lambda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</a:rPr>
                  <a:t>distribute to consumers</a:t>
                </a:r>
                <a:endParaRPr lang="en-US" alt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346" name="Rectangle 345">
            <a:extLst>
              <a:ext uri="{FF2B5EF4-FFF2-40B4-BE49-F238E27FC236}">
                <a16:creationId xmlns:a16="http://schemas.microsoft.com/office/drawing/2014/main" id="{45DEDA00-FCDD-D28A-9843-3FCAA7D1AFFA}"/>
              </a:ext>
            </a:extLst>
          </p:cNvPr>
          <p:cNvSpPr/>
          <p:nvPr/>
        </p:nvSpPr>
        <p:spPr>
          <a:xfrm>
            <a:off x="7398020" y="2090104"/>
            <a:ext cx="2274178" cy="17329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45720" rtlCol="0" anchor="t"/>
          <a:lstStyle/>
          <a:p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 consumer-selected endpoint</a:t>
            </a:r>
            <a:endParaRPr lang="en-US" sz="1600" i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503BBA22-9547-A77C-3C0D-FC0C2444DD70}"/>
              </a:ext>
            </a:extLst>
          </p:cNvPr>
          <p:cNvSpPr/>
          <p:nvPr/>
        </p:nvSpPr>
        <p:spPr>
          <a:xfrm>
            <a:off x="7504449" y="2422636"/>
            <a:ext cx="2045853" cy="396571"/>
          </a:xfrm>
          <a:prstGeom prst="rect">
            <a:avLst/>
          </a:prstGeom>
          <a:solidFill>
            <a:schemeClr val="accent4">
              <a:lumMod val="5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44000" rIns="144000" bIns="144000" anchor="ctr"/>
          <a:lstStyle/>
          <a:p>
            <a:r>
              <a:rPr lang="en-US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⛳ 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endpoint</a:t>
            </a: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CDA13A67-B30D-B0BD-010D-BEFBE1984752}"/>
              </a:ext>
            </a:extLst>
          </p:cNvPr>
          <p:cNvGrpSpPr/>
          <p:nvPr/>
        </p:nvGrpSpPr>
        <p:grpSpPr>
          <a:xfrm>
            <a:off x="7506933" y="3323021"/>
            <a:ext cx="2329356" cy="461665"/>
            <a:chOff x="3651341" y="3085092"/>
            <a:chExt cx="2329356" cy="461665"/>
          </a:xfrm>
        </p:grpSpPr>
        <p:pic>
          <p:nvPicPr>
            <p:cNvPr id="352" name="Graphic 10" descr="AWS Lambda service icon.">
              <a:extLst>
                <a:ext uri="{FF2B5EF4-FFF2-40B4-BE49-F238E27FC236}">
                  <a16:creationId xmlns:a16="http://schemas.microsoft.com/office/drawing/2014/main" id="{8C1D1E39-7810-81E3-1D7B-BDDE93295C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3651341" y="3140377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3" name="TextBox 20">
              <a:extLst>
                <a:ext uri="{FF2B5EF4-FFF2-40B4-BE49-F238E27FC236}">
                  <a16:creationId xmlns:a16="http://schemas.microsoft.com/office/drawing/2014/main" id="{3A87FC8B-D948-F054-8E5D-744ECB4CD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743" y="3085092"/>
              <a:ext cx="19929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Synchronous Lambda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</a:rPr>
                <a:t>partial batch delete </a:t>
              </a:r>
              <a:endParaRPr lang="en-US" altLang="en-US" sz="1200" i="1" dirty="0">
                <a:solidFill>
                  <a:schemeClr val="tx1">
                    <a:lumMod val="75000"/>
                  </a:schemeClr>
                </a:solidFill>
                <a:latin typeface="+mn-lt"/>
              </a:endParaRPr>
            </a:p>
          </p:txBody>
        </p:sp>
      </p:grpSp>
      <p:cxnSp>
        <p:nvCxnSpPr>
          <p:cNvPr id="203" name="Straight Arrow Connector 12">
            <a:extLst>
              <a:ext uri="{FF2B5EF4-FFF2-40B4-BE49-F238E27FC236}">
                <a16:creationId xmlns:a16="http://schemas.microsoft.com/office/drawing/2014/main" id="{3903B2C2-A2D9-8079-C9C3-68321060022D}"/>
              </a:ext>
            </a:extLst>
          </p:cNvPr>
          <p:cNvCxnSpPr>
            <a:cxnSpLocks/>
            <a:stCxn id="332" idx="1"/>
            <a:endCxn id="350" idx="3"/>
          </p:cNvCxnSpPr>
          <p:nvPr/>
        </p:nvCxnSpPr>
        <p:spPr>
          <a:xfrm flipH="1">
            <a:off x="9550302" y="2618988"/>
            <a:ext cx="478773" cy="193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0D2ABBF7-3783-EC74-1F00-63CEBF135523}"/>
              </a:ext>
            </a:extLst>
          </p:cNvPr>
          <p:cNvGrpSpPr/>
          <p:nvPr/>
        </p:nvGrpSpPr>
        <p:grpSpPr>
          <a:xfrm>
            <a:off x="7506933" y="2875762"/>
            <a:ext cx="2329356" cy="461665"/>
            <a:chOff x="3651341" y="3085092"/>
            <a:chExt cx="2329356" cy="461665"/>
          </a:xfrm>
        </p:grpSpPr>
        <p:pic>
          <p:nvPicPr>
            <p:cNvPr id="363" name="Graphic 10" descr="AWS Lambda service icon.">
              <a:extLst>
                <a:ext uri="{FF2B5EF4-FFF2-40B4-BE49-F238E27FC236}">
                  <a16:creationId xmlns:a16="http://schemas.microsoft.com/office/drawing/2014/main" id="{7D0F4A40-1187-F550-F2F7-6861459AE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3651341" y="3140377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4" name="TextBox 20">
              <a:extLst>
                <a:ext uri="{FF2B5EF4-FFF2-40B4-BE49-F238E27FC236}">
                  <a16:creationId xmlns:a16="http://schemas.microsoft.com/office/drawing/2014/main" id="{703D0B3B-30A1-51A7-C60A-491BC3F9E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743" y="3085092"/>
              <a:ext cx="19929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Synchronous Lambda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</a:rPr>
                <a:t>on-demand batch pull</a:t>
              </a:r>
              <a:endParaRPr lang="en-US" altLang="en-US" sz="1200" i="1" dirty="0">
                <a:solidFill>
                  <a:schemeClr val="tx1">
                    <a:lumMod val="75000"/>
                  </a:schemeClr>
                </a:solidFill>
                <a:latin typeface="+mn-lt"/>
              </a:endParaRPr>
            </a:p>
          </p:txBody>
        </p:sp>
      </p:grp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A332AB28-B32F-91E0-0822-6EABA87FA988}"/>
              </a:ext>
            </a:extLst>
          </p:cNvPr>
          <p:cNvCxnSpPr>
            <a:cxnSpLocks/>
            <a:stCxn id="340" idx="3"/>
            <a:endCxn id="376" idx="1"/>
          </p:cNvCxnSpPr>
          <p:nvPr/>
        </p:nvCxnSpPr>
        <p:spPr>
          <a:xfrm>
            <a:off x="5583931" y="3559768"/>
            <a:ext cx="1340487" cy="93323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2DEF9191-D078-5D34-B45A-3149694034FA}"/>
              </a:ext>
            </a:extLst>
          </p:cNvPr>
          <p:cNvGrpSpPr/>
          <p:nvPr/>
        </p:nvGrpSpPr>
        <p:grpSpPr>
          <a:xfrm>
            <a:off x="6924418" y="4243899"/>
            <a:ext cx="1724908" cy="498200"/>
            <a:chOff x="6838092" y="3987527"/>
            <a:chExt cx="1724908" cy="498200"/>
          </a:xfrm>
        </p:grpSpPr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5C25FA86-DBA4-FA05-0A73-BB1F2F63DEBC}"/>
                </a:ext>
              </a:extLst>
            </p:cNvPr>
            <p:cNvSpPr/>
            <p:nvPr/>
          </p:nvSpPr>
          <p:spPr>
            <a:xfrm>
              <a:off x="6838092" y="3987527"/>
              <a:ext cx="1626248" cy="498200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45720" rtlCol="0" anchor="t"/>
            <a:lstStyle/>
            <a:p>
              <a:r>
                <a:rPr lang="en-US" sz="1200" i="1" dirty="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879B223-24F2-FF71-4425-2A21F2A9AA0D}"/>
                </a:ext>
              </a:extLst>
            </p:cNvPr>
            <p:cNvGrpSpPr/>
            <p:nvPr/>
          </p:nvGrpSpPr>
          <p:grpSpPr>
            <a:xfrm>
              <a:off x="6903900" y="4005004"/>
              <a:ext cx="1659100" cy="461665"/>
              <a:chOff x="6728818" y="1511840"/>
              <a:chExt cx="1659100" cy="461665"/>
            </a:xfrm>
          </p:grpSpPr>
          <p:pic>
            <p:nvPicPr>
              <p:cNvPr id="79" name="Graphic 26" descr="Amazon Simple Queue Service (Amazon SQS) service icon.">
                <a:extLst>
                  <a:ext uri="{FF2B5EF4-FFF2-40B4-BE49-F238E27FC236}">
                    <a16:creationId xmlns:a16="http://schemas.microsoft.com/office/drawing/2014/main" id="{2C341D1E-6640-F7D3-6F95-3D0D5C65C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 bwMode="auto">
              <a:xfrm>
                <a:off x="6728818" y="1566593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0" name="TextBox 11">
                <a:extLst>
                  <a:ext uri="{FF2B5EF4-FFF2-40B4-BE49-F238E27FC236}">
                    <a16:creationId xmlns:a16="http://schemas.microsoft.com/office/drawing/2014/main" id="{6CDE02F8-F8A7-8AE6-DE6D-4BB8367798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61239" y="1511840"/>
                <a:ext cx="132667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consumer buffer</a:t>
                </a:r>
                <a:endPara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402" name="Straight Arrow Connector 12">
            <a:extLst>
              <a:ext uri="{FF2B5EF4-FFF2-40B4-BE49-F238E27FC236}">
                <a16:creationId xmlns:a16="http://schemas.microsoft.com/office/drawing/2014/main" id="{8F818337-83B4-B405-C50C-F732951BB7F6}"/>
              </a:ext>
            </a:extLst>
          </p:cNvPr>
          <p:cNvCxnSpPr>
            <a:cxnSpLocks/>
            <a:endCxn id="376" idx="3"/>
          </p:cNvCxnSpPr>
          <p:nvPr/>
        </p:nvCxnSpPr>
        <p:spPr>
          <a:xfrm rot="5400000">
            <a:off x="8427621" y="3938868"/>
            <a:ext cx="677177" cy="43108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5" name="Straight Arrow Connector 12">
            <a:extLst>
              <a:ext uri="{FF2B5EF4-FFF2-40B4-BE49-F238E27FC236}">
                <a16:creationId xmlns:a16="http://schemas.microsoft.com/office/drawing/2014/main" id="{2FFCFC19-14D0-9B4B-234C-AB7EB12641F1}"/>
              </a:ext>
            </a:extLst>
          </p:cNvPr>
          <p:cNvCxnSpPr>
            <a:cxnSpLocks/>
            <a:stCxn id="416" idx="1"/>
            <a:endCxn id="368" idx="3"/>
          </p:cNvCxnSpPr>
          <p:nvPr/>
        </p:nvCxnSpPr>
        <p:spPr>
          <a:xfrm flipH="1" flipV="1">
            <a:off x="7777362" y="6174394"/>
            <a:ext cx="2202017" cy="277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1CA3FC1D-2E6A-F0C2-3EB7-325A56A15987}"/>
              </a:ext>
            </a:extLst>
          </p:cNvPr>
          <p:cNvGrpSpPr/>
          <p:nvPr/>
        </p:nvGrpSpPr>
        <p:grpSpPr>
          <a:xfrm>
            <a:off x="9979379" y="5923719"/>
            <a:ext cx="2027159" cy="506896"/>
            <a:chOff x="9979379" y="5416827"/>
            <a:chExt cx="2027159" cy="506896"/>
          </a:xfrm>
        </p:grpSpPr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3BB4AFC2-8BD4-C9E0-E48A-B697083DEC45}"/>
                </a:ext>
              </a:extLst>
            </p:cNvPr>
            <p:cNvSpPr/>
            <p:nvPr/>
          </p:nvSpPr>
          <p:spPr>
            <a:xfrm>
              <a:off x="9979379" y="5416827"/>
              <a:ext cx="1947578" cy="50689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45720" rtlCol="0" anchor="t"/>
            <a:lstStyle/>
            <a:p>
              <a:r>
                <a:rPr lang="en-US" sz="1200" i="1" dirty="0">
                  <a:solidFill>
                    <a:schemeClr val="tx1">
                      <a:lumMod val="75000"/>
                    </a:schemeClr>
                  </a:solidFill>
                </a:rPr>
                <a:t> </a:t>
              </a:r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93B259FD-DD63-3681-8470-9F9543A9DFAA}"/>
                </a:ext>
              </a:extLst>
            </p:cNvPr>
            <p:cNvGrpSpPr/>
            <p:nvPr/>
          </p:nvGrpSpPr>
          <p:grpSpPr>
            <a:xfrm>
              <a:off x="10058960" y="5437904"/>
              <a:ext cx="1947578" cy="461665"/>
              <a:chOff x="3651341" y="3085092"/>
              <a:chExt cx="1947578" cy="461665"/>
            </a:xfrm>
          </p:grpSpPr>
          <p:pic>
            <p:nvPicPr>
              <p:cNvPr id="414" name="Graphic 10" descr="AWS Lambda service icon.">
                <a:extLst>
                  <a:ext uri="{FF2B5EF4-FFF2-40B4-BE49-F238E27FC236}">
                    <a16:creationId xmlns:a16="http://schemas.microsoft.com/office/drawing/2014/main" id="{D9CACF0B-0AFE-32A3-7DF4-3727378B6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 bwMode="auto">
              <a:xfrm>
                <a:off x="3651341" y="3140377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15" name="TextBox 20">
                <a:extLst>
                  <a:ext uri="{FF2B5EF4-FFF2-40B4-BE49-F238E27FC236}">
                    <a16:creationId xmlns:a16="http://schemas.microsoft.com/office/drawing/2014/main" id="{ADD7F77D-5329-EC0D-7E5C-E5F46CE8E7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7743" y="3085092"/>
                <a:ext cx="161117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Lambda @ Edge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</a:rPr>
                  <a:t>header-base routing</a:t>
                </a:r>
                <a:endParaRPr lang="en-US" alt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101720A2-6082-F483-4CFC-8F7E965A4B81}"/>
              </a:ext>
            </a:extLst>
          </p:cNvPr>
          <p:cNvGrpSpPr/>
          <p:nvPr/>
        </p:nvGrpSpPr>
        <p:grpSpPr>
          <a:xfrm>
            <a:off x="4676867" y="5873164"/>
            <a:ext cx="3100495" cy="621702"/>
            <a:chOff x="4676867" y="5366272"/>
            <a:chExt cx="3100495" cy="621702"/>
          </a:xfrm>
        </p:grpSpPr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AB40C921-10E3-5DFF-FD81-F48B5CDA0035}"/>
                </a:ext>
              </a:extLst>
            </p:cNvPr>
            <p:cNvGrpSpPr/>
            <p:nvPr/>
          </p:nvGrpSpPr>
          <p:grpSpPr>
            <a:xfrm>
              <a:off x="4676867" y="5366272"/>
              <a:ext cx="3100495" cy="621702"/>
              <a:chOff x="4676867" y="5366272"/>
              <a:chExt cx="3100495" cy="621702"/>
            </a:xfrm>
          </p:grpSpPr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6125CE53-75E6-9BED-062E-1F0ABAFDF3C1}"/>
                  </a:ext>
                </a:extLst>
              </p:cNvPr>
              <p:cNvGrpSpPr/>
              <p:nvPr/>
            </p:nvGrpSpPr>
            <p:grpSpPr>
              <a:xfrm>
                <a:off x="4676867" y="5366272"/>
                <a:ext cx="3100495" cy="602460"/>
                <a:chOff x="4732901" y="5361747"/>
                <a:chExt cx="3100495" cy="602460"/>
              </a:xfrm>
            </p:grpSpPr>
            <p:sp>
              <p:nvSpPr>
                <p:cNvPr id="368" name="Rectangle 367">
                  <a:extLst>
                    <a:ext uri="{FF2B5EF4-FFF2-40B4-BE49-F238E27FC236}">
                      <a16:creationId xmlns:a16="http://schemas.microsoft.com/office/drawing/2014/main" id="{05E40D1B-C3C9-3D96-4030-51CDD9FD56FD}"/>
                    </a:ext>
                  </a:extLst>
                </p:cNvPr>
                <p:cNvSpPr/>
                <p:nvPr/>
              </p:nvSpPr>
              <p:spPr>
                <a:xfrm>
                  <a:off x="4732901" y="5361747"/>
                  <a:ext cx="3100495" cy="602460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72000" rIns="45720" rtlCol="0" anchor="ctr"/>
                <a:lstStyle/>
                <a:p>
                  <a:r>
                    <a:rPr 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DynamoDB</a:t>
                  </a:r>
                  <a:br>
                    <a:rPr 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</a:br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  <a:latin typeface="+mn-lt"/>
                    </a:rPr>
                    <a:t>consumers</a:t>
                  </a:r>
                  <a:endParaRPr 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173" name="Graphic 23" descr="Amazon DynamoDB service icon.">
                  <a:extLst>
                    <a:ext uri="{FF2B5EF4-FFF2-40B4-BE49-F238E27FC236}">
                      <a16:creationId xmlns:a16="http://schemas.microsoft.com/office/drawing/2014/main" id="{E741192C-B620-3693-A018-19506A56F19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/>
                <a:stretch/>
              </p:blipFill>
              <p:spPr bwMode="auto">
                <a:xfrm>
                  <a:off x="5807579" y="5488033"/>
                  <a:ext cx="360000" cy="3607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90" name="Graphic 23" descr="Amazon DynamoDB service icon.">
                  <a:extLst>
                    <a:ext uri="{FF2B5EF4-FFF2-40B4-BE49-F238E27FC236}">
                      <a16:creationId xmlns:a16="http://schemas.microsoft.com/office/drawing/2014/main" id="{D39FE425-23A3-1C2E-6FA3-0195C4ADB1D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/>
                <a:stretch/>
              </p:blipFill>
              <p:spPr bwMode="auto">
                <a:xfrm>
                  <a:off x="7352328" y="5484797"/>
                  <a:ext cx="360000" cy="3607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A8A8B811-A040-DFE4-DBC6-A24D9DCC1DC2}"/>
                  </a:ext>
                </a:extLst>
              </p:cNvPr>
              <p:cNvSpPr txBox="1"/>
              <p:nvPr/>
            </p:nvSpPr>
            <p:spPr>
              <a:xfrm>
                <a:off x="5751544" y="5710975"/>
                <a:ext cx="19047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global table</a:t>
                </a:r>
                <a:endParaRPr 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cxnSp>
          <p:nvCxnSpPr>
            <p:cNvPr id="183" name="Straight Arrow Connector 12">
              <a:extLst>
                <a:ext uri="{FF2B5EF4-FFF2-40B4-BE49-F238E27FC236}">
                  <a16:creationId xmlns:a16="http://schemas.microsoft.com/office/drawing/2014/main" id="{DCA698D3-6D7B-92BB-6FA8-ECA1C4A3F0B7}"/>
                </a:ext>
              </a:extLst>
            </p:cNvPr>
            <p:cNvCxnSpPr>
              <a:cxnSpLocks/>
              <a:stCxn id="173" idx="3"/>
              <a:endCxn id="390" idx="1"/>
            </p:cNvCxnSpPr>
            <p:nvPr/>
          </p:nvCxnSpPr>
          <p:spPr>
            <a:xfrm flipV="1">
              <a:off x="6111545" y="5669697"/>
              <a:ext cx="1184749" cy="323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12E91A1-835D-D54D-7133-38A87E6CDCFF}"/>
              </a:ext>
            </a:extLst>
          </p:cNvPr>
          <p:cNvGrpSpPr/>
          <p:nvPr/>
        </p:nvGrpSpPr>
        <p:grpSpPr>
          <a:xfrm>
            <a:off x="6924418" y="5310286"/>
            <a:ext cx="2566236" cy="461665"/>
            <a:chOff x="7107713" y="5941090"/>
            <a:chExt cx="2566236" cy="461665"/>
          </a:xfrm>
        </p:grpSpPr>
        <p:pic>
          <p:nvPicPr>
            <p:cNvPr id="253" name="Graphic 17" descr="Amazon CloudWatch service icon.">
              <a:extLst>
                <a:ext uri="{FF2B5EF4-FFF2-40B4-BE49-F238E27FC236}">
                  <a16:creationId xmlns:a16="http://schemas.microsoft.com/office/drawing/2014/main" id="{0EDE512B-3055-0950-8067-AAE6AD9F30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7107713" y="598342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TextBox 9">
              <a:extLst>
                <a:ext uri="{FF2B5EF4-FFF2-40B4-BE49-F238E27FC236}">
                  <a16:creationId xmlns:a16="http://schemas.microsoft.com/office/drawing/2014/main" id="{86422253-A376-D837-9D6E-85FFD0CE4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8162" y="5941090"/>
              <a:ext cx="22157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CloudWatch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monitor sleepy consumers</a:t>
              </a:r>
            </a:p>
          </p:txBody>
        </p:sp>
      </p:grpSp>
      <p:sp>
        <p:nvSpPr>
          <p:cNvPr id="332" name="Rectangle 331">
            <a:extLst>
              <a:ext uri="{FF2B5EF4-FFF2-40B4-BE49-F238E27FC236}">
                <a16:creationId xmlns:a16="http://schemas.microsoft.com/office/drawing/2014/main" id="{B7C823EE-183A-0F45-B0E1-ABFBB4DE0B1D}"/>
              </a:ext>
            </a:extLst>
          </p:cNvPr>
          <p:cNvSpPr/>
          <p:nvPr/>
        </p:nvSpPr>
        <p:spPr>
          <a:xfrm>
            <a:off x="10029075" y="2420702"/>
            <a:ext cx="1782887" cy="396571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🏌️‍♂️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distributor 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B2A3DD03-EBA9-EFC3-EDF6-AC3A685EFC88}"/>
              </a:ext>
            </a:extLst>
          </p:cNvPr>
          <p:cNvSpPr txBox="1"/>
          <p:nvPr/>
        </p:nvSpPr>
        <p:spPr>
          <a:xfrm>
            <a:off x="6068024" y="2096018"/>
            <a:ext cx="365485" cy="417911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cxnSp>
        <p:nvCxnSpPr>
          <p:cNvPr id="442" name="Straight Arrow Connector 12">
            <a:extLst>
              <a:ext uri="{FF2B5EF4-FFF2-40B4-BE49-F238E27FC236}">
                <a16:creationId xmlns:a16="http://schemas.microsoft.com/office/drawing/2014/main" id="{DBA95130-BADC-7F9D-EC8B-F4100650CD3E}"/>
              </a:ext>
            </a:extLst>
          </p:cNvPr>
          <p:cNvCxnSpPr>
            <a:cxnSpLocks/>
            <a:stCxn id="438" idx="0"/>
            <a:endCxn id="198" idx="1"/>
          </p:cNvCxnSpPr>
          <p:nvPr/>
        </p:nvCxnSpPr>
        <p:spPr>
          <a:xfrm rot="5400000" flipH="1" flipV="1">
            <a:off x="7441856" y="-372479"/>
            <a:ext cx="1277408" cy="3659587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5" name="TextBox 12">
            <a:extLst>
              <a:ext uri="{FF2B5EF4-FFF2-40B4-BE49-F238E27FC236}">
                <a16:creationId xmlns:a16="http://schemas.microsoft.com/office/drawing/2014/main" id="{0ECE997D-C717-9DD7-5161-7C5EF2848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3063" y="1459487"/>
            <a:ext cx="1063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pull batch,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delete batch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1BFF9219-D891-39EB-A50C-307F93F57292}"/>
              </a:ext>
            </a:extLst>
          </p:cNvPr>
          <p:cNvSpPr/>
          <p:nvPr/>
        </p:nvSpPr>
        <p:spPr>
          <a:xfrm>
            <a:off x="5704175" y="2108029"/>
            <a:ext cx="1094222" cy="393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15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8">
            <a:extLst>
              <a:ext uri="{FF2B5EF4-FFF2-40B4-BE49-F238E27FC236}">
                <a16:creationId xmlns:a16="http://schemas.microsoft.com/office/drawing/2014/main" id="{773E4030-80AB-FBF6-8CE8-FF1CE473B714}"/>
              </a:ext>
            </a:extLst>
          </p:cNvPr>
          <p:cNvCxnSpPr>
            <a:cxnSpLocks/>
            <a:stCxn id="46" idx="0"/>
          </p:cNvCxnSpPr>
          <p:nvPr/>
        </p:nvCxnSpPr>
        <p:spPr>
          <a:xfrm rot="16200000" flipV="1">
            <a:off x="3677991" y="-345622"/>
            <a:ext cx="1303663" cy="2755251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66EE473-4B40-CD60-3B6D-A9E28E7EC0D6}"/>
              </a:ext>
            </a:extLst>
          </p:cNvPr>
          <p:cNvSpPr/>
          <p:nvPr/>
        </p:nvSpPr>
        <p:spPr>
          <a:xfrm>
            <a:off x="1544409" y="283208"/>
            <a:ext cx="1338025" cy="43117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⌛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Buffer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E35BB-19F2-74F0-3110-5BBD8EC6B3D3}"/>
              </a:ext>
            </a:extLst>
          </p:cNvPr>
          <p:cNvSpPr/>
          <p:nvPr/>
        </p:nvSpPr>
        <p:spPr>
          <a:xfrm>
            <a:off x="238628" y="1026491"/>
            <a:ext cx="11787909" cy="1904333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6A4477D-D23B-31EC-5ECE-3B616D20B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1366" y="1018952"/>
            <a:ext cx="381000" cy="381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19B6A5E-CA7D-EC4B-527B-2D0543A710AB}"/>
              </a:ext>
            </a:extLst>
          </p:cNvPr>
          <p:cNvSpPr/>
          <p:nvPr/>
        </p:nvSpPr>
        <p:spPr>
          <a:xfrm>
            <a:off x="2838050" y="2233811"/>
            <a:ext cx="1167897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cxnSp>
        <p:nvCxnSpPr>
          <p:cNvPr id="24" name="Straight Arrow Connector 38">
            <a:extLst>
              <a:ext uri="{FF2B5EF4-FFF2-40B4-BE49-F238E27FC236}">
                <a16:creationId xmlns:a16="http://schemas.microsoft.com/office/drawing/2014/main" id="{162F2726-75D1-F9D3-97C7-8EB9D7664B60}"/>
              </a:ext>
            </a:extLst>
          </p:cNvPr>
          <p:cNvCxnSpPr>
            <a:cxnSpLocks/>
            <a:stCxn id="25" idx="2"/>
            <a:endCxn id="21" idx="1"/>
          </p:cNvCxnSpPr>
          <p:nvPr/>
        </p:nvCxnSpPr>
        <p:spPr>
          <a:xfrm rot="16200000" flipH="1">
            <a:off x="1705476" y="1298180"/>
            <a:ext cx="1633363" cy="631785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D711E54-DDAE-800C-8CF4-57EDE0ED20EE}"/>
              </a:ext>
            </a:extLst>
          </p:cNvPr>
          <p:cNvSpPr txBox="1"/>
          <p:nvPr/>
        </p:nvSpPr>
        <p:spPr>
          <a:xfrm>
            <a:off x="2023522" y="428060"/>
            <a:ext cx="36548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192D149A-349B-9421-304C-9C0A9E6E1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562" y="1093128"/>
            <a:ext cx="232335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wake up, you’ve got messages!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343108B-A3F8-E015-1122-BABE0F13489E}"/>
              </a:ext>
            </a:extLst>
          </p:cNvPr>
          <p:cNvGrpSpPr/>
          <p:nvPr/>
        </p:nvGrpSpPr>
        <p:grpSpPr>
          <a:xfrm>
            <a:off x="5445918" y="2172848"/>
            <a:ext cx="2052832" cy="518854"/>
            <a:chOff x="4537167" y="5246272"/>
            <a:chExt cx="2052832" cy="51885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FF47D97-F81E-C34F-8524-4D76E123991F}"/>
                </a:ext>
              </a:extLst>
            </p:cNvPr>
            <p:cNvGrpSpPr/>
            <p:nvPr/>
          </p:nvGrpSpPr>
          <p:grpSpPr>
            <a:xfrm>
              <a:off x="4537167" y="5246272"/>
              <a:ext cx="2052832" cy="518854"/>
              <a:chOff x="6440267" y="2476895"/>
              <a:chExt cx="2052832" cy="51885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189DBB7-BEFF-4423-DBA8-0C2E51EAD8AF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31" name="Graphic 10" descr="AWS Lambda service icon.">
                <a:extLst>
                  <a:ext uri="{FF2B5EF4-FFF2-40B4-BE49-F238E27FC236}">
                    <a16:creationId xmlns:a16="http://schemas.microsoft.com/office/drawing/2014/main" id="{D02DF9BC-36F9-4B53-0680-52BD658D6F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DF84C06-599C-2243-8AE8-434D90127C10}"/>
                  </a:ext>
                </a:extLst>
              </p:cNvPr>
              <p:cNvSpPr txBox="1"/>
              <p:nvPr/>
            </p:nvSpPr>
            <p:spPr>
              <a:xfrm>
                <a:off x="7316200" y="2522092"/>
                <a:ext cx="117405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start puller</a:t>
                </a:r>
              </a:p>
            </p:txBody>
          </p:sp>
        </p:grpSp>
        <p:pic>
          <p:nvPicPr>
            <p:cNvPr id="29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D9388768-4553-54C4-2C18-820907A79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6C355C0-50E7-04A8-547A-88EA2768C6C7}"/>
              </a:ext>
            </a:extLst>
          </p:cNvPr>
          <p:cNvGrpSpPr/>
          <p:nvPr/>
        </p:nvGrpSpPr>
        <p:grpSpPr>
          <a:xfrm>
            <a:off x="9163819" y="1595352"/>
            <a:ext cx="2060095" cy="518854"/>
            <a:chOff x="4537167" y="5246272"/>
            <a:chExt cx="2060095" cy="51885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FACC342-023F-5756-9959-FFA7858A9AB9}"/>
                </a:ext>
              </a:extLst>
            </p:cNvPr>
            <p:cNvGrpSpPr/>
            <p:nvPr/>
          </p:nvGrpSpPr>
          <p:grpSpPr>
            <a:xfrm>
              <a:off x="4537167" y="5246272"/>
              <a:ext cx="2060095" cy="518854"/>
              <a:chOff x="6440267" y="2476895"/>
              <a:chExt cx="2060095" cy="518854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00EC4B-4634-28BE-796B-097EE576C585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37" name="Graphic 10" descr="AWS Lambda service icon.">
                <a:extLst>
                  <a:ext uri="{FF2B5EF4-FFF2-40B4-BE49-F238E27FC236}">
                    <a16:creationId xmlns:a16="http://schemas.microsoft.com/office/drawing/2014/main" id="{5FEFB481-E79D-FE35-4407-FEEE79CAD4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285316-E4F0-314D-9F40-E92123F2687E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1841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item handler</a:t>
                </a:r>
              </a:p>
            </p:txBody>
          </p:sp>
        </p:grpSp>
        <p:pic>
          <p:nvPicPr>
            <p:cNvPr id="35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6090AD27-1B13-497E-F615-D311CC374F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TextBox 12">
            <a:extLst>
              <a:ext uri="{FF2B5EF4-FFF2-40B4-BE49-F238E27FC236}">
                <a16:creationId xmlns:a16="http://schemas.microsoft.com/office/drawing/2014/main" id="{9093BE9E-18A6-8D24-CB5A-58848CBD4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7407" y="1356206"/>
            <a:ext cx="13451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break into 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single items</a:t>
            </a:r>
          </a:p>
        </p:txBody>
      </p: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B13803AA-CFB7-1B1B-FED7-218E8BC95848}"/>
              </a:ext>
            </a:extLst>
          </p:cNvPr>
          <p:cNvCxnSpPr>
            <a:cxnSpLocks/>
            <a:stCxn id="21" idx="3"/>
            <a:endCxn id="30" idx="1"/>
          </p:cNvCxnSpPr>
          <p:nvPr/>
        </p:nvCxnSpPr>
        <p:spPr>
          <a:xfrm>
            <a:off x="4005947" y="2430755"/>
            <a:ext cx="1439971" cy="152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2">
            <a:extLst>
              <a:ext uri="{FF2B5EF4-FFF2-40B4-BE49-F238E27FC236}">
                <a16:creationId xmlns:a16="http://schemas.microsoft.com/office/drawing/2014/main" id="{65957B96-8F3A-D2CE-6ACB-C1ABA9E36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3558" y="391473"/>
            <a:ext cx="14987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pull until there are no more messages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EA46CDB-A11F-492D-4E20-7EB102DA21C0}"/>
              </a:ext>
            </a:extLst>
          </p:cNvPr>
          <p:cNvGrpSpPr/>
          <p:nvPr/>
        </p:nvGrpSpPr>
        <p:grpSpPr>
          <a:xfrm>
            <a:off x="5445918" y="1598527"/>
            <a:ext cx="2067357" cy="518854"/>
            <a:chOff x="5684343" y="1614656"/>
            <a:chExt cx="2067357" cy="51885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566D58C-F30D-EB54-590B-EC447220F301}"/>
                </a:ext>
              </a:extLst>
            </p:cNvPr>
            <p:cNvGrpSpPr/>
            <p:nvPr/>
          </p:nvGrpSpPr>
          <p:grpSpPr>
            <a:xfrm>
              <a:off x="5684343" y="1614656"/>
              <a:ext cx="2067357" cy="518854"/>
              <a:chOff x="5684343" y="1464673"/>
              <a:chExt cx="2067357" cy="518854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67DECA73-0B8D-B582-D5DC-9200EE77CCFC}"/>
                  </a:ext>
                </a:extLst>
              </p:cNvPr>
              <p:cNvGrpSpPr/>
              <p:nvPr/>
            </p:nvGrpSpPr>
            <p:grpSpPr>
              <a:xfrm>
                <a:off x="5684343" y="1464673"/>
                <a:ext cx="2067357" cy="518854"/>
                <a:chOff x="6399966" y="2708142"/>
                <a:chExt cx="2067357" cy="518854"/>
              </a:xfrm>
            </p:grpSpPr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7B20070-053E-D237-5125-38300093AF65}"/>
                    </a:ext>
                  </a:extLst>
                </p:cNvPr>
                <p:cNvSpPr/>
                <p:nvPr/>
              </p:nvSpPr>
              <p:spPr>
                <a:xfrm>
                  <a:off x="6399966" y="2708142"/>
                  <a:ext cx="2052831" cy="518854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bIns="72000" rtlCol="0" anchor="b"/>
                <a:lstStyle/>
                <a:p>
                  <a:pPr algn="ctr"/>
                  <a:endParaRPr lang="en-US" sz="1600" i="1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48" name="TextBox 9">
                  <a:extLst>
                    <a:ext uri="{FF2B5EF4-FFF2-40B4-BE49-F238E27FC236}">
                      <a16:creationId xmlns:a16="http://schemas.microsoft.com/office/drawing/2014/main" id="{DC145ACF-CB94-2B71-D9FE-33DCC18492F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66667" y="2742618"/>
                  <a:ext cx="1200656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Step Functions</a:t>
                  </a:r>
                  <a:b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</a:br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  <a:latin typeface="+mn-lt"/>
                      <a:ea typeface="Amazon Ember" panose="020B0603020204020204" pitchFamily="34" charset="0"/>
                      <a:cs typeface="Arial" panose="020B0604020202020204" pitchFamily="34" charset="0"/>
                    </a:rPr>
                    <a:t>batch puller</a:t>
                  </a:r>
                </a:p>
              </p:txBody>
            </p:sp>
          </p:grpSp>
          <p:pic>
            <p:nvPicPr>
              <p:cNvPr id="46" name="Graphic 17" descr="AWS Step Functions service icon.">
                <a:extLst>
                  <a:ext uri="{FF2B5EF4-FFF2-40B4-BE49-F238E27FC236}">
                    <a16:creationId xmlns:a16="http://schemas.microsoft.com/office/drawing/2014/main" id="{E8359E49-9670-EA7B-D75C-B737337E76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5765872" y="1549981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4" name="Graphic 10" descr="AWS Lambda service icon.">
              <a:extLst>
                <a:ext uri="{FF2B5EF4-FFF2-40B4-BE49-F238E27FC236}">
                  <a16:creationId xmlns:a16="http://schemas.microsoft.com/office/drawing/2014/main" id="{FDA3AAE4-34E6-9848-54FE-C7C381DA45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6205585" y="169996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861E1DDF-7BC5-3A4D-F1FA-05B39D2A0041}"/>
              </a:ext>
            </a:extLst>
          </p:cNvPr>
          <p:cNvCxnSpPr>
            <a:cxnSpLocks/>
            <a:stCxn id="47" idx="3"/>
            <a:endCxn id="35" idx="1"/>
          </p:cNvCxnSpPr>
          <p:nvPr/>
        </p:nvCxnSpPr>
        <p:spPr>
          <a:xfrm flipV="1">
            <a:off x="7498749" y="1854778"/>
            <a:ext cx="1746367" cy="360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25B18991-5F20-F381-6B3D-77950A2FD797}"/>
              </a:ext>
            </a:extLst>
          </p:cNvPr>
          <p:cNvSpPr/>
          <p:nvPr/>
        </p:nvSpPr>
        <p:spPr>
          <a:xfrm>
            <a:off x="2213421" y="3052320"/>
            <a:ext cx="5282487" cy="43306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⌛ </a:t>
            </a:r>
            <a:r>
              <a:rPr lang="en-US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buffer puller</a:t>
            </a:r>
            <a:endParaRPr lang="en-US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86" name="Straight Arrow Connector 38">
            <a:extLst>
              <a:ext uri="{FF2B5EF4-FFF2-40B4-BE49-F238E27FC236}">
                <a16:creationId xmlns:a16="http://schemas.microsoft.com/office/drawing/2014/main" id="{E6F0DEA9-BA89-98B5-D732-8AB84D22BCB7}"/>
              </a:ext>
            </a:extLst>
          </p:cNvPr>
          <p:cNvCxnSpPr>
            <a:cxnSpLocks/>
            <a:stCxn id="47" idx="0"/>
            <a:endCxn id="90" idx="3"/>
          </p:cNvCxnSpPr>
          <p:nvPr/>
        </p:nvCxnSpPr>
        <p:spPr>
          <a:xfrm rot="16200000" flipV="1">
            <a:off x="5490880" y="617072"/>
            <a:ext cx="1215331" cy="747579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B1427B3A-1B1E-D94E-F6DF-17E477BDDD42}"/>
              </a:ext>
            </a:extLst>
          </p:cNvPr>
          <p:cNvSpPr txBox="1"/>
          <p:nvPr/>
        </p:nvSpPr>
        <p:spPr>
          <a:xfrm>
            <a:off x="5481099" y="198530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93" name="TextBox 12">
            <a:extLst>
              <a:ext uri="{FF2B5EF4-FFF2-40B4-BE49-F238E27FC236}">
                <a16:creationId xmlns:a16="http://schemas.microsoft.com/office/drawing/2014/main" id="{ACA52DDB-AC46-8103-C4A7-FC7340CD9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657" y="391472"/>
            <a:ext cx="14814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delete processed message batches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A30DF891-DC89-B0B1-5665-9F51FA701EC3}"/>
              </a:ext>
            </a:extLst>
          </p:cNvPr>
          <p:cNvSpPr>
            <a:spLocks noChangeAspect="1"/>
          </p:cNvSpPr>
          <p:nvPr/>
        </p:nvSpPr>
        <p:spPr>
          <a:xfrm>
            <a:off x="2327013" y="1357675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93DA4642-04C3-5E02-90C0-E0EDB18A2806}"/>
              </a:ext>
            </a:extLst>
          </p:cNvPr>
          <p:cNvSpPr>
            <a:spLocks noChangeAspect="1"/>
          </p:cNvSpPr>
          <p:nvPr/>
        </p:nvSpPr>
        <p:spPr>
          <a:xfrm>
            <a:off x="3953861" y="479119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E029D23D-32CC-7C6F-23C2-7243B7C9CCAF}"/>
              </a:ext>
            </a:extLst>
          </p:cNvPr>
          <p:cNvSpPr>
            <a:spLocks noChangeAspect="1"/>
          </p:cNvSpPr>
          <p:nvPr/>
        </p:nvSpPr>
        <p:spPr>
          <a:xfrm>
            <a:off x="6602887" y="469541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C31A7F52-EA5F-4942-42EC-9B44E325B5FD}"/>
              </a:ext>
            </a:extLst>
          </p:cNvPr>
          <p:cNvSpPr>
            <a:spLocks noChangeAspect="1"/>
          </p:cNvSpPr>
          <p:nvPr/>
        </p:nvSpPr>
        <p:spPr>
          <a:xfrm>
            <a:off x="7613691" y="1449822"/>
            <a:ext cx="286369" cy="286369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0239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904E-CECB-1AB7-1390-6EFF6489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43C5F2-8A99-8C6D-CB0D-274B44DCB6E7}"/>
              </a:ext>
            </a:extLst>
          </p:cNvPr>
          <p:cNvSpPr/>
          <p:nvPr/>
        </p:nvSpPr>
        <p:spPr>
          <a:xfrm>
            <a:off x="2183382" y="2657463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320212-F2DF-3A50-F033-C90E973BAE54}"/>
              </a:ext>
            </a:extLst>
          </p:cNvPr>
          <p:cNvSpPr/>
          <p:nvPr/>
        </p:nvSpPr>
        <p:spPr>
          <a:xfrm>
            <a:off x="8392729" y="2657463"/>
            <a:ext cx="21019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 C</a:t>
            </a:r>
          </a:p>
        </p:txBody>
      </p: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5DD5A8FE-22E6-CDB6-2120-CF726FC505A4}"/>
              </a:ext>
            </a:extLst>
          </p:cNvPr>
          <p:cNvCxnSpPr>
            <a:cxnSpLocks/>
            <a:stCxn id="7" idx="0"/>
            <a:endCxn id="10" idx="1"/>
          </p:cNvCxnSpPr>
          <p:nvPr/>
        </p:nvCxnSpPr>
        <p:spPr>
          <a:xfrm rot="5400000" flipH="1" flipV="1">
            <a:off x="3764294" y="607588"/>
            <a:ext cx="1519925" cy="2579826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FAAEAAE-2B6D-5E2F-FBF3-0553D7080013}"/>
              </a:ext>
            </a:extLst>
          </p:cNvPr>
          <p:cNvSpPr txBox="1">
            <a:spLocks/>
          </p:cNvSpPr>
          <p:nvPr/>
        </p:nvSpPr>
        <p:spPr>
          <a:xfrm>
            <a:off x="1527448" y="1850448"/>
            <a:ext cx="238809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DKIM </a:t>
            </a:r>
            <a:b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    public key</a:t>
            </a:r>
          </a:p>
        </p:txBody>
      </p:sp>
      <p:cxnSp>
        <p:nvCxnSpPr>
          <p:cNvPr id="41" name="Straight Arrow Connector 12">
            <a:extLst>
              <a:ext uri="{FF2B5EF4-FFF2-40B4-BE49-F238E27FC236}">
                <a16:creationId xmlns:a16="http://schemas.microsoft.com/office/drawing/2014/main" id="{27C5EF32-67C2-43AA-57F8-76BB4CB332E4}"/>
              </a:ext>
            </a:extLst>
          </p:cNvPr>
          <p:cNvCxnSpPr>
            <a:cxnSpLocks/>
            <a:stCxn id="7" idx="2"/>
            <a:endCxn id="35" idx="1"/>
          </p:cNvCxnSpPr>
          <p:nvPr/>
        </p:nvCxnSpPr>
        <p:spPr>
          <a:xfrm rot="16200000" flipH="1">
            <a:off x="3843843" y="2610146"/>
            <a:ext cx="895156" cy="21141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41D3E3A0-8739-12AD-E2CD-428E3E1B2A9B}"/>
              </a:ext>
            </a:extLst>
          </p:cNvPr>
          <p:cNvCxnSpPr>
            <a:cxnSpLocks/>
            <a:stCxn id="35" idx="3"/>
            <a:endCxn id="14" idx="2"/>
          </p:cNvCxnSpPr>
          <p:nvPr/>
        </p:nvCxnSpPr>
        <p:spPr>
          <a:xfrm flipV="1">
            <a:off x="7391400" y="3219646"/>
            <a:ext cx="2052290" cy="8951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AC20FB4B-6E37-5DA9-8EBB-FC416B2ADE1C}"/>
              </a:ext>
            </a:extLst>
          </p:cNvPr>
          <p:cNvCxnSpPr>
            <a:cxnSpLocks/>
            <a:stCxn id="10" idx="3"/>
            <a:endCxn id="14" idx="0"/>
          </p:cNvCxnSpPr>
          <p:nvPr/>
        </p:nvCxnSpPr>
        <p:spPr>
          <a:xfrm>
            <a:off x="7973049" y="1137538"/>
            <a:ext cx="1470641" cy="1519925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811FD070-2A4D-B513-09F8-C93A117CD384}"/>
              </a:ext>
            </a:extLst>
          </p:cNvPr>
          <p:cNvSpPr txBox="1">
            <a:spLocks/>
          </p:cNvSpPr>
          <p:nvPr/>
        </p:nvSpPr>
        <p:spPr>
          <a:xfrm>
            <a:off x="9529688" y="1601213"/>
            <a:ext cx="1929923" cy="101566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hash really signed by domain A? </a:t>
            </a:r>
            <a:r>
              <a:rPr lang="en-GB" sz="2000" dirty="0"/>
              <a:t>🤔</a:t>
            </a:r>
            <a:endParaRPr lang="en-GB" sz="1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BBA6CF5-D6D5-1E0D-7642-71D7D00E49F2}"/>
              </a:ext>
            </a:extLst>
          </p:cNvPr>
          <p:cNvSpPr/>
          <p:nvPr/>
        </p:nvSpPr>
        <p:spPr>
          <a:xfrm>
            <a:off x="3417812" y="2156917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BFDC8-2A93-CA21-4842-DEDEB8086544}"/>
              </a:ext>
            </a:extLst>
          </p:cNvPr>
          <p:cNvSpPr/>
          <p:nvPr/>
        </p:nvSpPr>
        <p:spPr>
          <a:xfrm>
            <a:off x="2721493" y="423827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6168E4-1177-BC4B-687B-94D9F584E257}"/>
              </a:ext>
            </a:extLst>
          </p:cNvPr>
          <p:cNvSpPr/>
          <p:nvPr/>
        </p:nvSpPr>
        <p:spPr>
          <a:xfrm>
            <a:off x="8955368" y="215691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28392A-6572-047A-ECAF-5D5C31485723}"/>
              </a:ext>
            </a:extLst>
          </p:cNvPr>
          <p:cNvGrpSpPr/>
          <p:nvPr/>
        </p:nvGrpSpPr>
        <p:grpSpPr>
          <a:xfrm>
            <a:off x="5814169" y="630173"/>
            <a:ext cx="2158880" cy="1014729"/>
            <a:chOff x="712971" y="2543574"/>
            <a:chExt cx="2158880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01548E-0AAD-B976-26D7-1F3B9CDC9807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74BF44-CA1B-F95F-E9D0-231DEF3C726F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606BEB85-E4EB-DBA7-5EA1-E9464155CC65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736503" y="835899"/>
            <a:ext cx="1319404" cy="2323725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2">
            <a:extLst>
              <a:ext uri="{FF2B5EF4-FFF2-40B4-BE49-F238E27FC236}">
                <a16:creationId xmlns:a16="http://schemas.microsoft.com/office/drawing/2014/main" id="{A1900DD7-21CF-8889-FFAF-8107DC5F360A}"/>
              </a:ext>
            </a:extLst>
          </p:cNvPr>
          <p:cNvCxnSpPr>
            <a:cxnSpLocks/>
            <a:stCxn id="7" idx="0"/>
          </p:cNvCxnSpPr>
          <p:nvPr/>
        </p:nvCxnSpPr>
        <p:spPr>
          <a:xfrm rot="5400000" flipH="1" flipV="1">
            <a:off x="3722407" y="1073707"/>
            <a:ext cx="1095693" cy="2071821"/>
          </a:xfrm>
          <a:prstGeom prst="bent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5B99DEE1-51B6-DA67-E966-47227D1D1EDA}"/>
              </a:ext>
            </a:extLst>
          </p:cNvPr>
          <p:cNvSpPr txBox="1">
            <a:spLocks/>
          </p:cNvSpPr>
          <p:nvPr/>
        </p:nvSpPr>
        <p:spPr>
          <a:xfrm>
            <a:off x="3174177" y="688330"/>
            <a:ext cx="2388090" cy="42062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♻️</a:t>
            </a:r>
            <a:r>
              <a:rPr lang="en-US" sz="2000" i="1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key rotations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363E8-C0C1-2F98-867D-314E3AA8B1B7}"/>
              </a:ext>
            </a:extLst>
          </p:cNvPr>
          <p:cNvSpPr txBox="1"/>
          <p:nvPr/>
        </p:nvSpPr>
        <p:spPr>
          <a:xfrm>
            <a:off x="3115307" y="4227816"/>
            <a:ext cx="252304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dirty="0"/>
              <a:t>📄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file signed 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dirty="0"/>
              <a:t>🔏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by domain A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with private key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6EB826-BEE9-8FE1-1DD6-1112E2C0169D}"/>
              </a:ext>
            </a:extLst>
          </p:cNvPr>
          <p:cNvSpPr txBox="1"/>
          <p:nvPr/>
        </p:nvSpPr>
        <p:spPr>
          <a:xfrm>
            <a:off x="7973049" y="4238277"/>
            <a:ext cx="215069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dirty="0"/>
              <a:t>📄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file signed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dirty="0"/>
              <a:t>🔏</a:t>
            </a:r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by domain A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32A7C9F-B772-EED5-E0FB-DB1FA6022D56}"/>
              </a:ext>
            </a:extLst>
          </p:cNvPr>
          <p:cNvSpPr/>
          <p:nvPr/>
        </p:nvSpPr>
        <p:spPr>
          <a:xfrm>
            <a:off x="7530555" y="4238277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C419A0A-38F4-646C-2D63-3B62EBFE7D35}"/>
              </a:ext>
            </a:extLst>
          </p:cNvPr>
          <p:cNvGrpSpPr/>
          <p:nvPr/>
        </p:nvGrpSpPr>
        <p:grpSpPr>
          <a:xfrm>
            <a:off x="5348499" y="3488266"/>
            <a:ext cx="2042901" cy="1253072"/>
            <a:chOff x="5348499" y="3149596"/>
            <a:chExt cx="2042901" cy="1253072"/>
          </a:xfrm>
        </p:grpSpPr>
        <p:sp>
          <p:nvSpPr>
            <p:cNvPr id="26" name="Can 25">
              <a:extLst>
                <a:ext uri="{FF2B5EF4-FFF2-40B4-BE49-F238E27FC236}">
                  <a16:creationId xmlns:a16="http://schemas.microsoft.com/office/drawing/2014/main" id="{54B5F9C8-DD82-C432-9EBD-647060A7161C}"/>
                </a:ext>
              </a:extLst>
            </p:cNvPr>
            <p:cNvSpPr/>
            <p:nvPr/>
          </p:nvSpPr>
          <p:spPr>
            <a:xfrm>
              <a:off x="5544364" y="3651737"/>
              <a:ext cx="1662093" cy="597205"/>
            </a:xfrm>
            <a:prstGeom prst="can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i="1" dirty="0">
                  <a:solidFill>
                    <a:schemeClr val="bg2"/>
                  </a:solidFill>
                </a:rPr>
                <a:t>any storage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10A407C-599F-474F-0CE5-1D490A390C5E}"/>
                </a:ext>
              </a:extLst>
            </p:cNvPr>
            <p:cNvSpPr/>
            <p:nvPr/>
          </p:nvSpPr>
          <p:spPr>
            <a:xfrm>
              <a:off x="5348499" y="3149596"/>
              <a:ext cx="2042901" cy="1253072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Domain B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169456A-7DAF-11E2-0B43-FF9622F0D471}"/>
              </a:ext>
            </a:extLst>
          </p:cNvPr>
          <p:cNvSpPr txBox="1"/>
          <p:nvPr/>
        </p:nvSpPr>
        <p:spPr>
          <a:xfrm>
            <a:off x="8057616" y="401072"/>
            <a:ext cx="2300887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public key of domain A at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49874-7738-3D40-8610-36BB6F093953}"/>
              </a:ext>
            </a:extLst>
          </p:cNvPr>
          <p:cNvSpPr txBox="1"/>
          <p:nvPr/>
        </p:nvSpPr>
        <p:spPr>
          <a:xfrm>
            <a:off x="206409" y="6409189"/>
            <a:ext cx="219451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DOMAIN SIGNATURE</a:t>
            </a:r>
          </a:p>
        </p:txBody>
      </p:sp>
    </p:spTree>
    <p:extLst>
      <p:ext uri="{BB962C8B-B14F-4D97-AF65-F5344CB8AC3E}">
        <p14:creationId xmlns:p14="http://schemas.microsoft.com/office/powerpoint/2010/main" val="200267162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47352</TotalTime>
  <Words>370</Words>
  <Application>Microsoft Macintosh PowerPoint</Application>
  <PresentationFormat>Widescreen</PresentationFormat>
  <Paragraphs>142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154</cp:revision>
  <dcterms:created xsi:type="dcterms:W3CDTF">2022-10-07T16:14:37Z</dcterms:created>
  <dcterms:modified xsi:type="dcterms:W3CDTF">2025-04-22T20:23:49Z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2025-04-22T20:23:49Z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2279434c-2844-442c-aab4-b2cb19003bc0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