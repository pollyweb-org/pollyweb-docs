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827" r:id="rId2"/>
    <p:sldId id="1822" r:id="rId3"/>
    <p:sldId id="1858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B0603020204020204" pitchFamily="3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4C3050E7-71FD-354D-B394-185F1158456F}">
          <p14:sldIdLst>
            <p14:sldId id="1827"/>
            <p14:sldId id="1822"/>
            <p14:sldId id="18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08D16-A2F3-C04F-311A-D35BA296D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B9977-534F-92A4-E7E9-107B4F671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82247-1E82-18D4-50FF-7A113F5BA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BB5A4D5-BB1E-0CB6-DC88-35A51A23E1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29A6D-EC72-6F7C-5A00-ED99508EE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561D84B-ADF5-D723-87BA-7730E44027C4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9:13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A7BD2-95DE-27A4-09F9-32343390E81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491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71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8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5AF2-8B85-3DDA-F710-B6AB3257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28BB01-5CF5-698A-377B-4CDC294623CF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🧢 Persona</a:t>
            </a:r>
          </a:p>
        </p:txBody>
      </p:sp>
    </p:spTree>
    <p:extLst>
      <p:ext uri="{BB962C8B-B14F-4D97-AF65-F5344CB8AC3E}">
        <p14:creationId xmlns:p14="http://schemas.microsoft.com/office/powerpoint/2010/main" val="1908638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A4B11-28E4-4383-4234-1D2ACC2A2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2E1A46A-4815-BB3F-4B32-641A1BC633E3}"/>
              </a:ext>
            </a:extLst>
          </p:cNvPr>
          <p:cNvGrpSpPr/>
          <p:nvPr/>
        </p:nvGrpSpPr>
        <p:grpSpPr>
          <a:xfrm>
            <a:off x="532072" y="286685"/>
            <a:ext cx="1988691" cy="1316816"/>
            <a:chOff x="7388710" y="3835400"/>
            <a:chExt cx="1988691" cy="1316816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5EA135DD-2082-82B8-229B-D96504C2F719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2A5B98A6-91CE-6214-67E7-30C7FB70740A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26E611B4-8E15-DE57-6863-BD053AD008F6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D34AFCB-C9D6-A289-FE3A-A5F2A6869F4D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CB8350A-5683-8411-3F6A-C209660F7C20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5DCC587-3B4F-525B-A799-00F4D8D6DE98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🤵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65C00A8-DF45-EB49-177E-15903748AFC7}"/>
              </a:ext>
            </a:extLst>
          </p:cNvPr>
          <p:cNvGrpSpPr/>
          <p:nvPr/>
        </p:nvGrpSpPr>
        <p:grpSpPr>
          <a:xfrm>
            <a:off x="4370665" y="1733659"/>
            <a:ext cx="1954571" cy="1038741"/>
            <a:chOff x="7507403" y="1006813"/>
            <a:chExt cx="634085" cy="1038741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6C658B3-0BE3-0C61-3759-F9E1F7DF4434}"/>
                </a:ext>
              </a:extLst>
            </p:cNvPr>
            <p:cNvSpPr/>
            <p:nvPr/>
          </p:nvSpPr>
          <p:spPr>
            <a:xfrm>
              <a:off x="7538137" y="1386857"/>
              <a:ext cx="575852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Persona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3C29DD33-BB15-CBB8-3AF8-570BEB51013F}"/>
                </a:ext>
              </a:extLst>
            </p:cNvPr>
            <p:cNvSpPr/>
            <p:nvPr/>
          </p:nvSpPr>
          <p:spPr>
            <a:xfrm>
              <a:off x="7507403" y="1006813"/>
              <a:ext cx="63408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800" i="1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9176FE8-4475-D22D-1CDA-B52858F752AC}"/>
              </a:ext>
            </a:extLst>
          </p:cNvPr>
          <p:cNvGrpSpPr/>
          <p:nvPr/>
        </p:nvGrpSpPr>
        <p:grpSpPr>
          <a:xfrm>
            <a:off x="547304" y="3185719"/>
            <a:ext cx="1954571" cy="1014729"/>
            <a:chOff x="7494698" y="1006813"/>
            <a:chExt cx="928364" cy="1014729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930E02F3-B421-B727-DE12-CEF982D3B6C4}"/>
                </a:ext>
              </a:extLst>
            </p:cNvPr>
            <p:cNvSpPr/>
            <p:nvPr/>
          </p:nvSpPr>
          <p:spPr>
            <a:xfrm>
              <a:off x="7534955" y="1366273"/>
              <a:ext cx="84784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📦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Storage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789C2BF-9807-BF40-D05B-7A035D51FDC8}"/>
                </a:ext>
              </a:extLst>
            </p:cNvPr>
            <p:cNvSpPr/>
            <p:nvPr/>
          </p:nvSpPr>
          <p:spPr>
            <a:xfrm>
              <a:off x="7494698" y="1006813"/>
              <a:ext cx="928364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61" name="Straight Arrow Connector 12">
            <a:extLst>
              <a:ext uri="{FF2B5EF4-FFF2-40B4-BE49-F238E27FC236}">
                <a16:creationId xmlns:a16="http://schemas.microsoft.com/office/drawing/2014/main" id="{F024E194-DE89-72F2-73F0-621F03168232}"/>
              </a:ext>
            </a:extLst>
          </p:cNvPr>
          <p:cNvCxnSpPr>
            <a:cxnSpLocks/>
            <a:stCxn id="108" idx="2"/>
            <a:endCxn id="60" idx="3"/>
          </p:cNvCxnSpPr>
          <p:nvPr/>
        </p:nvCxnSpPr>
        <p:spPr>
          <a:xfrm rot="5400000">
            <a:off x="3120664" y="2150882"/>
            <a:ext cx="923414" cy="216099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1382EA11-F2DA-1300-D024-41C13C585AAF}"/>
              </a:ext>
            </a:extLst>
          </p:cNvPr>
          <p:cNvSpPr txBox="1">
            <a:spLocks/>
          </p:cNvSpPr>
          <p:nvPr/>
        </p:nvSpPr>
        <p:spPr>
          <a:xfrm>
            <a:off x="4009897" y="3697560"/>
            <a:ext cx="85513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store</a:t>
            </a:r>
          </a:p>
        </p:txBody>
      </p:sp>
      <p:cxnSp>
        <p:nvCxnSpPr>
          <p:cNvPr id="65" name="Straight Arrow Connector 12">
            <a:extLst>
              <a:ext uri="{FF2B5EF4-FFF2-40B4-BE49-F238E27FC236}">
                <a16:creationId xmlns:a16="http://schemas.microsoft.com/office/drawing/2014/main" id="{FD3D29AC-ABF2-0B55-1245-16D15CD73B85}"/>
              </a:ext>
            </a:extLst>
          </p:cNvPr>
          <p:cNvCxnSpPr>
            <a:cxnSpLocks/>
            <a:stCxn id="54" idx="3"/>
            <a:endCxn id="108" idx="0"/>
          </p:cNvCxnSpPr>
          <p:nvPr/>
        </p:nvCxnSpPr>
        <p:spPr>
          <a:xfrm>
            <a:off x="2520763" y="945093"/>
            <a:ext cx="2142103" cy="79129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6CD150CE-44FA-9F6F-24E1-EFFB88CD1F63}"/>
              </a:ext>
            </a:extLst>
          </p:cNvPr>
          <p:cNvSpPr txBox="1">
            <a:spLocks/>
          </p:cNvSpPr>
          <p:nvPr/>
        </p:nvSpPr>
        <p:spPr>
          <a:xfrm>
            <a:off x="2550979" y="498091"/>
            <a:ext cx="200903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update </a:t>
            </a:r>
            <a:r>
              <a:rPr lang="en-GB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🧢</a:t>
            </a:r>
            <a:endParaRPr lang="en-US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99F66E0-BDFE-5EC7-9D9A-3D0791CFAD74}"/>
              </a:ext>
            </a:extLst>
          </p:cNvPr>
          <p:cNvGrpSpPr/>
          <p:nvPr/>
        </p:nvGrpSpPr>
        <p:grpSpPr>
          <a:xfrm>
            <a:off x="9503825" y="286685"/>
            <a:ext cx="2215598" cy="1052126"/>
            <a:chOff x="6342510" y="1588554"/>
            <a:chExt cx="2215598" cy="1052126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07E98B4-56F0-4AF8-7EA0-88A3218AD072}"/>
                </a:ext>
              </a:extLst>
            </p:cNvPr>
            <p:cNvGrpSpPr/>
            <p:nvPr/>
          </p:nvGrpSpPr>
          <p:grpSpPr>
            <a:xfrm>
              <a:off x="6342510" y="1588554"/>
              <a:ext cx="2215598" cy="1038741"/>
              <a:chOff x="6104399" y="5100898"/>
              <a:chExt cx="3925067" cy="1038741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D697CD8-7B45-E3B7-5ECB-853E9B3ED41F}"/>
                  </a:ext>
                </a:extLst>
              </p:cNvPr>
              <p:cNvSpPr/>
              <p:nvPr/>
            </p:nvSpPr>
            <p:spPr>
              <a:xfrm>
                <a:off x="6258929" y="5490228"/>
                <a:ext cx="3621181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🛎️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Concierge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89FF920-F6A5-FE48-750F-D6AE76E5046C}"/>
                  </a:ext>
                </a:extLst>
              </p:cNvPr>
              <p:cNvSpPr/>
              <p:nvPr/>
            </p:nvSpPr>
            <p:spPr>
              <a:xfrm>
                <a:off x="6104399" y="5100898"/>
                <a:ext cx="3925067" cy="1038741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sz="2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 bound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170EDC2-061E-20A6-3861-1B008BBC2FCE}"/>
                </a:ext>
              </a:extLst>
            </p:cNvPr>
            <p:cNvSpPr txBox="1"/>
            <p:nvPr/>
          </p:nvSpPr>
          <p:spPr>
            <a:xfrm flipH="1">
              <a:off x="7969827" y="1600438"/>
              <a:ext cx="378075" cy="1040242"/>
            </a:xfrm>
            <a:prstGeom prst="rect">
              <a:avLst/>
            </a:prstGeom>
            <a:noFill/>
          </p:spPr>
          <p:txBody>
            <a:bodyPr wrap="square" lIns="0" rIns="0" rtlCol="0">
              <a:noAutofit/>
            </a:bodyPr>
            <a:lstStyle/>
            <a:p>
              <a:pPr algn="l"/>
              <a:endParaRPr lang="en-US" dirty="0" err="1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208BB23-2D26-276E-EF3B-1682C4BF88DF}"/>
              </a:ext>
            </a:extLst>
          </p:cNvPr>
          <p:cNvGrpSpPr/>
          <p:nvPr/>
        </p:nvGrpSpPr>
        <p:grpSpPr>
          <a:xfrm>
            <a:off x="9498737" y="1730619"/>
            <a:ext cx="2215594" cy="1038741"/>
            <a:chOff x="7507403" y="1006813"/>
            <a:chExt cx="718764" cy="1038741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6D86F92-3597-B02B-4E37-15237A258E05}"/>
                </a:ext>
              </a:extLst>
            </p:cNvPr>
            <p:cNvSpPr/>
            <p:nvPr/>
          </p:nvSpPr>
          <p:spPr>
            <a:xfrm>
              <a:off x="7538137" y="1386857"/>
              <a:ext cx="66068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🕓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Timeline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2016800-AED7-D2F3-0645-9AAF35E54A3D}"/>
                </a:ext>
              </a:extLst>
            </p:cNvPr>
            <p:cNvSpPr/>
            <p:nvPr/>
          </p:nvSpPr>
          <p:spPr>
            <a:xfrm>
              <a:off x="7507403" y="1006813"/>
              <a:ext cx="718764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6E71B11-317C-E92C-5FE3-56A9AFF8D097}"/>
              </a:ext>
            </a:extLst>
          </p:cNvPr>
          <p:cNvGrpSpPr/>
          <p:nvPr/>
        </p:nvGrpSpPr>
        <p:grpSpPr>
          <a:xfrm>
            <a:off x="9503819" y="3161412"/>
            <a:ext cx="2215592" cy="1038741"/>
            <a:chOff x="7520892" y="1006813"/>
            <a:chExt cx="490925" cy="1038741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0A90131-8578-ADDB-33A5-8D203C96A08D}"/>
                </a:ext>
              </a:extLst>
            </p:cNvPr>
            <p:cNvSpPr/>
            <p:nvPr/>
          </p:nvSpPr>
          <p:spPr>
            <a:xfrm>
              <a:off x="7538137" y="1386857"/>
              <a:ext cx="4550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6FAC47CB-ECB8-2B58-BEE7-AD14307874DC}"/>
                </a:ext>
              </a:extLst>
            </p:cNvPr>
            <p:cNvSpPr/>
            <p:nvPr/>
          </p:nvSpPr>
          <p:spPr>
            <a:xfrm>
              <a:off x="7520892" y="1006813"/>
              <a:ext cx="49092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90" name="Straight Arrow Connector 12">
            <a:extLst>
              <a:ext uri="{FF2B5EF4-FFF2-40B4-BE49-F238E27FC236}">
                <a16:creationId xmlns:a16="http://schemas.microsoft.com/office/drawing/2014/main" id="{E07B8B0C-2672-8FD7-4E55-AF557DB29852}"/>
              </a:ext>
            </a:extLst>
          </p:cNvPr>
          <p:cNvCxnSpPr>
            <a:cxnSpLocks/>
            <a:stCxn id="120" idx="0"/>
            <a:endCxn id="76" idx="1"/>
          </p:cNvCxnSpPr>
          <p:nvPr/>
        </p:nvCxnSpPr>
        <p:spPr>
          <a:xfrm rot="5400000" flipH="1" flipV="1">
            <a:off x="7240916" y="-526318"/>
            <a:ext cx="930535" cy="359528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3" name="Straight Arrow Connector 12">
            <a:extLst>
              <a:ext uri="{FF2B5EF4-FFF2-40B4-BE49-F238E27FC236}">
                <a16:creationId xmlns:a16="http://schemas.microsoft.com/office/drawing/2014/main" id="{83E798EB-3BDF-C34E-9B08-B10E1E5D563E}"/>
              </a:ext>
            </a:extLst>
          </p:cNvPr>
          <p:cNvCxnSpPr>
            <a:cxnSpLocks/>
            <a:stCxn id="57" idx="3"/>
            <a:endCxn id="86" idx="1"/>
          </p:cNvCxnSpPr>
          <p:nvPr/>
        </p:nvCxnSpPr>
        <p:spPr>
          <a:xfrm flipV="1">
            <a:off x="6325236" y="2249990"/>
            <a:ext cx="3173501" cy="30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6" name="Straight Arrow Connector 12">
            <a:extLst>
              <a:ext uri="{FF2B5EF4-FFF2-40B4-BE49-F238E27FC236}">
                <a16:creationId xmlns:a16="http://schemas.microsoft.com/office/drawing/2014/main" id="{B9FC0770-4F52-5C88-7D41-08679F86C3DE}"/>
              </a:ext>
            </a:extLst>
          </p:cNvPr>
          <p:cNvCxnSpPr>
            <a:cxnSpLocks/>
            <a:stCxn id="120" idx="2"/>
            <a:endCxn id="89" idx="1"/>
          </p:cNvCxnSpPr>
          <p:nvPr/>
        </p:nvCxnSpPr>
        <p:spPr>
          <a:xfrm rot="16200000" flipH="1">
            <a:off x="7250726" y="1427689"/>
            <a:ext cx="910909" cy="3595278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967A1E41-35C6-59F5-91F0-CEE43F6FF60D}"/>
              </a:ext>
            </a:extLst>
          </p:cNvPr>
          <p:cNvSpPr txBox="1"/>
          <p:nvPr/>
        </p:nvSpPr>
        <p:spPr>
          <a:xfrm>
            <a:off x="6335208" y="2249989"/>
            <a:ext cx="26616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anonymized file transcripts</a:t>
            </a:r>
          </a:p>
        </p:txBody>
      </p:sp>
      <p:sp>
        <p:nvSpPr>
          <p:cNvPr id="104" name="Content Placeholder 2">
            <a:extLst>
              <a:ext uri="{FF2B5EF4-FFF2-40B4-BE49-F238E27FC236}">
                <a16:creationId xmlns:a16="http://schemas.microsoft.com/office/drawing/2014/main" id="{CC79B18D-9F55-86C3-BFC8-3B740643E31D}"/>
              </a:ext>
            </a:extLst>
          </p:cNvPr>
          <p:cNvSpPr txBox="1">
            <a:spLocks/>
          </p:cNvSpPr>
          <p:nvPr/>
        </p:nvSpPr>
        <p:spPr>
          <a:xfrm>
            <a:off x="5938292" y="806055"/>
            <a:ext cx="33706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filtered, sorted suppliers</a:t>
            </a:r>
            <a:endParaRPr lang="en-US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FF5A3D0-02CB-A65E-7D92-34FA26D5CE15}"/>
              </a:ext>
            </a:extLst>
          </p:cNvPr>
          <p:cNvSpPr txBox="1"/>
          <p:nvPr/>
        </p:nvSpPr>
        <p:spPr>
          <a:xfrm>
            <a:off x="4541038" y="1736387"/>
            <a:ext cx="243656" cy="103328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114" name="Content Placeholder 2">
            <a:extLst>
              <a:ext uri="{FF2B5EF4-FFF2-40B4-BE49-F238E27FC236}">
                <a16:creationId xmlns:a16="http://schemas.microsoft.com/office/drawing/2014/main" id="{D941C8A3-FB21-D0A4-A724-14008BA0F028}"/>
              </a:ext>
            </a:extLst>
          </p:cNvPr>
          <p:cNvSpPr txBox="1">
            <a:spLocks/>
          </p:cNvSpPr>
          <p:nvPr/>
        </p:nvSpPr>
        <p:spPr>
          <a:xfrm>
            <a:off x="2550979" y="977188"/>
            <a:ext cx="200903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upload </a:t>
            </a:r>
            <a:r>
              <a:rPr lang="en-GB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📄</a:t>
            </a:r>
            <a:endParaRPr lang="en-US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9" name="Content Placeholder 2">
            <a:extLst>
              <a:ext uri="{FF2B5EF4-FFF2-40B4-BE49-F238E27FC236}">
                <a16:creationId xmlns:a16="http://schemas.microsoft.com/office/drawing/2014/main" id="{5396BB20-4BC0-CEEA-ACDD-D7B3AA6FFB60}"/>
              </a:ext>
            </a:extLst>
          </p:cNvPr>
          <p:cNvSpPr txBox="1">
            <a:spLocks/>
          </p:cNvSpPr>
          <p:nvPr/>
        </p:nvSpPr>
        <p:spPr>
          <a:xfrm>
            <a:off x="5813309" y="3698389"/>
            <a:ext cx="337062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search preferences</a:t>
            </a:r>
            <a:endParaRPr lang="en-US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701DF13-CC4E-9AEB-BEA7-2554AF14AD85}"/>
              </a:ext>
            </a:extLst>
          </p:cNvPr>
          <p:cNvSpPr txBox="1"/>
          <p:nvPr/>
        </p:nvSpPr>
        <p:spPr>
          <a:xfrm>
            <a:off x="5786713" y="1736591"/>
            <a:ext cx="243656" cy="103328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ECDCE-8385-8AAA-CA35-F6BCEA10D350}"/>
              </a:ext>
            </a:extLst>
          </p:cNvPr>
          <p:cNvSpPr txBox="1"/>
          <p:nvPr/>
        </p:nvSpPr>
        <p:spPr>
          <a:xfrm>
            <a:off x="178670" y="6248084"/>
            <a:ext cx="1603003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PERSONA</a:t>
            </a:r>
          </a:p>
        </p:txBody>
      </p:sp>
    </p:spTree>
    <p:extLst>
      <p:ext uri="{BB962C8B-B14F-4D97-AF65-F5344CB8AC3E}">
        <p14:creationId xmlns:p14="http://schemas.microsoft.com/office/powerpoint/2010/main" val="14433312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5" name="Straight Arrow Connector 61">
            <a:extLst>
              <a:ext uri="{FF2B5EF4-FFF2-40B4-BE49-F238E27FC236}">
                <a16:creationId xmlns:a16="http://schemas.microsoft.com/office/drawing/2014/main" id="{05E76859-954F-C9C1-FC54-497F218B51C8}"/>
              </a:ext>
            </a:extLst>
          </p:cNvPr>
          <p:cNvCxnSpPr>
            <a:cxnSpLocks/>
            <a:stCxn id="353" idx="2"/>
            <a:endCxn id="403" idx="1"/>
          </p:cNvCxnSpPr>
          <p:nvPr/>
        </p:nvCxnSpPr>
        <p:spPr>
          <a:xfrm rot="16200000" flipH="1">
            <a:off x="10137568" y="2487560"/>
            <a:ext cx="373335" cy="924078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4325604-9AA7-D237-7003-60F966F7DD4B}"/>
              </a:ext>
            </a:extLst>
          </p:cNvPr>
          <p:cNvSpPr/>
          <p:nvPr/>
        </p:nvSpPr>
        <p:spPr>
          <a:xfrm>
            <a:off x="124982" y="1680207"/>
            <a:ext cx="11986971" cy="3371410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718AE0-F642-058F-E5B7-05598D3303BD}"/>
              </a:ext>
            </a:extLst>
          </p:cNvPr>
          <p:cNvGrpSpPr/>
          <p:nvPr/>
        </p:nvGrpSpPr>
        <p:grpSpPr>
          <a:xfrm>
            <a:off x="121385" y="273555"/>
            <a:ext cx="1811700" cy="1210630"/>
            <a:chOff x="7807083" y="414230"/>
            <a:chExt cx="1811700" cy="121063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82C4737-BCA9-5203-F29F-1415B7D8048B}"/>
                </a:ext>
              </a:extLst>
            </p:cNvPr>
            <p:cNvGrpSpPr/>
            <p:nvPr/>
          </p:nvGrpSpPr>
          <p:grpSpPr>
            <a:xfrm>
              <a:off x="7807083" y="414230"/>
              <a:ext cx="1811700" cy="1210630"/>
              <a:chOff x="4967945" y="4882765"/>
              <a:chExt cx="1811700" cy="121063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7EF3386-D99E-5D83-3179-316F3AE91484}"/>
                  </a:ext>
                </a:extLst>
              </p:cNvPr>
              <p:cNvGrpSpPr/>
              <p:nvPr/>
            </p:nvGrpSpPr>
            <p:grpSpPr>
              <a:xfrm>
                <a:off x="4967945" y="4882765"/>
                <a:ext cx="1811700" cy="1150802"/>
                <a:chOff x="4777000" y="3370563"/>
                <a:chExt cx="1811700" cy="1150802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1217E7B9-0186-CE69-5520-452087D4B5ED}"/>
                    </a:ext>
                  </a:extLst>
                </p:cNvPr>
                <p:cNvGrpSpPr/>
                <p:nvPr/>
              </p:nvGrpSpPr>
              <p:grpSpPr>
                <a:xfrm>
                  <a:off x="4777000" y="3370563"/>
                  <a:ext cx="1811700" cy="1150802"/>
                  <a:chOff x="6148335" y="213635"/>
                  <a:chExt cx="1811700" cy="1150802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B4982E2E-43E4-6229-F200-274A881C6C3C}"/>
                      </a:ext>
                    </a:extLst>
                  </p:cNvPr>
                  <p:cNvSpPr/>
                  <p:nvPr/>
                </p:nvSpPr>
                <p:spPr>
                  <a:xfrm>
                    <a:off x="6227765" y="299050"/>
                    <a:ext cx="1660304" cy="440358"/>
                  </a:xfrm>
                  <a:prstGeom prst="rect">
                    <a:avLst/>
                  </a:prstGeom>
                  <a:solidFill>
                    <a:schemeClr val="tx1">
                      <a:lumMod val="95000"/>
                    </a:schemeClr>
                  </a:solidFill>
                  <a:ln w="28575">
                    <a:solidFill>
                      <a:schemeClr val="tx1">
                        <a:lumMod val="50000"/>
                      </a:schemeClr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44000" rIns="144000" bIns="144000" anchor="ctr"/>
                  <a:lstStyle/>
                  <a:p>
                    <a:r>
                      <a:rPr lang="en-GB" sz="2800" baseline="-9000" dirty="0">
                        <a:solidFill>
                          <a:schemeClr val="bg2">
                            <a:lumMod val="40000"/>
                            <a:lumOff val="60000"/>
                          </a:schemeClr>
                        </a:solidFill>
                        <a:effectLst>
                          <a:glow>
                            <a:schemeClr val="bg1"/>
                          </a:glow>
                        </a:effectLst>
                      </a:rPr>
                      <a:t>🧑‍🦰</a:t>
                    </a:r>
                    <a:r>
                      <a:rPr lang="en-GB" sz="2000" dirty="0">
                        <a:solidFill>
                          <a:sysClr val="windowText" lastClr="000000"/>
                        </a:solidFill>
                        <a:latin typeface="+mj-lt"/>
                        <a:cs typeface="Arial" panose="020B0604020202020204" pitchFamily="34" charset="0"/>
                      </a:rPr>
                      <a:t> Wallet</a:t>
                    </a: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33F45950-E535-D8A6-9FED-39686F65F7FB}"/>
                      </a:ext>
                    </a:extLst>
                  </p:cNvPr>
                  <p:cNvSpPr/>
                  <p:nvPr/>
                </p:nvSpPr>
                <p:spPr>
                  <a:xfrm>
                    <a:off x="6148335" y="213635"/>
                    <a:ext cx="1811700" cy="1150802"/>
                  </a:xfrm>
                  <a:prstGeom prst="rect">
                    <a:avLst/>
                  </a:prstGeom>
                  <a:noFill/>
                  <a:ln w="12700">
                    <a:solidFill>
                      <a:srgbClr val="5A6B86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tIns="36000"/>
                  <a:lstStyle/>
                  <a:p>
                    <a:pPr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endParaRPr>
                  </a:p>
                </p:txBody>
              </p:sp>
            </p:grp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CAFCC593-CE7E-CFA4-3910-6857B0B99653}"/>
                    </a:ext>
                  </a:extLst>
                </p:cNvPr>
                <p:cNvSpPr/>
                <p:nvPr/>
              </p:nvSpPr>
              <p:spPr>
                <a:xfrm>
                  <a:off x="5455359" y="3993509"/>
                  <a:ext cx="481855" cy="440358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lnSpc>
                      <a:spcPts val="1500"/>
                    </a:lnSpc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GB" sz="28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📣</a:t>
                  </a:r>
                  <a:endPara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5D9A919-99E2-F803-C448-79DCCFD3DFE5}"/>
                    </a:ext>
                  </a:extLst>
                </p:cNvPr>
                <p:cNvSpPr/>
                <p:nvPr/>
              </p:nvSpPr>
              <p:spPr>
                <a:xfrm>
                  <a:off x="6034879" y="3993509"/>
                  <a:ext cx="481855" cy="432398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lnSpc>
                      <a:spcPts val="1500"/>
                    </a:lnSpc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</a:t>
                  </a:r>
                  <a:r>
                    <a:rPr lang="en-GB" sz="2800" baseline="-10000" dirty="0"/>
                    <a:t>📱</a:t>
                  </a:r>
                  <a:endPara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6F3FBCD3-C5B3-43AA-ACF2-26F45D9B960F}"/>
                    </a:ext>
                  </a:extLst>
                </p:cNvPr>
                <p:cNvSpPr/>
                <p:nvPr/>
              </p:nvSpPr>
              <p:spPr>
                <a:xfrm>
                  <a:off x="4868158" y="3993509"/>
                  <a:ext cx="481855" cy="440358"/>
                </a:xfrm>
                <a:prstGeom prst="rect">
                  <a:avLst/>
                </a:prstGeom>
                <a:solidFill>
                  <a:schemeClr val="tx1">
                    <a:lumMod val="95000"/>
                  </a:schemeClr>
                </a:solidFill>
                <a:ln w="28575">
                  <a:solidFill>
                    <a:schemeClr val="tx1">
                      <a:lumMod val="50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44000" tIns="144000" rIns="144000" bIns="144000" anchor="ctr"/>
                <a:lstStyle/>
                <a:p>
                  <a:pPr>
                    <a:lnSpc>
                      <a:spcPts val="1500"/>
                    </a:lnSpc>
                    <a:defRPr/>
                  </a:pPr>
                  <a:r>
                    <a:rPr lang="en-GB" sz="3200" baseline="-9000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  </a:t>
                  </a:r>
                  <a:endPara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8AD826-787F-EE47-A68E-150EB2672209}"/>
                  </a:ext>
                </a:extLst>
              </p:cNvPr>
              <p:cNvSpPr txBox="1"/>
              <p:nvPr/>
            </p:nvSpPr>
            <p:spPr>
              <a:xfrm>
                <a:off x="5034467" y="5385509"/>
                <a:ext cx="50268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0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000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4935CD-675A-E875-0E59-8EDBC1AFF4FA}"/>
                </a:ext>
              </a:extLst>
            </p:cNvPr>
            <p:cNvSpPr txBox="1"/>
            <p:nvPr/>
          </p:nvSpPr>
          <p:spPr>
            <a:xfrm>
              <a:off x="8310941" y="1187990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0DE9AEF-7EEB-1CAD-A04D-8D97C6DBF487}"/>
                </a:ext>
              </a:extLst>
            </p:cNvPr>
            <p:cNvSpPr txBox="1"/>
            <p:nvPr/>
          </p:nvSpPr>
          <p:spPr>
            <a:xfrm>
              <a:off x="8853595" y="1195700"/>
              <a:ext cx="304571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 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3576E41-D661-BB00-96C3-45AEBE389204}"/>
              </a:ext>
            </a:extLst>
          </p:cNvPr>
          <p:cNvSpPr/>
          <p:nvPr/>
        </p:nvSpPr>
        <p:spPr>
          <a:xfrm>
            <a:off x="1247036" y="1845650"/>
            <a:ext cx="1477869" cy="3924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cxnSp>
        <p:nvCxnSpPr>
          <p:cNvPr id="18" name="Straight Arrow Connector 61">
            <a:extLst>
              <a:ext uri="{FF2B5EF4-FFF2-40B4-BE49-F238E27FC236}">
                <a16:creationId xmlns:a16="http://schemas.microsoft.com/office/drawing/2014/main" id="{D02E443C-6FB4-CFAE-ECF0-C884A1CF639B}"/>
              </a:ext>
            </a:extLst>
          </p:cNvPr>
          <p:cNvCxnSpPr>
            <a:cxnSpLocks/>
            <a:stCxn id="16" idx="3"/>
            <a:endCxn id="415" idx="0"/>
          </p:cNvCxnSpPr>
          <p:nvPr/>
        </p:nvCxnSpPr>
        <p:spPr>
          <a:xfrm>
            <a:off x="1933085" y="848956"/>
            <a:ext cx="540361" cy="991130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C011F7-5256-F891-8AA3-EA1C1BB578CA}"/>
              </a:ext>
            </a:extLst>
          </p:cNvPr>
          <p:cNvGrpSpPr/>
          <p:nvPr/>
        </p:nvGrpSpPr>
        <p:grpSpPr>
          <a:xfrm>
            <a:off x="3770460" y="273555"/>
            <a:ext cx="1650611" cy="857434"/>
            <a:chOff x="7494698" y="1006814"/>
            <a:chExt cx="783992" cy="85743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DB17A62-7E6D-23AC-8E00-12DD5FCDFCA3}"/>
                </a:ext>
              </a:extLst>
            </p:cNvPr>
            <p:cNvSpPr/>
            <p:nvPr/>
          </p:nvSpPr>
          <p:spPr>
            <a:xfrm>
              <a:off x="7529620" y="1347559"/>
              <a:ext cx="713209" cy="440358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📦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Storage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FA74F08-9574-7006-C0E8-C45ED7AE046D}"/>
                </a:ext>
              </a:extLst>
            </p:cNvPr>
            <p:cNvSpPr/>
            <p:nvPr/>
          </p:nvSpPr>
          <p:spPr>
            <a:xfrm>
              <a:off x="7494698" y="1006814"/>
              <a:ext cx="783992" cy="857434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4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7E8A55-A85D-70A3-73FD-9FB07AC2A06A}"/>
              </a:ext>
            </a:extLst>
          </p:cNvPr>
          <p:cNvGrpSpPr/>
          <p:nvPr/>
        </p:nvGrpSpPr>
        <p:grpSpPr>
          <a:xfrm>
            <a:off x="681688" y="2330559"/>
            <a:ext cx="2052832" cy="518854"/>
            <a:chOff x="4537167" y="5246272"/>
            <a:chExt cx="2052832" cy="51885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F4980FE-5788-8BF1-D2E9-F9913FADB090}"/>
                </a:ext>
              </a:extLst>
            </p:cNvPr>
            <p:cNvGrpSpPr/>
            <p:nvPr/>
          </p:nvGrpSpPr>
          <p:grpSpPr>
            <a:xfrm>
              <a:off x="4537167" y="5246272"/>
              <a:ext cx="2052832" cy="518854"/>
              <a:chOff x="6440267" y="2476895"/>
              <a:chExt cx="2052832" cy="518854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675D74B-D8F6-D92E-3C2C-FB44C3D3EC47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28" name="Graphic 10" descr="AWS Lambda service icon.">
                <a:extLst>
                  <a:ext uri="{FF2B5EF4-FFF2-40B4-BE49-F238E27FC236}">
                    <a16:creationId xmlns:a16="http://schemas.microsoft.com/office/drawing/2014/main" id="{B64F9C15-6750-BE51-D128-C6C0478125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 bwMode="auto">
              <a:xfrm>
                <a:off x="6956201" y="2549268"/>
                <a:ext cx="378000" cy="3596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73AB9A0-B927-26DC-713C-7B24E86492EB}"/>
                  </a:ext>
                </a:extLst>
              </p:cNvPr>
              <p:cNvSpPr txBox="1"/>
              <p:nvPr/>
            </p:nvSpPr>
            <p:spPr>
              <a:xfrm>
                <a:off x="7316201" y="2513383"/>
                <a:ext cx="117433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data updates</a:t>
                </a:r>
              </a:p>
            </p:txBody>
          </p:sp>
        </p:grpSp>
        <p:pic>
          <p:nvPicPr>
            <p:cNvPr id="26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CA122FC6-455C-1A69-2F56-89B2E600B9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4618464" y="5318645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FBAD14A-1D36-CE11-F125-2B884FEEDA6A}"/>
              </a:ext>
            </a:extLst>
          </p:cNvPr>
          <p:cNvGrpSpPr/>
          <p:nvPr/>
        </p:nvGrpSpPr>
        <p:grpSpPr>
          <a:xfrm>
            <a:off x="681688" y="2915415"/>
            <a:ext cx="2052000" cy="518400"/>
            <a:chOff x="612366" y="4202686"/>
            <a:chExt cx="2052000" cy="5184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4ADBC8A-D4AC-A9FD-03BF-D8CDEEE1499D}"/>
                </a:ext>
              </a:extLst>
            </p:cNvPr>
            <p:cNvGrpSpPr/>
            <p:nvPr/>
          </p:nvGrpSpPr>
          <p:grpSpPr>
            <a:xfrm>
              <a:off x="612366" y="4202686"/>
              <a:ext cx="2052000" cy="518400"/>
              <a:chOff x="6838092" y="3987527"/>
              <a:chExt cx="2052000" cy="5184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1BC009C-8082-2759-4CDB-979C60C7A399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4" name="TextBox 11">
                <a:extLst>
                  <a:ext uri="{FF2B5EF4-FFF2-40B4-BE49-F238E27FC236}">
                    <a16:creationId xmlns:a16="http://schemas.microsoft.com/office/drawing/2014/main" id="{DF67FC63-0433-14C8-F591-08825B4840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0003" y="4022422"/>
                <a:ext cx="127091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control data</a:t>
                </a:r>
              </a:p>
            </p:txBody>
          </p:sp>
        </p:grpSp>
        <p:pic>
          <p:nvPicPr>
            <p:cNvPr id="32" name="Graphic 23" descr="Amazon DynamoDB service icon.">
              <a:extLst>
                <a:ext uri="{FF2B5EF4-FFF2-40B4-BE49-F238E27FC236}">
                  <a16:creationId xmlns:a16="http://schemas.microsoft.com/office/drawing/2014/main" id="{7A070588-8B4B-B680-9E80-8F26581C4A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694244" y="4282450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5" name="Straight Arrow Connector 61">
            <a:extLst>
              <a:ext uri="{FF2B5EF4-FFF2-40B4-BE49-F238E27FC236}">
                <a16:creationId xmlns:a16="http://schemas.microsoft.com/office/drawing/2014/main" id="{7996E8F7-9603-63F3-246C-BCD77BFEA064}"/>
              </a:ext>
            </a:extLst>
          </p:cNvPr>
          <p:cNvCxnSpPr>
            <a:cxnSpLocks/>
            <a:stCxn id="27" idx="3"/>
            <a:endCxn id="67" idx="2"/>
          </p:cNvCxnSpPr>
          <p:nvPr/>
        </p:nvCxnSpPr>
        <p:spPr>
          <a:xfrm flipV="1">
            <a:off x="2734520" y="2245929"/>
            <a:ext cx="1871855" cy="344057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4C3CB81D-0DBF-38D6-BB8C-9E234D7A97E8}"/>
              </a:ext>
            </a:extLst>
          </p:cNvPr>
          <p:cNvSpPr/>
          <p:nvPr/>
        </p:nvSpPr>
        <p:spPr>
          <a:xfrm>
            <a:off x="4026990" y="1853529"/>
            <a:ext cx="1158770" cy="39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📦</a:t>
            </a: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cache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69" name="Straight Arrow Connector 12">
            <a:extLst>
              <a:ext uri="{FF2B5EF4-FFF2-40B4-BE49-F238E27FC236}">
                <a16:creationId xmlns:a16="http://schemas.microsoft.com/office/drawing/2014/main" id="{18A86711-A13C-668C-B146-3440FE8CE3F7}"/>
              </a:ext>
            </a:extLst>
          </p:cNvPr>
          <p:cNvCxnSpPr>
            <a:cxnSpLocks/>
            <a:stCxn id="67" idx="0"/>
            <a:endCxn id="23" idx="2"/>
          </p:cNvCxnSpPr>
          <p:nvPr/>
        </p:nvCxnSpPr>
        <p:spPr>
          <a:xfrm flipH="1" flipV="1">
            <a:off x="4595766" y="1130989"/>
            <a:ext cx="10609" cy="722540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7D665D02-EC57-4F9B-014F-232648C68A41}"/>
              </a:ext>
            </a:extLst>
          </p:cNvPr>
          <p:cNvSpPr txBox="1">
            <a:spLocks/>
          </p:cNvSpPr>
          <p:nvPr/>
        </p:nvSpPr>
        <p:spPr>
          <a:xfrm>
            <a:off x="4614305" y="1354794"/>
            <a:ext cx="1311123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read, write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252623-1A91-451A-ADC2-30EB05ED7B5E}"/>
              </a:ext>
            </a:extLst>
          </p:cNvPr>
          <p:cNvSpPr txBox="1"/>
          <p:nvPr/>
        </p:nvSpPr>
        <p:spPr>
          <a:xfrm>
            <a:off x="178670" y="6248084"/>
            <a:ext cx="308097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PERSONA ON AWS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CF34CCF-6088-E996-E99B-D4BB26FA6EBF}"/>
              </a:ext>
            </a:extLst>
          </p:cNvPr>
          <p:cNvSpPr/>
          <p:nvPr/>
        </p:nvSpPr>
        <p:spPr>
          <a:xfrm>
            <a:off x="10148064" y="4496348"/>
            <a:ext cx="1807431" cy="391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manifester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2D3F9FD5-5ECE-F5C9-76FA-3BC892787C89}"/>
              </a:ext>
            </a:extLst>
          </p:cNvPr>
          <p:cNvGrpSpPr/>
          <p:nvPr/>
        </p:nvGrpSpPr>
        <p:grpSpPr>
          <a:xfrm>
            <a:off x="874867" y="5232480"/>
            <a:ext cx="1666473" cy="857434"/>
            <a:chOff x="7507403" y="1006814"/>
            <a:chExt cx="540623" cy="857434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07BCE476-E41F-9FE4-DDC2-C79C07E12B27}"/>
                </a:ext>
              </a:extLst>
            </p:cNvPr>
            <p:cNvSpPr/>
            <p:nvPr/>
          </p:nvSpPr>
          <p:spPr>
            <a:xfrm>
              <a:off x="7531224" y="1349173"/>
              <a:ext cx="495171" cy="4390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36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🕓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Timeline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211F0F3-DE36-24AA-6407-D5CE92FEDC1A}"/>
                </a:ext>
              </a:extLst>
            </p:cNvPr>
            <p:cNvSpPr/>
            <p:nvPr/>
          </p:nvSpPr>
          <p:spPr>
            <a:xfrm>
              <a:off x="7507403" y="1006814"/>
              <a:ext cx="540623" cy="857434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4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 bound</a:t>
              </a:r>
            </a:p>
          </p:txBody>
        </p:sp>
      </p:grpSp>
      <p:cxnSp>
        <p:nvCxnSpPr>
          <p:cNvPr id="101" name="Straight Arrow Connector 61">
            <a:extLst>
              <a:ext uri="{FF2B5EF4-FFF2-40B4-BE49-F238E27FC236}">
                <a16:creationId xmlns:a16="http://schemas.microsoft.com/office/drawing/2014/main" id="{CB71AAF9-1AD9-BB56-50E0-19D6EBF9388E}"/>
              </a:ext>
            </a:extLst>
          </p:cNvPr>
          <p:cNvCxnSpPr>
            <a:cxnSpLocks/>
            <a:stCxn id="79" idx="3"/>
            <a:endCxn id="219" idx="0"/>
          </p:cNvCxnSpPr>
          <p:nvPr/>
        </p:nvCxnSpPr>
        <p:spPr>
          <a:xfrm>
            <a:off x="10876547" y="784082"/>
            <a:ext cx="489120" cy="1061568"/>
          </a:xfrm>
          <a:prstGeom prst="bentConnector2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8E5F4BE-12AE-BC0B-57BC-5FCFBC8E8885}"/>
              </a:ext>
            </a:extLst>
          </p:cNvPr>
          <p:cNvSpPr/>
          <p:nvPr/>
        </p:nvSpPr>
        <p:spPr>
          <a:xfrm>
            <a:off x="695932" y="1847137"/>
            <a:ext cx="458488" cy="3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09" name="Straight Arrow Connector 12">
            <a:extLst>
              <a:ext uri="{FF2B5EF4-FFF2-40B4-BE49-F238E27FC236}">
                <a16:creationId xmlns:a16="http://schemas.microsoft.com/office/drawing/2014/main" id="{CC5BFA83-5922-8706-9E96-4223757C159F}"/>
              </a:ext>
            </a:extLst>
          </p:cNvPr>
          <p:cNvCxnSpPr>
            <a:cxnSpLocks/>
            <a:stCxn id="108" idx="0"/>
          </p:cNvCxnSpPr>
          <p:nvPr/>
        </p:nvCxnSpPr>
        <p:spPr>
          <a:xfrm flipH="1" flipV="1">
            <a:off x="924025" y="1424539"/>
            <a:ext cx="1151" cy="422598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80" name="Graphic 179">
            <a:extLst>
              <a:ext uri="{FF2B5EF4-FFF2-40B4-BE49-F238E27FC236}">
                <a16:creationId xmlns:a16="http://schemas.microsoft.com/office/drawing/2014/main" id="{90C2A575-02D3-EEA8-E352-A59BCA3F948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7797" y="1670871"/>
            <a:ext cx="381000" cy="381000"/>
          </a:xfrm>
          <a:prstGeom prst="rect">
            <a:avLst/>
          </a:prstGeom>
        </p:spPr>
      </p:pic>
      <p:sp>
        <p:nvSpPr>
          <p:cNvPr id="181" name="Rectangle 180">
            <a:extLst>
              <a:ext uri="{FF2B5EF4-FFF2-40B4-BE49-F238E27FC236}">
                <a16:creationId xmlns:a16="http://schemas.microsoft.com/office/drawing/2014/main" id="{6009C664-E370-8946-1516-09F8CBCBBA31}"/>
              </a:ext>
            </a:extLst>
          </p:cNvPr>
          <p:cNvSpPr/>
          <p:nvPr/>
        </p:nvSpPr>
        <p:spPr>
          <a:xfrm>
            <a:off x="6181389" y="2391178"/>
            <a:ext cx="1346491" cy="3989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🧠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ragger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82" name="Straight Arrow Connector 61">
            <a:extLst>
              <a:ext uri="{FF2B5EF4-FFF2-40B4-BE49-F238E27FC236}">
                <a16:creationId xmlns:a16="http://schemas.microsoft.com/office/drawing/2014/main" id="{C9E450B4-2CAA-94F0-8A27-45860700A1DD}"/>
              </a:ext>
            </a:extLst>
          </p:cNvPr>
          <p:cNvCxnSpPr>
            <a:cxnSpLocks/>
            <a:stCxn id="27" idx="3"/>
            <a:endCxn id="181" idx="1"/>
          </p:cNvCxnSpPr>
          <p:nvPr/>
        </p:nvCxnSpPr>
        <p:spPr>
          <a:xfrm>
            <a:off x="2734520" y="2589986"/>
            <a:ext cx="3446869" cy="651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2" name="Content Placeholder 2">
            <a:extLst>
              <a:ext uri="{FF2B5EF4-FFF2-40B4-BE49-F238E27FC236}">
                <a16:creationId xmlns:a16="http://schemas.microsoft.com/office/drawing/2014/main" id="{F3621D47-7AC6-63A8-308F-47155F1A06B4}"/>
              </a:ext>
            </a:extLst>
          </p:cNvPr>
          <p:cNvSpPr txBox="1">
            <a:spLocks/>
          </p:cNvSpPr>
          <p:nvPr/>
        </p:nvSpPr>
        <p:spPr>
          <a:xfrm>
            <a:off x="1955012" y="314956"/>
            <a:ext cx="1197510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chat</a:t>
            </a:r>
            <a:b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file upload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FC347A3A-0450-D13C-3DA0-E944D3304BFE}"/>
              </a:ext>
            </a:extLst>
          </p:cNvPr>
          <p:cNvSpPr/>
          <p:nvPr/>
        </p:nvSpPr>
        <p:spPr>
          <a:xfrm>
            <a:off x="1185246" y="4496348"/>
            <a:ext cx="1045715" cy="3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16" name="Content Placeholder 2">
            <a:extLst>
              <a:ext uri="{FF2B5EF4-FFF2-40B4-BE49-F238E27FC236}">
                <a16:creationId xmlns:a16="http://schemas.microsoft.com/office/drawing/2014/main" id="{6AA75DC1-7C23-E8E4-0261-600843D310F5}"/>
              </a:ext>
            </a:extLst>
          </p:cNvPr>
          <p:cNvSpPr txBox="1">
            <a:spLocks/>
          </p:cNvSpPr>
          <p:nvPr/>
        </p:nvSpPr>
        <p:spPr>
          <a:xfrm>
            <a:off x="6089343" y="1861371"/>
            <a:ext cx="1998072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update inferred preference knowledge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E0FB183F-F477-9BBF-0AA2-731DC4D9F5BD}"/>
              </a:ext>
            </a:extLst>
          </p:cNvPr>
          <p:cNvSpPr/>
          <p:nvPr/>
        </p:nvSpPr>
        <p:spPr>
          <a:xfrm>
            <a:off x="10786282" y="1845650"/>
            <a:ext cx="1158770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cxnSp>
        <p:nvCxnSpPr>
          <p:cNvPr id="229" name="Straight Arrow Connector 61">
            <a:extLst>
              <a:ext uri="{FF2B5EF4-FFF2-40B4-BE49-F238E27FC236}">
                <a16:creationId xmlns:a16="http://schemas.microsoft.com/office/drawing/2014/main" id="{C1458B29-B8BF-014D-3282-C81A0D6BD707}"/>
              </a:ext>
            </a:extLst>
          </p:cNvPr>
          <p:cNvCxnSpPr>
            <a:cxnSpLocks/>
            <a:stCxn id="354" idx="1"/>
            <a:endCxn id="181" idx="3"/>
          </p:cNvCxnSpPr>
          <p:nvPr/>
        </p:nvCxnSpPr>
        <p:spPr>
          <a:xfrm flipH="1">
            <a:off x="7527880" y="2589986"/>
            <a:ext cx="2073018" cy="651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1D49DAF8-19A8-622E-36C9-7446F38AB743}"/>
              </a:ext>
            </a:extLst>
          </p:cNvPr>
          <p:cNvGrpSpPr/>
          <p:nvPr/>
        </p:nvGrpSpPr>
        <p:grpSpPr>
          <a:xfrm>
            <a:off x="681688" y="3504465"/>
            <a:ext cx="2134360" cy="518854"/>
            <a:chOff x="5684343" y="1614656"/>
            <a:chExt cx="2134360" cy="518854"/>
          </a:xfrm>
        </p:grpSpPr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78C9C3E3-B469-CF99-D812-92DC393EF754}"/>
                </a:ext>
              </a:extLst>
            </p:cNvPr>
            <p:cNvGrpSpPr/>
            <p:nvPr/>
          </p:nvGrpSpPr>
          <p:grpSpPr>
            <a:xfrm>
              <a:off x="5684343" y="1614656"/>
              <a:ext cx="2134360" cy="518854"/>
              <a:chOff x="5684343" y="1464673"/>
              <a:chExt cx="2134360" cy="518854"/>
            </a:xfrm>
          </p:grpSpPr>
          <p:grpSp>
            <p:nvGrpSpPr>
              <p:cNvPr id="247" name="Group 246">
                <a:extLst>
                  <a:ext uri="{FF2B5EF4-FFF2-40B4-BE49-F238E27FC236}">
                    <a16:creationId xmlns:a16="http://schemas.microsoft.com/office/drawing/2014/main" id="{4B73E30A-96AD-1450-EBF8-45578F5F81ED}"/>
                  </a:ext>
                </a:extLst>
              </p:cNvPr>
              <p:cNvGrpSpPr/>
              <p:nvPr/>
            </p:nvGrpSpPr>
            <p:grpSpPr>
              <a:xfrm>
                <a:off x="5684343" y="1464673"/>
                <a:ext cx="2134360" cy="518854"/>
                <a:chOff x="6399966" y="2708142"/>
                <a:chExt cx="2134360" cy="518854"/>
              </a:xfrm>
            </p:grpSpPr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BFB72B5E-ECD0-50C9-8220-73EE6E3D1E41}"/>
                    </a:ext>
                  </a:extLst>
                </p:cNvPr>
                <p:cNvSpPr/>
                <p:nvPr/>
              </p:nvSpPr>
              <p:spPr>
                <a:xfrm>
                  <a:off x="6399966" y="2708142"/>
                  <a:ext cx="2052831" cy="518854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bIns="72000" rtlCol="0" anchor="b"/>
                <a:lstStyle/>
                <a:p>
                  <a:pPr algn="ctr"/>
                  <a:endParaRPr lang="en-US" sz="1600" i="1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50" name="TextBox 9">
                  <a:extLst>
                    <a:ext uri="{FF2B5EF4-FFF2-40B4-BE49-F238E27FC236}">
                      <a16:creationId xmlns:a16="http://schemas.microsoft.com/office/drawing/2014/main" id="{C2929731-E740-F983-6138-530B4C754E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66666" y="2742618"/>
                  <a:ext cx="1267660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Step Functions</a:t>
                  </a:r>
                  <a:b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</a:br>
                  <a:r>
                    <a:rPr lang="en-US" altLang="en-US" sz="12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  <a:latin typeface="+mn-lt"/>
                      <a:ea typeface="Amazon Ember" panose="020B0603020204020204" pitchFamily="34" charset="0"/>
                      <a:cs typeface="Arial" panose="020B0604020202020204" pitchFamily="34" charset="0"/>
                    </a:rPr>
                    <a:t>file processor</a:t>
                  </a:r>
                </a:p>
              </p:txBody>
            </p:sp>
          </p:grpSp>
          <p:pic>
            <p:nvPicPr>
              <p:cNvPr id="248" name="Graphic 17" descr="AWS Step Functions service icon.">
                <a:extLst>
                  <a:ext uri="{FF2B5EF4-FFF2-40B4-BE49-F238E27FC236}">
                    <a16:creationId xmlns:a16="http://schemas.microsoft.com/office/drawing/2014/main" id="{73295491-F309-E149-F50B-9F45D02787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 bwMode="auto">
              <a:xfrm>
                <a:off x="5765872" y="1549981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46" name="Graphic 10" descr="AWS Lambda service icon.">
              <a:extLst>
                <a:ext uri="{FF2B5EF4-FFF2-40B4-BE49-F238E27FC236}">
                  <a16:creationId xmlns:a16="http://schemas.microsoft.com/office/drawing/2014/main" id="{8C893042-6F63-37B4-45BF-9D0C95A279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 bwMode="auto">
            <a:xfrm>
              <a:off x="6205585" y="169996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9303B87-E9E0-F5DB-9D62-F7A64E56DB0D}"/>
              </a:ext>
            </a:extLst>
          </p:cNvPr>
          <p:cNvGrpSpPr/>
          <p:nvPr/>
        </p:nvGrpSpPr>
        <p:grpSpPr>
          <a:xfrm>
            <a:off x="4060985" y="3133696"/>
            <a:ext cx="2052000" cy="518400"/>
            <a:chOff x="4697689" y="4024250"/>
            <a:chExt cx="2052000" cy="518400"/>
          </a:xfrm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F53B6034-8979-3895-2CB6-FD455D9DF970}"/>
                </a:ext>
              </a:extLst>
            </p:cNvPr>
            <p:cNvGrpSpPr/>
            <p:nvPr/>
          </p:nvGrpSpPr>
          <p:grpSpPr>
            <a:xfrm>
              <a:off x="4697689" y="4024250"/>
              <a:ext cx="2052000" cy="518400"/>
              <a:chOff x="6838092" y="3987527"/>
              <a:chExt cx="2052000" cy="518400"/>
            </a:xfrm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7F1D7C5B-0412-DECE-6583-BE9816D2DC09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66" name="TextBox 11">
                <a:extLst>
                  <a:ext uri="{FF2B5EF4-FFF2-40B4-BE49-F238E27FC236}">
                    <a16:creationId xmlns:a16="http://schemas.microsoft.com/office/drawing/2014/main" id="{A54DBB7B-77E0-30A0-DC57-D7465E7239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0003" y="4022422"/>
                <a:ext cx="127091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Textract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PDF to text</a:t>
                </a:r>
              </a:p>
            </p:txBody>
          </p:sp>
        </p:grpSp>
        <p:pic>
          <p:nvPicPr>
            <p:cNvPr id="267" name="Graphic 17" descr="Amazon Textract service icon.">
              <a:extLst>
                <a:ext uri="{FF2B5EF4-FFF2-40B4-BE49-F238E27FC236}">
                  <a16:creationId xmlns:a16="http://schemas.microsoft.com/office/drawing/2014/main" id="{3B2FCC0E-3CA1-96F3-B8D3-EE0008E5C8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4772436" y="4109977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8F3421D4-E36D-1743-EE39-BA18548998DF}"/>
              </a:ext>
            </a:extLst>
          </p:cNvPr>
          <p:cNvGrpSpPr/>
          <p:nvPr/>
        </p:nvGrpSpPr>
        <p:grpSpPr>
          <a:xfrm>
            <a:off x="4060985" y="3716446"/>
            <a:ext cx="2052000" cy="518400"/>
            <a:chOff x="5013886" y="3690697"/>
            <a:chExt cx="2052000" cy="518400"/>
          </a:xfrm>
        </p:grpSpPr>
        <p:grpSp>
          <p:nvGrpSpPr>
            <p:cNvPr id="270" name="Group 269">
              <a:extLst>
                <a:ext uri="{FF2B5EF4-FFF2-40B4-BE49-F238E27FC236}">
                  <a16:creationId xmlns:a16="http://schemas.microsoft.com/office/drawing/2014/main" id="{76D4B457-B229-7949-80FA-F9C33C1171C3}"/>
                </a:ext>
              </a:extLst>
            </p:cNvPr>
            <p:cNvGrpSpPr/>
            <p:nvPr/>
          </p:nvGrpSpPr>
          <p:grpSpPr>
            <a:xfrm>
              <a:off x="5013886" y="3690697"/>
              <a:ext cx="2052000" cy="518400"/>
              <a:chOff x="6838092" y="3987527"/>
              <a:chExt cx="2052000" cy="518400"/>
            </a:xfrm>
          </p:grpSpPr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7403FDAE-562F-1308-11AF-860F3A4F36E8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73" name="TextBox 11">
                <a:extLst>
                  <a:ext uri="{FF2B5EF4-FFF2-40B4-BE49-F238E27FC236}">
                    <a16:creationId xmlns:a16="http://schemas.microsoft.com/office/drawing/2014/main" id="{A42F233E-3716-EFD0-DCD3-2093428EFB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0003" y="4022422"/>
                <a:ext cx="127091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Transcribe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audio to text</a:t>
                </a:r>
              </a:p>
            </p:txBody>
          </p:sp>
        </p:grpSp>
        <p:pic>
          <p:nvPicPr>
            <p:cNvPr id="274" name="Graphic 20" descr="Amazon Transcribe service icon.">
              <a:extLst>
                <a:ext uri="{FF2B5EF4-FFF2-40B4-BE49-F238E27FC236}">
                  <a16:creationId xmlns:a16="http://schemas.microsoft.com/office/drawing/2014/main" id="{2E50CEE7-05DA-A692-EDDD-3CEE60D5A1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 bwMode="auto">
            <a:xfrm>
              <a:off x="5088633" y="3768805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2FF21485-12B0-9182-F61E-D4D43AB7638C}"/>
              </a:ext>
            </a:extLst>
          </p:cNvPr>
          <p:cNvGrpSpPr/>
          <p:nvPr/>
        </p:nvGrpSpPr>
        <p:grpSpPr>
          <a:xfrm>
            <a:off x="4060985" y="4302294"/>
            <a:ext cx="2052000" cy="518400"/>
            <a:chOff x="5013886" y="4287205"/>
            <a:chExt cx="2052000" cy="518400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E1A50D43-3B51-97DA-C3FC-B73C86FF23E0}"/>
                </a:ext>
              </a:extLst>
            </p:cNvPr>
            <p:cNvGrpSpPr/>
            <p:nvPr/>
          </p:nvGrpSpPr>
          <p:grpSpPr>
            <a:xfrm>
              <a:off x="5013886" y="4287205"/>
              <a:ext cx="2052000" cy="518400"/>
              <a:chOff x="6838092" y="3987527"/>
              <a:chExt cx="2052000" cy="518400"/>
            </a:xfrm>
          </p:grpSpPr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D3B61B0B-C060-5342-6F65-CCE93030A8D6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80" name="TextBox 11">
                <a:extLst>
                  <a:ext uri="{FF2B5EF4-FFF2-40B4-BE49-F238E27FC236}">
                    <a16:creationId xmlns:a16="http://schemas.microsoft.com/office/drawing/2014/main" id="{76FC9D78-D9E4-1287-64B5-EECC55EC58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0003" y="4022422"/>
                <a:ext cx="1270918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Rekognition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image to text</a:t>
                </a:r>
              </a:p>
            </p:txBody>
          </p:sp>
        </p:grpSp>
        <p:pic>
          <p:nvPicPr>
            <p:cNvPr id="281" name="Graphic 18" descr="Amazon Rekognition service icon.">
              <a:extLst>
                <a:ext uri="{FF2B5EF4-FFF2-40B4-BE49-F238E27FC236}">
                  <a16:creationId xmlns:a16="http://schemas.microsoft.com/office/drawing/2014/main" id="{FD33B144-7FE1-03F4-29DE-EFF266B941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 bwMode="auto">
            <a:xfrm>
              <a:off x="5088633" y="4366405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84" name="Straight Arrow Connector 61">
            <a:extLst>
              <a:ext uri="{FF2B5EF4-FFF2-40B4-BE49-F238E27FC236}">
                <a16:creationId xmlns:a16="http://schemas.microsoft.com/office/drawing/2014/main" id="{C8CFB6B1-F636-CF8E-6861-D2F70F90E10E}"/>
              </a:ext>
            </a:extLst>
          </p:cNvPr>
          <p:cNvCxnSpPr>
            <a:cxnSpLocks/>
            <a:stCxn id="249" idx="3"/>
            <a:endCxn id="374" idx="1"/>
          </p:cNvCxnSpPr>
          <p:nvPr/>
        </p:nvCxnSpPr>
        <p:spPr>
          <a:xfrm>
            <a:off x="2734519" y="3763892"/>
            <a:ext cx="1269495" cy="1215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0" name="Straight Arrow Connector 61">
            <a:extLst>
              <a:ext uri="{FF2B5EF4-FFF2-40B4-BE49-F238E27FC236}">
                <a16:creationId xmlns:a16="http://schemas.microsoft.com/office/drawing/2014/main" id="{88581B22-958F-D96B-31C9-578D81CB9B32}"/>
              </a:ext>
            </a:extLst>
          </p:cNvPr>
          <p:cNvCxnSpPr>
            <a:cxnSpLocks/>
            <a:stCxn id="194" idx="2"/>
            <a:endCxn id="96" idx="0"/>
          </p:cNvCxnSpPr>
          <p:nvPr/>
        </p:nvCxnSpPr>
        <p:spPr>
          <a:xfrm>
            <a:off x="1708104" y="4888748"/>
            <a:ext cx="0" cy="343732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4C08BFF4-1127-62C2-9986-7341F76563C2}"/>
              </a:ext>
            </a:extLst>
          </p:cNvPr>
          <p:cNvGrpSpPr/>
          <p:nvPr/>
        </p:nvGrpSpPr>
        <p:grpSpPr>
          <a:xfrm>
            <a:off x="6180873" y="3716446"/>
            <a:ext cx="2115357" cy="518400"/>
            <a:chOff x="7326281" y="3111349"/>
            <a:chExt cx="2115357" cy="518400"/>
          </a:xfrm>
        </p:grpSpPr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D3D956AC-BBBB-0A50-E664-030A92C6DD3A}"/>
                </a:ext>
              </a:extLst>
            </p:cNvPr>
            <p:cNvGrpSpPr/>
            <p:nvPr/>
          </p:nvGrpSpPr>
          <p:grpSpPr>
            <a:xfrm>
              <a:off x="7326281" y="3111349"/>
              <a:ext cx="2115357" cy="518400"/>
              <a:chOff x="6838092" y="3987527"/>
              <a:chExt cx="2115357" cy="518400"/>
            </a:xfrm>
          </p:grpSpPr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25E47B9E-707A-720D-0B7D-A4ABFFC147F2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08" name="TextBox 11">
                <a:extLst>
                  <a:ext uri="{FF2B5EF4-FFF2-40B4-BE49-F238E27FC236}">
                    <a16:creationId xmlns:a16="http://schemas.microsoft.com/office/drawing/2014/main" id="{4605E1FC-06CC-40F8-4ABD-AAB4200C38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0003" y="4022422"/>
                <a:ext cx="168344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Comprehend Medical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text anonymizer </a:t>
                </a:r>
              </a:p>
            </p:txBody>
          </p:sp>
        </p:grpSp>
        <p:pic>
          <p:nvPicPr>
            <p:cNvPr id="306" name="Graphic 305" descr="Amazon Comprehend Medical service icon.">
              <a:extLst>
                <a:ext uri="{FF2B5EF4-FFF2-40B4-BE49-F238E27FC236}">
                  <a16:creationId xmlns:a16="http://schemas.microsoft.com/office/drawing/2014/main" id="{F083F8CC-FB02-15EE-C61B-E0C2A7D77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7410755" y="3197076"/>
              <a:ext cx="360000" cy="360000"/>
            </a:xfrm>
            <a:prstGeom prst="rect">
              <a:avLst/>
            </a:prstGeom>
          </p:spPr>
        </p:pic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4B6617F8-A841-7E18-2B16-DBA57315AA42}"/>
              </a:ext>
            </a:extLst>
          </p:cNvPr>
          <p:cNvGrpSpPr/>
          <p:nvPr/>
        </p:nvGrpSpPr>
        <p:grpSpPr>
          <a:xfrm>
            <a:off x="6180873" y="3133696"/>
            <a:ext cx="2115357" cy="518400"/>
            <a:chOff x="7326281" y="3111349"/>
            <a:chExt cx="2115357" cy="518400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7A8B615F-83E5-6510-7C31-02D8D3214F8A}"/>
                </a:ext>
              </a:extLst>
            </p:cNvPr>
            <p:cNvGrpSpPr/>
            <p:nvPr/>
          </p:nvGrpSpPr>
          <p:grpSpPr>
            <a:xfrm>
              <a:off x="7326281" y="3111349"/>
              <a:ext cx="2115357" cy="518400"/>
              <a:chOff x="6838092" y="3987527"/>
              <a:chExt cx="2115357" cy="518400"/>
            </a:xfrm>
          </p:grpSpPr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764C6252-2D63-2503-4ED8-20EC4DB7D468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98" name="TextBox 11">
                <a:extLst>
                  <a:ext uri="{FF2B5EF4-FFF2-40B4-BE49-F238E27FC236}">
                    <a16:creationId xmlns:a16="http://schemas.microsoft.com/office/drawing/2014/main" id="{04F8D94F-0D95-56C4-2313-2C4E4447ED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0003" y="4022422"/>
                <a:ext cx="168344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Comprehend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text analyzer </a:t>
                </a:r>
              </a:p>
            </p:txBody>
          </p:sp>
        </p:grpSp>
        <p:pic>
          <p:nvPicPr>
            <p:cNvPr id="309" name="Graphic 17" descr="Amazon Comprehend service icon.">
              <a:extLst>
                <a:ext uri="{FF2B5EF4-FFF2-40B4-BE49-F238E27FC236}">
                  <a16:creationId xmlns:a16="http://schemas.microsoft.com/office/drawing/2014/main" id="{75E57315-AA3C-9261-3381-9243D52F43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 bwMode="auto">
            <a:xfrm>
              <a:off x="7410755" y="3188418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277615D6-16B7-CAF1-EA70-FCE6B16676C1}"/>
              </a:ext>
            </a:extLst>
          </p:cNvPr>
          <p:cNvGrpSpPr/>
          <p:nvPr/>
        </p:nvGrpSpPr>
        <p:grpSpPr>
          <a:xfrm>
            <a:off x="6180873" y="4302294"/>
            <a:ext cx="2115357" cy="518400"/>
            <a:chOff x="7133774" y="4263795"/>
            <a:chExt cx="2115357" cy="518400"/>
          </a:xfrm>
        </p:grpSpPr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CB6B8D5A-BB16-3DAE-40F2-FFBE3CBD9BE2}"/>
                </a:ext>
              </a:extLst>
            </p:cNvPr>
            <p:cNvGrpSpPr/>
            <p:nvPr/>
          </p:nvGrpSpPr>
          <p:grpSpPr>
            <a:xfrm>
              <a:off x="7133774" y="4263795"/>
              <a:ext cx="2115357" cy="518400"/>
              <a:chOff x="6838092" y="3987527"/>
              <a:chExt cx="2115357" cy="518400"/>
            </a:xfrm>
          </p:grpSpPr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846BA9A2-7F3E-5E76-E8FD-D48DE60F5195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16" name="TextBox 11">
                <a:extLst>
                  <a:ext uri="{FF2B5EF4-FFF2-40B4-BE49-F238E27FC236}">
                    <a16:creationId xmlns:a16="http://schemas.microsoft.com/office/drawing/2014/main" id="{6C090EFA-EEEF-E809-28B5-B9220F2820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0003" y="4022422"/>
                <a:ext cx="168344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Ragger</a:t>
                </a:r>
                <a:br>
                  <a:rPr lang="en-US" altLang="en-US" sz="1200" dirty="0">
                    <a:solidFill>
                      <a:schemeClr val="bg1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summarize prompt</a:t>
                </a:r>
              </a:p>
            </p:txBody>
          </p:sp>
        </p:grp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B55E0AFB-8F07-B402-1D82-2CA5478C0E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1213" y="4349522"/>
              <a:ext cx="360000" cy="36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lIns="0" tIns="144000" rIns="0" bIns="144000" anchor="ctr"/>
            <a:lstStyle/>
            <a:p>
              <a:pPr algn="ctr"/>
              <a:r>
                <a:rPr lang="en-GB" sz="28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🧠</a:t>
              </a:r>
              <a:endParaRPr lang="en-US" sz="16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321" name="Straight Arrow Connector 61">
            <a:extLst>
              <a:ext uri="{FF2B5EF4-FFF2-40B4-BE49-F238E27FC236}">
                <a16:creationId xmlns:a16="http://schemas.microsoft.com/office/drawing/2014/main" id="{4E6D76FB-D259-E4BA-DF99-F722A94FDB23}"/>
              </a:ext>
            </a:extLst>
          </p:cNvPr>
          <p:cNvCxnSpPr>
            <a:cxnSpLocks/>
            <a:stCxn id="249" idx="2"/>
            <a:endCxn id="194" idx="0"/>
          </p:cNvCxnSpPr>
          <p:nvPr/>
        </p:nvCxnSpPr>
        <p:spPr>
          <a:xfrm>
            <a:off x="1708104" y="4023319"/>
            <a:ext cx="0" cy="473029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24" name="Content Placeholder 2">
            <a:extLst>
              <a:ext uri="{FF2B5EF4-FFF2-40B4-BE49-F238E27FC236}">
                <a16:creationId xmlns:a16="http://schemas.microsoft.com/office/drawing/2014/main" id="{6890EAF2-84F9-6811-FEBB-0D6F96C8FA0D}"/>
              </a:ext>
            </a:extLst>
          </p:cNvPr>
          <p:cNvSpPr txBox="1">
            <a:spLocks/>
          </p:cNvSpPr>
          <p:nvPr/>
        </p:nvSpPr>
        <p:spPr>
          <a:xfrm>
            <a:off x="2240604" y="4425384"/>
            <a:ext cx="1311123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anonymized  summary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C2BEBF78-B191-C6EF-1851-B8139C9821C7}"/>
              </a:ext>
            </a:extLst>
          </p:cNvPr>
          <p:cNvSpPr/>
          <p:nvPr/>
        </p:nvSpPr>
        <p:spPr>
          <a:xfrm>
            <a:off x="9605225" y="1845650"/>
            <a:ext cx="1088441" cy="3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D535D5A5-B583-41E7-5267-AA4A1623D15F}"/>
              </a:ext>
            </a:extLst>
          </p:cNvPr>
          <p:cNvGrpSpPr/>
          <p:nvPr/>
        </p:nvGrpSpPr>
        <p:grpSpPr>
          <a:xfrm>
            <a:off x="9600898" y="2330559"/>
            <a:ext cx="2370752" cy="518854"/>
            <a:chOff x="4537166" y="5246272"/>
            <a:chExt cx="2370752" cy="518854"/>
          </a:xfrm>
        </p:grpSpPr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019E914A-4A5F-DEF0-0003-2BA6FD124223}"/>
                </a:ext>
              </a:extLst>
            </p:cNvPr>
            <p:cNvGrpSpPr/>
            <p:nvPr/>
          </p:nvGrpSpPr>
          <p:grpSpPr>
            <a:xfrm>
              <a:off x="4537166" y="5246272"/>
              <a:ext cx="2370752" cy="518854"/>
              <a:chOff x="6440266" y="2476895"/>
              <a:chExt cx="2370752" cy="518854"/>
            </a:xfrm>
          </p:grpSpPr>
          <p:sp>
            <p:nvSpPr>
              <p:cNvPr id="354" name="Rectangle 353">
                <a:extLst>
                  <a:ext uri="{FF2B5EF4-FFF2-40B4-BE49-F238E27FC236}">
                    <a16:creationId xmlns:a16="http://schemas.microsoft.com/office/drawing/2014/main" id="{173269AA-1FA9-840D-11CB-FA17E1081D0D}"/>
                  </a:ext>
                </a:extLst>
              </p:cNvPr>
              <p:cNvSpPr/>
              <p:nvPr/>
            </p:nvSpPr>
            <p:spPr>
              <a:xfrm>
                <a:off x="6440266" y="2476895"/>
                <a:ext cx="237075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355" name="Graphic 10" descr="AWS Lambda service icon.">
                <a:extLst>
                  <a:ext uri="{FF2B5EF4-FFF2-40B4-BE49-F238E27FC236}">
                    <a16:creationId xmlns:a16="http://schemas.microsoft.com/office/drawing/2014/main" id="{6F9DE9FA-C494-AC94-67B3-1064DE662C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 bwMode="auto">
              <a:xfrm>
                <a:off x="6956201" y="2549268"/>
                <a:ext cx="378000" cy="3596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383D6331-3122-AF0C-5AAD-3AD4DBC42E60}"/>
                  </a:ext>
                </a:extLst>
              </p:cNvPr>
              <p:cNvSpPr txBox="1"/>
              <p:nvPr/>
            </p:nvSpPr>
            <p:spPr>
              <a:xfrm>
                <a:off x="7316200" y="2513383"/>
                <a:ext cx="14948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sort preferences</a:t>
                </a:r>
              </a:p>
            </p:txBody>
          </p:sp>
        </p:grpSp>
        <p:pic>
          <p:nvPicPr>
            <p:cNvPr id="353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7445C2BE-EE5A-7C87-D2B7-D296299E29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4618464" y="5318645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62" name="Straight Arrow Connector 61">
            <a:extLst>
              <a:ext uri="{FF2B5EF4-FFF2-40B4-BE49-F238E27FC236}">
                <a16:creationId xmlns:a16="http://schemas.microsoft.com/office/drawing/2014/main" id="{749AFB9C-5152-1A34-7398-4B9046FB84B4}"/>
              </a:ext>
            </a:extLst>
          </p:cNvPr>
          <p:cNvCxnSpPr>
            <a:cxnSpLocks/>
          </p:cNvCxnSpPr>
          <p:nvPr/>
        </p:nvCxnSpPr>
        <p:spPr>
          <a:xfrm flipV="1">
            <a:off x="9870312" y="1328899"/>
            <a:ext cx="0" cy="516751"/>
          </a:xfrm>
          <a:prstGeom prst="straightConnector1">
            <a:avLst/>
          </a:prstGeom>
          <a:ln>
            <a:solidFill>
              <a:schemeClr val="tx1">
                <a:lumMod val="6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2E963E3F-7CDB-09ED-B430-D88477BD24CC}"/>
              </a:ext>
            </a:extLst>
          </p:cNvPr>
          <p:cNvGrpSpPr/>
          <p:nvPr/>
        </p:nvGrpSpPr>
        <p:grpSpPr>
          <a:xfrm>
            <a:off x="4004014" y="3089708"/>
            <a:ext cx="4273712" cy="1790299"/>
            <a:chOff x="4774036" y="3089708"/>
            <a:chExt cx="4273712" cy="1790299"/>
          </a:xfrm>
        </p:grpSpPr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EA2A08BB-57E8-7DA3-39AE-5312C7C11802}"/>
                </a:ext>
              </a:extLst>
            </p:cNvPr>
            <p:cNvSpPr/>
            <p:nvPr/>
          </p:nvSpPr>
          <p:spPr>
            <a:xfrm>
              <a:off x="4774131" y="3089708"/>
              <a:ext cx="4273617" cy="179029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028C7850-6FA6-C097-1138-1C735D3D0396}"/>
                </a:ext>
              </a:extLst>
            </p:cNvPr>
            <p:cNvSpPr txBox="1"/>
            <p:nvPr/>
          </p:nvSpPr>
          <p:spPr>
            <a:xfrm>
              <a:off x="4774036" y="3580441"/>
              <a:ext cx="243656" cy="369332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l"/>
              <a:r>
                <a:rPr lang="en-US" dirty="0"/>
                <a:t>    </a:t>
              </a:r>
            </a:p>
          </p:txBody>
        </p:sp>
      </p:grpSp>
      <p:sp>
        <p:nvSpPr>
          <p:cNvPr id="384" name="Content Placeholder 2">
            <a:extLst>
              <a:ext uri="{FF2B5EF4-FFF2-40B4-BE49-F238E27FC236}">
                <a16:creationId xmlns:a16="http://schemas.microsoft.com/office/drawing/2014/main" id="{DE07FC67-E315-2B11-D263-CF0053A5C01B}"/>
              </a:ext>
            </a:extLst>
          </p:cNvPr>
          <p:cNvSpPr txBox="1">
            <a:spLocks/>
          </p:cNvSpPr>
          <p:nvPr/>
        </p:nvSpPr>
        <p:spPr>
          <a:xfrm>
            <a:off x="10886169" y="238692"/>
            <a:ext cx="1437539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preferences? </a:t>
            </a:r>
            <a:b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- sort options</a:t>
            </a:r>
          </a:p>
        </p:txBody>
      </p: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B79C153B-FCCF-BFC7-F9E4-68F11F015ADF}"/>
              </a:ext>
            </a:extLst>
          </p:cNvPr>
          <p:cNvGrpSpPr/>
          <p:nvPr/>
        </p:nvGrpSpPr>
        <p:grpSpPr>
          <a:xfrm>
            <a:off x="7514701" y="273311"/>
            <a:ext cx="3361846" cy="1021542"/>
            <a:chOff x="8342477" y="273311"/>
            <a:chExt cx="3361846" cy="1021542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9AC5E72A-27BA-DA74-E53E-D62C812FF937}"/>
                </a:ext>
              </a:extLst>
            </p:cNvPr>
            <p:cNvSpPr/>
            <p:nvPr/>
          </p:nvSpPr>
          <p:spPr>
            <a:xfrm>
              <a:off x="8342477" y="273311"/>
              <a:ext cx="3361846" cy="1021542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7AD1C13-D1AC-5417-4859-F9BE6B8BB631}"/>
                </a:ext>
              </a:extLst>
            </p:cNvPr>
            <p:cNvSpPr/>
            <p:nvPr/>
          </p:nvSpPr>
          <p:spPr>
            <a:xfrm>
              <a:off x="10290948" y="341954"/>
              <a:ext cx="1334179" cy="39240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1C07AFC-35EE-E637-D141-AECA384BE355}"/>
                </a:ext>
              </a:extLst>
            </p:cNvPr>
            <p:cNvSpPr/>
            <p:nvPr/>
          </p:nvSpPr>
          <p:spPr>
            <a:xfrm>
              <a:off x="8414020" y="341954"/>
              <a:ext cx="1793305" cy="3924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🛎️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Concierge</a:t>
              </a: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942164D0-98FA-821C-FC97-076C2E14EC97}"/>
                </a:ext>
              </a:extLst>
            </p:cNvPr>
            <p:cNvSpPr/>
            <p:nvPr/>
          </p:nvSpPr>
          <p:spPr>
            <a:xfrm>
              <a:off x="8414021" y="825377"/>
              <a:ext cx="1793305" cy="392401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👀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Advertiser</a:t>
              </a:r>
            </a:p>
          </p:txBody>
        </p:sp>
      </p:grpSp>
      <p:sp>
        <p:nvSpPr>
          <p:cNvPr id="402" name="Content Placeholder 2">
            <a:extLst>
              <a:ext uri="{FF2B5EF4-FFF2-40B4-BE49-F238E27FC236}">
                <a16:creationId xmlns:a16="http://schemas.microsoft.com/office/drawing/2014/main" id="{4ECB22B2-1737-951B-CCD2-3395B73ECB4D}"/>
              </a:ext>
            </a:extLst>
          </p:cNvPr>
          <p:cNvSpPr txBox="1">
            <a:spLocks/>
          </p:cNvSpPr>
          <p:nvPr/>
        </p:nvSpPr>
        <p:spPr>
          <a:xfrm>
            <a:off x="9903349" y="1362805"/>
            <a:ext cx="937870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answer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3145FFA0-B33F-BA41-4D14-B5408C5FE2C2}"/>
              </a:ext>
            </a:extLst>
          </p:cNvPr>
          <p:cNvSpPr/>
          <p:nvPr/>
        </p:nvSpPr>
        <p:spPr>
          <a:xfrm>
            <a:off x="10786274" y="2940067"/>
            <a:ext cx="1158770" cy="39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📦</a:t>
            </a:r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cache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04" name="Content Placeholder 2">
            <a:extLst>
              <a:ext uri="{FF2B5EF4-FFF2-40B4-BE49-F238E27FC236}">
                <a16:creationId xmlns:a16="http://schemas.microsoft.com/office/drawing/2014/main" id="{08F3C320-90D7-54D7-5EF5-29AC31F718BD}"/>
              </a:ext>
            </a:extLst>
          </p:cNvPr>
          <p:cNvSpPr txBox="1">
            <a:spLocks/>
          </p:cNvSpPr>
          <p:nvPr/>
        </p:nvSpPr>
        <p:spPr>
          <a:xfrm>
            <a:off x="8708658" y="2062799"/>
            <a:ext cx="908165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sort options</a:t>
            </a:r>
          </a:p>
        </p:txBody>
      </p:sp>
      <p:sp>
        <p:nvSpPr>
          <p:cNvPr id="408" name="Content Placeholder 2">
            <a:extLst>
              <a:ext uri="{FF2B5EF4-FFF2-40B4-BE49-F238E27FC236}">
                <a16:creationId xmlns:a16="http://schemas.microsoft.com/office/drawing/2014/main" id="{1F655E9D-AB5D-7013-E78E-4422191A2022}"/>
              </a:ext>
            </a:extLst>
          </p:cNvPr>
          <p:cNvSpPr txBox="1">
            <a:spLocks/>
          </p:cNvSpPr>
          <p:nvPr/>
        </p:nvSpPr>
        <p:spPr>
          <a:xfrm>
            <a:off x="10708084" y="3345957"/>
            <a:ext cx="11587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explicit</a:t>
            </a:r>
            <a:b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preferences?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3E0E3B59-D0CB-CC1F-EAE3-FF44CCA2ADD2}"/>
              </a:ext>
            </a:extLst>
          </p:cNvPr>
          <p:cNvSpPr txBox="1"/>
          <p:nvPr/>
        </p:nvSpPr>
        <p:spPr>
          <a:xfrm>
            <a:off x="2321160" y="1840086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418" name="Content Placeholder 2">
            <a:extLst>
              <a:ext uri="{FF2B5EF4-FFF2-40B4-BE49-F238E27FC236}">
                <a16:creationId xmlns:a16="http://schemas.microsoft.com/office/drawing/2014/main" id="{0C0EEAD9-94DF-D520-35E6-87D0A1AC18C4}"/>
              </a:ext>
            </a:extLst>
          </p:cNvPr>
          <p:cNvSpPr txBox="1">
            <a:spLocks/>
          </p:cNvSpPr>
          <p:nvPr/>
        </p:nvSpPr>
        <p:spPr>
          <a:xfrm>
            <a:off x="2701996" y="3469239"/>
            <a:ext cx="1311123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summarize</a:t>
            </a: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61865CB0-A551-1287-0FA2-A42692182053}"/>
              </a:ext>
            </a:extLst>
          </p:cNvPr>
          <p:cNvSpPr/>
          <p:nvPr/>
        </p:nvSpPr>
        <p:spPr>
          <a:xfrm>
            <a:off x="9460959" y="832916"/>
            <a:ext cx="1334179" cy="392401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🤗</a:t>
            </a:r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Host</a:t>
            </a:r>
          </a:p>
        </p:txBody>
      </p:sp>
    </p:spTree>
    <p:extLst>
      <p:ext uri="{BB962C8B-B14F-4D97-AF65-F5344CB8AC3E}">
        <p14:creationId xmlns:p14="http://schemas.microsoft.com/office/powerpoint/2010/main" val="2410757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192</Words>
  <Application>Microsoft Macintosh PowerPoint</Application>
  <PresentationFormat>Widescreen</PresentationFormat>
  <Paragraphs>81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154</cp:revision>
  <dcterms:created xsi:type="dcterms:W3CDTF">2022-10-07T16:14:37Z</dcterms:created>
  <dcterms:modified xsi:type="dcterms:W3CDTF">2025-04-22T20:13:55Z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2025-04-22T20:13:02Z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e472d3aa-0955-4b94-b7aa-9aabbcbb44cf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