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1862" r:id="rId2"/>
    <p:sldId id="1861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B06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62"/>
            <p14:sldId id="18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6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428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36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CDD1C-277D-976E-BA0A-9C93DE749903}"/>
              </a:ext>
            </a:extLst>
          </p:cNvPr>
          <p:cNvSpPr txBox="1"/>
          <p:nvPr/>
        </p:nvSpPr>
        <p:spPr>
          <a:xfrm>
            <a:off x="1894804" y="2210804"/>
            <a:ext cx="840239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/>
              <a:t>🧠 Ragger</a:t>
            </a:r>
          </a:p>
        </p:txBody>
      </p:sp>
    </p:spTree>
    <p:extLst>
      <p:ext uri="{BB962C8B-B14F-4D97-AF65-F5344CB8AC3E}">
        <p14:creationId xmlns:p14="http://schemas.microsoft.com/office/powerpoint/2010/main" val="304204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D206-B585-00A4-8793-EB378603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>
            <a:extLst>
              <a:ext uri="{FF2B5EF4-FFF2-40B4-BE49-F238E27FC236}">
                <a16:creationId xmlns:a16="http://schemas.microsoft.com/office/drawing/2014/main" id="{9A1C5B9A-9E7B-07CF-3776-6DC6B885AC44}"/>
              </a:ext>
            </a:extLst>
          </p:cNvPr>
          <p:cNvSpPr/>
          <p:nvPr/>
        </p:nvSpPr>
        <p:spPr>
          <a:xfrm>
            <a:off x="231006" y="1212784"/>
            <a:ext cx="11155680" cy="256031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541590-5E48-44EB-7F96-212122721CC1}"/>
              </a:ext>
            </a:extLst>
          </p:cNvPr>
          <p:cNvSpPr/>
          <p:nvPr/>
        </p:nvSpPr>
        <p:spPr>
          <a:xfrm>
            <a:off x="153856" y="217167"/>
            <a:ext cx="11319355" cy="3652190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BC0E9C1-655B-F80D-0FCE-36B4F921C383}"/>
              </a:ext>
            </a:extLst>
          </p:cNvPr>
          <p:cNvGrpSpPr/>
          <p:nvPr/>
        </p:nvGrpSpPr>
        <p:grpSpPr>
          <a:xfrm>
            <a:off x="7299992" y="1999546"/>
            <a:ext cx="2052832" cy="518854"/>
            <a:chOff x="6440267" y="2476895"/>
            <a:chExt cx="2052832" cy="51885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13D7A44-6054-31D5-E215-40AEBCD63216}"/>
                </a:ext>
              </a:extLst>
            </p:cNvPr>
            <p:cNvSpPr/>
            <p:nvPr/>
          </p:nvSpPr>
          <p:spPr>
            <a:xfrm>
              <a:off x="6440267" y="2476895"/>
              <a:ext cx="2052832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28" name="Graphic 10" descr="AWS Lambda service icon.">
              <a:extLst>
                <a:ext uri="{FF2B5EF4-FFF2-40B4-BE49-F238E27FC236}">
                  <a16:creationId xmlns:a16="http://schemas.microsoft.com/office/drawing/2014/main" id="{FE74D1A7-114F-9693-099C-AFADF1FAAF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 bwMode="auto">
            <a:xfrm>
              <a:off x="6532690" y="25563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DCF257F-54D1-D36E-B47D-FD2768263D3E}"/>
                </a:ext>
              </a:extLst>
            </p:cNvPr>
            <p:cNvSpPr txBox="1"/>
            <p:nvPr/>
          </p:nvSpPr>
          <p:spPr>
            <a:xfrm>
              <a:off x="6892690" y="2513383"/>
              <a:ext cx="159405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LLM prompt handler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E86E6FF-D2D6-3B65-E59C-F78992E1D160}"/>
              </a:ext>
            </a:extLst>
          </p:cNvPr>
          <p:cNvGrpSpPr/>
          <p:nvPr/>
        </p:nvGrpSpPr>
        <p:grpSpPr>
          <a:xfrm>
            <a:off x="7299992" y="2587888"/>
            <a:ext cx="2052832" cy="518400"/>
            <a:chOff x="6249805" y="2302869"/>
            <a:chExt cx="2052832" cy="51840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EDB83CB-A231-B797-257D-0BA33A07BF45}"/>
                </a:ext>
              </a:extLst>
            </p:cNvPr>
            <p:cNvGrpSpPr/>
            <p:nvPr/>
          </p:nvGrpSpPr>
          <p:grpSpPr>
            <a:xfrm>
              <a:off x="6249805" y="2302869"/>
              <a:ext cx="2052832" cy="518400"/>
              <a:chOff x="6399966" y="2708142"/>
              <a:chExt cx="2052832" cy="51840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2812753-F18A-D684-A815-DA57E5341536}"/>
                  </a:ext>
                </a:extLst>
              </p:cNvPr>
              <p:cNvSpPr/>
              <p:nvPr/>
            </p:nvSpPr>
            <p:spPr>
              <a:xfrm>
                <a:off x="6399966" y="2708142"/>
                <a:ext cx="2052832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5" name="TextBox 9">
                <a:extLst>
                  <a:ext uri="{FF2B5EF4-FFF2-40B4-BE49-F238E27FC236}">
                    <a16:creationId xmlns:a16="http://schemas.microsoft.com/office/drawing/2014/main" id="{2F779ED5-2CD5-B217-90B0-170F98436D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31876" y="2744061"/>
                <a:ext cx="136079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Bedrock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LLM inference</a:t>
                </a:r>
              </a:p>
            </p:txBody>
          </p:sp>
        </p:grpSp>
        <p:pic>
          <p:nvPicPr>
            <p:cNvPr id="56" name="Graphic 55" descr="Amazon Bedrock service icon.">
              <a:extLst>
                <a:ext uri="{FF2B5EF4-FFF2-40B4-BE49-F238E27FC236}">
                  <a16:creationId xmlns:a16="http://schemas.microsoft.com/office/drawing/2014/main" id="{14585BDB-D4AF-4E14-9797-E22B34FB4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331683" y="2389620"/>
              <a:ext cx="360000" cy="360000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8C4BDF75-DF9F-B39F-10DA-82DB4B11FCBA}"/>
              </a:ext>
            </a:extLst>
          </p:cNvPr>
          <p:cNvSpPr txBox="1"/>
          <p:nvPr/>
        </p:nvSpPr>
        <p:spPr>
          <a:xfrm>
            <a:off x="178670" y="6248084"/>
            <a:ext cx="114935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Ragger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38B7553-F724-CCCB-F132-06694ECD2D61}"/>
              </a:ext>
            </a:extLst>
          </p:cNvPr>
          <p:cNvGrpSpPr/>
          <p:nvPr/>
        </p:nvGrpSpPr>
        <p:grpSpPr>
          <a:xfrm>
            <a:off x="2675177" y="1419927"/>
            <a:ext cx="2127469" cy="518854"/>
            <a:chOff x="4537167" y="5246272"/>
            <a:chExt cx="2127469" cy="518854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95EF6A1A-6EE4-9BE1-8FE2-C94AD6E5D330}"/>
                </a:ext>
              </a:extLst>
            </p:cNvPr>
            <p:cNvGrpSpPr/>
            <p:nvPr/>
          </p:nvGrpSpPr>
          <p:grpSpPr>
            <a:xfrm>
              <a:off x="4537167" y="5246272"/>
              <a:ext cx="2127469" cy="518854"/>
              <a:chOff x="6440267" y="2476895"/>
              <a:chExt cx="2127469" cy="518854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AC72F9F0-005C-EC2B-A827-F40144E0C882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23" name="Graphic 10" descr="AWS Lambda service icon.">
                <a:extLst>
                  <a:ext uri="{FF2B5EF4-FFF2-40B4-BE49-F238E27FC236}">
                    <a16:creationId xmlns:a16="http://schemas.microsoft.com/office/drawing/2014/main" id="{7FBDFF10-4A88-144B-2778-AFC2DEE052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9E327775-B128-68E1-8A4A-A574708787B3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2515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parser</a:t>
                </a:r>
              </a:p>
            </p:txBody>
          </p:sp>
        </p:grpSp>
        <p:pic>
          <p:nvPicPr>
            <p:cNvPr id="121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B3673971-C51C-C107-1774-10A80B70FE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4618464" y="5328650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8707680-97D0-26D6-6860-93E2534752BE}"/>
              </a:ext>
            </a:extLst>
          </p:cNvPr>
          <p:cNvGrpSpPr/>
          <p:nvPr/>
        </p:nvGrpSpPr>
        <p:grpSpPr>
          <a:xfrm>
            <a:off x="2675177" y="2000760"/>
            <a:ext cx="2134258" cy="518854"/>
            <a:chOff x="6399966" y="2708142"/>
            <a:chExt cx="2134258" cy="518854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D963AC0-9B6E-4763-ABB6-AB4542ACE137}"/>
                </a:ext>
              </a:extLst>
            </p:cNvPr>
            <p:cNvSpPr/>
            <p:nvPr/>
          </p:nvSpPr>
          <p:spPr>
            <a:xfrm>
              <a:off x="6399966" y="2708142"/>
              <a:ext cx="2052831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127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BA65A6EA-EC39-28DB-6660-6A13C3166A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6481393" y="27825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" name="TextBox 9">
              <a:extLst>
                <a:ext uri="{FF2B5EF4-FFF2-40B4-BE49-F238E27FC236}">
                  <a16:creationId xmlns:a16="http://schemas.microsoft.com/office/drawing/2014/main" id="{D2432D77-1703-594C-8EBA-6826052546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8656" y="2742618"/>
              <a:ext cx="16855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S3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LanceDB embeddings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E2616D8-A363-A34A-23F6-4297B2FC81BB}"/>
              </a:ext>
            </a:extLst>
          </p:cNvPr>
          <p:cNvGrpSpPr/>
          <p:nvPr/>
        </p:nvGrpSpPr>
        <p:grpSpPr>
          <a:xfrm>
            <a:off x="2675177" y="3175142"/>
            <a:ext cx="2204201" cy="518400"/>
            <a:chOff x="6249805" y="2302869"/>
            <a:chExt cx="2204201" cy="518400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B0414827-2D95-85AE-0EE6-2A4C4208B6B0}"/>
                </a:ext>
              </a:extLst>
            </p:cNvPr>
            <p:cNvGrpSpPr/>
            <p:nvPr/>
          </p:nvGrpSpPr>
          <p:grpSpPr>
            <a:xfrm>
              <a:off x="6249805" y="2302869"/>
              <a:ext cx="2204201" cy="518400"/>
              <a:chOff x="6399966" y="2708142"/>
              <a:chExt cx="2204201" cy="518400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DF8CED6-D21E-6EE5-79AC-C68EBB9B7CB9}"/>
                  </a:ext>
                </a:extLst>
              </p:cNvPr>
              <p:cNvSpPr/>
              <p:nvPr/>
            </p:nvSpPr>
            <p:spPr>
              <a:xfrm>
                <a:off x="6399966" y="2708142"/>
                <a:ext cx="2052832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59" name="TextBox 9">
                <a:extLst>
                  <a:ext uri="{FF2B5EF4-FFF2-40B4-BE49-F238E27FC236}">
                    <a16:creationId xmlns:a16="http://schemas.microsoft.com/office/drawing/2014/main" id="{8CB1F139-22D7-D075-5CF6-5C1400BCC7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31876" y="2744061"/>
                <a:ext cx="177229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Bedrock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Titan embedding</a:t>
                </a:r>
              </a:p>
            </p:txBody>
          </p:sp>
        </p:grpSp>
        <p:pic>
          <p:nvPicPr>
            <p:cNvPr id="157" name="Graphic 156" descr="Amazon Bedrock service icon.">
              <a:extLst>
                <a:ext uri="{FF2B5EF4-FFF2-40B4-BE49-F238E27FC236}">
                  <a16:creationId xmlns:a16="http://schemas.microsoft.com/office/drawing/2014/main" id="{813BB3E2-BBF6-79E1-BFE8-1FE21CAD1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331683" y="2389620"/>
              <a:ext cx="360000" cy="360000"/>
            </a:xfrm>
            <a:prstGeom prst="rect">
              <a:avLst/>
            </a:prstGeom>
          </p:spPr>
        </p:pic>
      </p:grpSp>
      <p:cxnSp>
        <p:nvCxnSpPr>
          <p:cNvPr id="177" name="Straight Arrow Connector 61">
            <a:extLst>
              <a:ext uri="{FF2B5EF4-FFF2-40B4-BE49-F238E27FC236}">
                <a16:creationId xmlns:a16="http://schemas.microsoft.com/office/drawing/2014/main" id="{2F3F1C0E-FB22-832B-BA31-5CBF14F1F6EF}"/>
              </a:ext>
            </a:extLst>
          </p:cNvPr>
          <p:cNvCxnSpPr>
            <a:cxnSpLocks/>
            <a:stCxn id="27" idx="1"/>
            <a:endCxn id="126" idx="3"/>
          </p:cNvCxnSpPr>
          <p:nvPr/>
        </p:nvCxnSpPr>
        <p:spPr>
          <a:xfrm rot="10800000" flipV="1">
            <a:off x="4728008" y="2258973"/>
            <a:ext cx="2571984" cy="12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80" name="Graphic 179">
            <a:extLst>
              <a:ext uri="{FF2B5EF4-FFF2-40B4-BE49-F238E27FC236}">
                <a16:creationId xmlns:a16="http://schemas.microsoft.com/office/drawing/2014/main" id="{FE72A0EA-D5B2-FAD7-0DD6-8200036FF4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66671" y="207832"/>
            <a:ext cx="381000" cy="381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48E674C-A6B7-4B35-D720-967A6151CBB1}"/>
              </a:ext>
            </a:extLst>
          </p:cNvPr>
          <p:cNvGrpSpPr/>
          <p:nvPr/>
        </p:nvGrpSpPr>
        <p:grpSpPr>
          <a:xfrm>
            <a:off x="4336803" y="402911"/>
            <a:ext cx="2052832" cy="518400"/>
            <a:chOff x="1282078" y="1911990"/>
            <a:chExt cx="2052832" cy="518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EA03352-3F11-2EDF-3E04-268B720E0701}"/>
                </a:ext>
              </a:extLst>
            </p:cNvPr>
            <p:cNvGrpSpPr/>
            <p:nvPr/>
          </p:nvGrpSpPr>
          <p:grpSpPr>
            <a:xfrm>
              <a:off x="1282078" y="1911990"/>
              <a:ext cx="2052832" cy="518400"/>
              <a:chOff x="6440267" y="2476895"/>
              <a:chExt cx="2052832" cy="5184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8F6A42D-625B-B562-DC4F-E528248D1042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EC545E2-7456-0AC4-8C8D-B8AF1154BFEC}"/>
                  </a:ext>
                </a:extLst>
              </p:cNvPr>
              <p:cNvSpPr txBox="1"/>
              <p:nvPr/>
            </p:nvSpPr>
            <p:spPr>
              <a:xfrm>
                <a:off x="6878050" y="2513383"/>
                <a:ext cx="15091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Compute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general handler</a:t>
                </a:r>
              </a:p>
            </p:txBody>
          </p:sp>
        </p:grpSp>
        <p:pic>
          <p:nvPicPr>
            <p:cNvPr id="19" name="Graphic 7" descr="Compute standard category icon.">
              <a:extLst>
                <a:ext uri="{FF2B5EF4-FFF2-40B4-BE49-F238E27FC236}">
                  <a16:creationId xmlns:a16="http://schemas.microsoft.com/office/drawing/2014/main" id="{2C502A91-254A-1422-0883-AC58433366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1359861" y="198978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7" name="Straight Arrow Connector 61">
            <a:extLst>
              <a:ext uri="{FF2B5EF4-FFF2-40B4-BE49-F238E27FC236}">
                <a16:creationId xmlns:a16="http://schemas.microsoft.com/office/drawing/2014/main" id="{FAAD1E30-130F-7046-1753-A0DF90FCFF42}"/>
              </a:ext>
            </a:extLst>
          </p:cNvPr>
          <p:cNvCxnSpPr>
            <a:cxnSpLocks/>
            <a:stCxn id="20" idx="1"/>
            <a:endCxn id="122" idx="0"/>
          </p:cNvCxnSpPr>
          <p:nvPr/>
        </p:nvCxnSpPr>
        <p:spPr>
          <a:xfrm rot="10800000" flipV="1">
            <a:off x="3701593" y="662111"/>
            <a:ext cx="635210" cy="757816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61">
            <a:extLst>
              <a:ext uri="{FF2B5EF4-FFF2-40B4-BE49-F238E27FC236}">
                <a16:creationId xmlns:a16="http://schemas.microsoft.com/office/drawing/2014/main" id="{31E10AE9-2757-A417-5FB2-C52C3E351EBF}"/>
              </a:ext>
            </a:extLst>
          </p:cNvPr>
          <p:cNvCxnSpPr>
            <a:cxnSpLocks/>
            <a:stCxn id="122" idx="3"/>
            <a:endCxn id="20" idx="2"/>
          </p:cNvCxnSpPr>
          <p:nvPr/>
        </p:nvCxnSpPr>
        <p:spPr>
          <a:xfrm flipV="1">
            <a:off x="4728009" y="921311"/>
            <a:ext cx="635210" cy="758043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53543CC7-1769-0FEA-5461-159C25FA8FAB}"/>
              </a:ext>
            </a:extLst>
          </p:cNvPr>
          <p:cNvSpPr txBox="1">
            <a:spLocks/>
          </p:cNvSpPr>
          <p:nvPr/>
        </p:nvSpPr>
        <p:spPr>
          <a:xfrm>
            <a:off x="5372615" y="1268649"/>
            <a:ext cx="1482863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download referenced files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732599-1E30-B91A-4C39-EE84385FAF00}"/>
              </a:ext>
            </a:extLst>
          </p:cNvPr>
          <p:cNvGrpSpPr/>
          <p:nvPr/>
        </p:nvGrpSpPr>
        <p:grpSpPr>
          <a:xfrm>
            <a:off x="2675177" y="2586949"/>
            <a:ext cx="2052000" cy="518400"/>
            <a:chOff x="612366" y="4202686"/>
            <a:chExt cx="2052000" cy="51840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E600A14-7C14-417D-C224-9355C0A1FDA4}"/>
                </a:ext>
              </a:extLst>
            </p:cNvPr>
            <p:cNvGrpSpPr/>
            <p:nvPr/>
          </p:nvGrpSpPr>
          <p:grpSpPr>
            <a:xfrm>
              <a:off x="612366" y="4202686"/>
              <a:ext cx="2052000" cy="518400"/>
              <a:chOff x="6838092" y="3987527"/>
              <a:chExt cx="2052000" cy="51840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F8A4179-0D1C-EA51-1EA0-0D6C2004BB34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0" name="TextBox 11">
                <a:extLst>
                  <a:ext uri="{FF2B5EF4-FFF2-40B4-BE49-F238E27FC236}">
                    <a16:creationId xmlns:a16="http://schemas.microsoft.com/office/drawing/2014/main" id="{2707A99E-33DC-CBB1-FAFD-C9189AAFB6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2" y="4022422"/>
                <a:ext cx="155153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parser control data</a:t>
                </a:r>
              </a:p>
            </p:txBody>
          </p:sp>
        </p:grpSp>
        <p:pic>
          <p:nvPicPr>
            <p:cNvPr id="48" name="Graphic 23" descr="Amazon DynamoDB service icon.">
              <a:extLst>
                <a:ext uri="{FF2B5EF4-FFF2-40B4-BE49-F238E27FC236}">
                  <a16:creationId xmlns:a16="http://schemas.microsoft.com/office/drawing/2014/main" id="{0FF44877-3844-2211-A67A-CCD212E6D0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694244" y="4282450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51" name="Straight Arrow Connector 61">
            <a:extLst>
              <a:ext uri="{FF2B5EF4-FFF2-40B4-BE49-F238E27FC236}">
                <a16:creationId xmlns:a16="http://schemas.microsoft.com/office/drawing/2014/main" id="{6E7E6ABB-8ACC-7F67-EEC5-B5C6009579CA}"/>
              </a:ext>
            </a:extLst>
          </p:cNvPr>
          <p:cNvCxnSpPr>
            <a:cxnSpLocks/>
            <a:stCxn id="20" idx="3"/>
            <a:endCxn id="27" idx="0"/>
          </p:cNvCxnSpPr>
          <p:nvPr/>
        </p:nvCxnSpPr>
        <p:spPr>
          <a:xfrm>
            <a:off x="6389635" y="662111"/>
            <a:ext cx="1936773" cy="1337435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30D0024-E109-6D83-FCA3-E74D845AF4B6}"/>
              </a:ext>
            </a:extLst>
          </p:cNvPr>
          <p:cNvGrpSpPr/>
          <p:nvPr/>
        </p:nvGrpSpPr>
        <p:grpSpPr>
          <a:xfrm>
            <a:off x="7299992" y="3172907"/>
            <a:ext cx="2052832" cy="518400"/>
            <a:chOff x="6249805" y="2302869"/>
            <a:chExt cx="2052832" cy="5184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B18D436-D1E6-4423-B9A9-127A33C71090}"/>
                </a:ext>
              </a:extLst>
            </p:cNvPr>
            <p:cNvGrpSpPr/>
            <p:nvPr/>
          </p:nvGrpSpPr>
          <p:grpSpPr>
            <a:xfrm>
              <a:off x="6249805" y="2302869"/>
              <a:ext cx="2052832" cy="518400"/>
              <a:chOff x="6399966" y="2708142"/>
              <a:chExt cx="2052832" cy="518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0B751F6-95C0-FA72-9471-EB588FAA77B0}"/>
                  </a:ext>
                </a:extLst>
              </p:cNvPr>
              <p:cNvSpPr/>
              <p:nvPr/>
            </p:nvSpPr>
            <p:spPr>
              <a:xfrm>
                <a:off x="6399966" y="2708142"/>
                <a:ext cx="2052832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" name="TextBox 9">
                <a:extLst>
                  <a:ext uri="{FF2B5EF4-FFF2-40B4-BE49-F238E27FC236}">
                    <a16:creationId xmlns:a16="http://schemas.microsoft.com/office/drawing/2014/main" id="{4D39A7C0-0D53-FE87-83F5-BA04EE079F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31876" y="2744061"/>
                <a:ext cx="136079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Bedrock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Guardrails </a:t>
                </a:r>
              </a:p>
            </p:txBody>
          </p:sp>
        </p:grpSp>
        <p:pic>
          <p:nvPicPr>
            <p:cNvPr id="64" name="Graphic 63" descr="Amazon Bedrock service icon.">
              <a:extLst>
                <a:ext uri="{FF2B5EF4-FFF2-40B4-BE49-F238E27FC236}">
                  <a16:creationId xmlns:a16="http://schemas.microsoft.com/office/drawing/2014/main" id="{80DA020D-FDD7-B987-1B7F-6C6CFCC39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6331683" y="2389620"/>
              <a:ext cx="360000" cy="360000"/>
            </a:xfrm>
            <a:prstGeom prst="rect">
              <a:avLst/>
            </a:prstGeom>
          </p:spPr>
        </p:pic>
      </p:grpSp>
      <p:cxnSp>
        <p:nvCxnSpPr>
          <p:cNvPr id="74" name="Straight Arrow Connector 61">
            <a:extLst>
              <a:ext uri="{FF2B5EF4-FFF2-40B4-BE49-F238E27FC236}">
                <a16:creationId xmlns:a16="http://schemas.microsoft.com/office/drawing/2014/main" id="{6B5CF257-A115-08D7-BEE3-9856B7408038}"/>
              </a:ext>
            </a:extLst>
          </p:cNvPr>
          <p:cNvCxnSpPr>
            <a:cxnSpLocks/>
            <a:stCxn id="27" idx="3"/>
            <a:endCxn id="105" idx="2"/>
          </p:cNvCxnSpPr>
          <p:nvPr/>
        </p:nvCxnSpPr>
        <p:spPr>
          <a:xfrm flipV="1">
            <a:off x="9352824" y="1850496"/>
            <a:ext cx="983001" cy="408477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13F56532-A18E-2765-0E15-4043E12BC441}"/>
              </a:ext>
            </a:extLst>
          </p:cNvPr>
          <p:cNvSpPr txBox="1">
            <a:spLocks/>
          </p:cNvSpPr>
          <p:nvPr/>
        </p:nvSpPr>
        <p:spPr>
          <a:xfrm>
            <a:off x="9368699" y="2275810"/>
            <a:ext cx="710087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E4EC3373-7799-8F85-1B68-337313D61023}"/>
              </a:ext>
            </a:extLst>
          </p:cNvPr>
          <p:cNvSpPr txBox="1">
            <a:spLocks/>
          </p:cNvSpPr>
          <p:nvPr/>
        </p:nvSpPr>
        <p:spPr>
          <a:xfrm>
            <a:off x="6402760" y="340267"/>
            <a:ext cx="148286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D574ACA7-3131-DD6B-B98D-9FBCC67D909B}"/>
              </a:ext>
            </a:extLst>
          </p:cNvPr>
          <p:cNvSpPr txBox="1">
            <a:spLocks/>
          </p:cNvSpPr>
          <p:nvPr/>
        </p:nvSpPr>
        <p:spPr>
          <a:xfrm>
            <a:off x="2094775" y="562943"/>
            <a:ext cx="1602627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data to vector database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F3B179D-464A-1528-9202-1B04F1B930AA}"/>
              </a:ext>
            </a:extLst>
          </p:cNvPr>
          <p:cNvGrpSpPr/>
          <p:nvPr/>
        </p:nvGrpSpPr>
        <p:grpSpPr>
          <a:xfrm>
            <a:off x="9389025" y="1332096"/>
            <a:ext cx="2042797" cy="518400"/>
            <a:chOff x="6822582" y="1079305"/>
            <a:chExt cx="2042797" cy="518400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E45D517A-7AF8-8E23-87E2-6A69EB9B7F09}"/>
                </a:ext>
              </a:extLst>
            </p:cNvPr>
            <p:cNvGrpSpPr/>
            <p:nvPr/>
          </p:nvGrpSpPr>
          <p:grpSpPr>
            <a:xfrm>
              <a:off x="6822582" y="1079305"/>
              <a:ext cx="2042797" cy="518400"/>
              <a:chOff x="3988800" y="2601861"/>
              <a:chExt cx="2042797" cy="518400"/>
            </a:xfrm>
          </p:grpSpPr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4C9A66B8-775C-F59F-474C-63B45375E80B}"/>
                  </a:ext>
                </a:extLst>
              </p:cNvPr>
              <p:cNvGrpSpPr/>
              <p:nvPr/>
            </p:nvGrpSpPr>
            <p:grpSpPr>
              <a:xfrm>
                <a:off x="3988800" y="2601861"/>
                <a:ext cx="1893600" cy="518400"/>
                <a:chOff x="6936302" y="3277884"/>
                <a:chExt cx="1893600" cy="518400"/>
              </a:xfrm>
            </p:grpSpPr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B06020FB-E1D4-423F-4108-5B4C54F267FB}"/>
                    </a:ext>
                  </a:extLst>
                </p:cNvPr>
                <p:cNvSpPr txBox="1"/>
                <p:nvPr/>
              </p:nvSpPr>
              <p:spPr>
                <a:xfrm>
                  <a:off x="8369843" y="3283310"/>
                  <a:ext cx="254000" cy="46649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noAutofit/>
                </a:bodyPr>
                <a:lstStyle/>
                <a:p>
                  <a:pPr algn="l"/>
                  <a:r>
                    <a:rPr lang="en-US" dirty="0"/>
                    <a:t>   </a:t>
                  </a: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E1A144A9-A228-27C3-2FAF-7AFFF28E4AD7}"/>
                    </a:ext>
                  </a:extLst>
                </p:cNvPr>
                <p:cNvSpPr/>
                <p:nvPr/>
              </p:nvSpPr>
              <p:spPr>
                <a:xfrm>
                  <a:off x="6936302" y="3277884"/>
                  <a:ext cx="1893600" cy="518400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rtlCol="0" anchor="b"/>
                <a:lstStyle/>
                <a:p>
                  <a:pPr algn="ctr"/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543C5C2F-0EAF-46BB-4B32-97DCF703BCF4}"/>
                    </a:ext>
                  </a:extLst>
                </p:cNvPr>
                <p:cNvSpPr txBox="1"/>
                <p:nvPr/>
              </p:nvSpPr>
              <p:spPr>
                <a:xfrm>
                  <a:off x="7665455" y="3283309"/>
                  <a:ext cx="254000" cy="46649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noAutofit/>
                </a:bodyPr>
                <a:lstStyle/>
                <a:p>
                  <a:pPr algn="l"/>
                  <a:r>
                    <a:rPr lang="en-US" dirty="0"/>
                    <a:t>   </a:t>
                  </a:r>
                </a:p>
              </p:txBody>
            </p:sp>
          </p:grpSp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DEEB66F1-06BE-BB82-CBD2-5B708AB0AB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8419" y="2617538"/>
                <a:ext cx="161317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EventBridge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LLM stream events</a:t>
                </a:r>
              </a:p>
            </p:txBody>
          </p:sp>
        </p:grpSp>
        <p:pic>
          <p:nvPicPr>
            <p:cNvPr id="100" name="Graphic 19" descr="Amazon EventBridge service icon.">
              <a:extLst>
                <a:ext uri="{FF2B5EF4-FFF2-40B4-BE49-F238E27FC236}">
                  <a16:creationId xmlns:a16="http://schemas.microsoft.com/office/drawing/2014/main" id="{616EFFE8-F0E9-C1DC-5979-D52FEB1563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 bwMode="auto">
            <a:xfrm>
              <a:off x="6896056" y="1148986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BA6FD339-C2ED-7FE8-1A9D-4E46F4807C05}"/>
              </a:ext>
            </a:extLst>
          </p:cNvPr>
          <p:cNvSpPr txBox="1">
            <a:spLocks/>
          </p:cNvSpPr>
          <p:nvPr/>
        </p:nvSpPr>
        <p:spPr>
          <a:xfrm>
            <a:off x="5990244" y="2285084"/>
            <a:ext cx="132686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semantic search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C7A5902-E694-DFD6-8BF2-D6859EBA6E05}"/>
              </a:ext>
            </a:extLst>
          </p:cNvPr>
          <p:cNvGrpSpPr/>
          <p:nvPr/>
        </p:nvGrpSpPr>
        <p:grpSpPr>
          <a:xfrm>
            <a:off x="2877804" y="4061225"/>
            <a:ext cx="1650611" cy="857434"/>
            <a:chOff x="7494698" y="1006814"/>
            <a:chExt cx="783992" cy="857434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03EB09C-4567-71F0-C0DD-85DB1B695D42}"/>
                </a:ext>
              </a:extLst>
            </p:cNvPr>
            <p:cNvSpPr/>
            <p:nvPr/>
          </p:nvSpPr>
          <p:spPr>
            <a:xfrm>
              <a:off x="7529620" y="1347559"/>
              <a:ext cx="713209" cy="44035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9C27452-9427-3D61-F8A4-792751A6E870}"/>
                </a:ext>
              </a:extLst>
            </p:cNvPr>
            <p:cNvSpPr/>
            <p:nvPr/>
          </p:nvSpPr>
          <p:spPr>
            <a:xfrm>
              <a:off x="7494698" y="1006814"/>
              <a:ext cx="783992" cy="857434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115" name="Straight Arrow Connector 61">
            <a:extLst>
              <a:ext uri="{FF2B5EF4-FFF2-40B4-BE49-F238E27FC236}">
                <a16:creationId xmlns:a16="http://schemas.microsoft.com/office/drawing/2014/main" id="{05F12EF9-E3B5-3CE3-C22E-65A6F496016B}"/>
              </a:ext>
            </a:extLst>
          </p:cNvPr>
          <p:cNvCxnSpPr>
            <a:cxnSpLocks/>
            <a:stCxn id="122" idx="1"/>
            <a:endCxn id="129" idx="0"/>
          </p:cNvCxnSpPr>
          <p:nvPr/>
        </p:nvCxnSpPr>
        <p:spPr>
          <a:xfrm rot="10800000" flipV="1">
            <a:off x="1080273" y="1679353"/>
            <a:ext cx="1594904" cy="249035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639CF79-A7FA-7C57-68B3-32DF9F0E7BAA}"/>
              </a:ext>
            </a:extLst>
          </p:cNvPr>
          <p:cNvSpPr/>
          <p:nvPr/>
        </p:nvSpPr>
        <p:spPr>
          <a:xfrm>
            <a:off x="379217" y="1928389"/>
            <a:ext cx="1402112" cy="655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storage cache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31" name="Straight Arrow Connector 61">
            <a:extLst>
              <a:ext uri="{FF2B5EF4-FFF2-40B4-BE49-F238E27FC236}">
                <a16:creationId xmlns:a16="http://schemas.microsoft.com/office/drawing/2014/main" id="{5E6CB532-F1B7-4CD7-6DB3-C10EDB2B3BC4}"/>
              </a:ext>
            </a:extLst>
          </p:cNvPr>
          <p:cNvCxnSpPr>
            <a:cxnSpLocks/>
            <a:stCxn id="129" idx="3"/>
            <a:endCxn id="126" idx="1"/>
          </p:cNvCxnSpPr>
          <p:nvPr/>
        </p:nvCxnSpPr>
        <p:spPr>
          <a:xfrm>
            <a:off x="1781329" y="2256209"/>
            <a:ext cx="893848" cy="3978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4D394CA-9041-DEE8-E7A3-BA0479B0016A}"/>
              </a:ext>
            </a:extLst>
          </p:cNvPr>
          <p:cNvSpPr/>
          <p:nvPr/>
        </p:nvSpPr>
        <p:spPr>
          <a:xfrm>
            <a:off x="5391420" y="2987132"/>
            <a:ext cx="1274647" cy="6928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storage cache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35" name="Straight Arrow Connector 61">
            <a:extLst>
              <a:ext uri="{FF2B5EF4-FFF2-40B4-BE49-F238E27FC236}">
                <a16:creationId xmlns:a16="http://schemas.microsoft.com/office/drawing/2014/main" id="{96080060-0567-1830-C9D1-F06C9402775E}"/>
              </a:ext>
            </a:extLst>
          </p:cNvPr>
          <p:cNvCxnSpPr>
            <a:cxnSpLocks/>
            <a:stCxn id="27" idx="1"/>
            <a:endCxn id="134" idx="0"/>
          </p:cNvCxnSpPr>
          <p:nvPr/>
        </p:nvCxnSpPr>
        <p:spPr>
          <a:xfrm rot="10800000" flipV="1">
            <a:off x="6028744" y="2258972"/>
            <a:ext cx="1271248" cy="728159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Arrow Connector 61">
            <a:extLst>
              <a:ext uri="{FF2B5EF4-FFF2-40B4-BE49-F238E27FC236}">
                <a16:creationId xmlns:a16="http://schemas.microsoft.com/office/drawing/2014/main" id="{02C7163B-6519-FC8C-1DAC-D63ABE582EF3}"/>
              </a:ext>
            </a:extLst>
          </p:cNvPr>
          <p:cNvCxnSpPr>
            <a:cxnSpLocks/>
            <a:stCxn id="129" idx="2"/>
            <a:endCxn id="114" idx="1"/>
          </p:cNvCxnSpPr>
          <p:nvPr/>
        </p:nvCxnSpPr>
        <p:spPr>
          <a:xfrm rot="16200000" flipH="1">
            <a:off x="1026082" y="2638219"/>
            <a:ext cx="1905913" cy="1797531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1" name="Straight Arrow Connector 61">
            <a:extLst>
              <a:ext uri="{FF2B5EF4-FFF2-40B4-BE49-F238E27FC236}">
                <a16:creationId xmlns:a16="http://schemas.microsoft.com/office/drawing/2014/main" id="{394284AC-D743-3120-4013-08D4E7C741F3}"/>
              </a:ext>
            </a:extLst>
          </p:cNvPr>
          <p:cNvCxnSpPr>
            <a:cxnSpLocks/>
            <a:stCxn id="134" idx="2"/>
            <a:endCxn id="114" idx="3"/>
          </p:cNvCxnSpPr>
          <p:nvPr/>
        </p:nvCxnSpPr>
        <p:spPr>
          <a:xfrm rot="5400000">
            <a:off x="4873596" y="3334793"/>
            <a:ext cx="809969" cy="1500329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4" name="Content Placeholder 2">
            <a:extLst>
              <a:ext uri="{FF2B5EF4-FFF2-40B4-BE49-F238E27FC236}">
                <a16:creationId xmlns:a16="http://schemas.microsoft.com/office/drawing/2014/main" id="{7398CFC6-80BB-4827-FF07-577618F61FF5}"/>
              </a:ext>
            </a:extLst>
          </p:cNvPr>
          <p:cNvSpPr txBox="1">
            <a:spLocks/>
          </p:cNvSpPr>
          <p:nvPr/>
        </p:nvSpPr>
        <p:spPr>
          <a:xfrm>
            <a:off x="4564660" y="4489848"/>
            <a:ext cx="3215710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get LanceDB embeddings if not cached</a:t>
            </a:r>
          </a:p>
        </p:txBody>
      </p:sp>
      <p:sp>
        <p:nvSpPr>
          <p:cNvPr id="165" name="Content Placeholder 2">
            <a:extLst>
              <a:ext uri="{FF2B5EF4-FFF2-40B4-BE49-F238E27FC236}">
                <a16:creationId xmlns:a16="http://schemas.microsoft.com/office/drawing/2014/main" id="{6634B338-1C29-E3E6-1840-E635216BBE58}"/>
              </a:ext>
            </a:extLst>
          </p:cNvPr>
          <p:cNvSpPr txBox="1">
            <a:spLocks/>
          </p:cNvSpPr>
          <p:nvPr/>
        </p:nvSpPr>
        <p:spPr>
          <a:xfrm>
            <a:off x="1096354" y="2600092"/>
            <a:ext cx="91458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read, update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C04A4E95-6E43-F843-1236-1C3032D75679}"/>
              </a:ext>
            </a:extLst>
          </p:cNvPr>
          <p:cNvSpPr/>
          <p:nvPr/>
        </p:nvSpPr>
        <p:spPr>
          <a:xfrm>
            <a:off x="11547408" y="1212784"/>
            <a:ext cx="437845" cy="26565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🧠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Ragger</a:t>
            </a:r>
            <a:endParaRPr lang="en-US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4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WS">
  <a:themeElements>
    <a:clrScheme name="Custom 75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5DADFD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75F086DE-2965-45A4-BDC6-88E6C1D0FF43}" vid="{D15E4270-0100-4A1F-8542-E99C62EE8F22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80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Amazon Ember</vt:lpstr>
      <vt:lpstr>Amazon Ember Display</vt:lpstr>
      <vt:lpstr>Wingdings</vt:lpstr>
      <vt:lpstr>1_AWS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154</cp:revision>
  <dcterms:created xsi:type="dcterms:W3CDTF">2022-10-07T16:14:37Z</dcterms:created>
  <dcterms:modified xsi:type="dcterms:W3CDTF">2025-04-22T20:14:53Z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2025-04-22T20:14:53Z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480720e9-e304-4b5f-8a47-22fb8730de5d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