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823" r:id="rId2"/>
    <p:sldId id="1695" r:id="rId3"/>
    <p:sldId id="1824" r:id="rId4"/>
  </p:sldIdLst>
  <p:sldSz cx="12192000" cy="6858000"/>
  <p:notesSz cx="6858000" cy="9144000"/>
  <p:embeddedFontLst>
    <p:embeddedFont>
      <p:font typeface="Amazon Ember" panose="020B0603020204020204" pitchFamily="34" charset="0"/>
      <p:regular r:id="rId7"/>
      <p:bold r:id="rId8"/>
      <p:italic r:id="rId9"/>
      <p:boldItalic r:id="rId10"/>
    </p:embeddedFont>
    <p:embeddedFont>
      <p:font typeface="Amazon Ember Display" panose="020B0603020204020204" pitchFamily="34" charset="0"/>
      <p:regular r:id="rId11"/>
      <p:bold r:id="rId12"/>
      <p:italic r:id="rId13"/>
      <p:boldItalic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🧑‍🦰 Wallet" id="{DE76B10F-4749-0E43-97D1-FD79F82960B4}">
          <p14:sldIdLst>
            <p14:sldId id="1823"/>
            <p14:sldId id="1695"/>
            <p14:sldId id="182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2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104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9.fntdata"/><Relationship Id="rId23" Type="http://schemas.openxmlformats.org/officeDocument/2006/relationships/tableStyles" Target="tableStyles.xml"/><Relationship Id="rId10" Type="http://schemas.openxmlformats.org/officeDocument/2006/relationships/font" Target="fonts/font4.fntdata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EC7B1-791D-3750-6B91-A1CB35CF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028BD-C841-F3C5-9040-B4ED62F74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1BE0F-FB1A-F76E-1BA1-53E6EE8AF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5087DE7-EC5E-E760-96F4-0CE5A3C4A6B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0FC22-ED85-5855-CCC9-BFB604B3D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67A95F2-000A-7018-D350-D5501F27A16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D3451-CCC7-CBC8-72C6-E7B2595E2B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215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896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0FBD67-D3C0-24A5-3673-1BEBE9A9345F}"/>
              </a:ext>
            </a:extLst>
          </p:cNvPr>
          <p:cNvSpPr txBox="1"/>
          <p:nvPr/>
        </p:nvSpPr>
        <p:spPr>
          <a:xfrm>
            <a:off x="2645537" y="1613118"/>
            <a:ext cx="6900927" cy="1862048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GB" sz="13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📣</a:t>
            </a:r>
            <a:r>
              <a:rPr lang="en-GB" sz="11500" dirty="0">
                <a:solidFill>
                  <a:srgbClr val="FFFF00"/>
                </a:solidFill>
              </a:rPr>
              <a:t> Notifier</a:t>
            </a:r>
          </a:p>
        </p:txBody>
      </p:sp>
    </p:spTree>
    <p:extLst>
      <p:ext uri="{BB962C8B-B14F-4D97-AF65-F5344CB8AC3E}">
        <p14:creationId xmlns:p14="http://schemas.microsoft.com/office/powerpoint/2010/main" val="386581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A4CC-56B0-2317-8100-CDAAB51FB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11BBB1-BA24-A3E2-0542-D3DB4F472A5F}"/>
              </a:ext>
            </a:extLst>
          </p:cNvPr>
          <p:cNvSpPr/>
          <p:nvPr/>
        </p:nvSpPr>
        <p:spPr>
          <a:xfrm>
            <a:off x="1412198" y="3508927"/>
            <a:ext cx="4125217" cy="20433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0109D01-4B8E-317D-8354-2A0B5BC56AD9}"/>
              </a:ext>
            </a:extLst>
          </p:cNvPr>
          <p:cNvSpPr/>
          <p:nvPr/>
        </p:nvSpPr>
        <p:spPr>
          <a:xfrm>
            <a:off x="1584008" y="3697363"/>
            <a:ext cx="3765853" cy="989431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5A4318-EE30-9FFF-778C-FE0B310D56D9}"/>
              </a:ext>
            </a:extLst>
          </p:cNvPr>
          <p:cNvSpPr/>
          <p:nvPr/>
        </p:nvSpPr>
        <p:spPr>
          <a:xfrm>
            <a:off x="1673381" y="4062513"/>
            <a:ext cx="3610887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📣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Notifier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B40104-6B6C-7F01-E184-01F38657059F}"/>
              </a:ext>
            </a:extLst>
          </p:cNvPr>
          <p:cNvSpPr/>
          <p:nvPr/>
        </p:nvSpPr>
        <p:spPr>
          <a:xfrm>
            <a:off x="626736" y="2724402"/>
            <a:ext cx="4857006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   Broker 1</a:t>
            </a:r>
          </a:p>
        </p:txBody>
      </p: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A4FC90E6-73E3-D5DD-2FB5-73854CECF07A}"/>
              </a:ext>
            </a:extLst>
          </p:cNvPr>
          <p:cNvCxnSpPr>
            <a:cxnSpLocks/>
          </p:cNvCxnSpPr>
          <p:nvPr/>
        </p:nvCxnSpPr>
        <p:spPr>
          <a:xfrm>
            <a:off x="2452936" y="3298460"/>
            <a:ext cx="0" cy="413935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12">
            <a:extLst>
              <a:ext uri="{FF2B5EF4-FFF2-40B4-BE49-F238E27FC236}">
                <a16:creationId xmlns:a16="http://schemas.microsoft.com/office/drawing/2014/main" id="{EE1FB10F-75C5-7D51-E724-A9DEAE2A5A14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432649" y="4686182"/>
            <a:ext cx="622107" cy="388327"/>
          </a:xfrm>
          <a:prstGeom prst="bentConnector3">
            <a:avLst>
              <a:gd name="adj1" fmla="val 369"/>
            </a:avLst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469C17A7-120E-946B-2852-02E596F62AC4}"/>
              </a:ext>
            </a:extLst>
          </p:cNvPr>
          <p:cNvSpPr/>
          <p:nvPr/>
        </p:nvSpPr>
        <p:spPr>
          <a:xfrm>
            <a:off x="982075" y="3508927"/>
            <a:ext cx="228260" cy="20433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C83BB8-B3D3-6C57-CDAE-DCC5E380778F}"/>
              </a:ext>
            </a:extLst>
          </p:cNvPr>
          <p:cNvSpPr/>
          <p:nvPr/>
        </p:nvSpPr>
        <p:spPr>
          <a:xfrm>
            <a:off x="562638" y="3508927"/>
            <a:ext cx="228260" cy="20433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721E698-16F5-8E05-494A-05876B01B52E}"/>
              </a:ext>
            </a:extLst>
          </p:cNvPr>
          <p:cNvSpPr/>
          <p:nvPr/>
        </p:nvSpPr>
        <p:spPr>
          <a:xfrm>
            <a:off x="9616487" y="2736277"/>
            <a:ext cx="1868918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   Broker 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544E050-36CC-C09B-E14A-CDFEF5C3CAEA}"/>
              </a:ext>
            </a:extLst>
          </p:cNvPr>
          <p:cNvSpPr/>
          <p:nvPr/>
        </p:nvSpPr>
        <p:spPr>
          <a:xfrm>
            <a:off x="11304646" y="3508927"/>
            <a:ext cx="228260" cy="20433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44848E1-BFCE-1658-A2A3-530B2DA4EE97}"/>
              </a:ext>
            </a:extLst>
          </p:cNvPr>
          <p:cNvSpPr/>
          <p:nvPr/>
        </p:nvSpPr>
        <p:spPr>
          <a:xfrm>
            <a:off x="9548600" y="3508927"/>
            <a:ext cx="1599803" cy="20433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1A9CF15-9CEB-16D4-DF15-9D8F6E7055F6}"/>
              </a:ext>
            </a:extLst>
          </p:cNvPr>
          <p:cNvSpPr/>
          <p:nvPr/>
        </p:nvSpPr>
        <p:spPr>
          <a:xfrm>
            <a:off x="10337510" y="4810392"/>
            <a:ext cx="618332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pPr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🧑‍🦰</a:t>
            </a:r>
          </a:p>
          <a:p>
            <a:pPr>
              <a:defRPr/>
            </a:pP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  <a:p>
            <a:pPr>
              <a:defRPr/>
            </a:pP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55" name="Straight Arrow Connector 12">
            <a:extLst>
              <a:ext uri="{FF2B5EF4-FFF2-40B4-BE49-F238E27FC236}">
                <a16:creationId xmlns:a16="http://schemas.microsoft.com/office/drawing/2014/main" id="{54E4E2B2-77A4-2B3C-A140-21085EAA526A}"/>
              </a:ext>
            </a:extLst>
          </p:cNvPr>
          <p:cNvCxnSpPr>
            <a:cxnSpLocks/>
            <a:stCxn id="54" idx="2"/>
            <a:endCxn id="53" idx="1"/>
          </p:cNvCxnSpPr>
          <p:nvPr/>
        </p:nvCxnSpPr>
        <p:spPr>
          <a:xfrm rot="16200000" flipH="1">
            <a:off x="9953056" y="4707029"/>
            <a:ext cx="519973" cy="248935"/>
          </a:xfrm>
          <a:prstGeom prst="bentConnector2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12">
            <a:extLst>
              <a:ext uri="{FF2B5EF4-FFF2-40B4-BE49-F238E27FC236}">
                <a16:creationId xmlns:a16="http://schemas.microsoft.com/office/drawing/2014/main" id="{B2E5FA54-BB70-5610-C9B2-5BD02A7A2ACD}"/>
              </a:ext>
            </a:extLst>
          </p:cNvPr>
          <p:cNvCxnSpPr>
            <a:cxnSpLocks/>
            <a:endCxn id="149" idx="0"/>
          </p:cNvCxnSpPr>
          <p:nvPr/>
        </p:nvCxnSpPr>
        <p:spPr>
          <a:xfrm flipH="1">
            <a:off x="10077140" y="3358564"/>
            <a:ext cx="3388" cy="324373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875D949-EAE4-74D8-26E5-338EBEDDF680}"/>
              </a:ext>
            </a:extLst>
          </p:cNvPr>
          <p:cNvSpPr txBox="1"/>
          <p:nvPr/>
        </p:nvSpPr>
        <p:spPr>
          <a:xfrm>
            <a:off x="9779441" y="5059673"/>
            <a:ext cx="525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📣</a:t>
            </a:r>
            <a:endParaRPr lang="en-GB" sz="2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31B81E2-6488-336B-814A-F806A7F1E438}"/>
              </a:ext>
            </a:extLst>
          </p:cNvPr>
          <p:cNvSpPr txBox="1"/>
          <p:nvPr/>
        </p:nvSpPr>
        <p:spPr>
          <a:xfrm>
            <a:off x="1617843" y="5071911"/>
            <a:ext cx="161481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📣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alert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FF0E5AA-A23C-7B18-83E7-D00C478479D6}"/>
              </a:ext>
            </a:extLst>
          </p:cNvPr>
          <p:cNvSpPr txBox="1"/>
          <p:nvPr/>
        </p:nvSpPr>
        <p:spPr>
          <a:xfrm>
            <a:off x="10291399" y="558519"/>
            <a:ext cx="496759" cy="5232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✉️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89" name="Straight Arrow Connector 12">
            <a:extLst>
              <a:ext uri="{FF2B5EF4-FFF2-40B4-BE49-F238E27FC236}">
                <a16:creationId xmlns:a16="http://schemas.microsoft.com/office/drawing/2014/main" id="{0BF8FACD-78F2-94C8-4B8A-F1A738BEC762}"/>
              </a:ext>
            </a:extLst>
          </p:cNvPr>
          <p:cNvCxnSpPr>
            <a:cxnSpLocks/>
            <a:stCxn id="73" idx="1"/>
            <a:endCxn id="137" idx="0"/>
          </p:cNvCxnSpPr>
          <p:nvPr/>
        </p:nvCxnSpPr>
        <p:spPr>
          <a:xfrm rot="10800000" flipV="1">
            <a:off x="3045939" y="1073389"/>
            <a:ext cx="3030666" cy="1252087"/>
          </a:xfrm>
          <a:prstGeom prst="bentConnector2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12">
            <a:extLst>
              <a:ext uri="{FF2B5EF4-FFF2-40B4-BE49-F238E27FC236}">
                <a16:creationId xmlns:a16="http://schemas.microsoft.com/office/drawing/2014/main" id="{B2049E80-85D5-7D66-FA0B-997695544505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5328540" y="1411942"/>
            <a:ext cx="1030516" cy="3552403"/>
          </a:xfrm>
          <a:prstGeom prst="bentConnector2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4E106D50-D326-85B8-2373-A7B0190DDC81}"/>
              </a:ext>
            </a:extLst>
          </p:cNvPr>
          <p:cNvSpPr txBox="1"/>
          <p:nvPr/>
        </p:nvSpPr>
        <p:spPr>
          <a:xfrm>
            <a:off x="3478423" y="558519"/>
            <a:ext cx="1394659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prompt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2890285-72EF-C48F-1555-7423FE11C6E7}"/>
              </a:ext>
            </a:extLst>
          </p:cNvPr>
          <p:cNvSpPr txBox="1"/>
          <p:nvPr/>
        </p:nvSpPr>
        <p:spPr>
          <a:xfrm>
            <a:off x="7973315" y="1971534"/>
            <a:ext cx="1507746" cy="70788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user’s    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answer</a:t>
            </a:r>
          </a:p>
        </p:txBody>
      </p:sp>
      <p:cxnSp>
        <p:nvCxnSpPr>
          <p:cNvPr id="104" name="Straight Arrow Connector 12">
            <a:extLst>
              <a:ext uri="{FF2B5EF4-FFF2-40B4-BE49-F238E27FC236}">
                <a16:creationId xmlns:a16="http://schemas.microsoft.com/office/drawing/2014/main" id="{E38F50D0-DC63-227A-B119-2199F77C8ACB}"/>
              </a:ext>
            </a:extLst>
          </p:cNvPr>
          <p:cNvCxnSpPr>
            <a:cxnSpLocks/>
          </p:cNvCxnSpPr>
          <p:nvPr/>
        </p:nvCxnSpPr>
        <p:spPr>
          <a:xfrm flipH="1">
            <a:off x="10020251" y="1372657"/>
            <a:ext cx="3453" cy="969866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7FE2A3AF-6E11-335F-50F6-D1319904ACFB}"/>
              </a:ext>
            </a:extLst>
          </p:cNvPr>
          <p:cNvSpPr txBox="1"/>
          <p:nvPr/>
        </p:nvSpPr>
        <p:spPr>
          <a:xfrm>
            <a:off x="9585643" y="1819303"/>
            <a:ext cx="516366" cy="5232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2A526C4B-C34E-E7FF-9260-57C2D8C69DA0}"/>
              </a:ext>
            </a:extLst>
          </p:cNvPr>
          <p:cNvSpPr/>
          <p:nvPr/>
        </p:nvSpPr>
        <p:spPr>
          <a:xfrm>
            <a:off x="3037286" y="574065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D5AC1748-9FF1-906E-5786-9B5BFA3871E6}"/>
              </a:ext>
            </a:extLst>
          </p:cNvPr>
          <p:cNvSpPr/>
          <p:nvPr/>
        </p:nvSpPr>
        <p:spPr>
          <a:xfrm>
            <a:off x="6535907" y="1627027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25" name="Straight Arrow Connector 12">
            <a:extLst>
              <a:ext uri="{FF2B5EF4-FFF2-40B4-BE49-F238E27FC236}">
                <a16:creationId xmlns:a16="http://schemas.microsoft.com/office/drawing/2014/main" id="{CEC40138-4C1B-624A-056E-7C43F4D5D329}"/>
              </a:ext>
            </a:extLst>
          </p:cNvPr>
          <p:cNvCxnSpPr>
            <a:cxnSpLocks/>
            <a:stCxn id="53" idx="3"/>
            <a:endCxn id="73" idx="3"/>
          </p:cNvCxnSpPr>
          <p:nvPr/>
        </p:nvCxnSpPr>
        <p:spPr>
          <a:xfrm flipH="1" flipV="1">
            <a:off x="10222030" y="1073390"/>
            <a:ext cx="733812" cy="4018094"/>
          </a:xfrm>
          <a:prstGeom prst="bentConnector3">
            <a:avLst>
              <a:gd name="adj1" fmla="val -115100"/>
            </a:avLst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4476530-3924-EAD0-9DC8-60049B144929}"/>
              </a:ext>
            </a:extLst>
          </p:cNvPr>
          <p:cNvGrpSpPr/>
          <p:nvPr/>
        </p:nvGrpSpPr>
        <p:grpSpPr>
          <a:xfrm>
            <a:off x="6014005" y="397213"/>
            <a:ext cx="4277394" cy="1014729"/>
            <a:chOff x="7494697" y="1006813"/>
            <a:chExt cx="4021313" cy="1014729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2D84FDE-29E6-517D-6D57-FC40C0BF0D75}"/>
                </a:ext>
              </a:extLst>
            </p:cNvPr>
            <p:cNvSpPr/>
            <p:nvPr/>
          </p:nvSpPr>
          <p:spPr>
            <a:xfrm>
              <a:off x="7553549" y="1401898"/>
              <a:ext cx="38972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92ED642-0E27-692E-3017-70B699D94C34}"/>
                </a:ext>
              </a:extLst>
            </p:cNvPr>
            <p:cNvSpPr/>
            <p:nvPr/>
          </p:nvSpPr>
          <p:spPr>
            <a:xfrm>
              <a:off x="7494697" y="1006813"/>
              <a:ext cx="4021313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9DFC88D-8D66-2EB6-D82B-BF4C276B67F5}"/>
              </a:ext>
            </a:extLst>
          </p:cNvPr>
          <p:cNvSpPr/>
          <p:nvPr/>
        </p:nvSpPr>
        <p:spPr>
          <a:xfrm>
            <a:off x="9548601" y="2343835"/>
            <a:ext cx="1984305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25B4FE8-6566-79F4-C734-364D7343F101}"/>
              </a:ext>
            </a:extLst>
          </p:cNvPr>
          <p:cNvSpPr/>
          <p:nvPr/>
        </p:nvSpPr>
        <p:spPr>
          <a:xfrm>
            <a:off x="554463" y="2325477"/>
            <a:ext cx="4982952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916B75BC-E1D7-65C3-9A29-33A6A16A9256}"/>
              </a:ext>
            </a:extLst>
          </p:cNvPr>
          <p:cNvSpPr/>
          <p:nvPr/>
        </p:nvSpPr>
        <p:spPr>
          <a:xfrm>
            <a:off x="9694645" y="3682937"/>
            <a:ext cx="764990" cy="944482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55" name="Can 154">
            <a:extLst>
              <a:ext uri="{FF2B5EF4-FFF2-40B4-BE49-F238E27FC236}">
                <a16:creationId xmlns:a16="http://schemas.microsoft.com/office/drawing/2014/main" id="{E9E65F04-01E9-7739-5F52-0934B27C8B21}"/>
              </a:ext>
            </a:extLst>
          </p:cNvPr>
          <p:cNvSpPr/>
          <p:nvPr/>
        </p:nvSpPr>
        <p:spPr>
          <a:xfrm>
            <a:off x="2832370" y="2527771"/>
            <a:ext cx="1067616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sessions</a:t>
            </a:r>
          </a:p>
        </p:txBody>
      </p:sp>
      <p:sp>
        <p:nvSpPr>
          <p:cNvPr id="156" name="Can 155">
            <a:extLst>
              <a:ext uri="{FF2B5EF4-FFF2-40B4-BE49-F238E27FC236}">
                <a16:creationId xmlns:a16="http://schemas.microsoft.com/office/drawing/2014/main" id="{5077390B-49F7-D77A-ECBF-0505DB0A1098}"/>
              </a:ext>
            </a:extLst>
          </p:cNvPr>
          <p:cNvSpPr/>
          <p:nvPr/>
        </p:nvSpPr>
        <p:spPr>
          <a:xfrm>
            <a:off x="4040360" y="2522107"/>
            <a:ext cx="1067615" cy="615232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wallets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36B4E8-38ED-3C12-8012-E2463A6D550D}"/>
              </a:ext>
            </a:extLst>
          </p:cNvPr>
          <p:cNvSpPr txBox="1"/>
          <p:nvPr/>
        </p:nvSpPr>
        <p:spPr>
          <a:xfrm>
            <a:off x="611064" y="2596106"/>
            <a:ext cx="50268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98A61C-97F8-0762-B53D-A8E066EB215C}"/>
              </a:ext>
            </a:extLst>
          </p:cNvPr>
          <p:cNvSpPr txBox="1"/>
          <p:nvPr/>
        </p:nvSpPr>
        <p:spPr>
          <a:xfrm>
            <a:off x="9590583" y="2614661"/>
            <a:ext cx="50268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5000" dirty="0"/>
          </a:p>
        </p:txBody>
      </p:sp>
      <p:cxnSp>
        <p:nvCxnSpPr>
          <p:cNvPr id="9" name="Straight Arrow Connector 12">
            <a:extLst>
              <a:ext uri="{FF2B5EF4-FFF2-40B4-BE49-F238E27FC236}">
                <a16:creationId xmlns:a16="http://schemas.microsoft.com/office/drawing/2014/main" id="{EAC7DD88-B20D-79E6-F9C3-96C61B42B52A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5333578" y="1466625"/>
            <a:ext cx="2584335" cy="3704309"/>
          </a:xfrm>
          <a:prstGeom prst="bentConnector2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AFFA593-362F-B7D9-3DEC-4849E8F9BB4A}"/>
              </a:ext>
            </a:extLst>
          </p:cNvPr>
          <p:cNvSpPr txBox="1"/>
          <p:nvPr/>
        </p:nvSpPr>
        <p:spPr>
          <a:xfrm>
            <a:off x="4968093" y="4986268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E480FE-32EA-7E16-857F-C96581649AB2}"/>
              </a:ext>
            </a:extLst>
          </p:cNvPr>
          <p:cNvSpPr txBox="1"/>
          <p:nvPr/>
        </p:nvSpPr>
        <p:spPr>
          <a:xfrm>
            <a:off x="5023969" y="4779679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E7C30F-71F0-A751-C2E2-5A6EF8581030}"/>
              </a:ext>
            </a:extLst>
          </p:cNvPr>
          <p:cNvSpPr/>
          <p:nvPr/>
        </p:nvSpPr>
        <p:spPr>
          <a:xfrm>
            <a:off x="3054756" y="4793417"/>
            <a:ext cx="2280796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6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Wallet app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523C487-6487-046E-2F4B-1442AE74BCAF}"/>
              </a:ext>
            </a:extLst>
          </p:cNvPr>
          <p:cNvSpPr/>
          <p:nvPr/>
        </p:nvSpPr>
        <p:spPr>
          <a:xfrm>
            <a:off x="8026786" y="162282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9A3A3D-CEDB-3B33-5F77-7BAC5910E48D}"/>
              </a:ext>
            </a:extLst>
          </p:cNvPr>
          <p:cNvSpPr txBox="1"/>
          <p:nvPr/>
        </p:nvSpPr>
        <p:spPr>
          <a:xfrm>
            <a:off x="8370688" y="1510071"/>
            <a:ext cx="496759" cy="5232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✉️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8FF55F-E7F8-3F25-03BE-831E2A37EA08}"/>
              </a:ext>
            </a:extLst>
          </p:cNvPr>
          <p:cNvSpPr txBox="1"/>
          <p:nvPr/>
        </p:nvSpPr>
        <p:spPr>
          <a:xfrm>
            <a:off x="6895907" y="1510071"/>
            <a:ext cx="496759" cy="5232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✉️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4E485A-1F6F-B7DA-BB4E-EA54DE3DB965}"/>
              </a:ext>
            </a:extLst>
          </p:cNvPr>
          <p:cNvSpPr txBox="1"/>
          <p:nvPr/>
        </p:nvSpPr>
        <p:spPr>
          <a:xfrm>
            <a:off x="6441473" y="1981385"/>
            <a:ext cx="1507746" cy="70788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prompt’s    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content?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83C8C5E-0939-AB8B-3648-A7138D74C0BA}"/>
              </a:ext>
            </a:extLst>
          </p:cNvPr>
          <p:cNvSpPr/>
          <p:nvPr/>
        </p:nvSpPr>
        <p:spPr>
          <a:xfrm>
            <a:off x="9779409" y="4009328"/>
            <a:ext cx="618332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pPr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📣</a:t>
            </a:r>
          </a:p>
          <a:p>
            <a:pPr>
              <a:defRPr/>
            </a:pP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  <a:p>
            <a:pPr>
              <a:defRPr/>
            </a:pP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1" name="Can 40">
            <a:extLst>
              <a:ext uri="{FF2B5EF4-FFF2-40B4-BE49-F238E27FC236}">
                <a16:creationId xmlns:a16="http://schemas.microsoft.com/office/drawing/2014/main" id="{FB9B2E3F-0D80-AEB8-F837-C848D43FF704}"/>
              </a:ext>
            </a:extLst>
          </p:cNvPr>
          <p:cNvSpPr/>
          <p:nvPr/>
        </p:nvSpPr>
        <p:spPr>
          <a:xfrm>
            <a:off x="7721386" y="602413"/>
            <a:ext cx="1067616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sessions</a:t>
            </a:r>
          </a:p>
        </p:txBody>
      </p:sp>
      <p:sp>
        <p:nvSpPr>
          <p:cNvPr id="42" name="Can 41">
            <a:extLst>
              <a:ext uri="{FF2B5EF4-FFF2-40B4-BE49-F238E27FC236}">
                <a16:creationId xmlns:a16="http://schemas.microsoft.com/office/drawing/2014/main" id="{99665169-1D09-263D-42E7-5946FF1C9C2A}"/>
              </a:ext>
            </a:extLst>
          </p:cNvPr>
          <p:cNvSpPr/>
          <p:nvPr/>
        </p:nvSpPr>
        <p:spPr>
          <a:xfrm>
            <a:off x="8939611" y="609780"/>
            <a:ext cx="1067616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prompts</a:t>
            </a:r>
          </a:p>
        </p:txBody>
      </p:sp>
      <p:sp>
        <p:nvSpPr>
          <p:cNvPr id="45" name="Can 44">
            <a:extLst>
              <a:ext uri="{FF2B5EF4-FFF2-40B4-BE49-F238E27FC236}">
                <a16:creationId xmlns:a16="http://schemas.microsoft.com/office/drawing/2014/main" id="{D7E5C0AF-4EC6-7826-056D-C0A5193B9DB9}"/>
              </a:ext>
            </a:extLst>
          </p:cNvPr>
          <p:cNvSpPr/>
          <p:nvPr/>
        </p:nvSpPr>
        <p:spPr>
          <a:xfrm>
            <a:off x="4041559" y="3889173"/>
            <a:ext cx="1067615" cy="615232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wallets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561375-8F03-D5EC-27EB-B284912F3286}"/>
              </a:ext>
            </a:extLst>
          </p:cNvPr>
          <p:cNvSpPr txBox="1"/>
          <p:nvPr/>
        </p:nvSpPr>
        <p:spPr>
          <a:xfrm>
            <a:off x="206409" y="6409189"/>
            <a:ext cx="990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NOTIFIER</a:t>
            </a:r>
          </a:p>
        </p:txBody>
      </p:sp>
    </p:spTree>
    <p:extLst>
      <p:ext uri="{BB962C8B-B14F-4D97-AF65-F5344CB8AC3E}">
        <p14:creationId xmlns:p14="http://schemas.microsoft.com/office/powerpoint/2010/main" val="186704375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Straight Arrow Connector 12">
            <a:extLst>
              <a:ext uri="{FF2B5EF4-FFF2-40B4-BE49-F238E27FC236}">
                <a16:creationId xmlns:a16="http://schemas.microsoft.com/office/drawing/2014/main" id="{9C720B23-243B-998D-C938-AF8CCC46173E}"/>
              </a:ext>
            </a:extLst>
          </p:cNvPr>
          <p:cNvCxnSpPr>
            <a:cxnSpLocks/>
            <a:stCxn id="8" idx="1"/>
            <a:endCxn id="49" idx="3"/>
          </p:cNvCxnSpPr>
          <p:nvPr/>
        </p:nvCxnSpPr>
        <p:spPr>
          <a:xfrm flipH="1" flipV="1">
            <a:off x="4446599" y="2270479"/>
            <a:ext cx="3755726" cy="227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BE75E66-0D87-1F41-CDF3-DD82FC2ACE52}"/>
              </a:ext>
            </a:extLst>
          </p:cNvPr>
          <p:cNvGrpSpPr/>
          <p:nvPr/>
        </p:nvGrpSpPr>
        <p:grpSpPr>
          <a:xfrm>
            <a:off x="2396763" y="2586048"/>
            <a:ext cx="2047671" cy="518854"/>
            <a:chOff x="6890273" y="2476895"/>
            <a:chExt cx="2047671" cy="518854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B1C1C25-AA35-707B-1BAA-DA4DBA0C2D96}"/>
                </a:ext>
              </a:extLst>
            </p:cNvPr>
            <p:cNvSpPr/>
            <p:nvPr/>
          </p:nvSpPr>
          <p:spPr>
            <a:xfrm>
              <a:off x="6890273" y="2476895"/>
              <a:ext cx="2047671" cy="51885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7200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57" name="Graphic 10" descr="AWS Lambda service icon.">
              <a:extLst>
                <a:ext uri="{FF2B5EF4-FFF2-40B4-BE49-F238E27FC236}">
                  <a16:creationId xmlns:a16="http://schemas.microsoft.com/office/drawing/2014/main" id="{9E6CC547-0C50-41ED-812B-1C7AAAE92C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 bwMode="auto">
            <a:xfrm>
              <a:off x="6964910" y="2556322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BA7127B-5107-1349-6A02-1546EA8E77D6}"/>
                </a:ext>
              </a:extLst>
            </p:cNvPr>
            <p:cNvSpPr txBox="1"/>
            <p:nvPr/>
          </p:nvSpPr>
          <p:spPr>
            <a:xfrm>
              <a:off x="7324908" y="2522092"/>
              <a:ext cx="161303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  <a:t>wallet handlers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24BA9E3-216F-F213-34C1-C16F30FBBC14}"/>
              </a:ext>
            </a:extLst>
          </p:cNvPr>
          <p:cNvSpPr/>
          <p:nvPr/>
        </p:nvSpPr>
        <p:spPr>
          <a:xfrm>
            <a:off x="1848303" y="1377621"/>
            <a:ext cx="8532313" cy="3020208"/>
          </a:xfrm>
          <a:prstGeom prst="rect">
            <a:avLst/>
          </a:prstGeom>
          <a:noFill/>
          <a:ln w="15875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C971948-4C68-AED1-EF09-5B86E32263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841040" y="1378473"/>
            <a:ext cx="381000" cy="381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C5BC24-E2B5-9F19-0450-910C5D09D764}"/>
              </a:ext>
            </a:extLst>
          </p:cNvPr>
          <p:cNvSpPr/>
          <p:nvPr/>
        </p:nvSpPr>
        <p:spPr>
          <a:xfrm>
            <a:off x="8216299" y="1545112"/>
            <a:ext cx="2016191" cy="39388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Inbox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5B58A3-BB23-87BC-0AC2-D31BE6BE0F92}"/>
              </a:ext>
            </a:extLst>
          </p:cNvPr>
          <p:cNvGrpSpPr/>
          <p:nvPr/>
        </p:nvGrpSpPr>
        <p:grpSpPr>
          <a:xfrm>
            <a:off x="8202325" y="2011279"/>
            <a:ext cx="2052832" cy="518854"/>
            <a:chOff x="4537167" y="5246272"/>
            <a:chExt cx="2052832" cy="5188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7AD580F-40E5-CE16-60A8-08D62F9DF307}"/>
                </a:ext>
              </a:extLst>
            </p:cNvPr>
            <p:cNvGrpSpPr/>
            <p:nvPr/>
          </p:nvGrpSpPr>
          <p:grpSpPr>
            <a:xfrm>
              <a:off x="4537167" y="5246272"/>
              <a:ext cx="2052832" cy="518854"/>
              <a:chOff x="6440267" y="2476895"/>
              <a:chExt cx="2052832" cy="518854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4FCFA81-BFD9-CF41-387A-2ED74AC42EFC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9" name="Graphic 10" descr="AWS Lambda service icon.">
                <a:extLst>
                  <a:ext uri="{FF2B5EF4-FFF2-40B4-BE49-F238E27FC236}">
                    <a16:creationId xmlns:a16="http://schemas.microsoft.com/office/drawing/2014/main" id="{5A34C565-BF61-F7DB-55D4-1B7B9D728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 bwMode="auto">
              <a:xfrm>
                <a:off x="6956201" y="2556322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1224DF-2F8A-2998-EFCD-01DF8B9577C7}"/>
                  </a:ext>
                </a:extLst>
              </p:cNvPr>
              <p:cNvSpPr txBox="1"/>
              <p:nvPr/>
            </p:nvSpPr>
            <p:spPr>
              <a:xfrm>
                <a:off x="7316199" y="2513383"/>
                <a:ext cx="114314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notifications</a:t>
                </a:r>
              </a:p>
            </p:txBody>
          </p:sp>
        </p:grpSp>
        <p:pic>
          <p:nvPicPr>
            <p:cNvPr id="7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0F78BD50-E001-966E-C4B6-75CF6E3A84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 bwMode="auto">
            <a:xfrm>
              <a:off x="4618464" y="5325699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D883EFC-75AD-2EA7-D5DA-4DEEB740F590}"/>
              </a:ext>
            </a:extLst>
          </p:cNvPr>
          <p:cNvGrpSpPr/>
          <p:nvPr/>
        </p:nvGrpSpPr>
        <p:grpSpPr>
          <a:xfrm>
            <a:off x="5577931" y="232990"/>
            <a:ext cx="1492051" cy="924365"/>
            <a:chOff x="554463" y="2325477"/>
            <a:chExt cx="1492051" cy="9243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B0B8031-7A82-1599-F06C-A06E549035F3}"/>
                </a:ext>
              </a:extLst>
            </p:cNvPr>
            <p:cNvSpPr/>
            <p:nvPr/>
          </p:nvSpPr>
          <p:spPr>
            <a:xfrm>
              <a:off x="626736" y="2667408"/>
              <a:ext cx="1362651" cy="43956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72000" bIns="144000" anchor="ctr"/>
            <a:lstStyle/>
            <a:p>
              <a:pPr>
                <a:defRPr/>
              </a:pP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 Broker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04D24EA-EFA1-926F-96E1-F813361B1CA2}"/>
                </a:ext>
              </a:extLst>
            </p:cNvPr>
            <p:cNvSpPr/>
            <p:nvPr/>
          </p:nvSpPr>
          <p:spPr>
            <a:xfrm>
              <a:off x="554463" y="2325477"/>
              <a:ext cx="1492051" cy="844443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4E31D0-DA62-E5AA-A3F8-C8733749A72D}"/>
                </a:ext>
              </a:extLst>
            </p:cNvPr>
            <p:cNvSpPr txBox="1"/>
            <p:nvPr/>
          </p:nvSpPr>
          <p:spPr>
            <a:xfrm>
              <a:off x="607522" y="2541956"/>
              <a:ext cx="502683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0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000" dirty="0"/>
            </a:p>
          </p:txBody>
        </p:sp>
      </p:grpSp>
      <p:cxnSp>
        <p:nvCxnSpPr>
          <p:cNvPr id="19" name="Straight Arrow Connector 12">
            <a:extLst>
              <a:ext uri="{FF2B5EF4-FFF2-40B4-BE49-F238E27FC236}">
                <a16:creationId xmlns:a16="http://schemas.microsoft.com/office/drawing/2014/main" id="{5E61EBBC-66A3-8F38-2B9D-A7F77B100FFD}"/>
              </a:ext>
            </a:extLst>
          </p:cNvPr>
          <p:cNvCxnSpPr>
            <a:cxnSpLocks/>
            <a:stCxn id="91" idx="0"/>
            <a:endCxn id="12" idx="1"/>
          </p:cNvCxnSpPr>
          <p:nvPr/>
        </p:nvCxnSpPr>
        <p:spPr>
          <a:xfrm rot="5400000" flipH="1" flipV="1">
            <a:off x="4320570" y="294547"/>
            <a:ext cx="896696" cy="1618026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12">
            <a:extLst>
              <a:ext uri="{FF2B5EF4-FFF2-40B4-BE49-F238E27FC236}">
                <a16:creationId xmlns:a16="http://schemas.microsoft.com/office/drawing/2014/main" id="{ABE7B90B-09C6-6F41-A0D8-C0678B4B55B6}"/>
              </a:ext>
            </a:extLst>
          </p:cNvPr>
          <p:cNvCxnSpPr>
            <a:cxnSpLocks/>
            <a:stCxn id="12" idx="3"/>
            <a:endCxn id="4" idx="0"/>
          </p:cNvCxnSpPr>
          <p:nvPr/>
        </p:nvCxnSpPr>
        <p:spPr>
          <a:xfrm>
            <a:off x="7069982" y="655212"/>
            <a:ext cx="2154413" cy="889900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C43FA0D-5210-2269-DF73-E9A739C0D471}"/>
              </a:ext>
            </a:extLst>
          </p:cNvPr>
          <p:cNvSpPr/>
          <p:nvPr/>
        </p:nvSpPr>
        <p:spPr>
          <a:xfrm>
            <a:off x="2403557" y="1547909"/>
            <a:ext cx="969060" cy="3910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🚀</a:t>
            </a: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call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7E8FDC-0858-4E16-9ECC-E1111042A572}"/>
              </a:ext>
            </a:extLst>
          </p:cNvPr>
          <p:cNvSpPr/>
          <p:nvPr/>
        </p:nvSpPr>
        <p:spPr>
          <a:xfrm>
            <a:off x="238191" y="2017100"/>
            <a:ext cx="1399021" cy="440281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Wallet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F72A396-ACDF-E93B-F5FA-047ECCAF43E4}"/>
              </a:ext>
            </a:extLst>
          </p:cNvPr>
          <p:cNvGrpSpPr/>
          <p:nvPr/>
        </p:nvGrpSpPr>
        <p:grpSpPr>
          <a:xfrm>
            <a:off x="8202325" y="2588300"/>
            <a:ext cx="2093050" cy="518400"/>
            <a:chOff x="5877139" y="2930008"/>
            <a:chExt cx="2093050" cy="5184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EA558AE-41CB-5DE8-ED78-0DE949C6592F}"/>
                </a:ext>
              </a:extLst>
            </p:cNvPr>
            <p:cNvGrpSpPr/>
            <p:nvPr/>
          </p:nvGrpSpPr>
          <p:grpSpPr>
            <a:xfrm>
              <a:off x="5877139" y="2930008"/>
              <a:ext cx="2093050" cy="518400"/>
              <a:chOff x="6890273" y="2476895"/>
              <a:chExt cx="2093050" cy="518400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7792872-4B14-7732-8165-EB9A962808B1}"/>
                  </a:ext>
                </a:extLst>
              </p:cNvPr>
              <p:cNvSpPr/>
              <p:nvPr/>
            </p:nvSpPr>
            <p:spPr>
              <a:xfrm>
                <a:off x="6890273" y="2476895"/>
                <a:ext cx="2052832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31EF9AE-2970-DC3E-AC6D-0BE2555624B6}"/>
                  </a:ext>
                </a:extLst>
              </p:cNvPr>
              <p:cNvSpPr txBox="1"/>
              <p:nvPr/>
            </p:nvSpPr>
            <p:spPr>
              <a:xfrm>
                <a:off x="7333617" y="2504674"/>
                <a:ext cx="16497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AppSync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none data mutations</a:t>
                </a:r>
              </a:p>
            </p:txBody>
          </p:sp>
        </p:grpSp>
        <p:pic>
          <p:nvPicPr>
            <p:cNvPr id="36" name="Graphic 32" descr="AWS AppSync service icon.">
              <a:extLst>
                <a:ext uri="{FF2B5EF4-FFF2-40B4-BE49-F238E27FC236}">
                  <a16:creationId xmlns:a16="http://schemas.microsoft.com/office/drawing/2014/main" id="{9FB58886-AF2A-6758-51F8-2C45179105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 bwMode="auto">
            <a:xfrm>
              <a:off x="5959066" y="3011981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6692CA81-D973-A831-44E1-EFFF5DFE3822}"/>
              </a:ext>
            </a:extLst>
          </p:cNvPr>
          <p:cNvSpPr/>
          <p:nvPr/>
        </p:nvSpPr>
        <p:spPr>
          <a:xfrm>
            <a:off x="10619537" y="2627359"/>
            <a:ext cx="1399021" cy="440281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Wallet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EADD289-77EE-8069-5D31-0D38713CCD04}"/>
              </a:ext>
            </a:extLst>
          </p:cNvPr>
          <p:cNvGrpSpPr/>
          <p:nvPr/>
        </p:nvGrpSpPr>
        <p:grpSpPr>
          <a:xfrm>
            <a:off x="2394599" y="2011279"/>
            <a:ext cx="2052000" cy="518400"/>
            <a:chOff x="612366" y="4202686"/>
            <a:chExt cx="2052000" cy="51840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6EA986D-D9BD-0670-BBC3-B64745EB4838}"/>
                </a:ext>
              </a:extLst>
            </p:cNvPr>
            <p:cNvGrpSpPr/>
            <p:nvPr/>
          </p:nvGrpSpPr>
          <p:grpSpPr>
            <a:xfrm>
              <a:off x="612366" y="4202686"/>
              <a:ext cx="2052000" cy="518400"/>
              <a:chOff x="6838092" y="3987527"/>
              <a:chExt cx="2052000" cy="51840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79163D34-054E-1420-5E8C-6245AB034CEF}"/>
                  </a:ext>
                </a:extLst>
              </p:cNvPr>
              <p:cNvSpPr/>
              <p:nvPr/>
            </p:nvSpPr>
            <p:spPr>
              <a:xfrm>
                <a:off x="6838092" y="3987527"/>
                <a:ext cx="2052000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0" name="TextBox 11">
                <a:extLst>
                  <a:ext uri="{FF2B5EF4-FFF2-40B4-BE49-F238E27FC236}">
                    <a16:creationId xmlns:a16="http://schemas.microsoft.com/office/drawing/2014/main" id="{BF049C66-CFEE-36BE-441D-04299B264A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9866" y="4031131"/>
                <a:ext cx="129589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DynamoDB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wallets</a:t>
                </a:r>
                <a:endPara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48" name="Graphic 23" descr="Amazon DynamoDB service icon.">
              <a:extLst>
                <a:ext uri="{FF2B5EF4-FFF2-40B4-BE49-F238E27FC236}">
                  <a16:creationId xmlns:a16="http://schemas.microsoft.com/office/drawing/2014/main" id="{2728EC8B-4AC6-BC33-218A-62C8FD884B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688948" y="4288038"/>
              <a:ext cx="360000" cy="360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8" name="TextBox 12">
            <a:extLst>
              <a:ext uri="{FF2B5EF4-FFF2-40B4-BE49-F238E27FC236}">
                <a16:creationId xmlns:a16="http://schemas.microsoft.com/office/drawing/2014/main" id="{EFDB1F19-7EAF-68B3-8179-E0ED20E48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357" y="2854184"/>
            <a:ext cx="9697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outbound messages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B0FC87B-1B18-B66E-FA90-FD1E4596C323}"/>
              </a:ext>
            </a:extLst>
          </p:cNvPr>
          <p:cNvGrpSpPr/>
          <p:nvPr/>
        </p:nvGrpSpPr>
        <p:grpSpPr>
          <a:xfrm>
            <a:off x="8202325" y="3755473"/>
            <a:ext cx="2052832" cy="518854"/>
            <a:chOff x="5347029" y="2773663"/>
            <a:chExt cx="2052832" cy="518854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03F046A2-A642-A36F-4295-E52C2B3CDD14}"/>
                </a:ext>
              </a:extLst>
            </p:cNvPr>
            <p:cNvGrpSpPr/>
            <p:nvPr/>
          </p:nvGrpSpPr>
          <p:grpSpPr>
            <a:xfrm>
              <a:off x="5347029" y="2773663"/>
              <a:ext cx="2052832" cy="518854"/>
              <a:chOff x="6890274" y="2476895"/>
              <a:chExt cx="2052832" cy="518854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A12D71A9-9583-6C73-0347-5E799E865A95}"/>
                  </a:ext>
                </a:extLst>
              </p:cNvPr>
              <p:cNvSpPr/>
              <p:nvPr/>
            </p:nvSpPr>
            <p:spPr>
              <a:xfrm>
                <a:off x="6890274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0204C81-A2AF-A7F5-ED85-1CDC562F483D}"/>
                  </a:ext>
                </a:extLst>
              </p:cNvPr>
              <p:cNvSpPr txBox="1"/>
              <p:nvPr/>
            </p:nvSpPr>
            <p:spPr>
              <a:xfrm>
                <a:off x="7326795" y="2504674"/>
                <a:ext cx="15862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SNS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mobile push</a:t>
                </a:r>
              </a:p>
            </p:txBody>
          </p:sp>
        </p:grpSp>
        <p:pic>
          <p:nvPicPr>
            <p:cNvPr id="81" name="Graphic 24" descr="Amazon Simple Notification Service (Amazon SNS) service icon.">
              <a:extLst>
                <a:ext uri="{FF2B5EF4-FFF2-40B4-BE49-F238E27FC236}">
                  <a16:creationId xmlns:a16="http://schemas.microsoft.com/office/drawing/2014/main" id="{87F6FC34-6D9D-8B6A-92C9-061C6EC31A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 bwMode="auto">
            <a:xfrm>
              <a:off x="5426958" y="2853090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84" name="Straight Arrow Connector 12">
            <a:extLst>
              <a:ext uri="{FF2B5EF4-FFF2-40B4-BE49-F238E27FC236}">
                <a16:creationId xmlns:a16="http://schemas.microsoft.com/office/drawing/2014/main" id="{F21D5A7E-DDC4-F268-AB5C-C781E5D81D52}"/>
              </a:ext>
            </a:extLst>
          </p:cNvPr>
          <p:cNvCxnSpPr>
            <a:cxnSpLocks/>
            <a:stCxn id="8" idx="3"/>
            <a:endCxn id="42" idx="0"/>
          </p:cNvCxnSpPr>
          <p:nvPr/>
        </p:nvCxnSpPr>
        <p:spPr>
          <a:xfrm>
            <a:off x="10255157" y="2270706"/>
            <a:ext cx="1063891" cy="356653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DF45E95C-4941-F853-390F-575D2ED64F37}"/>
              </a:ext>
            </a:extLst>
          </p:cNvPr>
          <p:cNvSpPr/>
          <p:nvPr/>
        </p:nvSpPr>
        <p:spPr>
          <a:xfrm>
            <a:off x="3475375" y="1551908"/>
            <a:ext cx="969060" cy="392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📮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post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99" name="Straight Arrow Connector 12">
            <a:extLst>
              <a:ext uri="{FF2B5EF4-FFF2-40B4-BE49-F238E27FC236}">
                <a16:creationId xmlns:a16="http://schemas.microsoft.com/office/drawing/2014/main" id="{D1F16596-A66B-9DBD-8D3D-82246DA2DE2C}"/>
              </a:ext>
            </a:extLst>
          </p:cNvPr>
          <p:cNvCxnSpPr>
            <a:cxnSpLocks/>
            <a:stCxn id="25" idx="0"/>
          </p:cNvCxnSpPr>
          <p:nvPr/>
        </p:nvCxnSpPr>
        <p:spPr>
          <a:xfrm rot="5400000" flipH="1" flipV="1">
            <a:off x="2967617" y="571683"/>
            <a:ext cx="896697" cy="1055756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2">
            <a:extLst>
              <a:ext uri="{FF2B5EF4-FFF2-40B4-BE49-F238E27FC236}">
                <a16:creationId xmlns:a16="http://schemas.microsoft.com/office/drawing/2014/main" id="{7D98A272-B0ED-6423-9D96-11352E93A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9539" y="1735765"/>
            <a:ext cx="13917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inbound messages</a:t>
            </a:r>
          </a:p>
        </p:txBody>
      </p:sp>
      <p:cxnSp>
        <p:nvCxnSpPr>
          <p:cNvPr id="104" name="Straight Arrow Connector 12">
            <a:extLst>
              <a:ext uri="{FF2B5EF4-FFF2-40B4-BE49-F238E27FC236}">
                <a16:creationId xmlns:a16="http://schemas.microsoft.com/office/drawing/2014/main" id="{2DF96F14-858D-BE85-2AC0-61BDD5AABB92}"/>
              </a:ext>
            </a:extLst>
          </p:cNvPr>
          <p:cNvCxnSpPr>
            <a:cxnSpLocks/>
            <a:stCxn id="27" idx="2"/>
            <a:endCxn id="56" idx="1"/>
          </p:cNvCxnSpPr>
          <p:nvPr/>
        </p:nvCxnSpPr>
        <p:spPr>
          <a:xfrm rot="16200000" flipH="1">
            <a:off x="1473185" y="1921897"/>
            <a:ext cx="388094" cy="1459061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D3E3684A-C1A4-73C8-F535-8DC5C6F467D3}"/>
              </a:ext>
            </a:extLst>
          </p:cNvPr>
          <p:cNvSpPr txBox="1"/>
          <p:nvPr/>
        </p:nvSpPr>
        <p:spPr>
          <a:xfrm>
            <a:off x="206409" y="6409189"/>
            <a:ext cx="194123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NOTIFIER ON AWS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440C2A9-C8FE-2F5D-F1CF-0D3C1DA363B8}"/>
              </a:ext>
            </a:extLst>
          </p:cNvPr>
          <p:cNvSpPr/>
          <p:nvPr/>
        </p:nvSpPr>
        <p:spPr>
          <a:xfrm>
            <a:off x="5303518" y="3883065"/>
            <a:ext cx="2040877" cy="3910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manifester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15" name="TextBox 12">
            <a:extLst>
              <a:ext uri="{FF2B5EF4-FFF2-40B4-BE49-F238E27FC236}">
                <a16:creationId xmlns:a16="http://schemas.microsoft.com/office/drawing/2014/main" id="{0D1030D3-CBAE-438C-4EE1-872A9AE61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7033" y="1946845"/>
            <a:ext cx="13917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read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71C979B-BF62-0624-0112-DA79CEB178D5}"/>
              </a:ext>
            </a:extLst>
          </p:cNvPr>
          <p:cNvGrpSpPr/>
          <p:nvPr/>
        </p:nvGrpSpPr>
        <p:grpSpPr>
          <a:xfrm>
            <a:off x="8202324" y="3162685"/>
            <a:ext cx="2059300" cy="526866"/>
            <a:chOff x="5213066" y="4154508"/>
            <a:chExt cx="2059300" cy="526866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F841CE61-82B6-1400-2827-B64770F4AE22}"/>
                </a:ext>
              </a:extLst>
            </p:cNvPr>
            <p:cNvGrpSpPr/>
            <p:nvPr/>
          </p:nvGrpSpPr>
          <p:grpSpPr>
            <a:xfrm>
              <a:off x="5213066" y="4154508"/>
              <a:ext cx="2059300" cy="526866"/>
              <a:chOff x="3988799" y="2607286"/>
              <a:chExt cx="2059300" cy="526866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F96BD0D8-49AF-01CE-A404-71A7E2885DCB}"/>
                  </a:ext>
                </a:extLst>
              </p:cNvPr>
              <p:cNvGrpSpPr/>
              <p:nvPr/>
            </p:nvGrpSpPr>
            <p:grpSpPr>
              <a:xfrm>
                <a:off x="3988799" y="2607286"/>
                <a:ext cx="2059299" cy="526866"/>
                <a:chOff x="6936301" y="3283309"/>
                <a:chExt cx="2059299" cy="526866"/>
              </a:xfrm>
            </p:grpSpPr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7537E101-91C9-2C84-ACEB-4F7F4FFD4FAE}"/>
                    </a:ext>
                  </a:extLst>
                </p:cNvPr>
                <p:cNvSpPr txBox="1"/>
                <p:nvPr/>
              </p:nvSpPr>
              <p:spPr>
                <a:xfrm>
                  <a:off x="8369843" y="3283310"/>
                  <a:ext cx="254000" cy="46649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noAutofit/>
                </a:bodyPr>
                <a:lstStyle/>
                <a:p>
                  <a:pPr algn="l"/>
                  <a:r>
                    <a:rPr lang="en-US" dirty="0"/>
                    <a:t>   </a:t>
                  </a: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01B861D8-E3B9-9A76-413B-719F2F01B63B}"/>
                    </a:ext>
                  </a:extLst>
                </p:cNvPr>
                <p:cNvSpPr/>
                <p:nvPr/>
              </p:nvSpPr>
              <p:spPr>
                <a:xfrm>
                  <a:off x="6936301" y="3291775"/>
                  <a:ext cx="2059299" cy="518400"/>
                </a:xfrm>
                <a:prstGeom prst="rect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rtlCol="0" anchor="b"/>
                <a:lstStyle/>
                <a:p>
                  <a:pPr algn="ctr"/>
                  <a:endParaRPr lang="en-US" sz="1600" i="1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7B819F42-7A10-CE7C-3A9F-D92125094B92}"/>
                    </a:ext>
                  </a:extLst>
                </p:cNvPr>
                <p:cNvSpPr txBox="1"/>
                <p:nvPr/>
              </p:nvSpPr>
              <p:spPr>
                <a:xfrm>
                  <a:off x="7665455" y="3283309"/>
                  <a:ext cx="254000" cy="46649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noAutofit/>
                </a:bodyPr>
                <a:lstStyle/>
                <a:p>
                  <a:pPr algn="l"/>
                  <a:r>
                    <a:rPr lang="en-US" dirty="0"/>
                    <a:t>   </a:t>
                  </a:r>
                </a:p>
              </p:txBody>
            </p:sp>
          </p:grpSp>
          <p:sp>
            <p:nvSpPr>
              <p:cNvPr id="121" name="TextBox 11">
                <a:extLst>
                  <a:ext uri="{FF2B5EF4-FFF2-40B4-BE49-F238E27FC236}">
                    <a16:creationId xmlns:a16="http://schemas.microsoft.com/office/drawing/2014/main" id="{27C9F588-0BA0-C69F-39B2-B138EE8FD6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4921" y="2643665"/>
                <a:ext cx="161317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API Gateway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web sockets API</a:t>
                </a:r>
                <a:endParaRPr 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119" name="Graphic 7" descr="Amazon API Gateway service icon.">
              <a:extLst>
                <a:ext uri="{FF2B5EF4-FFF2-40B4-BE49-F238E27FC236}">
                  <a16:creationId xmlns:a16="http://schemas.microsoft.com/office/drawing/2014/main" id="{D66014F7-BB38-03A8-1A40-C9569BE6EE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 bwMode="auto">
            <a:xfrm>
              <a:off x="5299188" y="4241719"/>
              <a:ext cx="356400" cy="356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5" name="TextBox 12">
            <a:extLst>
              <a:ext uri="{FF2B5EF4-FFF2-40B4-BE49-F238E27FC236}">
                <a16:creationId xmlns:a16="http://schemas.microsoft.com/office/drawing/2014/main" id="{553931F0-AFDF-B6A6-2296-95BE89502F5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7352945" y="3392692"/>
            <a:ext cx="13917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alternatives</a:t>
            </a:r>
          </a:p>
        </p:txBody>
      </p:sp>
      <p:sp>
        <p:nvSpPr>
          <p:cNvPr id="126" name="TextBox 12">
            <a:extLst>
              <a:ext uri="{FF2B5EF4-FFF2-40B4-BE49-F238E27FC236}">
                <a16:creationId xmlns:a16="http://schemas.microsoft.com/office/drawing/2014/main" id="{250E4B42-3FB0-6C92-AC0D-DA9BFB47C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9971" y="663920"/>
            <a:ext cx="9697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outbound messages</a:t>
            </a:r>
          </a:p>
        </p:txBody>
      </p:sp>
      <p:sp>
        <p:nvSpPr>
          <p:cNvPr id="127" name="TextBox 12">
            <a:extLst>
              <a:ext uri="{FF2B5EF4-FFF2-40B4-BE49-F238E27FC236}">
                <a16:creationId xmlns:a16="http://schemas.microsoft.com/office/drawing/2014/main" id="{B98F4351-A956-5115-65B1-3D5BBEDCB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2798" y="659921"/>
            <a:ext cx="13917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inbound messages</a:t>
            </a:r>
          </a:p>
        </p:txBody>
      </p:sp>
    </p:spTree>
    <p:extLst>
      <p:ext uri="{BB962C8B-B14F-4D97-AF65-F5344CB8AC3E}">
        <p14:creationId xmlns:p14="http://schemas.microsoft.com/office/powerpoint/2010/main" val="101226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52077</TotalTime>
  <Words>117</Words>
  <Application>Microsoft Macintosh PowerPoint</Application>
  <PresentationFormat>Widescreen</PresentationFormat>
  <Paragraphs>62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Amazon Ember</vt:lpstr>
      <vt:lpstr>Amazon Ember Display</vt:lpstr>
      <vt:lpstr>Segoe UI</vt:lpstr>
      <vt:lpstr>Wingdings</vt:lpstr>
      <vt:lpstr>AWS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157</cp:revision>
  <dcterms:created xsi:type="dcterms:W3CDTF">2022-10-07T16:14:37Z</dcterms:created>
  <dcterms:modified xsi:type="dcterms:W3CDTF">2025-04-22T20:23:14Z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2025-04-22T20:23:14Z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7e6dee41-ecfb-4a5f-81a0-fa5771dd2ebe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