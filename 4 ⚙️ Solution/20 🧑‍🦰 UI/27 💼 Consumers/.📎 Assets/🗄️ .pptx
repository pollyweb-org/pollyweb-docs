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826" r:id="rId2"/>
    <p:sldId id="1713" r:id="rId3"/>
  </p:sldIdLst>
  <p:sldSz cx="12192000" cy="6858000"/>
  <p:notesSz cx="6858000" cy="9144000"/>
  <p:embeddedFontLst>
    <p:embeddedFont>
      <p:font typeface="Amazon Ember" panose="020B0603020204020204" pitchFamily="34" charset="0"/>
      <p:regular r:id="rId6"/>
      <p:bold r:id="rId7"/>
      <p:italic r:id="rId8"/>
      <p:boldItalic r:id="rId9"/>
    </p:embeddedFont>
    <p:embeddedFont>
      <p:font typeface="Amazon Ember Display" panose="020F0603020204020204" pitchFamily="34" charset="0"/>
      <p:regular r:id="rId10"/>
      <p:bold r:id="rId11"/>
      <p:italic r:id="rId12"/>
      <p:boldItalic r:id="rId13"/>
    </p:embeddedFont>
    <p:embeddedFont>
      <p:font typeface="Segoe UI" panose="020B0502040204020203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🗄️ User Data" id="{F9BD9DF6-9445-C042-BFFC-16D7A1554B8A}">
          <p14:sldIdLst>
            <p14:sldId id="1826"/>
            <p14:sldId id="1713"/>
          </p14:sldIdLst>
        </p14:section>
        <p14:section name="." id="{4C3050E7-71FD-354D-B394-185F1158456F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33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800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EDF66-FD8F-6F3E-58A3-1B25AB47D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E41C8-4D10-0BC2-73C7-C4AD8B1E27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687E9-8385-C4C7-6BBF-BDA5DF94C3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6F21A49-A9FC-BF7D-52E0-4A0DC8F28568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CC099-6DC3-F1FB-957C-BC859C214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C0F8272-C2CA-F3DB-3EE1-C311E54EB69E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9/12/25 9:30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0F871-9F7E-8745-4143-52D4B4212F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289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355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12893-5170-17E7-90AD-C099162ED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145763-C400-D7C2-BDB2-5917FB36C9E3}"/>
              </a:ext>
            </a:extLst>
          </p:cNvPr>
          <p:cNvSpPr txBox="1"/>
          <p:nvPr/>
        </p:nvSpPr>
        <p:spPr>
          <a:xfrm>
            <a:off x="1521508" y="1613118"/>
            <a:ext cx="9148983" cy="186204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🗄️ Consumer</a:t>
            </a:r>
          </a:p>
        </p:txBody>
      </p:sp>
    </p:spTree>
    <p:extLst>
      <p:ext uri="{BB962C8B-B14F-4D97-AF65-F5344CB8AC3E}">
        <p14:creationId xmlns:p14="http://schemas.microsoft.com/office/powerpoint/2010/main" val="201640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DA073-4CD7-AB58-F062-A90DBAE24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12">
            <a:extLst>
              <a:ext uri="{FF2B5EF4-FFF2-40B4-BE49-F238E27FC236}">
                <a16:creationId xmlns:a16="http://schemas.microsoft.com/office/drawing/2014/main" id="{890BC91C-FD1D-4C11-AADA-45379D06D785}"/>
              </a:ext>
            </a:extLst>
          </p:cNvPr>
          <p:cNvCxnSpPr>
            <a:cxnSpLocks/>
          </p:cNvCxnSpPr>
          <p:nvPr/>
        </p:nvCxnSpPr>
        <p:spPr>
          <a:xfrm flipV="1">
            <a:off x="5481149" y="1337296"/>
            <a:ext cx="0" cy="1388904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12">
            <a:extLst>
              <a:ext uri="{FF2B5EF4-FFF2-40B4-BE49-F238E27FC236}">
                <a16:creationId xmlns:a16="http://schemas.microsoft.com/office/drawing/2014/main" id="{BDB76368-51D4-F58B-299D-D8C2DE092158}"/>
              </a:ext>
            </a:extLst>
          </p:cNvPr>
          <p:cNvCxnSpPr>
            <a:cxnSpLocks/>
            <a:stCxn id="154" idx="3"/>
            <a:endCxn id="155" idx="3"/>
          </p:cNvCxnSpPr>
          <p:nvPr/>
        </p:nvCxnSpPr>
        <p:spPr>
          <a:xfrm>
            <a:off x="8915398" y="815959"/>
            <a:ext cx="18616" cy="5092259"/>
          </a:xfrm>
          <a:prstGeom prst="bentConnector3">
            <a:avLst>
              <a:gd name="adj1" fmla="val 8377466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76047DB9-9A8D-2685-3174-C201B72CEC77}"/>
              </a:ext>
            </a:extLst>
          </p:cNvPr>
          <p:cNvSpPr txBox="1">
            <a:spLocks/>
          </p:cNvSpPr>
          <p:nvPr/>
        </p:nvSpPr>
        <p:spPr>
          <a:xfrm>
            <a:off x="5503370" y="1555788"/>
            <a:ext cx="10196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bind</a:t>
            </a:r>
          </a:p>
        </p:txBody>
      </p:sp>
      <p:sp>
        <p:nvSpPr>
          <p:cNvPr id="83" name="Content Placeholder 2">
            <a:extLst>
              <a:ext uri="{FF2B5EF4-FFF2-40B4-BE49-F238E27FC236}">
                <a16:creationId xmlns:a16="http://schemas.microsoft.com/office/drawing/2014/main" id="{36330913-77E6-EA65-06DE-7E832DFCAE6D}"/>
              </a:ext>
            </a:extLst>
          </p:cNvPr>
          <p:cNvSpPr txBox="1">
            <a:spLocks/>
          </p:cNvSpPr>
          <p:nvPr/>
        </p:nvSpPr>
        <p:spPr>
          <a:xfrm>
            <a:off x="6996437" y="1531591"/>
            <a:ext cx="1208355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2400" i="1"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{tokens}</a:t>
            </a:r>
          </a:p>
        </p:txBody>
      </p:sp>
      <p:cxnSp>
        <p:nvCxnSpPr>
          <p:cNvPr id="93" name="Straight Arrow Connector 12">
            <a:extLst>
              <a:ext uri="{FF2B5EF4-FFF2-40B4-BE49-F238E27FC236}">
                <a16:creationId xmlns:a16="http://schemas.microsoft.com/office/drawing/2014/main" id="{4DB4E198-E3F1-998F-4D58-CE2E61EEA215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8299099" y="1337296"/>
            <a:ext cx="271726" cy="2499144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5A09E354-3A1F-7FC6-0AE6-2AD365DB2434}"/>
              </a:ext>
            </a:extLst>
          </p:cNvPr>
          <p:cNvSpPr/>
          <p:nvPr/>
        </p:nvSpPr>
        <p:spPr>
          <a:xfrm>
            <a:off x="5300972" y="1560992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C0E8101E-1530-E388-0931-DD2F2919AD48}"/>
              </a:ext>
            </a:extLst>
          </p:cNvPr>
          <p:cNvSpPr txBox="1">
            <a:spLocks/>
          </p:cNvSpPr>
          <p:nvPr/>
        </p:nvSpPr>
        <p:spPr>
          <a:xfrm>
            <a:off x="5759250" y="4508539"/>
            <a:ext cx="117000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share?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39D2AE9E-9C78-3D7E-3EA4-43EEA734426B}"/>
              </a:ext>
            </a:extLst>
          </p:cNvPr>
          <p:cNvSpPr/>
          <p:nvPr/>
        </p:nvSpPr>
        <p:spPr>
          <a:xfrm>
            <a:off x="8375190" y="2104588"/>
            <a:ext cx="360000" cy="360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1" name="Content Placeholder 2">
            <a:extLst>
              <a:ext uri="{FF2B5EF4-FFF2-40B4-BE49-F238E27FC236}">
                <a16:creationId xmlns:a16="http://schemas.microsoft.com/office/drawing/2014/main" id="{EDCCF715-6395-5E11-063B-617FC1BC2798}"/>
              </a:ext>
            </a:extLst>
          </p:cNvPr>
          <p:cNvSpPr txBox="1">
            <a:spLocks/>
          </p:cNvSpPr>
          <p:nvPr/>
        </p:nvSpPr>
        <p:spPr>
          <a:xfrm>
            <a:off x="8616279" y="2084533"/>
            <a:ext cx="135806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disclose</a:t>
            </a:r>
          </a:p>
        </p:txBody>
      </p:sp>
      <p:sp>
        <p:nvSpPr>
          <p:cNvPr id="106" name="Content Placeholder 2">
            <a:extLst>
              <a:ext uri="{FF2B5EF4-FFF2-40B4-BE49-F238E27FC236}">
                <a16:creationId xmlns:a16="http://schemas.microsoft.com/office/drawing/2014/main" id="{71F95C8E-B2BE-3F8D-5576-230477AB5FC7}"/>
              </a:ext>
            </a:extLst>
          </p:cNvPr>
          <p:cNvSpPr txBox="1">
            <a:spLocks/>
          </p:cNvSpPr>
          <p:nvPr/>
        </p:nvSpPr>
        <p:spPr>
          <a:xfrm>
            <a:off x="7766085" y="4697871"/>
            <a:ext cx="149274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{tokens}</a:t>
            </a:r>
          </a:p>
        </p:txBody>
      </p:sp>
      <p:cxnSp>
        <p:nvCxnSpPr>
          <p:cNvPr id="112" name="Straight Arrow Connector 12">
            <a:extLst>
              <a:ext uri="{FF2B5EF4-FFF2-40B4-BE49-F238E27FC236}">
                <a16:creationId xmlns:a16="http://schemas.microsoft.com/office/drawing/2014/main" id="{A3AAF976-BB62-F199-9CE7-3CC2E7672223}"/>
              </a:ext>
            </a:extLst>
          </p:cNvPr>
          <p:cNvCxnSpPr>
            <a:cxnSpLocks/>
          </p:cNvCxnSpPr>
          <p:nvPr/>
        </p:nvCxnSpPr>
        <p:spPr>
          <a:xfrm>
            <a:off x="6846720" y="1337296"/>
            <a:ext cx="0" cy="1412287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D06AF41F-B1BA-1B6C-4351-C82E40EDDE44}"/>
              </a:ext>
            </a:extLst>
          </p:cNvPr>
          <p:cNvSpPr/>
          <p:nvPr/>
        </p:nvSpPr>
        <p:spPr>
          <a:xfrm>
            <a:off x="6665680" y="1561864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0D0B31AA-F50E-883F-68A7-38FAF065E703}"/>
              </a:ext>
            </a:extLst>
          </p:cNvPr>
          <p:cNvSpPr/>
          <p:nvPr/>
        </p:nvSpPr>
        <p:spPr>
          <a:xfrm>
            <a:off x="10299815" y="1357351"/>
            <a:ext cx="360000" cy="360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21" name="Content Placeholder 2">
            <a:extLst>
              <a:ext uri="{FF2B5EF4-FFF2-40B4-BE49-F238E27FC236}">
                <a16:creationId xmlns:a16="http://schemas.microsoft.com/office/drawing/2014/main" id="{D6AE03A0-52C9-7489-9476-8782BEDA3CCF}"/>
              </a:ext>
            </a:extLst>
          </p:cNvPr>
          <p:cNvSpPr txBox="1">
            <a:spLocks/>
          </p:cNvSpPr>
          <p:nvPr/>
        </p:nvSpPr>
        <p:spPr>
          <a:xfrm>
            <a:off x="10659815" y="1337296"/>
            <a:ext cx="92825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{data}</a:t>
            </a:r>
          </a:p>
        </p:txBody>
      </p:sp>
      <p:cxnSp>
        <p:nvCxnSpPr>
          <p:cNvPr id="133" name="Straight Arrow Connector 12">
            <a:extLst>
              <a:ext uri="{FF2B5EF4-FFF2-40B4-BE49-F238E27FC236}">
                <a16:creationId xmlns:a16="http://schemas.microsoft.com/office/drawing/2014/main" id="{497B9B99-8998-2A5B-42E0-F3DA9C15D78D}"/>
              </a:ext>
            </a:extLst>
          </p:cNvPr>
          <p:cNvCxnSpPr>
            <a:cxnSpLocks/>
            <a:stCxn id="154" idx="1"/>
            <a:endCxn id="161" idx="0"/>
          </p:cNvCxnSpPr>
          <p:nvPr/>
        </p:nvCxnSpPr>
        <p:spPr>
          <a:xfrm rot="10800000" flipV="1">
            <a:off x="1792411" y="815959"/>
            <a:ext cx="3144866" cy="1668892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2">
            <a:extLst>
              <a:ext uri="{FF2B5EF4-FFF2-40B4-BE49-F238E27FC236}">
                <a16:creationId xmlns:a16="http://schemas.microsoft.com/office/drawing/2014/main" id="{A77084A1-BA68-7100-1FE8-0DE4D2C10006}"/>
              </a:ext>
            </a:extLst>
          </p:cNvPr>
          <p:cNvCxnSpPr>
            <a:cxnSpLocks/>
            <a:stCxn id="155" idx="1"/>
            <a:endCxn id="161" idx="2"/>
          </p:cNvCxnSpPr>
          <p:nvPr/>
        </p:nvCxnSpPr>
        <p:spPr>
          <a:xfrm rot="10800000">
            <a:off x="1792411" y="3499580"/>
            <a:ext cx="3169998" cy="2408638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161591EF-7EC9-9AB8-5B3F-DE9DDBC82AC1}"/>
              </a:ext>
            </a:extLst>
          </p:cNvPr>
          <p:cNvSpPr/>
          <p:nvPr/>
        </p:nvSpPr>
        <p:spPr>
          <a:xfrm>
            <a:off x="1615420" y="5157187"/>
            <a:ext cx="360000" cy="360000"/>
          </a:xfrm>
          <a:prstGeom prst="round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87A1AECD-110D-B985-03CB-74BEFB65FF90}"/>
              </a:ext>
            </a:extLst>
          </p:cNvPr>
          <p:cNvSpPr txBox="1"/>
          <p:nvPr/>
        </p:nvSpPr>
        <p:spPr>
          <a:xfrm>
            <a:off x="2668980" y="369802"/>
            <a:ext cx="2340179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📜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manifest trusts</a:t>
            </a:r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ACEBCED7-DC46-8B92-EB9C-ED6D49016A9A}"/>
              </a:ext>
            </a:extLst>
          </p:cNvPr>
          <p:cNvSpPr/>
          <p:nvPr/>
        </p:nvSpPr>
        <p:spPr>
          <a:xfrm>
            <a:off x="1589898" y="1214130"/>
            <a:ext cx="360000" cy="360000"/>
          </a:xfrm>
          <a:prstGeom prst="round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A0AB8B65-8F1E-04A0-962B-90E16BFBD728}"/>
              </a:ext>
            </a:extLst>
          </p:cNvPr>
          <p:cNvSpPr txBox="1"/>
          <p:nvPr/>
        </p:nvSpPr>
        <p:spPr>
          <a:xfrm>
            <a:off x="2709989" y="5941529"/>
            <a:ext cx="2590983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📜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manifest trusts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6EF14FF8-0ADA-64D9-35D0-F82C2BE8D69F}"/>
              </a:ext>
            </a:extLst>
          </p:cNvPr>
          <p:cNvGrpSpPr/>
          <p:nvPr/>
        </p:nvGrpSpPr>
        <p:grpSpPr>
          <a:xfrm>
            <a:off x="4937277" y="308594"/>
            <a:ext cx="3978121" cy="1014729"/>
            <a:chOff x="6139542" y="968452"/>
            <a:chExt cx="3978121" cy="101472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DBA1EA4-0F4F-5D8D-912A-A333CF816FBA}"/>
                </a:ext>
              </a:extLst>
            </p:cNvPr>
            <p:cNvSpPr/>
            <p:nvPr/>
          </p:nvSpPr>
          <p:spPr>
            <a:xfrm>
              <a:off x="6236556" y="1351846"/>
              <a:ext cx="1458526" cy="562183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400" baseline="-9000" dirty="0"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+mj-lt"/>
                  <a:cs typeface="Arial" panose="020B0604020202020204" pitchFamily="34" charset="0"/>
                </a:rPr>
                <a:t> </a:t>
              </a:r>
              <a:r>
                <a:rPr lang="en-GB" sz="24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rPr>
                <a:t>Vault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606DAAEE-51D5-77B8-DAB2-80DC776C6B00}"/>
                </a:ext>
              </a:extLst>
            </p:cNvPr>
            <p:cNvSpPr/>
            <p:nvPr/>
          </p:nvSpPr>
          <p:spPr>
            <a:xfrm>
              <a:off x="6139542" y="968452"/>
              <a:ext cx="3978121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C762D697-A4AD-70E3-0BA7-F5E01A5CCE16}"/>
              </a:ext>
            </a:extLst>
          </p:cNvPr>
          <p:cNvGrpSpPr/>
          <p:nvPr/>
        </p:nvGrpSpPr>
        <p:grpSpPr>
          <a:xfrm>
            <a:off x="4962409" y="5400853"/>
            <a:ext cx="3971605" cy="1014729"/>
            <a:chOff x="6164674" y="5137842"/>
            <a:chExt cx="3971605" cy="10147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62514E1-E86B-3982-5A6F-37717473BAD3}"/>
                </a:ext>
              </a:extLst>
            </p:cNvPr>
            <p:cNvSpPr/>
            <p:nvPr/>
          </p:nvSpPr>
          <p:spPr>
            <a:xfrm>
              <a:off x="6258929" y="5490228"/>
              <a:ext cx="375912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💼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Consumer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F59A2CC4-1499-9528-10A3-A9464CCEAAB8}"/>
                </a:ext>
              </a:extLst>
            </p:cNvPr>
            <p:cNvSpPr/>
            <p:nvPr/>
          </p:nvSpPr>
          <p:spPr>
            <a:xfrm>
              <a:off x="6164674" y="5137842"/>
              <a:ext cx="3971605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0D57017-E354-6F58-9AEC-16B1DE6CFD0E}"/>
              </a:ext>
            </a:extLst>
          </p:cNvPr>
          <p:cNvGrpSpPr/>
          <p:nvPr/>
        </p:nvGrpSpPr>
        <p:grpSpPr>
          <a:xfrm>
            <a:off x="712971" y="2484851"/>
            <a:ext cx="2158880" cy="1014729"/>
            <a:chOff x="712971" y="2543574"/>
            <a:chExt cx="2158880" cy="1014729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06E68111-1549-CD8F-287B-98D44D37B748}"/>
                </a:ext>
              </a:extLst>
            </p:cNvPr>
            <p:cNvSpPr/>
            <p:nvPr/>
          </p:nvSpPr>
          <p:spPr>
            <a:xfrm>
              <a:off x="797539" y="2928855"/>
              <a:ext cx="199830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🕸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Graph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57687C1D-CCD6-E82F-89E3-930641280788}"/>
                </a:ext>
              </a:extLst>
            </p:cNvPr>
            <p:cNvSpPr/>
            <p:nvPr/>
          </p:nvSpPr>
          <p:spPr>
            <a:xfrm>
              <a:off x="712971" y="2543574"/>
              <a:ext cx="2158880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👂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listeners</a:t>
              </a:r>
            </a:p>
          </p:txBody>
        </p:sp>
      </p:grpSp>
      <p:cxnSp>
        <p:nvCxnSpPr>
          <p:cNvPr id="2" name="Straight Arrow Connector 12">
            <a:extLst>
              <a:ext uri="{FF2B5EF4-FFF2-40B4-BE49-F238E27FC236}">
                <a16:creationId xmlns:a16="http://schemas.microsoft.com/office/drawing/2014/main" id="{45B830F6-60FF-2AC0-31E2-D0317407E518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2871851" y="3142325"/>
            <a:ext cx="2227578" cy="8898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5B6723B-A6EE-F75E-6827-F6D7F7A09B89}"/>
              </a:ext>
            </a:extLst>
          </p:cNvPr>
          <p:cNvSpPr txBox="1">
            <a:spLocks/>
          </p:cNvSpPr>
          <p:nvPr/>
        </p:nvSpPr>
        <p:spPr>
          <a:xfrm>
            <a:off x="3058482" y="3158075"/>
            <a:ext cx="180637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trustworthy?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41D4383-86BE-1D74-69BE-F4C672CAE4D6}"/>
              </a:ext>
            </a:extLst>
          </p:cNvPr>
          <p:cNvGrpSpPr/>
          <p:nvPr/>
        </p:nvGrpSpPr>
        <p:grpSpPr>
          <a:xfrm>
            <a:off x="4937275" y="2733879"/>
            <a:ext cx="3480229" cy="1551822"/>
            <a:chOff x="6096000" y="4418673"/>
            <a:chExt cx="2550710" cy="1551822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877B8C-1A56-BE15-CCF7-F3760CABF25B}"/>
                </a:ext>
              </a:extLst>
            </p:cNvPr>
            <p:cNvSpPr/>
            <p:nvPr/>
          </p:nvSpPr>
          <p:spPr>
            <a:xfrm>
              <a:off x="6096000" y="4418673"/>
              <a:ext cx="2550710" cy="1551822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04FDA81-85B6-0913-B70E-E67F67223AD7}"/>
                </a:ext>
              </a:extLst>
            </p:cNvPr>
            <p:cNvSpPr/>
            <p:nvPr/>
          </p:nvSpPr>
          <p:spPr>
            <a:xfrm>
              <a:off x="6214845" y="5213618"/>
              <a:ext cx="2345083" cy="61523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t"/>
            <a:lstStyle/>
            <a:p>
              <a:pPr>
                <a:defRPr/>
              </a:pPr>
              <a:r>
                <a:rPr lang="en-GB" sz="36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Wallet App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B0837E9-858F-33A9-9D48-19D072F62B9B}"/>
                </a:ext>
              </a:extLst>
            </p:cNvPr>
            <p:cNvSpPr/>
            <p:nvPr/>
          </p:nvSpPr>
          <p:spPr>
            <a:xfrm>
              <a:off x="8044371" y="4546027"/>
              <a:ext cx="51641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5DEA418-9B07-41A3-0A27-14EC7F8FBC8F}"/>
                </a:ext>
              </a:extLst>
            </p:cNvPr>
            <p:cNvSpPr/>
            <p:nvPr/>
          </p:nvSpPr>
          <p:spPr>
            <a:xfrm>
              <a:off x="6214845" y="4546027"/>
              <a:ext cx="1735093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 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Broker</a:t>
              </a:r>
            </a:p>
          </p:txBody>
        </p:sp>
      </p:grpSp>
      <p:sp>
        <p:nvSpPr>
          <p:cNvPr id="25" name="Can 24">
            <a:extLst>
              <a:ext uri="{FF2B5EF4-FFF2-40B4-BE49-F238E27FC236}">
                <a16:creationId xmlns:a16="http://schemas.microsoft.com/office/drawing/2014/main" id="{50ACF3B9-2A4C-ED66-049F-403A2D457126}"/>
              </a:ext>
            </a:extLst>
          </p:cNvPr>
          <p:cNvSpPr/>
          <p:nvPr/>
        </p:nvSpPr>
        <p:spPr>
          <a:xfrm>
            <a:off x="7250179" y="3608752"/>
            <a:ext cx="932976" cy="615232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tokens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251221D-0C2C-497D-5DE1-CFB331DB8163}"/>
              </a:ext>
            </a:extLst>
          </p:cNvPr>
          <p:cNvSpPr/>
          <p:nvPr/>
        </p:nvSpPr>
        <p:spPr>
          <a:xfrm>
            <a:off x="3756805" y="2676944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1EC01AE-A162-0BF8-0ED8-47CAD195B61C}"/>
              </a:ext>
            </a:extLst>
          </p:cNvPr>
          <p:cNvSpPr/>
          <p:nvPr/>
        </p:nvSpPr>
        <p:spPr>
          <a:xfrm>
            <a:off x="6591004" y="691987"/>
            <a:ext cx="1583394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🎴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Issuer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200E4E1-312B-0777-8F97-952B0ADCEDB7}"/>
              </a:ext>
            </a:extLst>
          </p:cNvPr>
          <p:cNvSpPr/>
          <p:nvPr/>
        </p:nvSpPr>
        <p:spPr>
          <a:xfrm>
            <a:off x="8272585" y="691987"/>
            <a:ext cx="580449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</a:p>
        </p:txBody>
      </p:sp>
      <p:cxnSp>
        <p:nvCxnSpPr>
          <p:cNvPr id="28" name="Straight Arrow Connector 12">
            <a:extLst>
              <a:ext uri="{FF2B5EF4-FFF2-40B4-BE49-F238E27FC236}">
                <a16:creationId xmlns:a16="http://schemas.microsoft.com/office/drawing/2014/main" id="{C33BBA03-681B-0D41-1FCF-879705ADE0CB}"/>
              </a:ext>
            </a:extLst>
          </p:cNvPr>
          <p:cNvCxnSpPr>
            <a:cxnSpLocks/>
          </p:cNvCxnSpPr>
          <p:nvPr/>
        </p:nvCxnSpPr>
        <p:spPr>
          <a:xfrm flipV="1">
            <a:off x="6845276" y="4211252"/>
            <a:ext cx="3" cy="1197604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44145EB6-B680-B5F1-D502-2FF0C9766951}"/>
              </a:ext>
            </a:extLst>
          </p:cNvPr>
          <p:cNvSpPr/>
          <p:nvPr/>
        </p:nvSpPr>
        <p:spPr>
          <a:xfrm>
            <a:off x="6666548" y="4524413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02" name="Straight Arrow Connector 12">
            <a:extLst>
              <a:ext uri="{FF2B5EF4-FFF2-40B4-BE49-F238E27FC236}">
                <a16:creationId xmlns:a16="http://schemas.microsoft.com/office/drawing/2014/main" id="{CE3586F7-858E-2A4C-2DB5-90DD021D7E29}"/>
              </a:ext>
            </a:extLst>
          </p:cNvPr>
          <p:cNvCxnSpPr>
            <a:cxnSpLocks/>
          </p:cNvCxnSpPr>
          <p:nvPr/>
        </p:nvCxnSpPr>
        <p:spPr>
          <a:xfrm>
            <a:off x="7733634" y="4211252"/>
            <a:ext cx="0" cy="1197604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D5511235-0EA5-4723-A7F6-58A0D155041D}"/>
              </a:ext>
            </a:extLst>
          </p:cNvPr>
          <p:cNvSpPr/>
          <p:nvPr/>
        </p:nvSpPr>
        <p:spPr>
          <a:xfrm>
            <a:off x="7553680" y="4711256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50EB9A-B57A-35CB-A90E-007F02B977F3}"/>
              </a:ext>
            </a:extLst>
          </p:cNvPr>
          <p:cNvSpPr txBox="1"/>
          <p:nvPr/>
        </p:nvSpPr>
        <p:spPr>
          <a:xfrm>
            <a:off x="5083763" y="2727188"/>
            <a:ext cx="50268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0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5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1BC27B-549F-D343-E8BC-7EF92187BC54}"/>
              </a:ext>
            </a:extLst>
          </p:cNvPr>
          <p:cNvSpPr txBox="1"/>
          <p:nvPr/>
        </p:nvSpPr>
        <p:spPr>
          <a:xfrm>
            <a:off x="178670" y="6248084"/>
            <a:ext cx="1920398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CONSUMER</a:t>
            </a:r>
          </a:p>
        </p:txBody>
      </p:sp>
    </p:spTree>
    <p:extLst>
      <p:ext uri="{BB962C8B-B14F-4D97-AF65-F5344CB8AC3E}">
        <p14:creationId xmlns:p14="http://schemas.microsoft.com/office/powerpoint/2010/main" val="270704223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47471</TotalTime>
  <Words>59</Words>
  <Application>Microsoft Macintosh PowerPoint</Application>
  <PresentationFormat>Widescreen</PresentationFormat>
  <Paragraphs>35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Segoe UI</vt:lpstr>
      <vt:lpstr>Wingdings</vt:lpstr>
      <vt:lpstr>Amazon Ember Display</vt:lpstr>
      <vt:lpstr>Arial</vt:lpstr>
      <vt:lpstr>Amazon Ember</vt:lpstr>
      <vt:lpstr>AWS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160</cp:revision>
  <dcterms:created xsi:type="dcterms:W3CDTF">2022-10-07T16:14:37Z</dcterms:created>
  <dcterms:modified xsi:type="dcterms:W3CDTF">2025-09-12T08:30:38Z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2025-04-22T20:22:53Z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5e3b598f-29a1-4aa1-9726-9ddc9a0b454d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