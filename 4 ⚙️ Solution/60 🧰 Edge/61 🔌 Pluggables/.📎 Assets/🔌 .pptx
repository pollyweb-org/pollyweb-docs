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1"/>
  </p:notesMasterIdLst>
  <p:handoutMasterIdLst>
    <p:handoutMasterId r:id="rId12"/>
  </p:handoutMasterIdLst>
  <p:sldIdLst>
    <p:sldId id="1836" r:id="rId2"/>
    <p:sldId id="1814" r:id="rId3"/>
    <p:sldId id="1819" r:id="rId4"/>
    <p:sldId id="1816" r:id="rId5"/>
    <p:sldId id="1839" r:id="rId6"/>
    <p:sldId id="1703" r:id="rId7"/>
    <p:sldId id="1840" r:id="rId8"/>
    <p:sldId id="1837" r:id="rId9"/>
    <p:sldId id="1838" r:id="rId10"/>
  </p:sldIdLst>
  <p:sldSz cx="12192000" cy="6858000"/>
  <p:notesSz cx="6858000" cy="9144000"/>
  <p:embeddedFontLst>
    <p:embeddedFont>
      <p:font typeface="Amazon Ember" panose="020B0603020204020204" pitchFamily="34" charset="0"/>
      <p:regular r:id="rId13"/>
      <p:bold r:id="rId14"/>
      <p:italic r:id="rId15"/>
      <p:boldItalic r:id="rId16"/>
    </p:embeddedFont>
    <p:embeddedFont>
      <p:font typeface="Amazon Ember Display" panose="020F0603020204020204" pitchFamily="34" charset="0"/>
      <p:regular r:id="rId17"/>
      <p:bold r:id="rId18"/>
      <p:italic r:id="rId19"/>
      <p:boldItalic r:id="rId20"/>
    </p:embeddedFont>
    <p:embeddedFont>
      <p:font typeface="Segoe UI" panose="020B0502040204020203" pitchFamily="34" charset="0"/>
      <p:regular r:id="rId21"/>
      <p:bold r:id="rId22"/>
      <p:italic r:id="rId23"/>
      <p:boldItalic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🔌 Edge Pluggables" id="{3592FE59-F633-A048-98C2-F11C72DC8E07}">
          <p14:sldIdLst>
            <p14:sldId id="1836"/>
            <p14:sldId id="1814"/>
            <p14:sldId id="1819"/>
            <p14:sldId id="1816"/>
            <p14:sldId id="1839"/>
            <p14:sldId id="1703"/>
            <p14:sldId id="1840"/>
            <p14:sldId id="1837"/>
            <p14:sldId id="1838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gela Sylcott" initials="AS" lastIdx="1" clrIdx="0">
    <p:extLst>
      <p:ext uri="{19B8F6BF-5375-455C-9EA6-DF929625EA0E}">
        <p15:presenceInfo xmlns:p15="http://schemas.microsoft.com/office/powerpoint/2012/main" userId="a657808d9f8d3c9c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5200"/>
    <a:srgbClr val="AB7942"/>
    <a:srgbClr val="411256"/>
    <a:srgbClr val="C0884B"/>
    <a:srgbClr val="152784"/>
    <a:srgbClr val="ED7100"/>
    <a:srgbClr val="8C4FFF"/>
    <a:srgbClr val="CA24D2"/>
    <a:srgbClr val="BF22C6"/>
    <a:srgbClr val="B821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F2DE63D5-997A-4646-A377-4702673A728D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5755" autoAdjust="0"/>
    <p:restoredTop sz="96966" autoAdjust="0"/>
  </p:normalViewPr>
  <p:slideViewPr>
    <p:cSldViewPr snapToGrid="0">
      <p:cViewPr varScale="1">
        <p:scale>
          <a:sx n="108" d="100"/>
          <a:sy n="108" d="100"/>
        </p:scale>
        <p:origin x="224" y="80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40" d="100"/>
        <a:sy n="140" d="100"/>
      </p:scale>
      <p:origin x="0" y="0"/>
    </p:cViewPr>
  </p:sorterViewPr>
  <p:notesViewPr>
    <p:cSldViewPr snapToGrid="0" showGuides="1">
      <p:cViewPr varScale="1">
        <p:scale>
          <a:sx n="118" d="100"/>
          <a:sy n="118" d="100"/>
        </p:scale>
        <p:origin x="5160" y="21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handoutMaster" Target="handoutMasters/handoutMaster1.xml"/><Relationship Id="rId17" Type="http://schemas.openxmlformats.org/officeDocument/2006/relationships/font" Target="fonts/font5.fntdata"/><Relationship Id="rId25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24" Type="http://schemas.openxmlformats.org/officeDocument/2006/relationships/font" Target="fonts/font12.fntdata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30B3F9-42E9-426B-B3D2-D6012D7491A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algn="ctr"/>
            <a:fld id="{C71F7584-9745-40DA-BD49-9A41A97B2D2E}" type="slidenum">
              <a:rPr lang="en-US" sz="1000" smtClean="0"/>
              <a:pPr algn="ctr"/>
              <a:t>‹#›</a:t>
            </a:fld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2925300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38150" y="457200"/>
            <a:ext cx="5981700" cy="3364706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419100" y="4197679"/>
            <a:ext cx="6000750" cy="432880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94310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000"/>
            </a:lvl1pPr>
          </a:lstStyle>
          <a:p>
            <a:fld id="{A3D89E5F-BEEF-42A1-A57B-E5A736D5119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4871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spcAft>
        <a:spcPts val="30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225425" indent="-1063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463550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747713" indent="-119063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973138" indent="-117475" algn="l" defTabSz="914400" rtl="0" eaLnBrk="1" latinLnBrk="0" hangingPunct="1">
      <a:spcAft>
        <a:spcPts val="30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pos="2160" userDrawn="1">
          <p15:clr>
            <a:srgbClr val="F26B43"/>
          </p15:clr>
        </p15:guide>
        <p15:guide id="2" orient="horz" pos="2880" userDrawn="1">
          <p15:clr>
            <a:srgbClr val="F26B43"/>
          </p15:clr>
        </p15:guide>
        <p15:guide id="3" pos="264" userDrawn="1">
          <p15:clr>
            <a:srgbClr val="F26B43"/>
          </p15:clr>
        </p15:guide>
        <p15:guide id="4" pos="4056" userDrawn="1">
          <p15:clr>
            <a:srgbClr val="F26B43"/>
          </p15:clr>
        </p15:guide>
        <p15:guide id="5" orient="horz" pos="288" userDrawn="1">
          <p15:clr>
            <a:srgbClr val="F26B43"/>
          </p15:clr>
        </p15:guide>
        <p15:guide id="6" orient="horz" pos="264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5C0E6-BB11-78C3-2C91-464404705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912CA3-5FA7-33D4-0262-1FE46D043D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38150" y="457200"/>
            <a:ext cx="5981700" cy="3363913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EB1250-AB61-21B9-7E7F-A04428363A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DBBB4CA2-1403-3A51-74E7-A18B29C2A60F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5C62D6-9178-4FF8-C8A0-9B0A2F8AC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endParaRPr lang="en-US" sz="400" dirty="0"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0"/>
              </a:gradFill>
              <a:ea typeface="Segoe UI" pitchFamily="34" charset="0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150009D-CD99-45B0-0B9F-CEECFF9A473D}"/>
              </a:ext>
            </a:extLst>
          </p:cNvPr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542F96DF-134D-4F6A-BFA6-E032E504EEEB}" type="datetime8">
              <a:rPr lang="en-US" smtClean="0"/>
              <a:t>9/12/25 5:29 AM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57EAB3-49C4-FD3C-2E82-3757B714F04B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6621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F7A6A-1C9F-63A7-FC1A-C66FEB452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864C56-5016-715A-487A-97C47485FF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38150" y="457200"/>
            <a:ext cx="5981700" cy="3363913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6474F2-A43D-B98B-245B-D3EA53DAFB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A3EBE32B-EF2C-4585-A64C-04F50CCACD18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2B451F-659D-8ED5-5B24-9C49949DB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endParaRPr lang="en-US" sz="400" dirty="0"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0"/>
              </a:gradFill>
              <a:ea typeface="Segoe UI" pitchFamily="34" charset="0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39760B9F-ED18-A099-8704-366FC5D1256F}"/>
              </a:ext>
            </a:extLst>
          </p:cNvPr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542F96DF-134D-4F6A-BFA6-E032E504EEEB}" type="datetime8">
              <a:rPr lang="en-US" smtClean="0"/>
              <a:t>9/12/25 5:30 AM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108A39-8DF2-0F93-0801-083394769262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38147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66906-6E8E-2F29-874B-EEA656BFE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83D588-6682-E030-58CA-E232925FD7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38150" y="457200"/>
            <a:ext cx="5981700" cy="3363913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A1C8AE-F9C9-7CAF-1FD0-5B57C3E396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Header Placeholder 3">
            <a:extLst>
              <a:ext uri="{FF2B5EF4-FFF2-40B4-BE49-F238E27FC236}">
                <a16:creationId xmlns:a16="http://schemas.microsoft.com/office/drawing/2014/main" id="{2AB8C562-49DF-12E4-5633-7263C46A4EA0}"/>
              </a:ext>
            </a:extLst>
          </p:cNvPr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470AD-02B1-6CF3-6D93-4B5CC6E34D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914099" eaLnBrk="0" hangingPunct="0"/>
            <a:endParaRPr lang="en-US" sz="400" dirty="0"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0"/>
              </a:gradFill>
              <a:ea typeface="Segoe UI" pitchFamily="34" charset="0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E16CA45-EF44-BDDB-E1DF-B5805E5B0488}"/>
              </a:ext>
            </a:extLst>
          </p:cNvPr>
          <p:cNvSpPr>
            <a:spLocks noGrp="1"/>
          </p:cNvSpPr>
          <p:nvPr>
            <p:ph type="dt" idx="12"/>
          </p:nvPr>
        </p:nvSpPr>
        <p:spPr/>
        <p:txBody>
          <a:bodyPr/>
          <a:lstStyle/>
          <a:p>
            <a:fld id="{542F96DF-134D-4F6A-BFA6-E032E504EEEB}" type="datetime8">
              <a:rPr lang="en-US" smtClean="0"/>
              <a:t>9/12/25 6:18 AM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15CCCE-AE96-FF80-FAE8-1E24EBC035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B4008EB6-D09E-4580-8CD6-DDB14511944F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16307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81DE984-16AE-31CB-F6EB-9E948FF26CFC}"/>
              </a:ext>
            </a:extLst>
          </p:cNvPr>
          <p:cNvSpPr/>
          <p:nvPr userDrawn="1"/>
        </p:nvSpPr>
        <p:spPr>
          <a:xfrm>
            <a:off x="-8546" y="-8547"/>
            <a:ext cx="12238646" cy="6895121"/>
          </a:xfrm>
          <a:prstGeom prst="rect">
            <a:avLst/>
          </a:prstGeom>
          <a:solidFill>
            <a:schemeClr val="bg1"/>
          </a:solidFill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45720" tIns="45720" rIns="45720" rtlCol="0" anchor="ctr"/>
          <a:lstStyle/>
          <a:p>
            <a:pPr algn="ctr"/>
            <a:endParaRPr lang="en-GB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68174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114894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7" r:id="rId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SzPct val="90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1pPr>
      <a:lvl2pPr marL="5143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SzPct val="90000"/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2pPr>
      <a:lvl3pPr marL="857250" indent="-22860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mazon Ember" panose="020B0603020204020204" pitchFamily="34" charset="0"/>
        <a:buChar char="–"/>
        <a:defRPr sz="18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3pPr>
      <a:lvl4pPr marL="1085850" indent="-1714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4pPr>
      <a:lvl5pPr marL="1314450" indent="-171450" algn="l" defTabSz="9144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mazon Ember Display" panose="020F0603020204020204" pitchFamily="34" charset="0"/>
          <a:ea typeface="Amazon Ember Display" panose="020F0603020204020204" pitchFamily="34" charset="0"/>
          <a:cs typeface="Amazon Ember Display" panose="020F0603020204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40" userDrawn="1">
          <p15:clr>
            <a:srgbClr val="F26B43"/>
          </p15:clr>
        </p15:guide>
        <p15:guide id="2" pos="7440" userDrawn="1">
          <p15:clr>
            <a:srgbClr val="F26B43"/>
          </p15:clr>
        </p15:guide>
        <p15:guide id="3" orient="horz" pos="192" userDrawn="1">
          <p15:clr>
            <a:srgbClr val="F26B43"/>
          </p15:clr>
        </p15:guide>
        <p15:guide id="4" orient="horz" pos="3936" userDrawn="1">
          <p15:clr>
            <a:srgbClr val="F26B43"/>
          </p15:clr>
        </p15:guide>
        <p15:guide id="5" orient="horz" pos="93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F95F3B-04EA-EAFE-EEA5-2C8F773F8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EBD749F-8381-9345-E40D-CB92FD08E637}"/>
              </a:ext>
            </a:extLst>
          </p:cNvPr>
          <p:cNvSpPr txBox="1"/>
          <p:nvPr/>
        </p:nvSpPr>
        <p:spPr>
          <a:xfrm>
            <a:off x="1521508" y="1613118"/>
            <a:ext cx="9148983" cy="3631763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GB" sz="11500" dirty="0">
                <a:solidFill>
                  <a:srgbClr val="FFFF00"/>
                </a:solidFill>
              </a:rPr>
              <a:t>🔌 Edge Pluggables</a:t>
            </a:r>
          </a:p>
        </p:txBody>
      </p:sp>
    </p:spTree>
    <p:extLst>
      <p:ext uri="{BB962C8B-B14F-4D97-AF65-F5344CB8AC3E}">
        <p14:creationId xmlns:p14="http://schemas.microsoft.com/office/powerpoint/2010/main" val="220015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403CF-082A-771E-3FED-B6833D2B53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Rectangle 216">
            <a:extLst>
              <a:ext uri="{FF2B5EF4-FFF2-40B4-BE49-F238E27FC236}">
                <a16:creationId xmlns:a16="http://schemas.microsoft.com/office/drawing/2014/main" id="{BF4993CE-0A8B-B277-FE57-57249A31C6BD}"/>
              </a:ext>
            </a:extLst>
          </p:cNvPr>
          <p:cNvSpPr/>
          <p:nvPr/>
        </p:nvSpPr>
        <p:spPr>
          <a:xfrm>
            <a:off x="518242" y="336886"/>
            <a:ext cx="2437201" cy="469713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🏭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</a:t>
            </a: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supplier</a:t>
            </a:r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27001B6C-1B05-7B3A-3972-200560B12E69}"/>
              </a:ext>
            </a:extLst>
          </p:cNvPr>
          <p:cNvSpPr/>
          <p:nvPr/>
        </p:nvSpPr>
        <p:spPr>
          <a:xfrm>
            <a:off x="4755727" y="336884"/>
            <a:ext cx="2304179" cy="2714326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🏭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</a:t>
            </a: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supplier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18368CC5-4263-C26A-7D79-E01544522E81}"/>
              </a:ext>
            </a:extLst>
          </p:cNvPr>
          <p:cNvSpPr txBox="1"/>
          <p:nvPr/>
        </p:nvSpPr>
        <p:spPr>
          <a:xfrm>
            <a:off x="4951945" y="2284060"/>
            <a:ext cx="1908553" cy="566426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08000" rIns="144000" bIns="144000" anchor="ctr"/>
          <a:lstStyle>
            <a:defPPr>
              <a:defRPr lang="en-US"/>
            </a:defPPr>
            <a:lvl1pPr>
              <a:defRPr sz="3200" baseline="-900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GB" dirty="0"/>
              <a:t>📡</a:t>
            </a:r>
            <a:r>
              <a:rPr lang="en-GB" baseline="0" dirty="0"/>
              <a:t> </a:t>
            </a:r>
            <a:r>
              <a:rPr lang="en-GB" sz="2400" baseline="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Antenna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3A580EA0-7064-7A42-BF4F-FFE77546ADC7}"/>
              </a:ext>
            </a:extLst>
          </p:cNvPr>
          <p:cNvCxnSpPr>
            <a:cxnSpLocks/>
            <a:stCxn id="113" idx="1"/>
            <a:endCxn id="164" idx="3"/>
          </p:cNvCxnSpPr>
          <p:nvPr/>
        </p:nvCxnSpPr>
        <p:spPr>
          <a:xfrm rot="10800000" flipH="1">
            <a:off x="691275" y="1124275"/>
            <a:ext cx="10695503" cy="1432701"/>
          </a:xfrm>
          <a:prstGeom prst="bentConnector5">
            <a:avLst>
              <a:gd name="adj1" fmla="val -4297"/>
              <a:gd name="adj2" fmla="val -195143"/>
              <a:gd name="adj3" fmla="val 105287"/>
            </a:avLst>
          </a:prstGeom>
          <a:ln>
            <a:solidFill>
              <a:schemeClr val="accent4"/>
            </a:solidFill>
            <a:prstDash val="dash"/>
            <a:headEnd type="triangle" w="lg" len="lg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12" name="Rectangle 111">
            <a:extLst>
              <a:ext uri="{FF2B5EF4-FFF2-40B4-BE49-F238E27FC236}">
                <a16:creationId xmlns:a16="http://schemas.microsoft.com/office/drawing/2014/main" id="{A9836AB8-D213-2672-DC2A-C5EC1B0EB221}"/>
              </a:ext>
            </a:extLst>
          </p:cNvPr>
          <p:cNvSpPr/>
          <p:nvPr/>
        </p:nvSpPr>
        <p:spPr>
          <a:xfrm>
            <a:off x="705482" y="2897823"/>
            <a:ext cx="2198728" cy="1978528"/>
          </a:xfrm>
          <a:prstGeom prst="rect">
            <a:avLst/>
          </a:prstGeom>
          <a:noFill/>
          <a:ln w="28575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144000" tIns="144000" rIns="144000" bIns="144000" anchor="t"/>
          <a:lstStyle/>
          <a:p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📸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</a:t>
            </a:r>
            <a:r>
              <a:rPr lang="en-GB" sz="24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camera</a:t>
            </a:r>
            <a:br>
              <a:rPr lang="en-GB" sz="24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✨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</a:t>
            </a:r>
            <a:r>
              <a:rPr lang="en-GB" sz="24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scanner</a:t>
            </a:r>
          </a:p>
          <a:p>
            <a:pPr>
              <a:defRPr/>
            </a:pPr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🖐️</a:t>
            </a:r>
            <a:r>
              <a:rPr lang="en-GB" sz="3200" baseline="-90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  <a:latin typeface="+mj-lt"/>
                <a:cs typeface="Arial" panose="020B0604020202020204" pitchFamily="34" charset="0"/>
              </a:rPr>
              <a:t> </a:t>
            </a:r>
            <a:r>
              <a:rPr lang="en-GB" sz="24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palmist</a:t>
            </a:r>
            <a:br>
              <a:rPr lang="en-GB" sz="24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🦋</a:t>
            </a:r>
            <a:r>
              <a:rPr lang="en-GB" sz="24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ephemeral </a:t>
            </a:r>
            <a:br>
              <a:rPr lang="en-GB" sz="24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</a:br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🎬</a:t>
            </a:r>
            <a:r>
              <a:rPr lang="en-GB" sz="240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 relay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482F71CE-A9A8-F758-C333-9428B11DAC8E}"/>
              </a:ext>
            </a:extLst>
          </p:cNvPr>
          <p:cNvSpPr/>
          <p:nvPr/>
        </p:nvSpPr>
        <p:spPr>
          <a:xfrm>
            <a:off x="691276" y="2273762"/>
            <a:ext cx="2088710" cy="566426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🔌 </a:t>
            </a:r>
            <a:r>
              <a:rPr lang="en-GB" sz="24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  <a:latin typeface="+mj-lt"/>
                <a:cs typeface="Arial" panose="020B0604020202020204" pitchFamily="34" charset="0"/>
              </a:rPr>
              <a:t>Pluggable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AEE0ED9-10A7-12DE-A6C7-6AA5C12F7964}"/>
              </a:ext>
            </a:extLst>
          </p:cNvPr>
          <p:cNvSpPr txBox="1"/>
          <p:nvPr/>
        </p:nvSpPr>
        <p:spPr>
          <a:xfrm>
            <a:off x="2353587" y="2292010"/>
            <a:ext cx="426399" cy="566426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US" dirty="0"/>
              <a:t>       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B014D2E9-3B3D-9714-076E-51CFF2ECE5B5}"/>
              </a:ext>
            </a:extLst>
          </p:cNvPr>
          <p:cNvSpPr txBox="1"/>
          <p:nvPr/>
        </p:nvSpPr>
        <p:spPr>
          <a:xfrm>
            <a:off x="5798972" y="2292010"/>
            <a:ext cx="426399" cy="568773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US" dirty="0"/>
              <a:t>       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78780C63-F65B-A2B2-B30A-12EA03F7F96E}"/>
              </a:ext>
            </a:extLst>
          </p:cNvPr>
          <p:cNvSpPr/>
          <p:nvPr/>
        </p:nvSpPr>
        <p:spPr>
          <a:xfrm>
            <a:off x="4957469" y="851302"/>
            <a:ext cx="1908552" cy="566426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🛰️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Relayer</a:t>
            </a:r>
            <a:endParaRPr lang="en-GB" sz="2000" dirty="0">
              <a:solidFill>
                <a:sysClr val="windowText" lastClr="000000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A063D14E-90CE-3483-5DD4-38502AC92203}"/>
              </a:ext>
            </a:extLst>
          </p:cNvPr>
          <p:cNvSpPr/>
          <p:nvPr/>
        </p:nvSpPr>
        <p:spPr>
          <a:xfrm>
            <a:off x="9455328" y="843182"/>
            <a:ext cx="1931451" cy="562183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👥 Domain</a:t>
            </a:r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BC77B6C5-BD94-BD0F-3FC8-7F6502E49586}"/>
              </a:ext>
            </a:extLst>
          </p:cNvPr>
          <p:cNvSpPr txBox="1"/>
          <p:nvPr/>
        </p:nvSpPr>
        <p:spPr>
          <a:xfrm>
            <a:off x="3172885" y="2126316"/>
            <a:ext cx="1559147" cy="420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plugged</a:t>
            </a:r>
            <a:r>
              <a:rPr lang="en-GB" sz="32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</a:t>
            </a:r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🔌</a:t>
            </a:r>
          </a:p>
        </p:txBody>
      </p:sp>
      <p:cxnSp>
        <p:nvCxnSpPr>
          <p:cNvPr id="169" name="Straight Arrow Connector 44">
            <a:extLst>
              <a:ext uri="{FF2B5EF4-FFF2-40B4-BE49-F238E27FC236}">
                <a16:creationId xmlns:a16="http://schemas.microsoft.com/office/drawing/2014/main" id="{8DAFF99D-771B-7F0E-BD11-FDA282642B4F}"/>
              </a:ext>
            </a:extLst>
          </p:cNvPr>
          <p:cNvCxnSpPr>
            <a:cxnSpLocks/>
            <a:stCxn id="137" idx="3"/>
            <a:endCxn id="141" idx="1"/>
          </p:cNvCxnSpPr>
          <p:nvPr/>
        </p:nvCxnSpPr>
        <p:spPr>
          <a:xfrm flipV="1">
            <a:off x="2779986" y="2567273"/>
            <a:ext cx="2171959" cy="7950"/>
          </a:xfrm>
          <a:prstGeom prst="straightConnector1">
            <a:avLst/>
          </a:prstGeom>
          <a:ln>
            <a:solidFill>
              <a:schemeClr val="accent4"/>
            </a:solidFill>
            <a:prstDash val="solid"/>
            <a:headEnd type="triangle" w="lg" len="lg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87" name="Straight Arrow Connector 44">
            <a:extLst>
              <a:ext uri="{FF2B5EF4-FFF2-40B4-BE49-F238E27FC236}">
                <a16:creationId xmlns:a16="http://schemas.microsoft.com/office/drawing/2014/main" id="{D9FCEF01-124A-A190-0277-F2D007566750}"/>
              </a:ext>
            </a:extLst>
          </p:cNvPr>
          <p:cNvCxnSpPr>
            <a:cxnSpLocks/>
            <a:stCxn id="141" idx="0"/>
            <a:endCxn id="144" idx="2"/>
          </p:cNvCxnSpPr>
          <p:nvPr/>
        </p:nvCxnSpPr>
        <p:spPr>
          <a:xfrm flipV="1">
            <a:off x="5906222" y="1417728"/>
            <a:ext cx="5523" cy="866332"/>
          </a:xfrm>
          <a:prstGeom prst="straightConnector1">
            <a:avLst/>
          </a:prstGeom>
          <a:ln>
            <a:solidFill>
              <a:schemeClr val="accent4"/>
            </a:solidFill>
            <a:prstDash val="solid"/>
            <a:headEnd type="triangle" w="lg" len="lg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90" name="TextBox 189">
            <a:extLst>
              <a:ext uri="{FF2B5EF4-FFF2-40B4-BE49-F238E27FC236}">
                <a16:creationId xmlns:a16="http://schemas.microsoft.com/office/drawing/2014/main" id="{EF005A2B-B4BF-6620-2A13-6F8909C2C0F1}"/>
              </a:ext>
            </a:extLst>
          </p:cNvPr>
          <p:cNvSpPr txBox="1"/>
          <p:nvPr/>
        </p:nvSpPr>
        <p:spPr>
          <a:xfrm>
            <a:off x="5903577" y="1671832"/>
            <a:ext cx="10783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🌐</a:t>
            </a:r>
            <a:r>
              <a:rPr lang="en-GB" sz="24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web</a:t>
            </a:r>
            <a:endParaRPr lang="en-GB" sz="3200" baseline="-11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cxnSp>
        <p:nvCxnSpPr>
          <p:cNvPr id="191" name="Straight Arrow Connector 44">
            <a:extLst>
              <a:ext uri="{FF2B5EF4-FFF2-40B4-BE49-F238E27FC236}">
                <a16:creationId xmlns:a16="http://schemas.microsoft.com/office/drawing/2014/main" id="{A38495E3-DEC6-9CF7-2929-39008C48F7A1}"/>
              </a:ext>
            </a:extLst>
          </p:cNvPr>
          <p:cNvCxnSpPr>
            <a:cxnSpLocks/>
            <a:stCxn id="164" idx="1"/>
            <a:endCxn id="144" idx="3"/>
          </p:cNvCxnSpPr>
          <p:nvPr/>
        </p:nvCxnSpPr>
        <p:spPr>
          <a:xfrm flipH="1">
            <a:off x="6866021" y="1124274"/>
            <a:ext cx="2589307" cy="10241"/>
          </a:xfrm>
          <a:prstGeom prst="straightConnector1">
            <a:avLst/>
          </a:prstGeom>
          <a:ln>
            <a:solidFill>
              <a:schemeClr val="accent4"/>
            </a:solidFill>
            <a:prstDash val="solid"/>
            <a:headEnd type="triangle" w="lg" len="lg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28" name="Rectangle 227">
            <a:extLst>
              <a:ext uri="{FF2B5EF4-FFF2-40B4-BE49-F238E27FC236}">
                <a16:creationId xmlns:a16="http://schemas.microsoft.com/office/drawing/2014/main" id="{81E39BF0-600C-D35F-1163-BFA84E684F78}"/>
              </a:ext>
            </a:extLst>
          </p:cNvPr>
          <p:cNvSpPr/>
          <p:nvPr/>
        </p:nvSpPr>
        <p:spPr>
          <a:xfrm>
            <a:off x="691276" y="859319"/>
            <a:ext cx="2088711" cy="565252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🍏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Brand</a:t>
            </a:r>
          </a:p>
        </p:txBody>
      </p:sp>
      <p:cxnSp>
        <p:nvCxnSpPr>
          <p:cNvPr id="231" name="Straight Arrow Connector 44">
            <a:extLst>
              <a:ext uri="{FF2B5EF4-FFF2-40B4-BE49-F238E27FC236}">
                <a16:creationId xmlns:a16="http://schemas.microsoft.com/office/drawing/2014/main" id="{2E917044-2FA9-6A48-915C-634A005724DC}"/>
              </a:ext>
            </a:extLst>
          </p:cNvPr>
          <p:cNvCxnSpPr>
            <a:cxnSpLocks/>
            <a:stCxn id="228" idx="2"/>
            <a:endCxn id="113" idx="0"/>
          </p:cNvCxnSpPr>
          <p:nvPr/>
        </p:nvCxnSpPr>
        <p:spPr>
          <a:xfrm flipH="1">
            <a:off x="1735631" y="1424571"/>
            <a:ext cx="1" cy="84919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34" name="TextBox 233">
            <a:extLst>
              <a:ext uri="{FF2B5EF4-FFF2-40B4-BE49-F238E27FC236}">
                <a16:creationId xmlns:a16="http://schemas.microsoft.com/office/drawing/2014/main" id="{271B3536-9855-D333-D4EF-203DEDF5441D}"/>
              </a:ext>
            </a:extLst>
          </p:cNvPr>
          <p:cNvSpPr txBox="1"/>
          <p:nvPr/>
        </p:nvSpPr>
        <p:spPr>
          <a:xfrm>
            <a:off x="1782912" y="1481647"/>
            <a:ext cx="91894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sell</a:t>
            </a:r>
            <a:endParaRPr lang="en-GB" sz="3200" baseline="-11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grpSp>
        <p:nvGrpSpPr>
          <p:cNvPr id="257" name="Group 256">
            <a:extLst>
              <a:ext uri="{FF2B5EF4-FFF2-40B4-BE49-F238E27FC236}">
                <a16:creationId xmlns:a16="http://schemas.microsoft.com/office/drawing/2014/main" id="{AC68DB34-B6A8-D5E3-62DB-E3A6F2020EBD}"/>
              </a:ext>
            </a:extLst>
          </p:cNvPr>
          <p:cNvGrpSpPr/>
          <p:nvPr/>
        </p:nvGrpSpPr>
        <p:grpSpPr>
          <a:xfrm>
            <a:off x="9426964" y="2197379"/>
            <a:ext cx="1988691" cy="1383576"/>
            <a:chOff x="4959152" y="4727414"/>
            <a:chExt cx="1988691" cy="1383576"/>
          </a:xfrm>
        </p:grpSpPr>
        <p:grpSp>
          <p:nvGrpSpPr>
            <p:cNvPr id="258" name="Group 257">
              <a:extLst>
                <a:ext uri="{FF2B5EF4-FFF2-40B4-BE49-F238E27FC236}">
                  <a16:creationId xmlns:a16="http://schemas.microsoft.com/office/drawing/2014/main" id="{ADCFD867-7C44-F97C-937D-120B4C05381D}"/>
                </a:ext>
              </a:extLst>
            </p:cNvPr>
            <p:cNvGrpSpPr/>
            <p:nvPr/>
          </p:nvGrpSpPr>
          <p:grpSpPr>
            <a:xfrm>
              <a:off x="4959152" y="4727414"/>
              <a:ext cx="1988691" cy="1316816"/>
              <a:chOff x="4768207" y="3215212"/>
              <a:chExt cx="1988691" cy="1316816"/>
            </a:xfrm>
          </p:grpSpPr>
          <p:grpSp>
            <p:nvGrpSpPr>
              <p:cNvPr id="260" name="Group 259">
                <a:extLst>
                  <a:ext uri="{FF2B5EF4-FFF2-40B4-BE49-F238E27FC236}">
                    <a16:creationId xmlns:a16="http://schemas.microsoft.com/office/drawing/2014/main" id="{D06E6AAB-CAC8-41FF-69AD-EFCD075DBAF9}"/>
                  </a:ext>
                </a:extLst>
              </p:cNvPr>
              <p:cNvGrpSpPr/>
              <p:nvPr/>
            </p:nvGrpSpPr>
            <p:grpSpPr>
              <a:xfrm>
                <a:off x="4768207" y="3215212"/>
                <a:ext cx="1988691" cy="1316816"/>
                <a:chOff x="6139542" y="58284"/>
                <a:chExt cx="1988691" cy="1316816"/>
              </a:xfrm>
            </p:grpSpPr>
            <p:sp>
              <p:nvSpPr>
                <p:cNvPr id="264" name="Rectangle 263">
                  <a:extLst>
                    <a:ext uri="{FF2B5EF4-FFF2-40B4-BE49-F238E27FC236}">
                      <a16:creationId xmlns:a16="http://schemas.microsoft.com/office/drawing/2014/main" id="{ED63FD0D-8DC1-8495-E5E1-FE14FB018671}"/>
                    </a:ext>
                  </a:extLst>
                </p:cNvPr>
                <p:cNvSpPr/>
                <p:nvPr/>
              </p:nvSpPr>
              <p:spPr>
                <a:xfrm>
                  <a:off x="6236556" y="149580"/>
                  <a:ext cx="1791009" cy="562183"/>
                </a:xfrm>
                <a:prstGeom prst="rect">
                  <a:avLst/>
                </a:prstGeom>
                <a:solidFill>
                  <a:schemeClr val="tx1">
                    <a:lumMod val="95000"/>
                  </a:schemeClr>
                </a:solidFill>
                <a:ln w="28575">
                  <a:solidFill>
                    <a:schemeClr val="tx1">
                      <a:lumMod val="50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anchor="ctr"/>
                <a:lstStyle/>
                <a:p>
                  <a:r>
                    <a:rPr lang="en-GB" sz="3200" baseline="-9000" dirty="0">
                      <a:solidFill>
                        <a:schemeClr val="bg2">
                          <a:lumMod val="40000"/>
                          <a:lumOff val="60000"/>
                        </a:schemeClr>
                      </a:solidFill>
                      <a:effectLst>
                        <a:glow>
                          <a:schemeClr val="bg1"/>
                        </a:glow>
                      </a:effectLst>
                    </a:rPr>
                    <a:t>🧑‍🦰</a:t>
                  </a:r>
                  <a:r>
                    <a:rPr lang="en-GB" sz="2400" dirty="0">
                      <a:solidFill>
                        <a:sysClr val="windowText" lastClr="000000"/>
                      </a:solidFill>
                      <a:latin typeface="+mj-lt"/>
                      <a:cs typeface="Arial" panose="020B0604020202020204" pitchFamily="34" charset="0"/>
                    </a:rPr>
                    <a:t> Wallet</a:t>
                  </a:r>
                </a:p>
              </p:txBody>
            </p:sp>
            <p:sp>
              <p:nvSpPr>
                <p:cNvPr id="265" name="Rectangle 264">
                  <a:extLst>
                    <a:ext uri="{FF2B5EF4-FFF2-40B4-BE49-F238E27FC236}">
                      <a16:creationId xmlns:a16="http://schemas.microsoft.com/office/drawing/2014/main" id="{611C074F-22A4-414A-38A7-9C0968D98E50}"/>
                    </a:ext>
                  </a:extLst>
                </p:cNvPr>
                <p:cNvSpPr/>
                <p:nvPr/>
              </p:nvSpPr>
              <p:spPr>
                <a:xfrm>
                  <a:off x="6139542" y="58284"/>
                  <a:ext cx="1988691" cy="1316816"/>
                </a:xfrm>
                <a:prstGeom prst="rect">
                  <a:avLst/>
                </a:prstGeom>
                <a:noFill/>
                <a:ln w="12700">
                  <a:solidFill>
                    <a:srgbClr val="5A6B86"/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tIns="36000"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2000" i="1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endParaRPr>
                </a:p>
              </p:txBody>
            </p:sp>
          </p:grpSp>
          <p:sp>
            <p:nvSpPr>
              <p:cNvPr id="261" name="Rectangle 260">
                <a:extLst>
                  <a:ext uri="{FF2B5EF4-FFF2-40B4-BE49-F238E27FC236}">
                    <a16:creationId xmlns:a16="http://schemas.microsoft.com/office/drawing/2014/main" id="{29E08B6E-9C96-7DD3-374D-45F1CE3F47B6}"/>
                  </a:ext>
                </a:extLst>
              </p:cNvPr>
              <p:cNvSpPr/>
              <p:nvPr/>
            </p:nvSpPr>
            <p:spPr>
              <a:xfrm>
                <a:off x="5501604" y="3951814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📣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  <p:sp>
            <p:nvSpPr>
              <p:cNvPr id="262" name="Rectangle 261">
                <a:extLst>
                  <a:ext uri="{FF2B5EF4-FFF2-40B4-BE49-F238E27FC236}">
                    <a16:creationId xmlns:a16="http://schemas.microsoft.com/office/drawing/2014/main" id="{8598BD18-DF65-6F7A-7BBE-8BCD9BCB4FF1}"/>
                  </a:ext>
                </a:extLst>
              </p:cNvPr>
              <p:cNvSpPr/>
              <p:nvPr/>
            </p:nvSpPr>
            <p:spPr>
              <a:xfrm>
                <a:off x="6133877" y="3951813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</a:t>
                </a:r>
                <a:r>
                  <a:rPr lang="en-GB" sz="3200" baseline="-10000" dirty="0"/>
                  <a:t>📱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  <p:sp>
            <p:nvSpPr>
              <p:cNvPr id="263" name="Rectangle 262">
                <a:extLst>
                  <a:ext uri="{FF2B5EF4-FFF2-40B4-BE49-F238E27FC236}">
                    <a16:creationId xmlns:a16="http://schemas.microsoft.com/office/drawing/2014/main" id="{FB2E1ECB-A6F2-8E3F-2164-76D013485C26}"/>
                  </a:ext>
                </a:extLst>
              </p:cNvPr>
              <p:cNvSpPr/>
              <p:nvPr/>
            </p:nvSpPr>
            <p:spPr>
              <a:xfrm>
                <a:off x="4861649" y="3951814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 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59" name="TextBox 258">
              <a:extLst>
                <a:ext uri="{FF2B5EF4-FFF2-40B4-BE49-F238E27FC236}">
                  <a16:creationId xmlns:a16="http://schemas.microsoft.com/office/drawing/2014/main" id="{0934BC59-7CA9-B291-82E8-F73D799408E3}"/>
                </a:ext>
              </a:extLst>
            </p:cNvPr>
            <p:cNvSpPr txBox="1"/>
            <p:nvPr/>
          </p:nvSpPr>
          <p:spPr>
            <a:xfrm>
              <a:off x="5016883" y="5341549"/>
              <a:ext cx="502683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44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🤵</a:t>
              </a:r>
              <a:endParaRPr lang="en-US" sz="4400" dirty="0"/>
            </a:p>
          </p:txBody>
        </p:sp>
      </p:grpSp>
      <p:cxnSp>
        <p:nvCxnSpPr>
          <p:cNvPr id="266" name="Straight Arrow Connector 44">
            <a:extLst>
              <a:ext uri="{FF2B5EF4-FFF2-40B4-BE49-F238E27FC236}">
                <a16:creationId xmlns:a16="http://schemas.microsoft.com/office/drawing/2014/main" id="{0C2D3AE4-6F0D-E05A-BE80-639051C2A916}"/>
              </a:ext>
            </a:extLst>
          </p:cNvPr>
          <p:cNvCxnSpPr>
            <a:cxnSpLocks/>
            <a:stCxn id="264" idx="1"/>
            <a:endCxn id="141" idx="3"/>
          </p:cNvCxnSpPr>
          <p:nvPr/>
        </p:nvCxnSpPr>
        <p:spPr>
          <a:xfrm flipH="1" flipV="1">
            <a:off x="6860498" y="2567273"/>
            <a:ext cx="2663480" cy="249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76" name="TextBox 275">
            <a:extLst>
              <a:ext uri="{FF2B5EF4-FFF2-40B4-BE49-F238E27FC236}">
                <a16:creationId xmlns:a16="http://schemas.microsoft.com/office/drawing/2014/main" id="{BB565719-A753-347A-A890-1668B597BF2C}"/>
              </a:ext>
            </a:extLst>
          </p:cNvPr>
          <p:cNvSpPr txBox="1"/>
          <p:nvPr/>
        </p:nvSpPr>
        <p:spPr>
          <a:xfrm>
            <a:off x="8893746" y="4893352"/>
            <a:ext cx="300713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two-way communication</a:t>
            </a:r>
            <a:endParaRPr lang="en-GB" sz="3200" baseline="-11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cxnSp>
        <p:nvCxnSpPr>
          <p:cNvPr id="284" name="Straight Arrow Connector 44">
            <a:extLst>
              <a:ext uri="{FF2B5EF4-FFF2-40B4-BE49-F238E27FC236}">
                <a16:creationId xmlns:a16="http://schemas.microsoft.com/office/drawing/2014/main" id="{96457E4D-2F0F-D7EA-FFDE-CF18B5328081}"/>
              </a:ext>
            </a:extLst>
          </p:cNvPr>
          <p:cNvCxnSpPr>
            <a:cxnSpLocks/>
            <a:stCxn id="291" idx="2"/>
          </p:cNvCxnSpPr>
          <p:nvPr/>
        </p:nvCxnSpPr>
        <p:spPr>
          <a:xfrm rot="5400000">
            <a:off x="6173639" y="350582"/>
            <a:ext cx="444478" cy="6765407"/>
          </a:xfrm>
          <a:prstGeom prst="bentConnector2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91" name="TextBox 290">
            <a:extLst>
              <a:ext uri="{FF2B5EF4-FFF2-40B4-BE49-F238E27FC236}">
                <a16:creationId xmlns:a16="http://schemas.microsoft.com/office/drawing/2014/main" id="{8D1C366C-5E88-B8E8-E89E-0604F7AF881F}"/>
              </a:ext>
            </a:extLst>
          </p:cNvPr>
          <p:cNvSpPr txBox="1"/>
          <p:nvPr/>
        </p:nvSpPr>
        <p:spPr>
          <a:xfrm>
            <a:off x="9601563" y="2194231"/>
            <a:ext cx="354036" cy="1316815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US" dirty="0"/>
              <a:t>   </a:t>
            </a:r>
          </a:p>
        </p:txBody>
      </p:sp>
      <p:sp>
        <p:nvSpPr>
          <p:cNvPr id="299" name="TextBox 298">
            <a:extLst>
              <a:ext uri="{FF2B5EF4-FFF2-40B4-BE49-F238E27FC236}">
                <a16:creationId xmlns:a16="http://schemas.microsoft.com/office/drawing/2014/main" id="{456B4C48-4343-0912-F784-6025408A27CE}"/>
              </a:ext>
            </a:extLst>
          </p:cNvPr>
          <p:cNvSpPr txBox="1"/>
          <p:nvPr/>
        </p:nvSpPr>
        <p:spPr>
          <a:xfrm>
            <a:off x="7120810" y="2121445"/>
            <a:ext cx="1559147" cy="420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tap/scan </a:t>
            </a:r>
            <a:r>
              <a:rPr lang="en-GB" sz="3200" baseline="-17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🔆</a:t>
            </a:r>
            <a:endParaRPr lang="en-GB" sz="3200" baseline="-9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C3F5840E-C3DD-2674-FC21-C2A4FBBCE76C}"/>
              </a:ext>
            </a:extLst>
          </p:cNvPr>
          <p:cNvSpPr txBox="1"/>
          <p:nvPr/>
        </p:nvSpPr>
        <p:spPr>
          <a:xfrm>
            <a:off x="3150216" y="3486977"/>
            <a:ext cx="1559147" cy="420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tap/scan </a:t>
            </a:r>
            <a:r>
              <a:rPr lang="en-GB" sz="3200" baseline="-17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🔆</a:t>
            </a:r>
            <a:endParaRPr lang="en-GB" sz="3200" baseline="-9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1D7804AE-B8EB-185A-384B-6448CA8F2F99}"/>
              </a:ext>
            </a:extLst>
          </p:cNvPr>
          <p:cNvSpPr txBox="1"/>
          <p:nvPr/>
        </p:nvSpPr>
        <p:spPr>
          <a:xfrm>
            <a:off x="7899243" y="708271"/>
            <a:ext cx="10783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🌐</a:t>
            </a:r>
            <a:r>
              <a:rPr lang="en-GB" sz="24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web</a:t>
            </a:r>
            <a:endParaRPr lang="en-GB" sz="3200" baseline="-11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313" name="TextBox 312">
            <a:extLst>
              <a:ext uri="{FF2B5EF4-FFF2-40B4-BE49-F238E27FC236}">
                <a16:creationId xmlns:a16="http://schemas.microsoft.com/office/drawing/2014/main" id="{AA6F5CAD-FEA6-63F2-A561-21CDD2BCC8A8}"/>
              </a:ext>
            </a:extLst>
          </p:cNvPr>
          <p:cNvSpPr txBox="1"/>
          <p:nvPr/>
        </p:nvSpPr>
        <p:spPr>
          <a:xfrm>
            <a:off x="3187212" y="3986437"/>
            <a:ext cx="375293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-</a:t>
            </a:r>
            <a:r>
              <a:rPr lang="en-US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🧩</a:t>
            </a:r>
            <a:r>
              <a:rPr lang="en-US" sz="1800" b="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</a:t>
            </a: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pluggable API schema code</a:t>
            </a:r>
          </a:p>
        </p:txBody>
      </p:sp>
      <p:sp>
        <p:nvSpPr>
          <p:cNvPr id="315" name="TextBox 314">
            <a:extLst>
              <a:ext uri="{FF2B5EF4-FFF2-40B4-BE49-F238E27FC236}">
                <a16:creationId xmlns:a16="http://schemas.microsoft.com/office/drawing/2014/main" id="{659CBC13-6018-C53B-884E-3F7B64A39B8C}"/>
              </a:ext>
            </a:extLst>
          </p:cNvPr>
          <p:cNvSpPr txBox="1"/>
          <p:nvPr/>
        </p:nvSpPr>
        <p:spPr>
          <a:xfrm>
            <a:off x="7099190" y="2568892"/>
            <a:ext cx="199645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- add pluggable</a:t>
            </a:r>
          </a:p>
        </p:txBody>
      </p:sp>
      <p:cxnSp>
        <p:nvCxnSpPr>
          <p:cNvPr id="316" name="Straight Arrow Connector 44">
            <a:extLst>
              <a:ext uri="{FF2B5EF4-FFF2-40B4-BE49-F238E27FC236}">
                <a16:creationId xmlns:a16="http://schemas.microsoft.com/office/drawing/2014/main" id="{AF6351DE-6539-B96D-0719-04DAE13AEC2C}"/>
              </a:ext>
            </a:extLst>
          </p:cNvPr>
          <p:cNvCxnSpPr>
            <a:cxnSpLocks/>
            <a:stCxn id="291" idx="0"/>
          </p:cNvCxnSpPr>
          <p:nvPr/>
        </p:nvCxnSpPr>
        <p:spPr>
          <a:xfrm flipV="1">
            <a:off x="9778581" y="1481647"/>
            <a:ext cx="1" cy="712584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19" name="TextBox 318">
            <a:extLst>
              <a:ext uri="{FF2B5EF4-FFF2-40B4-BE49-F238E27FC236}">
                <a16:creationId xmlns:a16="http://schemas.microsoft.com/office/drawing/2014/main" id="{B5CA4BAA-E5F5-3F10-1765-2386C1807363}"/>
              </a:ext>
            </a:extLst>
          </p:cNvPr>
          <p:cNvSpPr txBox="1"/>
          <p:nvPr/>
        </p:nvSpPr>
        <p:spPr>
          <a:xfrm>
            <a:off x="9809989" y="1671832"/>
            <a:ext cx="106721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admin</a:t>
            </a:r>
          </a:p>
        </p:txBody>
      </p:sp>
      <p:grpSp>
        <p:nvGrpSpPr>
          <p:cNvPr id="321" name="Group 320">
            <a:extLst>
              <a:ext uri="{FF2B5EF4-FFF2-40B4-BE49-F238E27FC236}">
                <a16:creationId xmlns:a16="http://schemas.microsoft.com/office/drawing/2014/main" id="{D2740E97-48BC-0C26-256B-29B5D67CD598}"/>
              </a:ext>
            </a:extLst>
          </p:cNvPr>
          <p:cNvGrpSpPr/>
          <p:nvPr/>
        </p:nvGrpSpPr>
        <p:grpSpPr>
          <a:xfrm>
            <a:off x="4949301" y="1640772"/>
            <a:ext cx="557618" cy="560061"/>
            <a:chOff x="4951946" y="3423309"/>
            <a:chExt cx="557618" cy="560061"/>
          </a:xfrm>
        </p:grpSpPr>
        <p:sp>
          <p:nvSpPr>
            <p:cNvPr id="322" name="Rectangle 321">
              <a:extLst>
                <a:ext uri="{FF2B5EF4-FFF2-40B4-BE49-F238E27FC236}">
                  <a16:creationId xmlns:a16="http://schemas.microsoft.com/office/drawing/2014/main" id="{4D38F2A1-A07C-40B7-BC7F-668F6C2221D7}"/>
                </a:ext>
              </a:extLst>
            </p:cNvPr>
            <p:cNvSpPr/>
            <p:nvPr/>
          </p:nvSpPr>
          <p:spPr>
            <a:xfrm>
              <a:off x="4951946" y="3423309"/>
              <a:ext cx="557618" cy="560061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08000" rIns="144000" bIns="144000" anchor="ctr"/>
            <a:lstStyle/>
            <a:p>
              <a:endParaRPr lang="en-US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323" name="TextBox 322">
              <a:extLst>
                <a:ext uri="{FF2B5EF4-FFF2-40B4-BE49-F238E27FC236}">
                  <a16:creationId xmlns:a16="http://schemas.microsoft.com/office/drawing/2014/main" id="{43FA9ABF-539F-CE39-916E-E56C74C63662}"/>
                </a:ext>
              </a:extLst>
            </p:cNvPr>
            <p:cNvSpPr txBox="1"/>
            <p:nvPr/>
          </p:nvSpPr>
          <p:spPr>
            <a:xfrm>
              <a:off x="5001539" y="3491756"/>
              <a:ext cx="421463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aseline="-9000" noProof="1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🛜</a:t>
              </a:r>
              <a:r>
                <a:rPr lang="en-GB" sz="2000" noProof="1"/>
                <a:t> </a:t>
              </a:r>
              <a:r>
                <a:rPr lang="en-GB" sz="2400" noProof="1"/>
                <a:t> </a:t>
              </a:r>
              <a:endParaRPr lang="en-GB" sz="2000" noProof="1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AF139A87-F126-7351-56ED-2CA1C7C17118}"/>
              </a:ext>
            </a:extLst>
          </p:cNvPr>
          <p:cNvSpPr txBox="1"/>
          <p:nvPr/>
        </p:nvSpPr>
        <p:spPr>
          <a:xfrm>
            <a:off x="218143" y="6278524"/>
            <a:ext cx="1992533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PLUGGABLE</a:t>
            </a:r>
          </a:p>
        </p:txBody>
      </p:sp>
    </p:spTree>
    <p:extLst>
      <p:ext uri="{BB962C8B-B14F-4D97-AF65-F5344CB8AC3E}">
        <p14:creationId xmlns:p14="http://schemas.microsoft.com/office/powerpoint/2010/main" val="28701880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ectangle 78">
            <a:extLst>
              <a:ext uri="{FF2B5EF4-FFF2-40B4-BE49-F238E27FC236}">
                <a16:creationId xmlns:a16="http://schemas.microsoft.com/office/drawing/2014/main" id="{601E6CAF-1F6B-7139-BD00-381FE4C8898B}"/>
              </a:ext>
            </a:extLst>
          </p:cNvPr>
          <p:cNvSpPr/>
          <p:nvPr/>
        </p:nvSpPr>
        <p:spPr>
          <a:xfrm>
            <a:off x="9887066" y="974221"/>
            <a:ext cx="1957406" cy="1717704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2000" i="1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23BC242E-68B3-A520-B939-3E1FDC6F727A}"/>
              </a:ext>
            </a:extLst>
          </p:cNvPr>
          <p:cNvSpPr/>
          <p:nvPr/>
        </p:nvSpPr>
        <p:spPr>
          <a:xfrm>
            <a:off x="608242" y="279130"/>
            <a:ext cx="2377877" cy="1658625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2000" i="1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2FB9754-CFE3-D103-65A3-9040FE1D1BE8}"/>
              </a:ext>
            </a:extLst>
          </p:cNvPr>
          <p:cNvSpPr/>
          <p:nvPr/>
        </p:nvSpPr>
        <p:spPr>
          <a:xfrm>
            <a:off x="4062930" y="1366385"/>
            <a:ext cx="4445419" cy="566426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pPr algn="ctr"/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🛰️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Relayer</a:t>
            </a:r>
            <a:endParaRPr lang="en-GB" sz="2000" dirty="0">
              <a:solidFill>
                <a:sysClr val="windowText" lastClr="000000"/>
              </a:solidFill>
              <a:latin typeface="+mj-lt"/>
              <a:cs typeface="Arial" panose="020B0604020202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FE0072E-2A4B-7302-AB62-CE4E73535AA0}"/>
              </a:ext>
            </a:extLst>
          </p:cNvPr>
          <p:cNvSpPr/>
          <p:nvPr/>
        </p:nvSpPr>
        <p:spPr>
          <a:xfrm>
            <a:off x="715026" y="383248"/>
            <a:ext cx="2182444" cy="565252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🍏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Brand</a:t>
            </a:r>
          </a:p>
        </p:txBody>
      </p: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E6518315-7C80-6552-F50A-F658F81B8140}"/>
              </a:ext>
            </a:extLst>
          </p:cNvPr>
          <p:cNvGrpSpPr/>
          <p:nvPr/>
        </p:nvGrpSpPr>
        <p:grpSpPr>
          <a:xfrm>
            <a:off x="4728412" y="3812644"/>
            <a:ext cx="3017238" cy="1996488"/>
            <a:chOff x="4483455" y="2772077"/>
            <a:chExt cx="2266896" cy="1996488"/>
          </a:xfrm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BA257192-1585-150C-6170-C0BFF34302E7}"/>
                </a:ext>
              </a:extLst>
            </p:cNvPr>
            <p:cNvSpPr/>
            <p:nvPr/>
          </p:nvSpPr>
          <p:spPr>
            <a:xfrm>
              <a:off x="4483455" y="2772077"/>
              <a:ext cx="2266896" cy="199648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0326BEC2-CD07-1238-A814-A73D61FEA861}"/>
                </a:ext>
              </a:extLst>
            </p:cNvPr>
            <p:cNvSpPr txBox="1"/>
            <p:nvPr/>
          </p:nvSpPr>
          <p:spPr>
            <a:xfrm>
              <a:off x="4582529" y="3310444"/>
              <a:ext cx="2065292" cy="566426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08000" rIns="144000" bIns="144000" anchor="ctr"/>
            <a:lstStyle>
              <a:defPPr>
                <a:defRPr lang="en-US"/>
              </a:defPPr>
              <a:lvl1pPr>
                <a:defRPr sz="3200" baseline="-900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r>
                <a:rPr lang="en-GB" dirty="0"/>
                <a:t>📡</a:t>
              </a:r>
              <a:r>
                <a:rPr lang="en-GB" baseline="0" dirty="0"/>
                <a:t> </a:t>
              </a:r>
              <a:r>
                <a:rPr lang="en-GB" sz="2400" baseline="0" dirty="0">
                  <a:solidFill>
                    <a:schemeClr val="tx1"/>
                  </a:solidFill>
                  <a:latin typeface="+mj-lt"/>
                  <a:cs typeface="Arial" panose="020B0604020202020204" pitchFamily="34" charset="0"/>
                </a:rPr>
                <a:t>Antenna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26CCB614-25CE-FC81-B440-A1A95897C5F3}"/>
                </a:ext>
              </a:extLst>
            </p:cNvPr>
            <p:cNvSpPr txBox="1"/>
            <p:nvPr/>
          </p:nvSpPr>
          <p:spPr>
            <a:xfrm>
              <a:off x="4909067" y="2832506"/>
              <a:ext cx="1497388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GB" sz="2000" i="1" noProof="1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on-premises</a:t>
              </a:r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9C04BF04-B0AB-4D87-F6C2-896B4DA89BD0}"/>
                </a:ext>
              </a:extLst>
            </p:cNvPr>
            <p:cNvSpPr/>
            <p:nvPr/>
          </p:nvSpPr>
          <p:spPr>
            <a:xfrm>
              <a:off x="4582529" y="4058888"/>
              <a:ext cx="2065292" cy="566426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🔌 </a:t>
              </a:r>
              <a:r>
                <a:rPr lang="en-GB" sz="2400" dirty="0">
                  <a:solidFill>
                    <a:schemeClr val="tx1"/>
                  </a:solidFill>
                  <a:effectLst>
                    <a:glow>
                      <a:schemeClr val="bg1"/>
                    </a:glow>
                  </a:effectLst>
                  <a:latin typeface="+mj-lt"/>
                  <a:cs typeface="Arial" panose="020B0604020202020204" pitchFamily="34" charset="0"/>
                </a:rPr>
                <a:t>Pluggable</a:t>
              </a:r>
            </a:p>
          </p:txBody>
        </p:sp>
      </p:grpSp>
      <p:cxnSp>
        <p:nvCxnSpPr>
          <p:cNvPr id="55" name="Straight Arrow Connector 44">
            <a:extLst>
              <a:ext uri="{FF2B5EF4-FFF2-40B4-BE49-F238E27FC236}">
                <a16:creationId xmlns:a16="http://schemas.microsoft.com/office/drawing/2014/main" id="{5AC2F4C2-9E50-E4BD-D5D2-3A76FE4570D3}"/>
              </a:ext>
            </a:extLst>
          </p:cNvPr>
          <p:cNvCxnSpPr>
            <a:cxnSpLocks/>
          </p:cNvCxnSpPr>
          <p:nvPr/>
        </p:nvCxnSpPr>
        <p:spPr>
          <a:xfrm>
            <a:off x="5045396" y="1937755"/>
            <a:ext cx="0" cy="2335428"/>
          </a:xfrm>
          <a:prstGeom prst="straightConnector1">
            <a:avLst/>
          </a:prstGeom>
          <a:ln>
            <a:solidFill>
              <a:schemeClr val="accent4"/>
            </a:solidFill>
            <a:prstDash val="dash"/>
            <a:headEnd type="triangle" w="lg" len="lg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F87DC56E-1D91-37AD-963E-9C3E548E3F96}"/>
              </a:ext>
            </a:extLst>
          </p:cNvPr>
          <p:cNvSpPr txBox="1"/>
          <p:nvPr/>
        </p:nvSpPr>
        <p:spPr>
          <a:xfrm>
            <a:off x="5080146" y="3095906"/>
            <a:ext cx="169280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bidirectional channel</a:t>
            </a:r>
            <a:endParaRPr lang="en-GB" sz="2800" baseline="-11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6921361D-EE7D-C590-3558-DB1EAAAED3CC}"/>
              </a:ext>
            </a:extLst>
          </p:cNvPr>
          <p:cNvSpPr/>
          <p:nvPr/>
        </p:nvSpPr>
        <p:spPr>
          <a:xfrm>
            <a:off x="715027" y="1065916"/>
            <a:ext cx="2182444" cy="760959"/>
          </a:xfrm>
          <a:prstGeom prst="rect">
            <a:avLst/>
          </a:prstGeom>
          <a:solidFill>
            <a:schemeClr val="bg1"/>
          </a:solidFill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8000" tIns="72000" rIns="108000" bIns="72000"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🔆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Locator</a:t>
            </a:r>
          </a:p>
          <a:p>
            <a:pPr>
              <a:defRPr/>
            </a:pP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- schema code</a:t>
            </a:r>
            <a:endParaRPr lang="en-GB" sz="2800" baseline="-11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D0E11E0-F6F5-B70C-946F-9A7443487E22}"/>
              </a:ext>
            </a:extLst>
          </p:cNvPr>
          <p:cNvSpPr txBox="1"/>
          <p:nvPr/>
        </p:nvSpPr>
        <p:spPr>
          <a:xfrm>
            <a:off x="827506" y="1974488"/>
            <a:ext cx="243656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0CF6DC2C-08C8-9E2D-CA13-D52CD27B4F80}"/>
              </a:ext>
            </a:extLst>
          </p:cNvPr>
          <p:cNvSpPr txBox="1"/>
          <p:nvPr/>
        </p:nvSpPr>
        <p:spPr>
          <a:xfrm>
            <a:off x="2986118" y="2835527"/>
            <a:ext cx="130472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read </a:t>
            </a:r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👀</a:t>
            </a:r>
          </a:p>
        </p:txBody>
      </p:sp>
      <p:cxnSp>
        <p:nvCxnSpPr>
          <p:cNvPr id="106" name="Straight Arrow Connector 44">
            <a:extLst>
              <a:ext uri="{FF2B5EF4-FFF2-40B4-BE49-F238E27FC236}">
                <a16:creationId xmlns:a16="http://schemas.microsoft.com/office/drawing/2014/main" id="{C77519B8-38A0-2CC5-3A85-32BB0508E2C5}"/>
              </a:ext>
            </a:extLst>
          </p:cNvPr>
          <p:cNvCxnSpPr>
            <a:cxnSpLocks/>
            <a:stCxn id="120" idx="0"/>
            <a:endCxn id="19" idx="3"/>
          </p:cNvCxnSpPr>
          <p:nvPr/>
        </p:nvCxnSpPr>
        <p:spPr>
          <a:xfrm rot="16200000" flipV="1">
            <a:off x="3268898" y="294447"/>
            <a:ext cx="701791" cy="1444645"/>
          </a:xfrm>
          <a:prstGeom prst="bentConnector2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C7E543E3-4A92-9C22-2B1D-7B13F0A6BAEA}"/>
              </a:ext>
            </a:extLst>
          </p:cNvPr>
          <p:cNvSpPr txBox="1"/>
          <p:nvPr/>
        </p:nvSpPr>
        <p:spPr>
          <a:xfrm>
            <a:off x="2881955" y="254237"/>
            <a:ext cx="117178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register</a:t>
            </a:r>
            <a:endParaRPr lang="en-GB" sz="2800" baseline="-11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854637D7-6D59-6444-EA62-274D160AB4EE}"/>
              </a:ext>
            </a:extLst>
          </p:cNvPr>
          <p:cNvSpPr txBox="1"/>
          <p:nvPr/>
        </p:nvSpPr>
        <p:spPr>
          <a:xfrm>
            <a:off x="4084143" y="1367665"/>
            <a:ext cx="515943" cy="565143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US" dirty="0"/>
              <a:t>       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C436210B-BAEF-2DF0-B724-57F9CB8FEB6D}"/>
              </a:ext>
            </a:extLst>
          </p:cNvPr>
          <p:cNvSpPr txBox="1"/>
          <p:nvPr/>
        </p:nvSpPr>
        <p:spPr>
          <a:xfrm>
            <a:off x="5507632" y="1371375"/>
            <a:ext cx="426399" cy="565143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US" dirty="0"/>
              <a:t>       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5571E18-92A3-5FFC-71A0-3A14A23AED81}"/>
              </a:ext>
            </a:extLst>
          </p:cNvPr>
          <p:cNvSpPr/>
          <p:nvPr/>
        </p:nvSpPr>
        <p:spPr>
          <a:xfrm>
            <a:off x="9987766" y="1374336"/>
            <a:ext cx="1764232" cy="556732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👥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Domain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DD75CD3D-F4D9-255B-E0E4-2257DFA093BE}"/>
              </a:ext>
            </a:extLst>
          </p:cNvPr>
          <p:cNvSpPr txBox="1"/>
          <p:nvPr/>
        </p:nvSpPr>
        <p:spPr>
          <a:xfrm>
            <a:off x="8003662" y="1374470"/>
            <a:ext cx="515943" cy="565143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US" dirty="0"/>
              <a:t>       </a:t>
            </a:r>
          </a:p>
        </p:txBody>
      </p:sp>
      <p:cxnSp>
        <p:nvCxnSpPr>
          <p:cNvPr id="143" name="Straight Arrow Connector 44">
            <a:extLst>
              <a:ext uri="{FF2B5EF4-FFF2-40B4-BE49-F238E27FC236}">
                <a16:creationId xmlns:a16="http://schemas.microsoft.com/office/drawing/2014/main" id="{B15FE06C-718F-234B-2413-086BCB66B9AC}"/>
              </a:ext>
            </a:extLst>
          </p:cNvPr>
          <p:cNvCxnSpPr>
            <a:cxnSpLocks/>
            <a:stCxn id="13" idx="0"/>
          </p:cNvCxnSpPr>
          <p:nvPr/>
        </p:nvCxnSpPr>
        <p:spPr>
          <a:xfrm rot="16200000" flipV="1">
            <a:off x="9561552" y="66006"/>
            <a:ext cx="8412" cy="2608248"/>
          </a:xfrm>
          <a:prstGeom prst="bentConnector3">
            <a:avLst>
              <a:gd name="adj1" fmla="val 6674608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2A3DF47A-D9D4-BE43-7B05-D2439A3BD7F7}"/>
              </a:ext>
            </a:extLst>
          </p:cNvPr>
          <p:cNvSpPr txBox="1"/>
          <p:nvPr/>
        </p:nvSpPr>
        <p:spPr>
          <a:xfrm>
            <a:off x="9714988" y="519868"/>
            <a:ext cx="426399" cy="565143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US" dirty="0"/>
              <a:t>       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C9070E41-E952-A55D-0020-BCBE5E0209A6}"/>
              </a:ext>
            </a:extLst>
          </p:cNvPr>
          <p:cNvSpPr txBox="1"/>
          <p:nvPr/>
        </p:nvSpPr>
        <p:spPr>
          <a:xfrm>
            <a:off x="8576874" y="307329"/>
            <a:ext cx="349129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natural language commands</a:t>
            </a:r>
          </a:p>
        </p:txBody>
      </p:sp>
      <p:cxnSp>
        <p:nvCxnSpPr>
          <p:cNvPr id="156" name="Straight Arrow Connector 44">
            <a:extLst>
              <a:ext uri="{FF2B5EF4-FFF2-40B4-BE49-F238E27FC236}">
                <a16:creationId xmlns:a16="http://schemas.microsoft.com/office/drawing/2014/main" id="{647496DA-AA1E-6663-D9B4-9E449DB68FAC}"/>
              </a:ext>
            </a:extLst>
          </p:cNvPr>
          <p:cNvCxnSpPr>
            <a:cxnSpLocks/>
            <a:stCxn id="142" idx="2"/>
            <a:endCxn id="29" idx="2"/>
          </p:cNvCxnSpPr>
          <p:nvPr/>
        </p:nvCxnSpPr>
        <p:spPr>
          <a:xfrm rot="16200000" flipH="1">
            <a:off x="9241211" y="960035"/>
            <a:ext cx="649093" cy="2608247"/>
          </a:xfrm>
          <a:prstGeom prst="bentConnector3">
            <a:avLst>
              <a:gd name="adj1" fmla="val 135218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E54DDD8B-5795-CBC2-7138-F2EC9B95CB7D}"/>
              </a:ext>
            </a:extLst>
          </p:cNvPr>
          <p:cNvSpPr txBox="1"/>
          <p:nvPr/>
        </p:nvSpPr>
        <p:spPr>
          <a:xfrm>
            <a:off x="8600423" y="2909351"/>
            <a:ext cx="267147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natural language events </a:t>
            </a:r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⚠️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</a:t>
            </a:r>
            <a:endParaRPr lang="en-GB" sz="2800" baseline="-11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cxnSp>
        <p:nvCxnSpPr>
          <p:cNvPr id="174" name="Straight Arrow Connector 44">
            <a:extLst>
              <a:ext uri="{FF2B5EF4-FFF2-40B4-BE49-F238E27FC236}">
                <a16:creationId xmlns:a16="http://schemas.microsoft.com/office/drawing/2014/main" id="{3E0AB125-8604-8238-D32C-91C09B664294}"/>
              </a:ext>
            </a:extLst>
          </p:cNvPr>
          <p:cNvCxnSpPr>
            <a:cxnSpLocks/>
            <a:stCxn id="43" idx="1"/>
            <a:endCxn id="47" idx="1"/>
          </p:cNvCxnSpPr>
          <p:nvPr/>
        </p:nvCxnSpPr>
        <p:spPr>
          <a:xfrm rot="10800000" flipV="1">
            <a:off x="4860280" y="4634224"/>
            <a:ext cx="12700" cy="748444"/>
          </a:xfrm>
          <a:prstGeom prst="bentConnector3">
            <a:avLst>
              <a:gd name="adj1" fmla="val 5611764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77" name="TextBox 176">
            <a:extLst>
              <a:ext uri="{FF2B5EF4-FFF2-40B4-BE49-F238E27FC236}">
                <a16:creationId xmlns:a16="http://schemas.microsoft.com/office/drawing/2014/main" id="{B51C7242-E20A-C497-3B3A-5B6BDF013B0E}"/>
              </a:ext>
            </a:extLst>
          </p:cNvPr>
          <p:cNvSpPr txBox="1"/>
          <p:nvPr/>
        </p:nvSpPr>
        <p:spPr>
          <a:xfrm>
            <a:off x="1678765" y="4478751"/>
            <a:ext cx="2377877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execute machine-level commands</a:t>
            </a:r>
          </a:p>
        </p:txBody>
      </p:sp>
      <p:cxnSp>
        <p:nvCxnSpPr>
          <p:cNvPr id="178" name="Straight Arrow Connector 44">
            <a:extLst>
              <a:ext uri="{FF2B5EF4-FFF2-40B4-BE49-F238E27FC236}">
                <a16:creationId xmlns:a16="http://schemas.microsoft.com/office/drawing/2014/main" id="{98041E76-9A58-846C-2A6A-6265E1ADD8AF}"/>
              </a:ext>
            </a:extLst>
          </p:cNvPr>
          <p:cNvCxnSpPr>
            <a:cxnSpLocks/>
            <a:stCxn id="47" idx="3"/>
            <a:endCxn id="43" idx="3"/>
          </p:cNvCxnSpPr>
          <p:nvPr/>
        </p:nvCxnSpPr>
        <p:spPr>
          <a:xfrm flipV="1">
            <a:off x="7609184" y="4634224"/>
            <a:ext cx="12700" cy="748444"/>
          </a:xfrm>
          <a:prstGeom prst="bentConnector3">
            <a:avLst>
              <a:gd name="adj1" fmla="val 4764709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D4759275-1326-4272-659B-064614032F2D}"/>
              </a:ext>
            </a:extLst>
          </p:cNvPr>
          <p:cNvSpPr txBox="1"/>
          <p:nvPr/>
        </p:nvSpPr>
        <p:spPr>
          <a:xfrm>
            <a:off x="8285019" y="4471932"/>
            <a:ext cx="243995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listen to machine-level events </a:t>
            </a:r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⚠️</a:t>
            </a:r>
          </a:p>
        </p:txBody>
      </p:sp>
      <p:sp>
        <p:nvSpPr>
          <p:cNvPr id="189" name="Can 188">
            <a:extLst>
              <a:ext uri="{FF2B5EF4-FFF2-40B4-BE49-F238E27FC236}">
                <a16:creationId xmlns:a16="http://schemas.microsoft.com/office/drawing/2014/main" id="{34891022-4D89-528B-2C4E-1536E81EDCD6}"/>
              </a:ext>
            </a:extLst>
          </p:cNvPr>
          <p:cNvSpPr/>
          <p:nvPr/>
        </p:nvSpPr>
        <p:spPr>
          <a:xfrm>
            <a:off x="6541978" y="681017"/>
            <a:ext cx="700881" cy="529881"/>
          </a:xfrm>
          <a:prstGeom prst="can">
            <a:avLst/>
          </a:prstGeom>
          <a:solidFill>
            <a:schemeClr val="accent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cxnSp>
        <p:nvCxnSpPr>
          <p:cNvPr id="190" name="Straight Arrow Connector 44">
            <a:extLst>
              <a:ext uri="{FF2B5EF4-FFF2-40B4-BE49-F238E27FC236}">
                <a16:creationId xmlns:a16="http://schemas.microsoft.com/office/drawing/2014/main" id="{87F57687-D438-F447-CF01-85FAB9AA1366}"/>
              </a:ext>
            </a:extLst>
          </p:cNvPr>
          <p:cNvCxnSpPr>
            <a:cxnSpLocks/>
            <a:stCxn id="189" idx="2"/>
            <a:endCxn id="127" idx="0"/>
          </p:cNvCxnSpPr>
          <p:nvPr/>
        </p:nvCxnSpPr>
        <p:spPr>
          <a:xfrm rot="10800000" flipV="1">
            <a:off x="5720832" y="945957"/>
            <a:ext cx="821146" cy="425417"/>
          </a:xfrm>
          <a:prstGeom prst="bentConnector2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96" name="TextBox 195">
            <a:extLst>
              <a:ext uri="{FF2B5EF4-FFF2-40B4-BE49-F238E27FC236}">
                <a16:creationId xmlns:a16="http://schemas.microsoft.com/office/drawing/2014/main" id="{B79B7F1C-5540-7D41-0683-782A6CCA7756}"/>
              </a:ext>
            </a:extLst>
          </p:cNvPr>
          <p:cNvSpPr txBox="1"/>
          <p:nvPr/>
        </p:nvSpPr>
        <p:spPr>
          <a:xfrm>
            <a:off x="7413126" y="1355763"/>
            <a:ext cx="515943" cy="565143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US" dirty="0"/>
              <a:t>       </a:t>
            </a:r>
          </a:p>
        </p:txBody>
      </p:sp>
      <p:cxnSp>
        <p:nvCxnSpPr>
          <p:cNvPr id="197" name="Straight Arrow Connector 44">
            <a:extLst>
              <a:ext uri="{FF2B5EF4-FFF2-40B4-BE49-F238E27FC236}">
                <a16:creationId xmlns:a16="http://schemas.microsoft.com/office/drawing/2014/main" id="{854B1074-F484-E15B-BBA9-F814CE6091B0}"/>
              </a:ext>
            </a:extLst>
          </p:cNvPr>
          <p:cNvCxnSpPr>
            <a:cxnSpLocks/>
            <a:stCxn id="196" idx="0"/>
            <a:endCxn id="189" idx="4"/>
          </p:cNvCxnSpPr>
          <p:nvPr/>
        </p:nvCxnSpPr>
        <p:spPr>
          <a:xfrm rot="16200000" flipV="1">
            <a:off x="7252077" y="936741"/>
            <a:ext cx="409805" cy="428239"/>
          </a:xfrm>
          <a:prstGeom prst="bentConnector2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C0BFF627-C77E-369D-502B-50111B462FC2}"/>
              </a:ext>
            </a:extLst>
          </p:cNvPr>
          <p:cNvSpPr txBox="1"/>
          <p:nvPr/>
        </p:nvSpPr>
        <p:spPr>
          <a:xfrm>
            <a:off x="5095204" y="539174"/>
            <a:ext cx="151405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translate</a:t>
            </a:r>
            <a:b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API</a:t>
            </a:r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79DA9369-BC4B-3F8C-5FCB-DEDC9ED09B46}"/>
              </a:ext>
            </a:extLst>
          </p:cNvPr>
          <p:cNvSpPr txBox="1"/>
          <p:nvPr/>
        </p:nvSpPr>
        <p:spPr>
          <a:xfrm>
            <a:off x="10611910" y="1157476"/>
            <a:ext cx="515943" cy="565143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pPr algn="l"/>
            <a:r>
              <a:rPr lang="en-US" dirty="0"/>
              <a:t>      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F0C26B8-B740-9D18-1E28-3B4F33269C89}"/>
              </a:ext>
            </a:extLst>
          </p:cNvPr>
          <p:cNvSpPr txBox="1"/>
          <p:nvPr/>
        </p:nvSpPr>
        <p:spPr>
          <a:xfrm>
            <a:off x="218143" y="6278524"/>
            <a:ext cx="1461939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RELAYER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0FFDD63-800D-7667-A10C-B17D18049787}"/>
              </a:ext>
            </a:extLst>
          </p:cNvPr>
          <p:cNvSpPr/>
          <p:nvPr/>
        </p:nvSpPr>
        <p:spPr>
          <a:xfrm>
            <a:off x="7150118" y="5202668"/>
            <a:ext cx="360000" cy="360000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F4D0ABE4-ABC9-FA60-ACC0-2F3A3894414E}"/>
              </a:ext>
            </a:extLst>
          </p:cNvPr>
          <p:cNvSpPr/>
          <p:nvPr/>
        </p:nvSpPr>
        <p:spPr>
          <a:xfrm>
            <a:off x="7150118" y="4459585"/>
            <a:ext cx="360000" cy="360000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49ABF613-7318-C7D8-57E4-A4E385E941DC}"/>
              </a:ext>
            </a:extLst>
          </p:cNvPr>
          <p:cNvSpPr/>
          <p:nvPr/>
        </p:nvSpPr>
        <p:spPr>
          <a:xfrm>
            <a:off x="3084585" y="790664"/>
            <a:ext cx="360000" cy="360000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3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463D782F-63EC-E3A8-9FD6-0CE7A4068417}"/>
              </a:ext>
            </a:extLst>
          </p:cNvPr>
          <p:cNvSpPr/>
          <p:nvPr/>
        </p:nvSpPr>
        <p:spPr>
          <a:xfrm>
            <a:off x="3091722" y="3358599"/>
            <a:ext cx="360000" cy="360000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5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A5E35BF1-9B72-B64E-3091-E84BB22B7C03}"/>
              </a:ext>
            </a:extLst>
          </p:cNvPr>
          <p:cNvSpPr/>
          <p:nvPr/>
        </p:nvSpPr>
        <p:spPr>
          <a:xfrm>
            <a:off x="8237376" y="333300"/>
            <a:ext cx="360000" cy="360000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A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21F3DB2B-F686-ADFF-536B-D85A6938A572}"/>
              </a:ext>
            </a:extLst>
          </p:cNvPr>
          <p:cNvSpPr/>
          <p:nvPr/>
        </p:nvSpPr>
        <p:spPr>
          <a:xfrm>
            <a:off x="4711881" y="659391"/>
            <a:ext cx="360000" cy="360000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89A6A291-7EBB-4A50-309F-A98FFFE45EE6}"/>
              </a:ext>
            </a:extLst>
          </p:cNvPr>
          <p:cNvSpPr/>
          <p:nvPr/>
        </p:nvSpPr>
        <p:spPr>
          <a:xfrm>
            <a:off x="3628580" y="5223370"/>
            <a:ext cx="360000" cy="360000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C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1AED02BB-066C-DEF4-8998-ADD2FBC32745}"/>
              </a:ext>
            </a:extLst>
          </p:cNvPr>
          <p:cNvSpPr/>
          <p:nvPr/>
        </p:nvSpPr>
        <p:spPr>
          <a:xfrm>
            <a:off x="8379782" y="5194061"/>
            <a:ext cx="360000" cy="360000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X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37FC4527-E861-4FAD-16BF-8CF35721EB02}"/>
              </a:ext>
            </a:extLst>
          </p:cNvPr>
          <p:cNvSpPr/>
          <p:nvPr/>
        </p:nvSpPr>
        <p:spPr>
          <a:xfrm>
            <a:off x="8240423" y="2936327"/>
            <a:ext cx="360000" cy="360000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Z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C8AAF6CA-0B78-F401-27AD-8586FA014CBA}"/>
              </a:ext>
            </a:extLst>
          </p:cNvPr>
          <p:cNvSpPr/>
          <p:nvPr/>
        </p:nvSpPr>
        <p:spPr>
          <a:xfrm>
            <a:off x="8605922" y="1747718"/>
            <a:ext cx="360000" cy="360000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6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544C26F-F895-8C72-F33F-2DD9B5EAB858}"/>
              </a:ext>
            </a:extLst>
          </p:cNvPr>
          <p:cNvSpPr/>
          <p:nvPr/>
        </p:nvSpPr>
        <p:spPr>
          <a:xfrm>
            <a:off x="9987765" y="2031974"/>
            <a:ext cx="1764232" cy="556732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⏳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Buffer</a:t>
            </a:r>
          </a:p>
        </p:txBody>
      </p:sp>
      <p:cxnSp>
        <p:nvCxnSpPr>
          <p:cNvPr id="31" name="Straight Arrow Connector 44">
            <a:extLst>
              <a:ext uri="{FF2B5EF4-FFF2-40B4-BE49-F238E27FC236}">
                <a16:creationId xmlns:a16="http://schemas.microsoft.com/office/drawing/2014/main" id="{9CC7A54F-8A2D-FFB9-0C4A-062C33C99EE2}"/>
              </a:ext>
            </a:extLst>
          </p:cNvPr>
          <p:cNvCxnSpPr>
            <a:cxnSpLocks/>
            <a:stCxn id="29" idx="3"/>
            <a:endCxn id="13" idx="3"/>
          </p:cNvCxnSpPr>
          <p:nvPr/>
        </p:nvCxnSpPr>
        <p:spPr>
          <a:xfrm flipV="1">
            <a:off x="11751997" y="1652702"/>
            <a:ext cx="1" cy="657638"/>
          </a:xfrm>
          <a:prstGeom prst="bentConnector3">
            <a:avLst>
              <a:gd name="adj1" fmla="val 2286010000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3242CDDF-677D-B6B6-61E7-A3605B2A6899}"/>
              </a:ext>
            </a:extLst>
          </p:cNvPr>
          <p:cNvSpPr txBox="1"/>
          <p:nvPr/>
        </p:nvSpPr>
        <p:spPr>
          <a:xfrm>
            <a:off x="8514497" y="1237205"/>
            <a:ext cx="151405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new!</a:t>
            </a:r>
          </a:p>
        </p:txBody>
      </p:sp>
      <p:cxnSp>
        <p:nvCxnSpPr>
          <p:cNvPr id="40" name="Straight Arrow Connector 44">
            <a:extLst>
              <a:ext uri="{FF2B5EF4-FFF2-40B4-BE49-F238E27FC236}">
                <a16:creationId xmlns:a16="http://schemas.microsoft.com/office/drawing/2014/main" id="{39CD243C-F346-8B8D-00B5-6738A8D7A802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8508349" y="1649598"/>
            <a:ext cx="1479417" cy="310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8" name="Rectangle 57">
            <a:extLst>
              <a:ext uri="{FF2B5EF4-FFF2-40B4-BE49-F238E27FC236}">
                <a16:creationId xmlns:a16="http://schemas.microsoft.com/office/drawing/2014/main" id="{E63AE86B-B51D-48A9-69A5-39769B6A0AE6}"/>
              </a:ext>
            </a:extLst>
          </p:cNvPr>
          <p:cNvSpPr/>
          <p:nvPr/>
        </p:nvSpPr>
        <p:spPr>
          <a:xfrm>
            <a:off x="608242" y="2077842"/>
            <a:ext cx="2377877" cy="1642511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2000" i="1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5BE76C3-AF81-EDF3-36F7-FA210009B13A}"/>
              </a:ext>
            </a:extLst>
          </p:cNvPr>
          <p:cNvSpPr/>
          <p:nvPr/>
        </p:nvSpPr>
        <p:spPr>
          <a:xfrm>
            <a:off x="715026" y="2181960"/>
            <a:ext cx="2182444" cy="565252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🕸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Graph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7BE8BD4D-0B1D-F12F-2B74-44DEF93C98AF}"/>
              </a:ext>
            </a:extLst>
          </p:cNvPr>
          <p:cNvSpPr/>
          <p:nvPr/>
        </p:nvSpPr>
        <p:spPr>
          <a:xfrm>
            <a:off x="705842" y="2854751"/>
            <a:ext cx="2182676" cy="760959"/>
          </a:xfrm>
          <a:prstGeom prst="rect">
            <a:avLst/>
          </a:prstGeom>
          <a:solidFill>
            <a:schemeClr val="bg1"/>
          </a:solidFill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8000" tIns="72000" rIns="108000" bIns="72000"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🧩 </a:t>
            </a: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Schema code</a:t>
            </a:r>
            <a:b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</a:br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- API definition</a:t>
            </a:r>
          </a:p>
        </p:txBody>
      </p:sp>
      <p:cxnSp>
        <p:nvCxnSpPr>
          <p:cNvPr id="98" name="Straight Arrow Connector 44">
            <a:extLst>
              <a:ext uri="{FF2B5EF4-FFF2-40B4-BE49-F238E27FC236}">
                <a16:creationId xmlns:a16="http://schemas.microsoft.com/office/drawing/2014/main" id="{97AAF784-5FE8-53B1-0B05-BD86C0906C31}"/>
              </a:ext>
            </a:extLst>
          </p:cNvPr>
          <p:cNvCxnSpPr>
            <a:cxnSpLocks/>
            <a:stCxn id="120" idx="2"/>
            <a:endCxn id="66" idx="3"/>
          </p:cNvCxnSpPr>
          <p:nvPr/>
        </p:nvCxnSpPr>
        <p:spPr>
          <a:xfrm rot="5400000">
            <a:off x="2964106" y="1857221"/>
            <a:ext cx="1302423" cy="1453597"/>
          </a:xfrm>
          <a:prstGeom prst="bentConnector2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1" name="Rounded Rectangle 70">
            <a:extLst>
              <a:ext uri="{FF2B5EF4-FFF2-40B4-BE49-F238E27FC236}">
                <a16:creationId xmlns:a16="http://schemas.microsoft.com/office/drawing/2014/main" id="{519B334D-2C51-A466-09AA-F6AAAF0ECCFC}"/>
              </a:ext>
            </a:extLst>
          </p:cNvPr>
          <p:cNvSpPr/>
          <p:nvPr/>
        </p:nvSpPr>
        <p:spPr>
          <a:xfrm>
            <a:off x="149776" y="953883"/>
            <a:ext cx="360000" cy="360000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4</a:t>
            </a:r>
          </a:p>
        </p:txBody>
      </p:sp>
      <p:cxnSp>
        <p:nvCxnSpPr>
          <p:cNvPr id="78" name="Straight Arrow Connector 44">
            <a:extLst>
              <a:ext uri="{FF2B5EF4-FFF2-40B4-BE49-F238E27FC236}">
                <a16:creationId xmlns:a16="http://schemas.microsoft.com/office/drawing/2014/main" id="{978F4015-BB95-1608-072C-5363416AD83B}"/>
              </a:ext>
            </a:extLst>
          </p:cNvPr>
          <p:cNvCxnSpPr>
            <a:cxnSpLocks/>
            <a:stCxn id="63" idx="1"/>
            <a:endCxn id="66" idx="1"/>
          </p:cNvCxnSpPr>
          <p:nvPr/>
        </p:nvCxnSpPr>
        <p:spPr>
          <a:xfrm rot="10800000" flipV="1">
            <a:off x="705843" y="1446395"/>
            <a:ext cx="9185" cy="1788835"/>
          </a:xfrm>
          <a:prstGeom prst="bentConnector3">
            <a:avLst>
              <a:gd name="adj1" fmla="val 4540871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3" name="Straight Arrow Connector 44">
            <a:extLst>
              <a:ext uri="{FF2B5EF4-FFF2-40B4-BE49-F238E27FC236}">
                <a16:creationId xmlns:a16="http://schemas.microsoft.com/office/drawing/2014/main" id="{6C1CD87E-4D0E-374F-4BC2-80F2C327D7F6}"/>
              </a:ext>
            </a:extLst>
          </p:cNvPr>
          <p:cNvCxnSpPr>
            <a:cxnSpLocks/>
            <a:stCxn id="127" idx="2"/>
            <a:endCxn id="196" idx="2"/>
          </p:cNvCxnSpPr>
          <p:nvPr/>
        </p:nvCxnSpPr>
        <p:spPr>
          <a:xfrm rot="5400000" flipH="1" flipV="1">
            <a:off x="6688159" y="953579"/>
            <a:ext cx="15612" cy="1950266"/>
          </a:xfrm>
          <a:prstGeom prst="bentConnector3">
            <a:avLst>
              <a:gd name="adj1" fmla="val -1464258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B911D582-483E-65FB-43B1-00B523A9C1D3}"/>
              </a:ext>
            </a:extLst>
          </p:cNvPr>
          <p:cNvSpPr txBox="1"/>
          <p:nvPr/>
        </p:nvSpPr>
        <p:spPr>
          <a:xfrm>
            <a:off x="6047633" y="2258754"/>
            <a:ext cx="208263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translate events</a:t>
            </a:r>
            <a:endParaRPr lang="en-GB" sz="2800" baseline="-11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2DFD3F6B-8F20-86F4-41A3-657DEE348F1D}"/>
              </a:ext>
            </a:extLst>
          </p:cNvPr>
          <p:cNvSpPr/>
          <p:nvPr/>
        </p:nvSpPr>
        <p:spPr>
          <a:xfrm>
            <a:off x="5687634" y="2285730"/>
            <a:ext cx="360000" cy="360000"/>
          </a:xfrm>
          <a:prstGeom prst="roundRect">
            <a:avLst/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Y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F44909C-C855-15B3-4677-0B4B9076B9E0}"/>
              </a:ext>
            </a:extLst>
          </p:cNvPr>
          <p:cNvSpPr txBox="1"/>
          <p:nvPr/>
        </p:nvSpPr>
        <p:spPr>
          <a:xfrm>
            <a:off x="9891738" y="951678"/>
            <a:ext cx="199302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noProof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owner</a:t>
            </a:r>
          </a:p>
        </p:txBody>
      </p:sp>
    </p:spTree>
    <p:extLst>
      <p:ext uri="{BB962C8B-B14F-4D97-AF65-F5344CB8AC3E}">
        <p14:creationId xmlns:p14="http://schemas.microsoft.com/office/powerpoint/2010/main" val="3306286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AB208-F8B0-DD2A-0C60-9CA9C747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Rectangle 212">
            <a:extLst>
              <a:ext uri="{FF2B5EF4-FFF2-40B4-BE49-F238E27FC236}">
                <a16:creationId xmlns:a16="http://schemas.microsoft.com/office/drawing/2014/main" id="{F22ADEE4-98F6-7F85-3232-D4E1C21CBAB3}"/>
              </a:ext>
            </a:extLst>
          </p:cNvPr>
          <p:cNvSpPr/>
          <p:nvPr/>
        </p:nvSpPr>
        <p:spPr>
          <a:xfrm>
            <a:off x="5573025" y="347431"/>
            <a:ext cx="2367815" cy="3233803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2000" i="1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92817D44-AF69-E368-3E25-B2228DD1691E}"/>
              </a:ext>
            </a:extLst>
          </p:cNvPr>
          <p:cNvSpPr txBox="1"/>
          <p:nvPr/>
        </p:nvSpPr>
        <p:spPr>
          <a:xfrm>
            <a:off x="5722026" y="1655161"/>
            <a:ext cx="2065292" cy="566426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08000" rIns="144000" bIns="144000" anchor="ctr"/>
          <a:lstStyle>
            <a:defPPr>
              <a:defRPr lang="en-US"/>
            </a:defPPr>
            <a:lvl1pPr>
              <a:defRPr sz="3200" baseline="-900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GB" dirty="0"/>
              <a:t>📡</a:t>
            </a:r>
            <a:r>
              <a:rPr lang="en-GB" baseline="0" dirty="0"/>
              <a:t> </a:t>
            </a:r>
            <a:r>
              <a:rPr lang="en-GB" sz="2400" baseline="0" dirty="0">
                <a:solidFill>
                  <a:schemeClr val="tx1"/>
                </a:solidFill>
                <a:latin typeface="+mj-lt"/>
                <a:cs typeface="Arial" panose="020B0604020202020204" pitchFamily="34" charset="0"/>
              </a:rPr>
              <a:t>Antenna</a:t>
            </a:r>
          </a:p>
        </p:txBody>
      </p:sp>
      <p:grpSp>
        <p:nvGrpSpPr>
          <p:cNvPr id="257" name="Group 256">
            <a:extLst>
              <a:ext uri="{FF2B5EF4-FFF2-40B4-BE49-F238E27FC236}">
                <a16:creationId xmlns:a16="http://schemas.microsoft.com/office/drawing/2014/main" id="{3AB9F3D3-83B1-848A-203A-303C6599DBE1}"/>
              </a:ext>
            </a:extLst>
          </p:cNvPr>
          <p:cNvGrpSpPr/>
          <p:nvPr/>
        </p:nvGrpSpPr>
        <p:grpSpPr>
          <a:xfrm>
            <a:off x="543993" y="1278445"/>
            <a:ext cx="1988691" cy="1383576"/>
            <a:chOff x="4959152" y="4727414"/>
            <a:chExt cx="1988691" cy="1383576"/>
          </a:xfrm>
        </p:grpSpPr>
        <p:grpSp>
          <p:nvGrpSpPr>
            <p:cNvPr id="258" name="Group 257">
              <a:extLst>
                <a:ext uri="{FF2B5EF4-FFF2-40B4-BE49-F238E27FC236}">
                  <a16:creationId xmlns:a16="http://schemas.microsoft.com/office/drawing/2014/main" id="{14468B98-FC04-44D9-1DB6-910AC750E08C}"/>
                </a:ext>
              </a:extLst>
            </p:cNvPr>
            <p:cNvGrpSpPr/>
            <p:nvPr/>
          </p:nvGrpSpPr>
          <p:grpSpPr>
            <a:xfrm>
              <a:off x="4959152" y="4727414"/>
              <a:ext cx="1988691" cy="1316816"/>
              <a:chOff x="4768207" y="3215212"/>
              <a:chExt cx="1988691" cy="1316816"/>
            </a:xfrm>
          </p:grpSpPr>
          <p:grpSp>
            <p:nvGrpSpPr>
              <p:cNvPr id="260" name="Group 259">
                <a:extLst>
                  <a:ext uri="{FF2B5EF4-FFF2-40B4-BE49-F238E27FC236}">
                    <a16:creationId xmlns:a16="http://schemas.microsoft.com/office/drawing/2014/main" id="{1572A610-8687-805C-D4E7-A9AC3B1A94A3}"/>
                  </a:ext>
                </a:extLst>
              </p:cNvPr>
              <p:cNvGrpSpPr/>
              <p:nvPr/>
            </p:nvGrpSpPr>
            <p:grpSpPr>
              <a:xfrm>
                <a:off x="4768207" y="3215212"/>
                <a:ext cx="1988691" cy="1316816"/>
                <a:chOff x="6139542" y="58284"/>
                <a:chExt cx="1988691" cy="1316816"/>
              </a:xfrm>
            </p:grpSpPr>
            <p:sp>
              <p:nvSpPr>
                <p:cNvPr id="264" name="Rectangle 263">
                  <a:extLst>
                    <a:ext uri="{FF2B5EF4-FFF2-40B4-BE49-F238E27FC236}">
                      <a16:creationId xmlns:a16="http://schemas.microsoft.com/office/drawing/2014/main" id="{032514FA-EE24-A21A-4926-789FC868277E}"/>
                    </a:ext>
                  </a:extLst>
                </p:cNvPr>
                <p:cNvSpPr/>
                <p:nvPr/>
              </p:nvSpPr>
              <p:spPr>
                <a:xfrm>
                  <a:off x="6236556" y="149580"/>
                  <a:ext cx="1791009" cy="562183"/>
                </a:xfrm>
                <a:prstGeom prst="rect">
                  <a:avLst/>
                </a:prstGeom>
                <a:solidFill>
                  <a:schemeClr val="tx1">
                    <a:lumMod val="95000"/>
                  </a:schemeClr>
                </a:solidFill>
                <a:ln w="28575">
                  <a:solidFill>
                    <a:schemeClr val="tx1">
                      <a:lumMod val="50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anchor="ctr"/>
                <a:lstStyle/>
                <a:p>
                  <a:r>
                    <a:rPr lang="en-GB" sz="3200" baseline="-9000" dirty="0">
                      <a:solidFill>
                        <a:schemeClr val="bg2">
                          <a:lumMod val="40000"/>
                          <a:lumOff val="60000"/>
                        </a:schemeClr>
                      </a:solidFill>
                      <a:effectLst>
                        <a:glow>
                          <a:schemeClr val="bg1"/>
                        </a:glow>
                      </a:effectLst>
                    </a:rPr>
                    <a:t>🧑‍🦰</a:t>
                  </a:r>
                  <a:r>
                    <a:rPr lang="en-GB" sz="2400" dirty="0">
                      <a:solidFill>
                        <a:sysClr val="windowText" lastClr="000000"/>
                      </a:solidFill>
                      <a:latin typeface="+mj-lt"/>
                      <a:cs typeface="Arial" panose="020B0604020202020204" pitchFamily="34" charset="0"/>
                    </a:rPr>
                    <a:t> Wallet</a:t>
                  </a:r>
                </a:p>
              </p:txBody>
            </p:sp>
            <p:sp>
              <p:nvSpPr>
                <p:cNvPr id="265" name="Rectangle 264">
                  <a:extLst>
                    <a:ext uri="{FF2B5EF4-FFF2-40B4-BE49-F238E27FC236}">
                      <a16:creationId xmlns:a16="http://schemas.microsoft.com/office/drawing/2014/main" id="{289C785C-35C6-6EFB-A1A0-2AD9B48E8CC5}"/>
                    </a:ext>
                  </a:extLst>
                </p:cNvPr>
                <p:cNvSpPr/>
                <p:nvPr/>
              </p:nvSpPr>
              <p:spPr>
                <a:xfrm>
                  <a:off x="6139542" y="58284"/>
                  <a:ext cx="1988691" cy="1316816"/>
                </a:xfrm>
                <a:prstGeom prst="rect">
                  <a:avLst/>
                </a:prstGeom>
                <a:noFill/>
                <a:ln w="12700">
                  <a:solidFill>
                    <a:srgbClr val="5A6B86"/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tIns="36000"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2000" i="1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endParaRPr>
                </a:p>
              </p:txBody>
            </p:sp>
          </p:grpSp>
          <p:sp>
            <p:nvSpPr>
              <p:cNvPr id="261" name="Rectangle 260">
                <a:extLst>
                  <a:ext uri="{FF2B5EF4-FFF2-40B4-BE49-F238E27FC236}">
                    <a16:creationId xmlns:a16="http://schemas.microsoft.com/office/drawing/2014/main" id="{E318C3DB-E2F5-E941-9198-E1E8277306A0}"/>
                  </a:ext>
                </a:extLst>
              </p:cNvPr>
              <p:cNvSpPr/>
              <p:nvPr/>
            </p:nvSpPr>
            <p:spPr>
              <a:xfrm>
                <a:off x="5501604" y="3951814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📣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  <p:sp>
            <p:nvSpPr>
              <p:cNvPr id="262" name="Rectangle 261">
                <a:extLst>
                  <a:ext uri="{FF2B5EF4-FFF2-40B4-BE49-F238E27FC236}">
                    <a16:creationId xmlns:a16="http://schemas.microsoft.com/office/drawing/2014/main" id="{B6D2F34F-A0B3-AE1D-0462-D26464805701}"/>
                  </a:ext>
                </a:extLst>
              </p:cNvPr>
              <p:cNvSpPr/>
              <p:nvPr/>
            </p:nvSpPr>
            <p:spPr>
              <a:xfrm>
                <a:off x="6133877" y="3951813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</a:t>
                </a:r>
                <a:r>
                  <a:rPr lang="en-GB" sz="3200" baseline="-10000" dirty="0"/>
                  <a:t>📱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  <p:sp>
            <p:nvSpPr>
              <p:cNvPr id="263" name="Rectangle 262">
                <a:extLst>
                  <a:ext uri="{FF2B5EF4-FFF2-40B4-BE49-F238E27FC236}">
                    <a16:creationId xmlns:a16="http://schemas.microsoft.com/office/drawing/2014/main" id="{C66F29A9-9701-EB3D-CD95-D4ED89D7389B}"/>
                  </a:ext>
                </a:extLst>
              </p:cNvPr>
              <p:cNvSpPr/>
              <p:nvPr/>
            </p:nvSpPr>
            <p:spPr>
              <a:xfrm>
                <a:off x="4861649" y="3951814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 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59" name="TextBox 258">
              <a:extLst>
                <a:ext uri="{FF2B5EF4-FFF2-40B4-BE49-F238E27FC236}">
                  <a16:creationId xmlns:a16="http://schemas.microsoft.com/office/drawing/2014/main" id="{8E468CA7-12F2-0C31-73B3-6F4D798C5D17}"/>
                </a:ext>
              </a:extLst>
            </p:cNvPr>
            <p:cNvSpPr txBox="1"/>
            <p:nvPr/>
          </p:nvSpPr>
          <p:spPr>
            <a:xfrm>
              <a:off x="5016883" y="5341549"/>
              <a:ext cx="502683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44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🤵</a:t>
              </a:r>
              <a:endParaRPr lang="en-US" sz="4400" dirty="0"/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A3088C9D-03EA-4C77-EB2E-F123FA5EBF29}"/>
              </a:ext>
            </a:extLst>
          </p:cNvPr>
          <p:cNvGrpSpPr/>
          <p:nvPr/>
        </p:nvGrpSpPr>
        <p:grpSpPr>
          <a:xfrm>
            <a:off x="5726633" y="497007"/>
            <a:ext cx="2060685" cy="560061"/>
            <a:chOff x="4951945" y="3423309"/>
            <a:chExt cx="2060685" cy="560061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F8CE400C-8396-81C0-5C6D-C292019DF5A8}"/>
                </a:ext>
              </a:extLst>
            </p:cNvPr>
            <p:cNvSpPr/>
            <p:nvPr/>
          </p:nvSpPr>
          <p:spPr>
            <a:xfrm>
              <a:off x="4951945" y="3423309"/>
              <a:ext cx="2060685" cy="560061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08000" rIns="144000" bIns="144000" anchor="ctr"/>
            <a:lstStyle/>
            <a:p>
              <a:endParaRPr lang="en-US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ECBB99F-F4FC-6E42-A1F3-A3D51674EC3A}"/>
                </a:ext>
              </a:extLst>
            </p:cNvPr>
            <p:cNvSpPr txBox="1"/>
            <p:nvPr/>
          </p:nvSpPr>
          <p:spPr>
            <a:xfrm>
              <a:off x="5001539" y="3491756"/>
              <a:ext cx="1560435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3200" baseline="-9000" noProof="1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🛜</a:t>
              </a:r>
              <a:r>
                <a:rPr lang="en-GB" sz="2000" noProof="1"/>
                <a:t> </a:t>
              </a:r>
              <a:r>
                <a:rPr lang="en-GB" sz="2400" noProof="1"/>
                <a:t>Wi-Fier</a:t>
              </a:r>
              <a:endParaRPr lang="en-GB" sz="2000" noProof="1"/>
            </a:p>
          </p:txBody>
        </p:sp>
      </p:grpSp>
      <p:cxnSp>
        <p:nvCxnSpPr>
          <p:cNvPr id="32" name="Straight Arrow Connector 44">
            <a:extLst>
              <a:ext uri="{FF2B5EF4-FFF2-40B4-BE49-F238E27FC236}">
                <a16:creationId xmlns:a16="http://schemas.microsoft.com/office/drawing/2014/main" id="{BD148391-F78F-B62F-43C4-E9F27559F124}"/>
              </a:ext>
            </a:extLst>
          </p:cNvPr>
          <p:cNvCxnSpPr>
            <a:cxnSpLocks/>
            <a:stCxn id="265" idx="0"/>
            <a:endCxn id="3" idx="1"/>
          </p:cNvCxnSpPr>
          <p:nvPr/>
        </p:nvCxnSpPr>
        <p:spPr>
          <a:xfrm rot="5400000" flipH="1" flipV="1">
            <a:off x="3381783" y="-1066405"/>
            <a:ext cx="501407" cy="4188294"/>
          </a:xfrm>
          <a:prstGeom prst="bentConnector2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6" name="Straight Arrow Connector 44">
            <a:extLst>
              <a:ext uri="{FF2B5EF4-FFF2-40B4-BE49-F238E27FC236}">
                <a16:creationId xmlns:a16="http://schemas.microsoft.com/office/drawing/2014/main" id="{900246E4-02FF-7092-AA91-45CD0AA4C87F}"/>
              </a:ext>
            </a:extLst>
          </p:cNvPr>
          <p:cNvCxnSpPr>
            <a:cxnSpLocks/>
            <a:stCxn id="265" idx="3"/>
            <a:endCxn id="141" idx="1"/>
          </p:cNvCxnSpPr>
          <p:nvPr/>
        </p:nvCxnSpPr>
        <p:spPr>
          <a:xfrm>
            <a:off x="2532684" y="1936853"/>
            <a:ext cx="3189342" cy="1521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39" name="Straight Arrow Connector 44">
            <a:extLst>
              <a:ext uri="{FF2B5EF4-FFF2-40B4-BE49-F238E27FC236}">
                <a16:creationId xmlns:a16="http://schemas.microsoft.com/office/drawing/2014/main" id="{81253269-0CBE-BC1F-14A9-A69A024BE5B5}"/>
              </a:ext>
            </a:extLst>
          </p:cNvPr>
          <p:cNvCxnSpPr>
            <a:cxnSpLocks/>
          </p:cNvCxnSpPr>
          <p:nvPr/>
        </p:nvCxnSpPr>
        <p:spPr>
          <a:xfrm flipV="1">
            <a:off x="6013528" y="1057068"/>
            <a:ext cx="2304" cy="59809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7DFE9981-A6F8-1B89-7ABC-6A13FFB388B1}"/>
              </a:ext>
            </a:extLst>
          </p:cNvPr>
          <p:cNvSpPr/>
          <p:nvPr/>
        </p:nvSpPr>
        <p:spPr>
          <a:xfrm>
            <a:off x="5722026" y="2846367"/>
            <a:ext cx="2065292" cy="566426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🔌 </a:t>
            </a:r>
            <a:r>
              <a:rPr lang="en-GB" sz="24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  <a:latin typeface="+mj-lt"/>
                <a:cs typeface="Arial" panose="020B0604020202020204" pitchFamily="34" charset="0"/>
              </a:rPr>
              <a:t>Pluggable</a:t>
            </a:r>
          </a:p>
        </p:txBody>
      </p:sp>
      <p:cxnSp>
        <p:nvCxnSpPr>
          <p:cNvPr id="49" name="Straight Arrow Connector 44">
            <a:extLst>
              <a:ext uri="{FF2B5EF4-FFF2-40B4-BE49-F238E27FC236}">
                <a16:creationId xmlns:a16="http://schemas.microsoft.com/office/drawing/2014/main" id="{51101AF8-AE1F-E522-F16A-1FF29F6D3973}"/>
              </a:ext>
            </a:extLst>
          </p:cNvPr>
          <p:cNvCxnSpPr>
            <a:cxnSpLocks/>
          </p:cNvCxnSpPr>
          <p:nvPr/>
        </p:nvCxnSpPr>
        <p:spPr>
          <a:xfrm flipV="1">
            <a:off x="6013528" y="2221587"/>
            <a:ext cx="0" cy="62478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666CF994-1530-2E0C-1374-2AA315BDD31F}"/>
              </a:ext>
            </a:extLst>
          </p:cNvPr>
          <p:cNvSpPr/>
          <p:nvPr/>
        </p:nvSpPr>
        <p:spPr>
          <a:xfrm>
            <a:off x="10102708" y="1651266"/>
            <a:ext cx="1735047" cy="566426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🛰️</a:t>
            </a:r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 Relayer</a:t>
            </a:r>
            <a:endParaRPr lang="en-GB" sz="2000" dirty="0">
              <a:solidFill>
                <a:sysClr val="windowText" lastClr="000000"/>
              </a:solidFill>
              <a:latin typeface="+mj-lt"/>
              <a:cs typeface="Arial" panose="020B0604020202020204" pitchFamily="34" charset="0"/>
            </a:endParaRPr>
          </a:p>
        </p:txBody>
      </p:sp>
      <p:cxnSp>
        <p:nvCxnSpPr>
          <p:cNvPr id="55" name="Straight Arrow Connector 44">
            <a:extLst>
              <a:ext uri="{FF2B5EF4-FFF2-40B4-BE49-F238E27FC236}">
                <a16:creationId xmlns:a16="http://schemas.microsoft.com/office/drawing/2014/main" id="{C8778C82-1278-FADA-24D5-77EF47DC1E93}"/>
              </a:ext>
            </a:extLst>
          </p:cNvPr>
          <p:cNvCxnSpPr>
            <a:cxnSpLocks/>
            <a:stCxn id="3" idx="3"/>
            <a:endCxn id="54" idx="0"/>
          </p:cNvCxnSpPr>
          <p:nvPr/>
        </p:nvCxnSpPr>
        <p:spPr>
          <a:xfrm>
            <a:off x="7787318" y="777038"/>
            <a:ext cx="3182914" cy="874228"/>
          </a:xfrm>
          <a:prstGeom prst="bentConnector2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ABA51864-07F9-BD4D-9067-021F83DE0DCE}"/>
              </a:ext>
            </a:extLst>
          </p:cNvPr>
          <p:cNvSpPr txBox="1"/>
          <p:nvPr/>
        </p:nvSpPr>
        <p:spPr>
          <a:xfrm>
            <a:off x="6135676" y="1143853"/>
            <a:ext cx="1559147" cy="420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plug</a:t>
            </a:r>
            <a:r>
              <a:rPr lang="en-GB" sz="32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</a:t>
            </a:r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🔌</a:t>
            </a:r>
          </a:p>
        </p:txBody>
      </p:sp>
      <p:cxnSp>
        <p:nvCxnSpPr>
          <p:cNvPr id="60" name="Straight Arrow Connector 44">
            <a:extLst>
              <a:ext uri="{FF2B5EF4-FFF2-40B4-BE49-F238E27FC236}">
                <a16:creationId xmlns:a16="http://schemas.microsoft.com/office/drawing/2014/main" id="{CA72D9B8-E70D-C4CB-054B-6A5DC2859225}"/>
              </a:ext>
            </a:extLst>
          </p:cNvPr>
          <p:cNvCxnSpPr>
            <a:cxnSpLocks/>
            <a:stCxn id="141" idx="3"/>
            <a:endCxn id="54" idx="1"/>
          </p:cNvCxnSpPr>
          <p:nvPr/>
        </p:nvCxnSpPr>
        <p:spPr>
          <a:xfrm flipV="1">
            <a:off x="7787318" y="1934479"/>
            <a:ext cx="2315390" cy="3895"/>
          </a:xfrm>
          <a:prstGeom prst="straightConnector1">
            <a:avLst/>
          </a:prstGeom>
          <a:ln>
            <a:solidFill>
              <a:schemeClr val="accent4"/>
            </a:solidFill>
            <a:prstDash val="dash"/>
            <a:headEnd type="triangle" w="lg" len="lg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0" name="Straight Arrow Connector 44">
            <a:extLst>
              <a:ext uri="{FF2B5EF4-FFF2-40B4-BE49-F238E27FC236}">
                <a16:creationId xmlns:a16="http://schemas.microsoft.com/office/drawing/2014/main" id="{E5555833-77CD-2905-2427-040CE9B29165}"/>
              </a:ext>
            </a:extLst>
          </p:cNvPr>
          <p:cNvCxnSpPr>
            <a:cxnSpLocks/>
            <a:stCxn id="265" idx="2"/>
            <a:endCxn id="54" idx="2"/>
          </p:cNvCxnSpPr>
          <p:nvPr/>
        </p:nvCxnSpPr>
        <p:spPr>
          <a:xfrm rot="5400000" flipH="1" flipV="1">
            <a:off x="6065500" y="-2309470"/>
            <a:ext cx="377569" cy="9431893"/>
          </a:xfrm>
          <a:prstGeom prst="bentConnector3">
            <a:avLst>
              <a:gd name="adj1" fmla="val -74375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54ED8CC5-FF4F-00D9-E265-4A6E44B146ED}"/>
              </a:ext>
            </a:extLst>
          </p:cNvPr>
          <p:cNvSpPr txBox="1"/>
          <p:nvPr/>
        </p:nvSpPr>
        <p:spPr>
          <a:xfrm>
            <a:off x="6141350" y="2323663"/>
            <a:ext cx="1559147" cy="420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plug</a:t>
            </a:r>
            <a:r>
              <a:rPr lang="en-GB" sz="32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</a:t>
            </a:r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🔌</a:t>
            </a: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612B496F-81EC-9090-19DF-4534BD8B5725}"/>
              </a:ext>
            </a:extLst>
          </p:cNvPr>
          <p:cNvSpPr/>
          <p:nvPr/>
        </p:nvSpPr>
        <p:spPr>
          <a:xfrm>
            <a:off x="5722026" y="4178930"/>
            <a:ext cx="2065292" cy="562183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👥 Domain</a:t>
            </a:r>
          </a:p>
        </p:txBody>
      </p:sp>
      <p:cxnSp>
        <p:nvCxnSpPr>
          <p:cNvPr id="82" name="Straight Arrow Connector 44">
            <a:extLst>
              <a:ext uri="{FF2B5EF4-FFF2-40B4-BE49-F238E27FC236}">
                <a16:creationId xmlns:a16="http://schemas.microsoft.com/office/drawing/2014/main" id="{80847E28-BB90-AEBE-A3C4-088A07F727EB}"/>
              </a:ext>
            </a:extLst>
          </p:cNvPr>
          <p:cNvCxnSpPr>
            <a:cxnSpLocks/>
            <a:stCxn id="43" idx="2"/>
            <a:endCxn id="79" idx="0"/>
          </p:cNvCxnSpPr>
          <p:nvPr/>
        </p:nvCxnSpPr>
        <p:spPr>
          <a:xfrm>
            <a:off x="6754672" y="3412793"/>
            <a:ext cx="0" cy="766137"/>
          </a:xfrm>
          <a:prstGeom prst="straightConnector1">
            <a:avLst/>
          </a:prstGeom>
          <a:ln>
            <a:solidFill>
              <a:schemeClr val="accent4"/>
            </a:solidFill>
            <a:prstDash val="dash"/>
            <a:headEnd type="triangle" w="lg" len="lg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7" name="Straight Arrow Connector 44">
            <a:extLst>
              <a:ext uri="{FF2B5EF4-FFF2-40B4-BE49-F238E27FC236}">
                <a16:creationId xmlns:a16="http://schemas.microsoft.com/office/drawing/2014/main" id="{9535C7D4-122D-E5C2-9D22-60211EFA52FF}"/>
              </a:ext>
            </a:extLst>
          </p:cNvPr>
          <p:cNvCxnSpPr>
            <a:cxnSpLocks/>
            <a:stCxn id="79" idx="1"/>
            <a:endCxn id="262" idx="2"/>
          </p:cNvCxnSpPr>
          <p:nvPr/>
        </p:nvCxnSpPr>
        <p:spPr>
          <a:xfrm rot="10800000">
            <a:off x="2174684" y="2497100"/>
            <a:ext cx="3547343" cy="1962923"/>
          </a:xfrm>
          <a:prstGeom prst="bentConnector2">
            <a:avLst/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90" name="Straight Arrow Connector 44">
            <a:extLst>
              <a:ext uri="{FF2B5EF4-FFF2-40B4-BE49-F238E27FC236}">
                <a16:creationId xmlns:a16="http://schemas.microsoft.com/office/drawing/2014/main" id="{F86E9786-D02D-9D1C-5411-A96C8CC2BCD2}"/>
              </a:ext>
            </a:extLst>
          </p:cNvPr>
          <p:cNvCxnSpPr>
            <a:cxnSpLocks/>
            <a:stCxn id="79" idx="3"/>
            <a:endCxn id="92" idx="2"/>
          </p:cNvCxnSpPr>
          <p:nvPr/>
        </p:nvCxnSpPr>
        <p:spPr>
          <a:xfrm flipV="1">
            <a:off x="7787318" y="2217692"/>
            <a:ext cx="2582152" cy="2242330"/>
          </a:xfrm>
          <a:prstGeom prst="bentConnector2">
            <a:avLst/>
          </a:prstGeom>
          <a:ln>
            <a:solidFill>
              <a:schemeClr val="tx1"/>
            </a:solidFill>
            <a:prstDash val="solid"/>
            <a:headEnd type="triangle" w="lg" len="lg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766790B1-DE04-1DF9-2F0C-29AD9826194A}"/>
              </a:ext>
            </a:extLst>
          </p:cNvPr>
          <p:cNvSpPr txBox="1"/>
          <p:nvPr/>
        </p:nvSpPr>
        <p:spPr>
          <a:xfrm>
            <a:off x="10247642" y="1848360"/>
            <a:ext cx="243656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</a:t>
            </a:r>
          </a:p>
        </p:txBody>
      </p: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9571F0B3-6292-3721-B857-D9E27BBADDF9}"/>
              </a:ext>
            </a:extLst>
          </p:cNvPr>
          <p:cNvGrpSpPr/>
          <p:nvPr/>
        </p:nvGrpSpPr>
        <p:grpSpPr>
          <a:xfrm>
            <a:off x="1518371" y="310763"/>
            <a:ext cx="3850752" cy="420628"/>
            <a:chOff x="1046732" y="310763"/>
            <a:chExt cx="3850752" cy="420628"/>
          </a:xfrm>
        </p:grpSpPr>
        <p:sp>
          <p:nvSpPr>
            <p:cNvPr id="299" name="TextBox 298">
              <a:extLst>
                <a:ext uri="{FF2B5EF4-FFF2-40B4-BE49-F238E27FC236}">
                  <a16:creationId xmlns:a16="http://schemas.microsoft.com/office/drawing/2014/main" id="{1E6DBB97-A5F8-E670-564E-E2DD455335F9}"/>
                </a:ext>
              </a:extLst>
            </p:cNvPr>
            <p:cNvSpPr txBox="1"/>
            <p:nvPr/>
          </p:nvSpPr>
          <p:spPr>
            <a:xfrm>
              <a:off x="1425160" y="310763"/>
              <a:ext cx="3472324" cy="4206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tap/scan to connect wi-fi </a:t>
              </a:r>
              <a:r>
                <a:rPr lang="en-GB" sz="3200" baseline="-17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🔆</a:t>
              </a:r>
              <a:endPara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101" name="Rounded Rectangle 100">
              <a:extLst>
                <a:ext uri="{FF2B5EF4-FFF2-40B4-BE49-F238E27FC236}">
                  <a16:creationId xmlns:a16="http://schemas.microsoft.com/office/drawing/2014/main" id="{F0DF35BC-8017-64DA-10F2-79BE22F39A07}"/>
                </a:ext>
              </a:extLst>
            </p:cNvPr>
            <p:cNvSpPr/>
            <p:nvPr/>
          </p:nvSpPr>
          <p:spPr>
            <a:xfrm>
              <a:off x="1046732" y="346954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1</a:t>
              </a:r>
            </a:p>
          </p:txBody>
        </p:sp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95ED31C1-3F97-AE0C-7A58-183157EBD599}"/>
              </a:ext>
            </a:extLst>
          </p:cNvPr>
          <p:cNvGrpSpPr/>
          <p:nvPr/>
        </p:nvGrpSpPr>
        <p:grpSpPr>
          <a:xfrm>
            <a:off x="8024643" y="305761"/>
            <a:ext cx="3569498" cy="400110"/>
            <a:chOff x="7668508" y="276886"/>
            <a:chExt cx="3569498" cy="400110"/>
          </a:xfrm>
        </p:grpSpPr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7479CCB3-C956-9323-CF68-FB2F1EDE4A09}"/>
                </a:ext>
              </a:extLst>
            </p:cNvPr>
            <p:cNvSpPr txBox="1"/>
            <p:nvPr/>
          </p:nvSpPr>
          <p:spPr>
            <a:xfrm>
              <a:off x="8035446" y="276886"/>
              <a:ext cx="320256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connected to internet </a:t>
              </a: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🌐</a:t>
              </a:r>
            </a:p>
          </p:txBody>
        </p:sp>
        <p:sp>
          <p:nvSpPr>
            <p:cNvPr id="102" name="Rounded Rectangle 101">
              <a:extLst>
                <a:ext uri="{FF2B5EF4-FFF2-40B4-BE49-F238E27FC236}">
                  <a16:creationId xmlns:a16="http://schemas.microsoft.com/office/drawing/2014/main" id="{36C5FF6A-A1F9-EB8A-5004-8A38EEBBBF3D}"/>
                </a:ext>
              </a:extLst>
            </p:cNvPr>
            <p:cNvSpPr/>
            <p:nvPr/>
          </p:nvSpPr>
          <p:spPr>
            <a:xfrm>
              <a:off x="7668508" y="316191"/>
              <a:ext cx="360000" cy="360000"/>
            </a:xfrm>
            <a:prstGeom prst="round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2</a:t>
              </a:r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3F54FF7F-FA10-D54F-FA33-B73B9608D958}"/>
              </a:ext>
            </a:extLst>
          </p:cNvPr>
          <p:cNvGrpSpPr/>
          <p:nvPr/>
        </p:nvGrpSpPr>
        <p:grpSpPr>
          <a:xfrm>
            <a:off x="2143809" y="4523436"/>
            <a:ext cx="3252041" cy="407551"/>
            <a:chOff x="2153434" y="4494561"/>
            <a:chExt cx="3252041" cy="407551"/>
          </a:xfrm>
        </p:grpSpPr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304DFF28-B126-6398-1B8A-8AA1FB30A53F}"/>
                </a:ext>
              </a:extLst>
            </p:cNvPr>
            <p:cNvSpPr txBox="1"/>
            <p:nvPr/>
          </p:nvSpPr>
          <p:spPr>
            <a:xfrm>
              <a:off x="2513434" y="4494561"/>
              <a:ext cx="2892041" cy="378103"/>
            </a:xfrm>
            <a:prstGeom prst="rect">
              <a:avLst/>
            </a:prstGeom>
            <a:noFill/>
          </p:spPr>
          <p:txBody>
            <a:bodyPr wrap="square">
              <a:noAutofit/>
            </a:bodyPr>
            <a:lstStyle/>
            <a:p>
              <a:pPr marL="9525"/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issue admin token </a:t>
              </a:r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🎫</a:t>
              </a:r>
              <a:endParaRPr lang="en-US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105" name="Rounded Rectangle 104">
              <a:extLst>
                <a:ext uri="{FF2B5EF4-FFF2-40B4-BE49-F238E27FC236}">
                  <a16:creationId xmlns:a16="http://schemas.microsoft.com/office/drawing/2014/main" id="{7A07626B-1F61-2D98-B908-CECA1A680458}"/>
                </a:ext>
              </a:extLst>
            </p:cNvPr>
            <p:cNvSpPr/>
            <p:nvPr/>
          </p:nvSpPr>
          <p:spPr>
            <a:xfrm>
              <a:off x="2153434" y="4542112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0</a:t>
              </a:r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C9BA6464-5F15-208E-4257-DD14FE8230E2}"/>
              </a:ext>
            </a:extLst>
          </p:cNvPr>
          <p:cNvGrpSpPr/>
          <p:nvPr/>
        </p:nvGrpSpPr>
        <p:grpSpPr>
          <a:xfrm>
            <a:off x="2615554" y="1444450"/>
            <a:ext cx="3850752" cy="420628"/>
            <a:chOff x="1046732" y="310763"/>
            <a:chExt cx="3850752" cy="420628"/>
          </a:xfrm>
        </p:grpSpPr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F33E96A2-83A0-844B-2597-D7FA52552CDE}"/>
                </a:ext>
              </a:extLst>
            </p:cNvPr>
            <p:cNvSpPr txBox="1"/>
            <p:nvPr/>
          </p:nvSpPr>
          <p:spPr>
            <a:xfrm>
              <a:off x="1425160" y="310763"/>
              <a:ext cx="3472324" cy="4206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tap/scan to relay </a:t>
              </a:r>
              <a:r>
                <a:rPr lang="en-GB" sz="3200" baseline="-17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🔆</a:t>
              </a:r>
              <a:endPara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110" name="Rounded Rectangle 109">
              <a:extLst>
                <a:ext uri="{FF2B5EF4-FFF2-40B4-BE49-F238E27FC236}">
                  <a16:creationId xmlns:a16="http://schemas.microsoft.com/office/drawing/2014/main" id="{6803AECF-4CED-28E2-F0B1-A68A229ADB69}"/>
                </a:ext>
              </a:extLst>
            </p:cNvPr>
            <p:cNvSpPr/>
            <p:nvPr/>
          </p:nvSpPr>
          <p:spPr>
            <a:xfrm>
              <a:off x="1046732" y="346954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4</a:t>
              </a:r>
            </a:p>
          </p:txBody>
        </p:sp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F2B369AD-EBB3-035E-F079-2CBEAB205F65}"/>
              </a:ext>
            </a:extLst>
          </p:cNvPr>
          <p:cNvGrpSpPr/>
          <p:nvPr/>
        </p:nvGrpSpPr>
        <p:grpSpPr>
          <a:xfrm>
            <a:off x="1518371" y="5449759"/>
            <a:ext cx="3860377" cy="400110"/>
            <a:chOff x="1046732" y="310763"/>
            <a:chExt cx="3860377" cy="400110"/>
          </a:xfrm>
        </p:grpSpPr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22A84C89-7521-8BEE-14C1-155E91272846}"/>
                </a:ext>
              </a:extLst>
            </p:cNvPr>
            <p:cNvSpPr txBox="1"/>
            <p:nvPr/>
          </p:nvSpPr>
          <p:spPr>
            <a:xfrm>
              <a:off x="1434785" y="310763"/>
              <a:ext cx="3472324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register antenna for domain</a:t>
              </a:r>
            </a:p>
          </p:txBody>
        </p:sp>
        <p:sp>
          <p:nvSpPr>
            <p:cNvPr id="115" name="Rounded Rectangle 114">
              <a:extLst>
                <a:ext uri="{FF2B5EF4-FFF2-40B4-BE49-F238E27FC236}">
                  <a16:creationId xmlns:a16="http://schemas.microsoft.com/office/drawing/2014/main" id="{07040C22-2B3A-AFC1-AE4F-00267E63853C}"/>
                </a:ext>
              </a:extLst>
            </p:cNvPr>
            <p:cNvSpPr/>
            <p:nvPr/>
          </p:nvSpPr>
          <p:spPr>
            <a:xfrm>
              <a:off x="1046732" y="346954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5</a:t>
              </a:r>
            </a:p>
          </p:txBody>
        </p:sp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224A0364-68AC-9622-04FD-5F9BE92C8A4B}"/>
              </a:ext>
            </a:extLst>
          </p:cNvPr>
          <p:cNvGrpSpPr/>
          <p:nvPr/>
        </p:nvGrpSpPr>
        <p:grpSpPr>
          <a:xfrm>
            <a:off x="8040606" y="1983010"/>
            <a:ext cx="2054547" cy="707886"/>
            <a:chOff x="8041175" y="1405966"/>
            <a:chExt cx="2054547" cy="707886"/>
          </a:xfrm>
        </p:grpSpPr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22B3C574-AECA-A5EB-7C96-C04DB65AAE9B}"/>
                </a:ext>
              </a:extLst>
            </p:cNvPr>
            <p:cNvSpPr txBox="1"/>
            <p:nvPr/>
          </p:nvSpPr>
          <p:spPr>
            <a:xfrm>
              <a:off x="8401175" y="1405966"/>
              <a:ext cx="1694547" cy="70788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bidirectional</a:t>
              </a:r>
              <a:b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channel</a:t>
              </a:r>
              <a:endPara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116" name="Rounded Rectangle 115">
              <a:extLst>
                <a:ext uri="{FF2B5EF4-FFF2-40B4-BE49-F238E27FC236}">
                  <a16:creationId xmlns:a16="http://schemas.microsoft.com/office/drawing/2014/main" id="{F2A2EE0B-29CA-CAFE-69D3-86AF99688E88}"/>
                </a:ext>
              </a:extLst>
            </p:cNvPr>
            <p:cNvSpPr/>
            <p:nvPr/>
          </p:nvSpPr>
          <p:spPr>
            <a:xfrm>
              <a:off x="8041175" y="1450801"/>
              <a:ext cx="360000" cy="360000"/>
            </a:xfrm>
            <a:prstGeom prst="round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3</a:t>
              </a:r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73E6B9D4-2563-1555-F975-6A3661CDCB01}"/>
              </a:ext>
            </a:extLst>
          </p:cNvPr>
          <p:cNvGrpSpPr/>
          <p:nvPr/>
        </p:nvGrpSpPr>
        <p:grpSpPr>
          <a:xfrm>
            <a:off x="7902340" y="4558032"/>
            <a:ext cx="3214838" cy="400110"/>
            <a:chOff x="1046732" y="320388"/>
            <a:chExt cx="3214838" cy="400110"/>
          </a:xfrm>
        </p:grpSpPr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3585F1A0-B239-6888-0888-6375F4A25623}"/>
                </a:ext>
              </a:extLst>
            </p:cNvPr>
            <p:cNvSpPr txBox="1"/>
            <p:nvPr/>
          </p:nvSpPr>
          <p:spPr>
            <a:xfrm>
              <a:off x="1425159" y="320388"/>
              <a:ext cx="2836411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bidirectional channel</a:t>
              </a:r>
              <a:endPara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120" name="Rounded Rectangle 119">
              <a:extLst>
                <a:ext uri="{FF2B5EF4-FFF2-40B4-BE49-F238E27FC236}">
                  <a16:creationId xmlns:a16="http://schemas.microsoft.com/office/drawing/2014/main" id="{5637FF60-766A-3977-CF46-DF97A238D6EE}"/>
                </a:ext>
              </a:extLst>
            </p:cNvPr>
            <p:cNvSpPr/>
            <p:nvPr/>
          </p:nvSpPr>
          <p:spPr>
            <a:xfrm>
              <a:off x="1046732" y="346954"/>
              <a:ext cx="360000" cy="360000"/>
            </a:xfrm>
            <a:prstGeom prst="round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6</a:t>
              </a:r>
            </a:p>
          </p:txBody>
        </p: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E6D4CB8F-5273-C4CA-038C-F172510E8C27}"/>
              </a:ext>
            </a:extLst>
          </p:cNvPr>
          <p:cNvGrpSpPr/>
          <p:nvPr/>
        </p:nvGrpSpPr>
        <p:grpSpPr>
          <a:xfrm>
            <a:off x="6918903" y="3670705"/>
            <a:ext cx="3254990" cy="400110"/>
            <a:chOff x="1046732" y="320388"/>
            <a:chExt cx="3254990" cy="400110"/>
          </a:xfrm>
        </p:grpSpPr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9547124F-280E-1BDA-FA5D-9B061D9A94C3}"/>
                </a:ext>
              </a:extLst>
            </p:cNvPr>
            <p:cNvSpPr txBox="1"/>
            <p:nvPr/>
          </p:nvSpPr>
          <p:spPr>
            <a:xfrm>
              <a:off x="1425159" y="320388"/>
              <a:ext cx="2876563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bidirectional  channel</a:t>
              </a:r>
              <a:endParaRPr lang="en-GB" sz="2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123" name="Rounded Rectangle 122">
              <a:extLst>
                <a:ext uri="{FF2B5EF4-FFF2-40B4-BE49-F238E27FC236}">
                  <a16:creationId xmlns:a16="http://schemas.microsoft.com/office/drawing/2014/main" id="{B0EFD8DB-7BF2-64AC-41DD-AE60631858A8}"/>
                </a:ext>
              </a:extLst>
            </p:cNvPr>
            <p:cNvSpPr/>
            <p:nvPr/>
          </p:nvSpPr>
          <p:spPr>
            <a:xfrm>
              <a:off x="1046732" y="346954"/>
              <a:ext cx="360000" cy="360000"/>
            </a:xfrm>
            <a:prstGeom prst="round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7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7CF5CB4F-054C-8072-FA8A-75B33EBF7EBF}"/>
              </a:ext>
            </a:extLst>
          </p:cNvPr>
          <p:cNvSpPr txBox="1"/>
          <p:nvPr/>
        </p:nvSpPr>
        <p:spPr>
          <a:xfrm>
            <a:off x="218143" y="6278524"/>
            <a:ext cx="1383392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ANTENA</a:t>
            </a:r>
          </a:p>
        </p:txBody>
      </p:sp>
    </p:spTree>
    <p:extLst>
      <p:ext uri="{BB962C8B-B14F-4D97-AF65-F5344CB8AC3E}">
        <p14:creationId xmlns:p14="http://schemas.microsoft.com/office/powerpoint/2010/main" val="1687874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4DC25B-5DF2-AC4E-17F9-A38065B98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F3A11F2B-612D-C297-B781-8CAE0B59F290}"/>
              </a:ext>
            </a:extLst>
          </p:cNvPr>
          <p:cNvSpPr/>
          <p:nvPr/>
        </p:nvSpPr>
        <p:spPr>
          <a:xfrm>
            <a:off x="7580030" y="669288"/>
            <a:ext cx="3052802" cy="2675095"/>
          </a:xfrm>
          <a:prstGeom prst="rect">
            <a:avLst/>
          </a:prstGeom>
          <a:solidFill>
            <a:schemeClr val="bg1"/>
          </a:solidFill>
          <a:ln w="12700">
            <a:solidFill>
              <a:schemeClr val="bg1">
                <a:lumMod val="50000"/>
                <a:lumOff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endParaRPr lang="en-US" sz="2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10424E15-AFBA-08FC-0516-9B68550070A7}"/>
              </a:ext>
            </a:extLst>
          </p:cNvPr>
          <p:cNvSpPr txBox="1">
            <a:spLocks/>
          </p:cNvSpPr>
          <p:nvPr/>
        </p:nvSpPr>
        <p:spPr>
          <a:xfrm>
            <a:off x="7523372" y="741077"/>
            <a:ext cx="1313390" cy="707886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🔌</a:t>
            </a: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coffee machine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A3BC1020-E366-DD9A-DC8B-49A007BE3DF4}"/>
              </a:ext>
            </a:extLst>
          </p:cNvPr>
          <p:cNvGrpSpPr/>
          <p:nvPr/>
        </p:nvGrpSpPr>
        <p:grpSpPr>
          <a:xfrm>
            <a:off x="3599748" y="1241141"/>
            <a:ext cx="1988691" cy="1383576"/>
            <a:chOff x="4959152" y="4727414"/>
            <a:chExt cx="1988691" cy="1383576"/>
          </a:xfrm>
        </p:grpSpPr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BDD5D1FF-9EAE-6DF8-C603-4AC6EB8DCF81}"/>
                </a:ext>
              </a:extLst>
            </p:cNvPr>
            <p:cNvGrpSpPr/>
            <p:nvPr/>
          </p:nvGrpSpPr>
          <p:grpSpPr>
            <a:xfrm>
              <a:off x="4959152" y="4727414"/>
              <a:ext cx="1988691" cy="1316816"/>
              <a:chOff x="4768207" y="3215212"/>
              <a:chExt cx="1988691" cy="1316816"/>
            </a:xfrm>
          </p:grpSpPr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2AC3E753-45D4-5A37-82F9-DC4CAD20EA65}"/>
                  </a:ext>
                </a:extLst>
              </p:cNvPr>
              <p:cNvGrpSpPr/>
              <p:nvPr/>
            </p:nvGrpSpPr>
            <p:grpSpPr>
              <a:xfrm>
                <a:off x="4768207" y="3215212"/>
                <a:ext cx="1988691" cy="1316816"/>
                <a:chOff x="6139542" y="58284"/>
                <a:chExt cx="1988691" cy="1316816"/>
              </a:xfrm>
            </p:grpSpPr>
            <p:sp>
              <p:nvSpPr>
                <p:cNvPr id="53" name="Rectangle 52">
                  <a:extLst>
                    <a:ext uri="{FF2B5EF4-FFF2-40B4-BE49-F238E27FC236}">
                      <a16:creationId xmlns:a16="http://schemas.microsoft.com/office/drawing/2014/main" id="{2D7D04CE-68F8-C726-115B-794FA406D009}"/>
                    </a:ext>
                  </a:extLst>
                </p:cNvPr>
                <p:cNvSpPr/>
                <p:nvPr/>
              </p:nvSpPr>
              <p:spPr>
                <a:xfrm>
                  <a:off x="6236556" y="149580"/>
                  <a:ext cx="1791009" cy="562183"/>
                </a:xfrm>
                <a:prstGeom prst="rect">
                  <a:avLst/>
                </a:prstGeom>
                <a:solidFill>
                  <a:schemeClr val="tx1">
                    <a:lumMod val="95000"/>
                  </a:schemeClr>
                </a:solidFill>
                <a:ln w="28575">
                  <a:solidFill>
                    <a:schemeClr val="tx1">
                      <a:lumMod val="50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anchor="ctr"/>
                <a:lstStyle/>
                <a:p>
                  <a:r>
                    <a:rPr lang="en-GB" sz="3200" baseline="-9000" dirty="0">
                      <a:solidFill>
                        <a:schemeClr val="bg2">
                          <a:lumMod val="40000"/>
                          <a:lumOff val="60000"/>
                        </a:schemeClr>
                      </a:solidFill>
                      <a:effectLst>
                        <a:glow>
                          <a:schemeClr val="bg1"/>
                        </a:glow>
                      </a:effectLst>
                    </a:rPr>
                    <a:t>🧑‍🦰</a:t>
                  </a:r>
                  <a:r>
                    <a:rPr lang="en-GB" sz="2400" dirty="0">
                      <a:solidFill>
                        <a:sysClr val="windowText" lastClr="000000"/>
                      </a:solidFill>
                      <a:latin typeface="+mj-lt"/>
                      <a:cs typeface="Arial" panose="020B0604020202020204" pitchFamily="34" charset="0"/>
                    </a:rPr>
                    <a:t> Wallet</a:t>
                  </a:r>
                </a:p>
              </p:txBody>
            </p:sp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8A0E11A7-A5BD-8B43-6295-F70B4D67942A}"/>
                    </a:ext>
                  </a:extLst>
                </p:cNvPr>
                <p:cNvSpPr/>
                <p:nvPr/>
              </p:nvSpPr>
              <p:spPr>
                <a:xfrm>
                  <a:off x="6139542" y="58284"/>
                  <a:ext cx="1988691" cy="1316816"/>
                </a:xfrm>
                <a:prstGeom prst="rect">
                  <a:avLst/>
                </a:prstGeom>
                <a:noFill/>
                <a:ln w="12700">
                  <a:solidFill>
                    <a:srgbClr val="5A6B86"/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tIns="36000"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2000" i="1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endParaRPr>
                </a:p>
              </p:txBody>
            </p:sp>
          </p:grp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3899BEED-E6A5-B1F8-E40F-28DDB5D270BA}"/>
                  </a:ext>
                </a:extLst>
              </p:cNvPr>
              <p:cNvSpPr/>
              <p:nvPr/>
            </p:nvSpPr>
            <p:spPr>
              <a:xfrm>
                <a:off x="5501604" y="3951814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📣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3A9043BE-E057-5D77-CEEE-560C8A78C7B8}"/>
                  </a:ext>
                </a:extLst>
              </p:cNvPr>
              <p:cNvSpPr/>
              <p:nvPr/>
            </p:nvSpPr>
            <p:spPr>
              <a:xfrm>
                <a:off x="6133877" y="3951813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</a:t>
                </a:r>
                <a:r>
                  <a:rPr lang="en-GB" sz="3200" baseline="-10000" dirty="0"/>
                  <a:t>📱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9F877A36-09FC-057F-C1D6-AE64235787AF}"/>
                  </a:ext>
                </a:extLst>
              </p:cNvPr>
              <p:cNvSpPr/>
              <p:nvPr/>
            </p:nvSpPr>
            <p:spPr>
              <a:xfrm>
                <a:off x="4861649" y="3951814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 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7F0940A-85A7-0BD7-8641-61CC3C79FF76}"/>
                </a:ext>
              </a:extLst>
            </p:cNvPr>
            <p:cNvSpPr txBox="1"/>
            <p:nvPr/>
          </p:nvSpPr>
          <p:spPr>
            <a:xfrm>
              <a:off x="5016883" y="5341549"/>
              <a:ext cx="502683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44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🤵</a:t>
              </a:r>
              <a:endParaRPr lang="en-US" sz="4400" dirty="0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A6112784-57E5-0492-2508-E69E96F400D7}"/>
              </a:ext>
            </a:extLst>
          </p:cNvPr>
          <p:cNvGrpSpPr/>
          <p:nvPr/>
        </p:nvGrpSpPr>
        <p:grpSpPr>
          <a:xfrm>
            <a:off x="317102" y="382289"/>
            <a:ext cx="1961697" cy="1038741"/>
            <a:chOff x="6221987" y="5100898"/>
            <a:chExt cx="3822790" cy="1038741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DBA7ED00-2AB2-2837-6E26-AC904DBC539A}"/>
                </a:ext>
              </a:extLst>
            </p:cNvPr>
            <p:cNvSpPr/>
            <p:nvPr/>
          </p:nvSpPr>
          <p:spPr>
            <a:xfrm>
              <a:off x="6221987" y="5100898"/>
              <a:ext cx="3822790" cy="1038741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🍏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brand bound</a:t>
              </a:r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19F63E09-BE75-69C8-EA04-DBB1E5A90AC6}"/>
                </a:ext>
              </a:extLst>
            </p:cNvPr>
            <p:cNvSpPr/>
            <p:nvPr/>
          </p:nvSpPr>
          <p:spPr>
            <a:xfrm>
              <a:off x="6385391" y="5490228"/>
              <a:ext cx="3506209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defRPr/>
              </a:pPr>
              <a:r>
                <a:rPr lang="en-GB" sz="44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🪄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Wand</a:t>
              </a:r>
            </a:p>
          </p:txBody>
        </p:sp>
      </p:grpSp>
      <p:sp>
        <p:nvSpPr>
          <p:cNvPr id="62" name="Rectangle 61">
            <a:extLst>
              <a:ext uri="{FF2B5EF4-FFF2-40B4-BE49-F238E27FC236}">
                <a16:creationId xmlns:a16="http://schemas.microsoft.com/office/drawing/2014/main" id="{4A820FA2-0F19-7297-DAAA-6DFB96B880AD}"/>
              </a:ext>
            </a:extLst>
          </p:cNvPr>
          <p:cNvSpPr/>
          <p:nvPr/>
        </p:nvSpPr>
        <p:spPr>
          <a:xfrm>
            <a:off x="7485124" y="211042"/>
            <a:ext cx="4519307" cy="3247266"/>
          </a:xfrm>
          <a:prstGeom prst="rect">
            <a:avLst/>
          </a:prstGeom>
          <a:noFill/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2000" i="1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63" name="Content Placeholder 2">
            <a:extLst>
              <a:ext uri="{FF2B5EF4-FFF2-40B4-BE49-F238E27FC236}">
                <a16:creationId xmlns:a16="http://schemas.microsoft.com/office/drawing/2014/main" id="{CE5543A3-87EC-C4C5-F6F1-39AD41728C51}"/>
              </a:ext>
            </a:extLst>
          </p:cNvPr>
          <p:cNvSpPr txBox="1">
            <a:spLocks/>
          </p:cNvSpPr>
          <p:nvPr/>
        </p:nvSpPr>
        <p:spPr>
          <a:xfrm>
            <a:off x="7493590" y="240110"/>
            <a:ext cx="2242841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🏠</a:t>
            </a: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home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A74B55E-91E6-8E4B-34AC-C640772186BA}"/>
              </a:ext>
            </a:extLst>
          </p:cNvPr>
          <p:cNvGrpSpPr/>
          <p:nvPr/>
        </p:nvGrpSpPr>
        <p:grpSpPr>
          <a:xfrm>
            <a:off x="10726797" y="672473"/>
            <a:ext cx="1164577" cy="735598"/>
            <a:chOff x="8013515" y="2736815"/>
            <a:chExt cx="1164577" cy="735598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76577289-3174-E32F-5D30-955F6D9ED887}"/>
                </a:ext>
              </a:extLst>
            </p:cNvPr>
            <p:cNvSpPr/>
            <p:nvPr/>
          </p:nvSpPr>
          <p:spPr>
            <a:xfrm>
              <a:off x="8048951" y="2736815"/>
              <a:ext cx="1129141" cy="7355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 w="12700">
              <a:noFill/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algn="r"/>
              <a:endParaRPr lang="en-US" sz="2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67299273-66F1-B805-B918-EC770E16D698}"/>
                </a:ext>
              </a:extLst>
            </p:cNvPr>
            <p:cNvSpPr txBox="1"/>
            <p:nvPr/>
          </p:nvSpPr>
          <p:spPr>
            <a:xfrm>
              <a:off x="8013515" y="2792381"/>
              <a:ext cx="1117685" cy="65659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2800" baseline="-11000" noProof="1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🛜</a:t>
              </a:r>
              <a:r>
                <a:rPr lang="en-GB" noProof="1"/>
                <a:t> home </a:t>
              </a:r>
              <a:br>
                <a:rPr lang="en-GB" noProof="1"/>
              </a:br>
              <a:r>
                <a:rPr lang="en-GB" noProof="1"/>
                <a:t>Wi-Fi</a:t>
              </a: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C14D907F-9788-346D-1660-2ABAEDDD5EBE}"/>
              </a:ext>
            </a:extLst>
          </p:cNvPr>
          <p:cNvGrpSpPr/>
          <p:nvPr/>
        </p:nvGrpSpPr>
        <p:grpSpPr>
          <a:xfrm>
            <a:off x="317098" y="2305642"/>
            <a:ext cx="1972893" cy="1038741"/>
            <a:chOff x="7507403" y="1006813"/>
            <a:chExt cx="640029" cy="1038741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56EE34BE-D5B7-7191-931D-35B7AEE6E932}"/>
                </a:ext>
              </a:extLst>
            </p:cNvPr>
            <p:cNvSpPr/>
            <p:nvPr/>
          </p:nvSpPr>
          <p:spPr>
            <a:xfrm>
              <a:off x="7538137" y="1386857"/>
              <a:ext cx="580163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36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🧢 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Persona</a:t>
              </a: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2B0BADF1-D3A2-9ED4-DA9A-15B11E7391FE}"/>
                </a:ext>
              </a:extLst>
            </p:cNvPr>
            <p:cNvSpPr/>
            <p:nvPr/>
          </p:nvSpPr>
          <p:spPr>
            <a:xfrm>
              <a:off x="7507403" y="1006813"/>
              <a:ext cx="640029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🧑‍🦰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user bound</a:t>
              </a:r>
            </a:p>
          </p:txBody>
        </p:sp>
      </p:grpSp>
      <p:cxnSp>
        <p:nvCxnSpPr>
          <p:cNvPr id="84" name="Straight Arrow Connector 12">
            <a:extLst>
              <a:ext uri="{FF2B5EF4-FFF2-40B4-BE49-F238E27FC236}">
                <a16:creationId xmlns:a16="http://schemas.microsoft.com/office/drawing/2014/main" id="{B65B311C-618E-CA55-006A-219665B1FC1E}"/>
              </a:ext>
            </a:extLst>
          </p:cNvPr>
          <p:cNvCxnSpPr>
            <a:cxnSpLocks/>
            <a:stCxn id="54" idx="0"/>
            <a:endCxn id="56" idx="3"/>
          </p:cNvCxnSpPr>
          <p:nvPr/>
        </p:nvCxnSpPr>
        <p:spPr>
          <a:xfrm rot="16200000" flipV="1">
            <a:off x="3266707" y="-86247"/>
            <a:ext cx="339481" cy="2315295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7" name="Straight Arrow Connector 12">
            <a:extLst>
              <a:ext uri="{FF2B5EF4-FFF2-40B4-BE49-F238E27FC236}">
                <a16:creationId xmlns:a16="http://schemas.microsoft.com/office/drawing/2014/main" id="{AA0CF7DC-D3BC-16A4-6F5D-C570E2FEEF6F}"/>
              </a:ext>
            </a:extLst>
          </p:cNvPr>
          <p:cNvCxnSpPr>
            <a:cxnSpLocks/>
            <a:stCxn id="54" idx="2"/>
            <a:endCxn id="82" idx="3"/>
          </p:cNvCxnSpPr>
          <p:nvPr/>
        </p:nvCxnSpPr>
        <p:spPr>
          <a:xfrm rot="5400000">
            <a:off x="3308515" y="1539434"/>
            <a:ext cx="267056" cy="2304103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B27CCE4D-B44A-3295-B88F-C9CBC4C049D4}"/>
              </a:ext>
            </a:extLst>
          </p:cNvPr>
          <p:cNvGrpSpPr/>
          <p:nvPr/>
        </p:nvGrpSpPr>
        <p:grpSpPr>
          <a:xfrm>
            <a:off x="2412402" y="33677"/>
            <a:ext cx="3319530" cy="830997"/>
            <a:chOff x="2343832" y="1872138"/>
            <a:chExt cx="3319530" cy="830997"/>
          </a:xfrm>
        </p:grpSpPr>
        <p:sp>
          <p:nvSpPr>
            <p:cNvPr id="106" name="Rounded Rectangle 105">
              <a:extLst>
                <a:ext uri="{FF2B5EF4-FFF2-40B4-BE49-F238E27FC236}">
                  <a16:creationId xmlns:a16="http://schemas.microsoft.com/office/drawing/2014/main" id="{9800FFB7-0B8B-AC92-0251-176F3D353C3B}"/>
                </a:ext>
              </a:extLst>
            </p:cNvPr>
            <p:cNvSpPr/>
            <p:nvPr/>
          </p:nvSpPr>
          <p:spPr>
            <a:xfrm>
              <a:off x="2343832" y="2223776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07" name="Content Placeholder 2">
              <a:extLst>
                <a:ext uri="{FF2B5EF4-FFF2-40B4-BE49-F238E27FC236}">
                  <a16:creationId xmlns:a16="http://schemas.microsoft.com/office/drawing/2014/main" id="{6D0961AB-BD76-852F-01DE-3A8C3F3FB278}"/>
                </a:ext>
              </a:extLst>
            </p:cNvPr>
            <p:cNvSpPr txBox="1">
              <a:spLocks/>
            </p:cNvSpPr>
            <p:nvPr/>
          </p:nvSpPr>
          <p:spPr>
            <a:xfrm>
              <a:off x="2713889" y="1872138"/>
              <a:ext cx="2949473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- translate locator </a:t>
              </a:r>
              <a:r>
                <a:rPr lang="en-GB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🔆</a:t>
              </a:r>
              <a:b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- get direct wi-fi config</a:t>
              </a:r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FE28EE10-3184-5107-9721-434990F3DE38}"/>
              </a:ext>
            </a:extLst>
          </p:cNvPr>
          <p:cNvGrpSpPr/>
          <p:nvPr/>
        </p:nvGrpSpPr>
        <p:grpSpPr>
          <a:xfrm>
            <a:off x="2412402" y="2963675"/>
            <a:ext cx="3319530" cy="707886"/>
            <a:chOff x="2343832" y="2201084"/>
            <a:chExt cx="3319530" cy="707886"/>
          </a:xfrm>
        </p:grpSpPr>
        <p:sp>
          <p:nvSpPr>
            <p:cNvPr id="109" name="Rounded Rectangle 108">
              <a:extLst>
                <a:ext uri="{FF2B5EF4-FFF2-40B4-BE49-F238E27FC236}">
                  <a16:creationId xmlns:a16="http://schemas.microsoft.com/office/drawing/2014/main" id="{98ACFFAA-8035-82D0-42D3-B30D91BA7B69}"/>
                </a:ext>
              </a:extLst>
            </p:cNvPr>
            <p:cNvSpPr/>
            <p:nvPr/>
          </p:nvSpPr>
          <p:spPr>
            <a:xfrm>
              <a:off x="2343832" y="2223776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10" name="Content Placeholder 2">
              <a:extLst>
                <a:ext uri="{FF2B5EF4-FFF2-40B4-BE49-F238E27FC236}">
                  <a16:creationId xmlns:a16="http://schemas.microsoft.com/office/drawing/2014/main" id="{180E69BF-646C-B587-830C-073003874C29}"/>
                </a:ext>
              </a:extLst>
            </p:cNvPr>
            <p:cNvSpPr txBox="1">
              <a:spLocks/>
            </p:cNvSpPr>
            <p:nvPr/>
          </p:nvSpPr>
          <p:spPr>
            <a:xfrm>
              <a:off x="2713889" y="2201084"/>
              <a:ext cx="2949473" cy="707886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get home wi-fi </a:t>
              </a:r>
              <a:b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password</a:t>
              </a:r>
            </a:p>
          </p:txBody>
        </p:sp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55677E4B-4DF3-9B5D-B959-ABD465CC23B1}"/>
              </a:ext>
            </a:extLst>
          </p:cNvPr>
          <p:cNvGrpSpPr/>
          <p:nvPr/>
        </p:nvGrpSpPr>
        <p:grpSpPr>
          <a:xfrm>
            <a:off x="5721573" y="767420"/>
            <a:ext cx="1391603" cy="765442"/>
            <a:chOff x="2343832" y="2223776"/>
            <a:chExt cx="1391603" cy="765442"/>
          </a:xfrm>
        </p:grpSpPr>
        <p:sp>
          <p:nvSpPr>
            <p:cNvPr id="112" name="Rounded Rectangle 111">
              <a:extLst>
                <a:ext uri="{FF2B5EF4-FFF2-40B4-BE49-F238E27FC236}">
                  <a16:creationId xmlns:a16="http://schemas.microsoft.com/office/drawing/2014/main" id="{F47152E0-E62C-3493-FDB2-2B398F9EA15E}"/>
                </a:ext>
              </a:extLst>
            </p:cNvPr>
            <p:cNvSpPr/>
            <p:nvPr/>
          </p:nvSpPr>
          <p:spPr>
            <a:xfrm>
              <a:off x="2343832" y="2223776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13" name="Content Placeholder 2">
              <a:extLst>
                <a:ext uri="{FF2B5EF4-FFF2-40B4-BE49-F238E27FC236}">
                  <a16:creationId xmlns:a16="http://schemas.microsoft.com/office/drawing/2014/main" id="{674DBE63-3C11-FACC-6CED-7647DFF8FAB9}"/>
                </a:ext>
              </a:extLst>
            </p:cNvPr>
            <p:cNvSpPr txBox="1">
              <a:spLocks/>
            </p:cNvSpPr>
            <p:nvPr/>
          </p:nvSpPr>
          <p:spPr>
            <a:xfrm>
              <a:off x="2711484" y="2281332"/>
              <a:ext cx="1023951" cy="707886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tap or</a:t>
              </a:r>
              <a:b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scan</a:t>
              </a:r>
            </a:p>
          </p:txBody>
        </p:sp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CF7861A3-6A40-3D15-E719-25A884EE46E1}"/>
              </a:ext>
            </a:extLst>
          </p:cNvPr>
          <p:cNvGrpSpPr/>
          <p:nvPr/>
        </p:nvGrpSpPr>
        <p:grpSpPr>
          <a:xfrm>
            <a:off x="5225162" y="2321297"/>
            <a:ext cx="2081741" cy="1323439"/>
            <a:chOff x="1853248" y="2159482"/>
            <a:chExt cx="2081741" cy="1323439"/>
          </a:xfrm>
        </p:grpSpPr>
        <p:sp>
          <p:nvSpPr>
            <p:cNvPr id="115" name="Rounded Rectangle 114">
              <a:extLst>
                <a:ext uri="{FF2B5EF4-FFF2-40B4-BE49-F238E27FC236}">
                  <a16:creationId xmlns:a16="http://schemas.microsoft.com/office/drawing/2014/main" id="{29A76175-557F-AD29-3486-C9B2842DB4EF}"/>
                </a:ext>
              </a:extLst>
            </p:cNvPr>
            <p:cNvSpPr/>
            <p:nvPr/>
          </p:nvSpPr>
          <p:spPr>
            <a:xfrm>
              <a:off x="1853248" y="2502803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16" name="Content Placeholder 2">
              <a:extLst>
                <a:ext uri="{FF2B5EF4-FFF2-40B4-BE49-F238E27FC236}">
                  <a16:creationId xmlns:a16="http://schemas.microsoft.com/office/drawing/2014/main" id="{F16AC604-F79B-6F6E-14A5-C51B7018236F}"/>
                </a:ext>
              </a:extLst>
            </p:cNvPr>
            <p:cNvSpPr txBox="1">
              <a:spLocks/>
            </p:cNvSpPr>
            <p:nvPr/>
          </p:nvSpPr>
          <p:spPr>
            <a:xfrm>
              <a:off x="2266125" y="2159482"/>
              <a:ext cx="1668864" cy="1323439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- connect,</a:t>
              </a:r>
              <a:b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- share</a:t>
              </a:r>
              <a:b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  password,</a:t>
              </a:r>
              <a:b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- disconnect</a:t>
              </a:r>
            </a:p>
          </p:txBody>
        </p:sp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B23B097D-80BA-8BD8-BD17-C6A2B1FBB9AE}"/>
              </a:ext>
            </a:extLst>
          </p:cNvPr>
          <p:cNvGrpSpPr/>
          <p:nvPr/>
        </p:nvGrpSpPr>
        <p:grpSpPr>
          <a:xfrm>
            <a:off x="10771993" y="2054147"/>
            <a:ext cx="1187061" cy="1374277"/>
            <a:chOff x="2295480" y="2200330"/>
            <a:chExt cx="1187061" cy="1374277"/>
          </a:xfrm>
        </p:grpSpPr>
        <p:sp>
          <p:nvSpPr>
            <p:cNvPr id="118" name="Rounded Rectangle 117">
              <a:extLst>
                <a:ext uri="{FF2B5EF4-FFF2-40B4-BE49-F238E27FC236}">
                  <a16:creationId xmlns:a16="http://schemas.microsoft.com/office/drawing/2014/main" id="{6757B94C-7793-E825-3E65-A327A171DA8A}"/>
                </a:ext>
              </a:extLst>
            </p:cNvPr>
            <p:cNvSpPr/>
            <p:nvPr/>
          </p:nvSpPr>
          <p:spPr>
            <a:xfrm>
              <a:off x="3012043" y="2200330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19" name="Content Placeholder 2">
              <a:extLst>
                <a:ext uri="{FF2B5EF4-FFF2-40B4-BE49-F238E27FC236}">
                  <a16:creationId xmlns:a16="http://schemas.microsoft.com/office/drawing/2014/main" id="{09B49EFB-704B-AD78-905E-1BDEF848D7FC}"/>
                </a:ext>
              </a:extLst>
            </p:cNvPr>
            <p:cNvSpPr txBox="1">
              <a:spLocks/>
            </p:cNvSpPr>
            <p:nvPr/>
          </p:nvSpPr>
          <p:spPr>
            <a:xfrm>
              <a:off x="2295480" y="2558944"/>
              <a:ext cx="1187061" cy="1015663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r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connect</a:t>
              </a:r>
              <a:b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to home</a:t>
              </a:r>
              <a:b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wi-fi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A50BB95-5B97-6AF8-F38E-4EC35A6A8FE4}"/>
              </a:ext>
            </a:extLst>
          </p:cNvPr>
          <p:cNvSpPr txBox="1"/>
          <p:nvPr/>
        </p:nvSpPr>
        <p:spPr>
          <a:xfrm>
            <a:off x="218143" y="6278524"/>
            <a:ext cx="2173672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WI-FIER #1/3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200EDDBC-1B14-BB4C-9B80-19D4F39CBB3A}"/>
              </a:ext>
            </a:extLst>
          </p:cNvPr>
          <p:cNvGrpSpPr/>
          <p:nvPr/>
        </p:nvGrpSpPr>
        <p:grpSpPr>
          <a:xfrm>
            <a:off x="8788567" y="782062"/>
            <a:ext cx="1724308" cy="2464199"/>
            <a:chOff x="10886985" y="415955"/>
            <a:chExt cx="1724308" cy="2464199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2E0B51A2-D647-22F7-4E13-6E766F347FDF}"/>
                </a:ext>
              </a:extLst>
            </p:cNvPr>
            <p:cNvSpPr/>
            <p:nvPr/>
          </p:nvSpPr>
          <p:spPr>
            <a:xfrm>
              <a:off x="10886985" y="415955"/>
              <a:ext cx="1724308" cy="2464199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 w="12700">
              <a:noFill/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endParaRPr lang="en-GB" sz="2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4" name="Content Placeholder 2">
              <a:extLst>
                <a:ext uri="{FF2B5EF4-FFF2-40B4-BE49-F238E27FC236}">
                  <a16:creationId xmlns:a16="http://schemas.microsoft.com/office/drawing/2014/main" id="{F52C7B78-2A38-212D-4464-FA2558086DC2}"/>
                </a:ext>
              </a:extLst>
            </p:cNvPr>
            <p:cNvSpPr txBox="1">
              <a:spLocks/>
            </p:cNvSpPr>
            <p:nvPr/>
          </p:nvSpPr>
          <p:spPr>
            <a:xfrm>
              <a:off x="11094642" y="474110"/>
              <a:ext cx="1304664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ctr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🤖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robot</a:t>
              </a:r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C6DF2356-0F1B-319E-7F12-8B438CFEB1B6}"/>
                </a:ext>
              </a:extLst>
            </p:cNvPr>
            <p:cNvGrpSpPr/>
            <p:nvPr/>
          </p:nvGrpSpPr>
          <p:grpSpPr>
            <a:xfrm>
              <a:off x="10990412" y="2220135"/>
              <a:ext cx="1525458" cy="556576"/>
              <a:chOff x="4941377" y="3971594"/>
              <a:chExt cx="1525458" cy="556576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0DC12909-DE11-F683-AD0F-9EFFCF4A96E7}"/>
                  </a:ext>
                </a:extLst>
              </p:cNvPr>
              <p:cNvSpPr/>
              <p:nvPr/>
            </p:nvSpPr>
            <p:spPr>
              <a:xfrm>
                <a:off x="4941377" y="3971594"/>
                <a:ext cx="1525458" cy="55657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5A6B86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36000"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69E15AB-8715-4FD2-5BCE-B9B2E9B45C07}"/>
                  </a:ext>
                </a:extLst>
              </p:cNvPr>
              <p:cNvSpPr txBox="1"/>
              <p:nvPr/>
            </p:nvSpPr>
            <p:spPr>
              <a:xfrm>
                <a:off x="4941377" y="4041641"/>
                <a:ext cx="1463629" cy="420628"/>
              </a:xfrm>
              <a:prstGeom prst="rect">
                <a:avLst/>
              </a:prstGeom>
              <a:noFill/>
            </p:spPr>
            <p:txBody>
              <a:bodyPr wrap="square" rIns="0">
                <a:spAutoFit/>
              </a:bodyPr>
              <a:lstStyle/>
              <a:p>
                <a:r>
                  <a:rPr lang="en-GB" sz="3200" baseline="-11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📡</a:t>
                </a:r>
                <a:r>
                  <a:rPr lang="en-GB" sz="2000" dirty="0"/>
                  <a:t> Antenna</a:t>
                </a:r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4ED19AAC-BA62-C22C-EE36-034D7D5D2ED0}"/>
                </a:ext>
              </a:extLst>
            </p:cNvPr>
            <p:cNvGrpSpPr/>
            <p:nvPr/>
          </p:nvGrpSpPr>
          <p:grpSpPr>
            <a:xfrm>
              <a:off x="11004396" y="1573271"/>
              <a:ext cx="1511474" cy="512403"/>
              <a:chOff x="4941376" y="3971594"/>
              <a:chExt cx="1511474" cy="512403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8C6EA05B-5D6F-5FAD-97FD-E67388D6AF51}"/>
                  </a:ext>
                </a:extLst>
              </p:cNvPr>
              <p:cNvSpPr/>
              <p:nvPr/>
            </p:nvSpPr>
            <p:spPr>
              <a:xfrm>
                <a:off x="4941376" y="3971594"/>
                <a:ext cx="1511474" cy="512403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5A6B86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36000"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endParaRP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D727E6EE-EA55-8D5C-180C-C734723891EF}"/>
                  </a:ext>
                </a:extLst>
              </p:cNvPr>
              <p:cNvSpPr txBox="1"/>
              <p:nvPr/>
            </p:nvSpPr>
            <p:spPr>
              <a:xfrm>
                <a:off x="4995167" y="4050606"/>
                <a:ext cx="1302958" cy="3795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2800" baseline="-11000" noProof="1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🛜</a:t>
                </a:r>
                <a:r>
                  <a:rPr lang="en-GB" noProof="1"/>
                  <a:t> Wi-Fier</a:t>
                </a:r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4072AAF7-C82A-76C6-EE22-8C1F13D0EAB9}"/>
                </a:ext>
              </a:extLst>
            </p:cNvPr>
            <p:cNvGrpSpPr/>
            <p:nvPr/>
          </p:nvGrpSpPr>
          <p:grpSpPr>
            <a:xfrm>
              <a:off x="11004396" y="932375"/>
              <a:ext cx="1511473" cy="512403"/>
              <a:chOff x="4941376" y="3971594"/>
              <a:chExt cx="1511473" cy="512403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F6279B9-CA9E-E649-D350-4179EDF3BE41}"/>
                  </a:ext>
                </a:extLst>
              </p:cNvPr>
              <p:cNvSpPr/>
              <p:nvPr/>
            </p:nvSpPr>
            <p:spPr>
              <a:xfrm>
                <a:off x="4941376" y="3971594"/>
                <a:ext cx="1511473" cy="512403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5A6B86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36000"/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endParaRP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D924A2B-C466-1F7E-FB1C-F64D4A6A76FF}"/>
                  </a:ext>
                </a:extLst>
              </p:cNvPr>
              <p:cNvSpPr txBox="1"/>
              <p:nvPr/>
            </p:nvSpPr>
            <p:spPr>
              <a:xfrm>
                <a:off x="4941377" y="4041641"/>
                <a:ext cx="1356748" cy="3795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GB" sz="2800" baseline="-11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🔆</a:t>
                </a:r>
                <a:r>
                  <a:rPr lang="en-GB" dirty="0"/>
                  <a:t> NFC QR</a:t>
                </a:r>
              </a:p>
            </p:txBody>
          </p:sp>
        </p:grpSp>
      </p:grpSp>
      <p:cxnSp>
        <p:nvCxnSpPr>
          <p:cNvPr id="70" name="Straight Arrow Connector 12">
            <a:extLst>
              <a:ext uri="{FF2B5EF4-FFF2-40B4-BE49-F238E27FC236}">
                <a16:creationId xmlns:a16="http://schemas.microsoft.com/office/drawing/2014/main" id="{A19E259B-F85B-B7B4-9761-8238969AC637}"/>
              </a:ext>
            </a:extLst>
          </p:cNvPr>
          <p:cNvCxnSpPr>
            <a:cxnSpLocks/>
            <a:stCxn id="53" idx="3"/>
            <a:endCxn id="26" idx="1"/>
          </p:cNvCxnSpPr>
          <p:nvPr/>
        </p:nvCxnSpPr>
        <p:spPr>
          <a:xfrm flipV="1">
            <a:off x="5487771" y="1558325"/>
            <a:ext cx="34200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3" name="Straight Arrow Connector 12">
            <a:extLst>
              <a:ext uri="{FF2B5EF4-FFF2-40B4-BE49-F238E27FC236}">
                <a16:creationId xmlns:a16="http://schemas.microsoft.com/office/drawing/2014/main" id="{8463211E-BC02-D7E1-EB06-9FEBCFD946E5}"/>
              </a:ext>
            </a:extLst>
          </p:cNvPr>
          <p:cNvCxnSpPr>
            <a:cxnSpLocks/>
            <a:stCxn id="51" idx="3"/>
            <a:endCxn id="28" idx="1"/>
          </p:cNvCxnSpPr>
          <p:nvPr/>
        </p:nvCxnSpPr>
        <p:spPr>
          <a:xfrm flipV="1">
            <a:off x="5495458" y="2195580"/>
            <a:ext cx="34092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3" name="Straight Arrow Connector 12">
            <a:extLst>
              <a:ext uri="{FF2B5EF4-FFF2-40B4-BE49-F238E27FC236}">
                <a16:creationId xmlns:a16="http://schemas.microsoft.com/office/drawing/2014/main" id="{61E878AA-E5C9-B38F-79F7-EC3C3CFFC3CA}"/>
              </a:ext>
            </a:extLst>
          </p:cNvPr>
          <p:cNvCxnSpPr>
            <a:cxnSpLocks/>
            <a:stCxn id="66" idx="2"/>
            <a:endCxn id="28" idx="3"/>
          </p:cNvCxnSpPr>
          <p:nvPr/>
        </p:nvCxnSpPr>
        <p:spPr>
          <a:xfrm rot="5400000">
            <a:off x="10446071" y="1356010"/>
            <a:ext cx="810951" cy="868188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A0F6672-3CDD-DBD0-9A1B-E331698FA6F7}"/>
              </a:ext>
            </a:extLst>
          </p:cNvPr>
          <p:cNvSpPr txBox="1"/>
          <p:nvPr/>
        </p:nvSpPr>
        <p:spPr>
          <a:xfrm>
            <a:off x="7688235" y="1923296"/>
            <a:ext cx="95611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800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☕</a:t>
            </a:r>
            <a:endParaRPr lang="en-PT" sz="8800"/>
          </a:p>
        </p:txBody>
      </p:sp>
    </p:spTree>
    <p:extLst>
      <p:ext uri="{BB962C8B-B14F-4D97-AF65-F5344CB8AC3E}">
        <p14:creationId xmlns:p14="http://schemas.microsoft.com/office/powerpoint/2010/main" val="2273342415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D5548-3694-C038-97A8-01C7CED6F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3BED4478-F5D2-5954-527C-EDF35F579B28}"/>
              </a:ext>
            </a:extLst>
          </p:cNvPr>
          <p:cNvGrpSpPr/>
          <p:nvPr/>
        </p:nvGrpSpPr>
        <p:grpSpPr>
          <a:xfrm>
            <a:off x="3118478" y="1241141"/>
            <a:ext cx="1988691" cy="1383576"/>
            <a:chOff x="4959152" y="4727414"/>
            <a:chExt cx="1988691" cy="1383576"/>
          </a:xfrm>
        </p:grpSpPr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D624FF68-5955-25DE-69E8-69D6425595DE}"/>
                </a:ext>
              </a:extLst>
            </p:cNvPr>
            <p:cNvGrpSpPr/>
            <p:nvPr/>
          </p:nvGrpSpPr>
          <p:grpSpPr>
            <a:xfrm>
              <a:off x="4959152" y="4727414"/>
              <a:ext cx="1988691" cy="1316816"/>
              <a:chOff x="4768207" y="3215212"/>
              <a:chExt cx="1988691" cy="1316816"/>
            </a:xfrm>
          </p:grpSpPr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EDEE7905-5351-0DDA-1CF5-D685783831F4}"/>
                  </a:ext>
                </a:extLst>
              </p:cNvPr>
              <p:cNvGrpSpPr/>
              <p:nvPr/>
            </p:nvGrpSpPr>
            <p:grpSpPr>
              <a:xfrm>
                <a:off x="4768207" y="3215212"/>
                <a:ext cx="1988691" cy="1316816"/>
                <a:chOff x="6139542" y="58284"/>
                <a:chExt cx="1988691" cy="1316816"/>
              </a:xfrm>
            </p:grpSpPr>
            <p:sp>
              <p:nvSpPr>
                <p:cNvPr id="53" name="Rectangle 52">
                  <a:extLst>
                    <a:ext uri="{FF2B5EF4-FFF2-40B4-BE49-F238E27FC236}">
                      <a16:creationId xmlns:a16="http://schemas.microsoft.com/office/drawing/2014/main" id="{196D1BEC-2C64-3B13-DFC7-3DCCEBC7AA84}"/>
                    </a:ext>
                  </a:extLst>
                </p:cNvPr>
                <p:cNvSpPr/>
                <p:nvPr/>
              </p:nvSpPr>
              <p:spPr>
                <a:xfrm>
                  <a:off x="6236556" y="149580"/>
                  <a:ext cx="1791009" cy="562183"/>
                </a:xfrm>
                <a:prstGeom prst="rect">
                  <a:avLst/>
                </a:prstGeom>
                <a:solidFill>
                  <a:schemeClr val="tx1">
                    <a:lumMod val="95000"/>
                  </a:schemeClr>
                </a:solidFill>
                <a:ln w="28575">
                  <a:solidFill>
                    <a:schemeClr val="tx1">
                      <a:lumMod val="50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anchor="ctr"/>
                <a:lstStyle/>
                <a:p>
                  <a:r>
                    <a:rPr lang="en-GB" sz="3200" baseline="-9000" dirty="0">
                      <a:solidFill>
                        <a:schemeClr val="bg2">
                          <a:lumMod val="40000"/>
                          <a:lumOff val="60000"/>
                        </a:schemeClr>
                      </a:solidFill>
                      <a:effectLst>
                        <a:glow>
                          <a:schemeClr val="bg1"/>
                        </a:glow>
                      </a:effectLst>
                    </a:rPr>
                    <a:t>🧑‍🦰</a:t>
                  </a:r>
                  <a:r>
                    <a:rPr lang="en-GB" sz="2400" dirty="0">
                      <a:solidFill>
                        <a:sysClr val="windowText" lastClr="000000"/>
                      </a:solidFill>
                      <a:latin typeface="+mj-lt"/>
                      <a:cs typeface="Arial" panose="020B0604020202020204" pitchFamily="34" charset="0"/>
                    </a:rPr>
                    <a:t> Wallet</a:t>
                  </a:r>
                </a:p>
              </p:txBody>
            </p:sp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1EA92A15-B5A1-3650-E6F3-FF3A033BEA4C}"/>
                    </a:ext>
                  </a:extLst>
                </p:cNvPr>
                <p:cNvSpPr/>
                <p:nvPr/>
              </p:nvSpPr>
              <p:spPr>
                <a:xfrm>
                  <a:off x="6139542" y="58284"/>
                  <a:ext cx="1988691" cy="1316816"/>
                </a:xfrm>
                <a:prstGeom prst="rect">
                  <a:avLst/>
                </a:prstGeom>
                <a:noFill/>
                <a:ln w="12700">
                  <a:solidFill>
                    <a:srgbClr val="5A6B86"/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tIns="36000"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2000" i="1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endParaRPr>
                </a:p>
              </p:txBody>
            </p:sp>
          </p:grp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90B285B-ECF5-40CC-87FF-906C6E9DD5D3}"/>
                  </a:ext>
                </a:extLst>
              </p:cNvPr>
              <p:cNvSpPr/>
              <p:nvPr/>
            </p:nvSpPr>
            <p:spPr>
              <a:xfrm>
                <a:off x="5501604" y="3951814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📣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2D2057D3-92FA-C4ED-90B2-FE4F1F0BA1F1}"/>
                  </a:ext>
                </a:extLst>
              </p:cNvPr>
              <p:cNvSpPr/>
              <p:nvPr/>
            </p:nvSpPr>
            <p:spPr>
              <a:xfrm>
                <a:off x="6133877" y="3951813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</a:t>
                </a:r>
                <a:r>
                  <a:rPr lang="en-GB" sz="3200" baseline="-10000" dirty="0"/>
                  <a:t>📱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0EF5034E-CCC4-ECD0-94F5-E0BF7058F2DA}"/>
                  </a:ext>
                </a:extLst>
              </p:cNvPr>
              <p:cNvSpPr/>
              <p:nvPr/>
            </p:nvSpPr>
            <p:spPr>
              <a:xfrm>
                <a:off x="4861649" y="3951814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 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45B74C0-6B4F-BDC5-9645-1BDEB072B93B}"/>
                </a:ext>
              </a:extLst>
            </p:cNvPr>
            <p:cNvSpPr txBox="1"/>
            <p:nvPr/>
          </p:nvSpPr>
          <p:spPr>
            <a:xfrm>
              <a:off x="5016883" y="5341549"/>
              <a:ext cx="502683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44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🤵</a:t>
              </a:r>
              <a:endParaRPr lang="en-US" sz="4400" dirty="0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95C83EF6-B9FD-ABD1-0419-E6E9F8F2D6B0}"/>
              </a:ext>
            </a:extLst>
          </p:cNvPr>
          <p:cNvGrpSpPr/>
          <p:nvPr/>
        </p:nvGrpSpPr>
        <p:grpSpPr>
          <a:xfrm>
            <a:off x="317102" y="382289"/>
            <a:ext cx="1961697" cy="1038741"/>
            <a:chOff x="6221987" y="5100898"/>
            <a:chExt cx="3822790" cy="1038741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276EF741-EF33-82D5-CFAD-5F408E4BF796}"/>
                </a:ext>
              </a:extLst>
            </p:cNvPr>
            <p:cNvSpPr/>
            <p:nvPr/>
          </p:nvSpPr>
          <p:spPr>
            <a:xfrm>
              <a:off x="6221987" y="5100898"/>
              <a:ext cx="3822790" cy="1038741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🍏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brand</a:t>
              </a:r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7ABBC6FA-22E0-6277-0F13-108F7F773AFF}"/>
                </a:ext>
              </a:extLst>
            </p:cNvPr>
            <p:cNvSpPr/>
            <p:nvPr/>
          </p:nvSpPr>
          <p:spPr>
            <a:xfrm>
              <a:off x="6385391" y="5490228"/>
              <a:ext cx="3506209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defRPr/>
              </a:pPr>
              <a:r>
                <a:rPr lang="en-GB" sz="44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🪄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</a:t>
              </a:r>
              <a:r>
                <a:rPr lang="en-GB" sz="2400" dirty="0">
                  <a:solidFill>
                    <a:sysClr val="windowText" lastClr="000000"/>
                  </a:solidFill>
                  <a:cs typeface="Arial" panose="020B0604020202020204" pitchFamily="34" charset="0"/>
                </a:rPr>
                <a:t>Wand</a:t>
              </a:r>
              <a:endPara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endParaRPr>
            </a:p>
          </p:txBody>
        </p:sp>
      </p:grpSp>
      <p:sp>
        <p:nvSpPr>
          <p:cNvPr id="62" name="Rectangle 61">
            <a:extLst>
              <a:ext uri="{FF2B5EF4-FFF2-40B4-BE49-F238E27FC236}">
                <a16:creationId xmlns:a16="http://schemas.microsoft.com/office/drawing/2014/main" id="{53C30E02-70FF-D075-0844-0786C407A7FA}"/>
              </a:ext>
            </a:extLst>
          </p:cNvPr>
          <p:cNvSpPr/>
          <p:nvPr/>
        </p:nvSpPr>
        <p:spPr>
          <a:xfrm>
            <a:off x="8577333" y="211042"/>
            <a:ext cx="3462268" cy="2752633"/>
          </a:xfrm>
          <a:prstGeom prst="rect">
            <a:avLst/>
          </a:prstGeom>
          <a:noFill/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2000" i="1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63" name="Content Placeholder 2">
            <a:extLst>
              <a:ext uri="{FF2B5EF4-FFF2-40B4-BE49-F238E27FC236}">
                <a16:creationId xmlns:a16="http://schemas.microsoft.com/office/drawing/2014/main" id="{216B750A-AA2C-664F-FD64-A1780FD93F4C}"/>
              </a:ext>
            </a:extLst>
          </p:cNvPr>
          <p:cNvSpPr txBox="1">
            <a:spLocks/>
          </p:cNvSpPr>
          <p:nvPr/>
        </p:nvSpPr>
        <p:spPr>
          <a:xfrm>
            <a:off x="8680133" y="283654"/>
            <a:ext cx="2242841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🏠</a:t>
            </a: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on-premises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0A16D8C-04A1-29C4-4E1E-E90C7BA5767B}"/>
              </a:ext>
            </a:extLst>
          </p:cNvPr>
          <p:cNvGrpSpPr/>
          <p:nvPr/>
        </p:nvGrpSpPr>
        <p:grpSpPr>
          <a:xfrm>
            <a:off x="10726797" y="345900"/>
            <a:ext cx="1164577" cy="735598"/>
            <a:chOff x="8013515" y="2736815"/>
            <a:chExt cx="1164577" cy="735598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82109904-715D-A095-9672-A9692C64CCBF}"/>
                </a:ext>
              </a:extLst>
            </p:cNvPr>
            <p:cNvSpPr/>
            <p:nvPr/>
          </p:nvSpPr>
          <p:spPr>
            <a:xfrm>
              <a:off x="8048951" y="2736815"/>
              <a:ext cx="1129141" cy="7355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 w="12700">
              <a:noFill/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algn="r"/>
              <a:endParaRPr lang="en-US" sz="2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8C57AE6C-5495-08C7-2AAE-2EE499E68133}"/>
                </a:ext>
              </a:extLst>
            </p:cNvPr>
            <p:cNvSpPr txBox="1"/>
            <p:nvPr/>
          </p:nvSpPr>
          <p:spPr>
            <a:xfrm>
              <a:off x="8013515" y="2792381"/>
              <a:ext cx="1117685" cy="65659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2800" baseline="-11000" noProof="1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🛜 </a:t>
              </a:r>
              <a:r>
                <a:rPr lang="en-GB" noProof="1"/>
                <a:t>Wi-Fi router</a:t>
              </a: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229C2E4E-A2B3-EB87-D93B-78D5E742E47F}"/>
              </a:ext>
            </a:extLst>
          </p:cNvPr>
          <p:cNvGrpSpPr/>
          <p:nvPr/>
        </p:nvGrpSpPr>
        <p:grpSpPr>
          <a:xfrm>
            <a:off x="317098" y="2305642"/>
            <a:ext cx="1972893" cy="1038741"/>
            <a:chOff x="7507403" y="1006813"/>
            <a:chExt cx="640029" cy="1038741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F0FE19C5-6AEF-1841-22CC-ABAD5854384F}"/>
                </a:ext>
              </a:extLst>
            </p:cNvPr>
            <p:cNvSpPr/>
            <p:nvPr/>
          </p:nvSpPr>
          <p:spPr>
            <a:xfrm>
              <a:off x="7538137" y="1386857"/>
              <a:ext cx="580163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36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🧢 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Persona</a:t>
              </a: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A3760BD6-E544-C8B7-C8C7-7CF00B03F3F2}"/>
                </a:ext>
              </a:extLst>
            </p:cNvPr>
            <p:cNvSpPr/>
            <p:nvPr/>
          </p:nvSpPr>
          <p:spPr>
            <a:xfrm>
              <a:off x="7507403" y="1006813"/>
              <a:ext cx="640029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🧑‍🦰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user agent</a:t>
              </a:r>
            </a:p>
          </p:txBody>
        </p:sp>
      </p:grpSp>
      <p:cxnSp>
        <p:nvCxnSpPr>
          <p:cNvPr id="84" name="Straight Arrow Connector 12">
            <a:extLst>
              <a:ext uri="{FF2B5EF4-FFF2-40B4-BE49-F238E27FC236}">
                <a16:creationId xmlns:a16="http://schemas.microsoft.com/office/drawing/2014/main" id="{D117737B-F9B8-11EF-8AB5-4713C7ECA022}"/>
              </a:ext>
            </a:extLst>
          </p:cNvPr>
          <p:cNvCxnSpPr>
            <a:cxnSpLocks/>
            <a:stCxn id="54" idx="0"/>
            <a:endCxn id="56" idx="3"/>
          </p:cNvCxnSpPr>
          <p:nvPr/>
        </p:nvCxnSpPr>
        <p:spPr>
          <a:xfrm rot="16200000" flipV="1">
            <a:off x="3026072" y="154388"/>
            <a:ext cx="339481" cy="1834025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7" name="Straight Arrow Connector 12">
            <a:extLst>
              <a:ext uri="{FF2B5EF4-FFF2-40B4-BE49-F238E27FC236}">
                <a16:creationId xmlns:a16="http://schemas.microsoft.com/office/drawing/2014/main" id="{07BF90A8-1C3F-5A07-2E1F-49E826B70012}"/>
              </a:ext>
            </a:extLst>
          </p:cNvPr>
          <p:cNvCxnSpPr>
            <a:cxnSpLocks/>
            <a:stCxn id="54" idx="2"/>
            <a:endCxn id="82" idx="3"/>
          </p:cNvCxnSpPr>
          <p:nvPr/>
        </p:nvCxnSpPr>
        <p:spPr>
          <a:xfrm rot="5400000">
            <a:off x="3067880" y="1780069"/>
            <a:ext cx="267056" cy="1822833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60F8137E-C71F-10A3-707A-B260F65812DA}"/>
              </a:ext>
            </a:extLst>
          </p:cNvPr>
          <p:cNvGrpSpPr/>
          <p:nvPr/>
        </p:nvGrpSpPr>
        <p:grpSpPr>
          <a:xfrm>
            <a:off x="2412402" y="33677"/>
            <a:ext cx="3319530" cy="830997"/>
            <a:chOff x="2343832" y="1872138"/>
            <a:chExt cx="3319530" cy="830997"/>
          </a:xfrm>
        </p:grpSpPr>
        <p:sp>
          <p:nvSpPr>
            <p:cNvPr id="106" name="Rounded Rectangle 105">
              <a:extLst>
                <a:ext uri="{FF2B5EF4-FFF2-40B4-BE49-F238E27FC236}">
                  <a16:creationId xmlns:a16="http://schemas.microsoft.com/office/drawing/2014/main" id="{D8E29B29-0B41-04A0-CB38-A4FDCA3CA1B8}"/>
                </a:ext>
              </a:extLst>
            </p:cNvPr>
            <p:cNvSpPr/>
            <p:nvPr/>
          </p:nvSpPr>
          <p:spPr>
            <a:xfrm>
              <a:off x="2343832" y="2223776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07" name="Content Placeholder 2">
              <a:extLst>
                <a:ext uri="{FF2B5EF4-FFF2-40B4-BE49-F238E27FC236}">
                  <a16:creationId xmlns:a16="http://schemas.microsoft.com/office/drawing/2014/main" id="{5C4DA408-8D15-5301-0F9B-58110B07C7FF}"/>
                </a:ext>
              </a:extLst>
            </p:cNvPr>
            <p:cNvSpPr txBox="1">
              <a:spLocks/>
            </p:cNvSpPr>
            <p:nvPr/>
          </p:nvSpPr>
          <p:spPr>
            <a:xfrm>
              <a:off x="2713889" y="1872138"/>
              <a:ext cx="2949473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translate locator </a:t>
              </a:r>
              <a:r>
                <a:rPr lang="en-GB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🔆</a:t>
              </a:r>
              <a:b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and get BLE config</a:t>
              </a:r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26853BED-2AC1-2C3F-673F-3FAB35285DD3}"/>
              </a:ext>
            </a:extLst>
          </p:cNvPr>
          <p:cNvGrpSpPr/>
          <p:nvPr/>
        </p:nvGrpSpPr>
        <p:grpSpPr>
          <a:xfrm>
            <a:off x="2412402" y="2941903"/>
            <a:ext cx="2873824" cy="707886"/>
            <a:chOff x="2343832" y="2179312"/>
            <a:chExt cx="2873824" cy="707886"/>
          </a:xfrm>
        </p:grpSpPr>
        <p:sp>
          <p:nvSpPr>
            <p:cNvPr id="109" name="Rounded Rectangle 108">
              <a:extLst>
                <a:ext uri="{FF2B5EF4-FFF2-40B4-BE49-F238E27FC236}">
                  <a16:creationId xmlns:a16="http://schemas.microsoft.com/office/drawing/2014/main" id="{A5834E28-245F-D46F-20F7-9F23DD88ED98}"/>
                </a:ext>
              </a:extLst>
            </p:cNvPr>
            <p:cNvSpPr/>
            <p:nvPr/>
          </p:nvSpPr>
          <p:spPr>
            <a:xfrm>
              <a:off x="2343832" y="2223776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10" name="Content Placeholder 2">
              <a:extLst>
                <a:ext uri="{FF2B5EF4-FFF2-40B4-BE49-F238E27FC236}">
                  <a16:creationId xmlns:a16="http://schemas.microsoft.com/office/drawing/2014/main" id="{429B207E-AF73-1077-C317-51A4AE29C63C}"/>
                </a:ext>
              </a:extLst>
            </p:cNvPr>
            <p:cNvSpPr txBox="1">
              <a:spLocks/>
            </p:cNvSpPr>
            <p:nvPr/>
          </p:nvSpPr>
          <p:spPr>
            <a:xfrm>
              <a:off x="2735662" y="2179312"/>
              <a:ext cx="2481994" cy="707886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share on-premises Wi-Fi credentials</a:t>
              </a:r>
            </a:p>
          </p:txBody>
        </p:sp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28794CBF-DBEF-70E0-7A50-8BBA0C4F0DE9}"/>
              </a:ext>
            </a:extLst>
          </p:cNvPr>
          <p:cNvGrpSpPr/>
          <p:nvPr/>
        </p:nvGrpSpPr>
        <p:grpSpPr>
          <a:xfrm>
            <a:off x="5264453" y="1055021"/>
            <a:ext cx="2006749" cy="400110"/>
            <a:chOff x="2343832" y="2128929"/>
            <a:chExt cx="2006749" cy="400110"/>
          </a:xfrm>
        </p:grpSpPr>
        <p:sp>
          <p:nvSpPr>
            <p:cNvPr id="112" name="Rounded Rectangle 111">
              <a:extLst>
                <a:ext uri="{FF2B5EF4-FFF2-40B4-BE49-F238E27FC236}">
                  <a16:creationId xmlns:a16="http://schemas.microsoft.com/office/drawing/2014/main" id="{024F2A01-1176-9082-8871-24C476D49C2F}"/>
                </a:ext>
              </a:extLst>
            </p:cNvPr>
            <p:cNvSpPr/>
            <p:nvPr/>
          </p:nvSpPr>
          <p:spPr>
            <a:xfrm>
              <a:off x="2343832" y="2147574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13" name="Content Placeholder 2">
              <a:extLst>
                <a:ext uri="{FF2B5EF4-FFF2-40B4-BE49-F238E27FC236}">
                  <a16:creationId xmlns:a16="http://schemas.microsoft.com/office/drawing/2014/main" id="{80038F2F-F6DA-89D7-F99E-E94D1BE98753}"/>
                </a:ext>
              </a:extLst>
            </p:cNvPr>
            <p:cNvSpPr txBox="1">
              <a:spLocks/>
            </p:cNvSpPr>
            <p:nvPr/>
          </p:nvSpPr>
          <p:spPr>
            <a:xfrm>
              <a:off x="2711484" y="2128929"/>
              <a:ext cx="1639097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tap or scan</a:t>
              </a:r>
            </a:p>
          </p:txBody>
        </p:sp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D28C09C9-77D3-E14A-3913-DE433A44F998}"/>
              </a:ext>
            </a:extLst>
          </p:cNvPr>
          <p:cNvGrpSpPr/>
          <p:nvPr/>
        </p:nvGrpSpPr>
        <p:grpSpPr>
          <a:xfrm>
            <a:off x="5268706" y="2266867"/>
            <a:ext cx="3651107" cy="707886"/>
            <a:chOff x="1896792" y="2105052"/>
            <a:chExt cx="3651107" cy="707886"/>
          </a:xfrm>
        </p:grpSpPr>
        <p:sp>
          <p:nvSpPr>
            <p:cNvPr id="115" name="Rounded Rectangle 114">
              <a:extLst>
                <a:ext uri="{FF2B5EF4-FFF2-40B4-BE49-F238E27FC236}">
                  <a16:creationId xmlns:a16="http://schemas.microsoft.com/office/drawing/2014/main" id="{A2726F5E-3E3A-FE5F-AFD7-B249476780AC}"/>
                </a:ext>
              </a:extLst>
            </p:cNvPr>
            <p:cNvSpPr/>
            <p:nvPr/>
          </p:nvSpPr>
          <p:spPr>
            <a:xfrm>
              <a:off x="1896792" y="2198001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16" name="Content Placeholder 2">
              <a:extLst>
                <a:ext uri="{FF2B5EF4-FFF2-40B4-BE49-F238E27FC236}">
                  <a16:creationId xmlns:a16="http://schemas.microsoft.com/office/drawing/2014/main" id="{AB21291F-4460-C018-143C-72C91FABF331}"/>
                </a:ext>
              </a:extLst>
            </p:cNvPr>
            <p:cNvSpPr txBox="1">
              <a:spLocks/>
            </p:cNvSpPr>
            <p:nvPr/>
          </p:nvSpPr>
          <p:spPr>
            <a:xfrm>
              <a:off x="2266124" y="2105052"/>
              <a:ext cx="3281775" cy="707886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connect via BLE and </a:t>
              </a:r>
              <a:b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send Wi-Fi credentials</a:t>
              </a:r>
            </a:p>
          </p:txBody>
        </p:sp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B643BB1A-1AE5-D10A-99E5-E1779603CF67}"/>
              </a:ext>
            </a:extLst>
          </p:cNvPr>
          <p:cNvGrpSpPr/>
          <p:nvPr/>
        </p:nvGrpSpPr>
        <p:grpSpPr>
          <a:xfrm>
            <a:off x="10212109" y="1858205"/>
            <a:ext cx="1746945" cy="1066500"/>
            <a:chOff x="1735596" y="2200330"/>
            <a:chExt cx="1746945" cy="1066500"/>
          </a:xfrm>
        </p:grpSpPr>
        <p:sp>
          <p:nvSpPr>
            <p:cNvPr id="118" name="Rounded Rectangle 117">
              <a:extLst>
                <a:ext uri="{FF2B5EF4-FFF2-40B4-BE49-F238E27FC236}">
                  <a16:creationId xmlns:a16="http://schemas.microsoft.com/office/drawing/2014/main" id="{A995F612-390C-F9E1-7721-7377091E8C90}"/>
                </a:ext>
              </a:extLst>
            </p:cNvPr>
            <p:cNvSpPr/>
            <p:nvPr/>
          </p:nvSpPr>
          <p:spPr>
            <a:xfrm>
              <a:off x="3012043" y="2200330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19" name="Content Placeholder 2">
              <a:extLst>
                <a:ext uri="{FF2B5EF4-FFF2-40B4-BE49-F238E27FC236}">
                  <a16:creationId xmlns:a16="http://schemas.microsoft.com/office/drawing/2014/main" id="{3BF0F8C7-5DE0-C931-94DC-3D29E7C37A86}"/>
                </a:ext>
              </a:extLst>
            </p:cNvPr>
            <p:cNvSpPr txBox="1">
              <a:spLocks/>
            </p:cNvSpPr>
            <p:nvPr/>
          </p:nvSpPr>
          <p:spPr>
            <a:xfrm>
              <a:off x="1735596" y="2558944"/>
              <a:ext cx="1746945" cy="707886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r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connect</a:t>
              </a:r>
              <a:b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to router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EEF7FE5A-DBCC-383D-0ED6-C97614CD8482}"/>
              </a:ext>
            </a:extLst>
          </p:cNvPr>
          <p:cNvSpPr txBox="1"/>
          <p:nvPr/>
        </p:nvSpPr>
        <p:spPr>
          <a:xfrm>
            <a:off x="218143" y="6278524"/>
            <a:ext cx="2173672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WI-FIER #2/3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2241049-C218-C6E9-C48B-FBF8A747CB6F}"/>
              </a:ext>
            </a:extLst>
          </p:cNvPr>
          <p:cNvSpPr/>
          <p:nvPr/>
        </p:nvSpPr>
        <p:spPr>
          <a:xfrm>
            <a:off x="8788567" y="1143000"/>
            <a:ext cx="1724308" cy="1481717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endParaRPr lang="en-GB" sz="2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FB7F0F89-D9A8-77F2-25D8-65C557A4527F}"/>
              </a:ext>
            </a:extLst>
          </p:cNvPr>
          <p:cNvGrpSpPr/>
          <p:nvPr/>
        </p:nvGrpSpPr>
        <p:grpSpPr>
          <a:xfrm>
            <a:off x="8905978" y="1950264"/>
            <a:ext cx="1511474" cy="512403"/>
            <a:chOff x="4941376" y="3971594"/>
            <a:chExt cx="1511474" cy="512403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BB0125E-02B4-E2CA-294D-916DE1496E85}"/>
                </a:ext>
              </a:extLst>
            </p:cNvPr>
            <p:cNvSpPr/>
            <p:nvPr/>
          </p:nvSpPr>
          <p:spPr>
            <a:xfrm>
              <a:off x="4941376" y="3971594"/>
              <a:ext cx="1511474" cy="512403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E046D23-474C-FC55-7E1A-87EFF489C471}"/>
                </a:ext>
              </a:extLst>
            </p:cNvPr>
            <p:cNvSpPr txBox="1"/>
            <p:nvPr/>
          </p:nvSpPr>
          <p:spPr>
            <a:xfrm>
              <a:off x="4995167" y="4050606"/>
              <a:ext cx="1302958" cy="3795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800" baseline="-11000" noProof="1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🛜</a:t>
              </a:r>
              <a:r>
                <a:rPr lang="en-GB" noProof="1"/>
                <a:t> Wi-Fier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DA4C053-39F9-640D-4C90-5C141063259E}"/>
              </a:ext>
            </a:extLst>
          </p:cNvPr>
          <p:cNvGrpSpPr/>
          <p:nvPr/>
        </p:nvGrpSpPr>
        <p:grpSpPr>
          <a:xfrm>
            <a:off x="8905978" y="1342026"/>
            <a:ext cx="1511473" cy="512403"/>
            <a:chOff x="4941376" y="3971594"/>
            <a:chExt cx="1511473" cy="512403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0C7B4382-9388-5AD5-96B1-B3AD52A473E9}"/>
                </a:ext>
              </a:extLst>
            </p:cNvPr>
            <p:cNvSpPr/>
            <p:nvPr/>
          </p:nvSpPr>
          <p:spPr>
            <a:xfrm>
              <a:off x="4941376" y="3971594"/>
              <a:ext cx="1511473" cy="512403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609FD7AF-859B-02FB-A1AA-447BC82FE11B}"/>
                </a:ext>
              </a:extLst>
            </p:cNvPr>
            <p:cNvSpPr txBox="1"/>
            <p:nvPr/>
          </p:nvSpPr>
          <p:spPr>
            <a:xfrm>
              <a:off x="4941377" y="4041641"/>
              <a:ext cx="1356748" cy="3795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🔆</a:t>
              </a:r>
              <a:r>
                <a:rPr lang="en-GB" dirty="0"/>
                <a:t> NFC QR</a:t>
              </a:r>
            </a:p>
          </p:txBody>
        </p:sp>
      </p:grpSp>
      <p:cxnSp>
        <p:nvCxnSpPr>
          <p:cNvPr id="70" name="Straight Arrow Connector 12">
            <a:extLst>
              <a:ext uri="{FF2B5EF4-FFF2-40B4-BE49-F238E27FC236}">
                <a16:creationId xmlns:a16="http://schemas.microsoft.com/office/drawing/2014/main" id="{C1FB551A-EBFC-11B9-1667-FF2AAE5F1AA0}"/>
              </a:ext>
            </a:extLst>
          </p:cNvPr>
          <p:cNvCxnSpPr>
            <a:cxnSpLocks/>
            <a:stCxn id="53" idx="3"/>
            <a:endCxn id="26" idx="1"/>
          </p:cNvCxnSpPr>
          <p:nvPr/>
        </p:nvCxnSpPr>
        <p:spPr>
          <a:xfrm flipV="1">
            <a:off x="5006501" y="1601869"/>
            <a:ext cx="38988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3" name="Straight Arrow Connector 12">
            <a:extLst>
              <a:ext uri="{FF2B5EF4-FFF2-40B4-BE49-F238E27FC236}">
                <a16:creationId xmlns:a16="http://schemas.microsoft.com/office/drawing/2014/main" id="{D76D6DE5-C341-69FD-DF85-A452C7A5FC67}"/>
              </a:ext>
            </a:extLst>
          </p:cNvPr>
          <p:cNvCxnSpPr>
            <a:cxnSpLocks/>
            <a:stCxn id="51" idx="3"/>
            <a:endCxn id="28" idx="1"/>
          </p:cNvCxnSpPr>
          <p:nvPr/>
        </p:nvCxnSpPr>
        <p:spPr>
          <a:xfrm flipV="1">
            <a:off x="5014188" y="2206466"/>
            <a:ext cx="3891790" cy="12303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3" name="Straight Arrow Connector 12">
            <a:extLst>
              <a:ext uri="{FF2B5EF4-FFF2-40B4-BE49-F238E27FC236}">
                <a16:creationId xmlns:a16="http://schemas.microsoft.com/office/drawing/2014/main" id="{0A700D10-2BF6-605E-CF56-078749135E66}"/>
              </a:ext>
            </a:extLst>
          </p:cNvPr>
          <p:cNvCxnSpPr>
            <a:cxnSpLocks/>
            <a:stCxn id="28" idx="3"/>
            <a:endCxn id="66" idx="2"/>
          </p:cNvCxnSpPr>
          <p:nvPr/>
        </p:nvCxnSpPr>
        <p:spPr>
          <a:xfrm flipV="1">
            <a:off x="10417452" y="1058056"/>
            <a:ext cx="868188" cy="1148410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09CA85C-FFA4-AB7D-8BC9-5ADAC2D03478}"/>
              </a:ext>
            </a:extLst>
          </p:cNvPr>
          <p:cNvSpPr txBox="1"/>
          <p:nvPr/>
        </p:nvSpPr>
        <p:spPr>
          <a:xfrm>
            <a:off x="3299398" y="2112657"/>
            <a:ext cx="304571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PT" dirty="0"/>
              <a:t>     </a:t>
            </a:r>
          </a:p>
        </p:txBody>
      </p:sp>
    </p:spTree>
    <p:extLst>
      <p:ext uri="{BB962C8B-B14F-4D97-AF65-F5344CB8AC3E}">
        <p14:creationId xmlns:p14="http://schemas.microsoft.com/office/powerpoint/2010/main" val="2103974240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AE154-4B5C-7347-5763-F700BF78A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3C87970D-093E-239A-1B20-D28A8A4B849E}"/>
              </a:ext>
            </a:extLst>
          </p:cNvPr>
          <p:cNvGrpSpPr/>
          <p:nvPr/>
        </p:nvGrpSpPr>
        <p:grpSpPr>
          <a:xfrm>
            <a:off x="3118478" y="1241141"/>
            <a:ext cx="1988691" cy="1383576"/>
            <a:chOff x="4959152" y="4727414"/>
            <a:chExt cx="1988691" cy="1383576"/>
          </a:xfrm>
        </p:grpSpPr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126565E3-B244-4355-4BFA-38401C1BEA5D}"/>
                </a:ext>
              </a:extLst>
            </p:cNvPr>
            <p:cNvGrpSpPr/>
            <p:nvPr/>
          </p:nvGrpSpPr>
          <p:grpSpPr>
            <a:xfrm>
              <a:off x="4959152" y="4727414"/>
              <a:ext cx="1988691" cy="1316816"/>
              <a:chOff x="4768207" y="3215212"/>
              <a:chExt cx="1988691" cy="1316816"/>
            </a:xfrm>
          </p:grpSpPr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6E4DFA43-0687-C55C-ECC7-4A8D44E99B10}"/>
                  </a:ext>
                </a:extLst>
              </p:cNvPr>
              <p:cNvGrpSpPr/>
              <p:nvPr/>
            </p:nvGrpSpPr>
            <p:grpSpPr>
              <a:xfrm>
                <a:off x="4768207" y="3215212"/>
                <a:ext cx="1988691" cy="1316816"/>
                <a:chOff x="6139542" y="58284"/>
                <a:chExt cx="1988691" cy="1316816"/>
              </a:xfrm>
            </p:grpSpPr>
            <p:sp>
              <p:nvSpPr>
                <p:cNvPr id="53" name="Rectangle 52">
                  <a:extLst>
                    <a:ext uri="{FF2B5EF4-FFF2-40B4-BE49-F238E27FC236}">
                      <a16:creationId xmlns:a16="http://schemas.microsoft.com/office/drawing/2014/main" id="{2C4681B8-FB24-4D5B-3817-3C00511F94E8}"/>
                    </a:ext>
                  </a:extLst>
                </p:cNvPr>
                <p:cNvSpPr/>
                <p:nvPr/>
              </p:nvSpPr>
              <p:spPr>
                <a:xfrm>
                  <a:off x="6236556" y="149580"/>
                  <a:ext cx="1791009" cy="562183"/>
                </a:xfrm>
                <a:prstGeom prst="rect">
                  <a:avLst/>
                </a:prstGeom>
                <a:solidFill>
                  <a:schemeClr val="tx1">
                    <a:lumMod val="95000"/>
                  </a:schemeClr>
                </a:solidFill>
                <a:ln w="28575">
                  <a:solidFill>
                    <a:schemeClr val="tx1">
                      <a:lumMod val="50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44000" rIns="144000" bIns="144000" anchor="ctr"/>
                <a:lstStyle/>
                <a:p>
                  <a:r>
                    <a:rPr lang="en-GB" sz="3200" baseline="-9000" dirty="0">
                      <a:solidFill>
                        <a:schemeClr val="bg2">
                          <a:lumMod val="40000"/>
                          <a:lumOff val="60000"/>
                        </a:schemeClr>
                      </a:solidFill>
                      <a:effectLst>
                        <a:glow>
                          <a:schemeClr val="bg1"/>
                        </a:glow>
                      </a:effectLst>
                    </a:rPr>
                    <a:t>🧑‍🦰</a:t>
                  </a:r>
                  <a:r>
                    <a:rPr lang="en-GB" sz="2400" dirty="0">
                      <a:solidFill>
                        <a:sysClr val="windowText" lastClr="000000"/>
                      </a:solidFill>
                      <a:latin typeface="+mj-lt"/>
                      <a:cs typeface="Arial" panose="020B0604020202020204" pitchFamily="34" charset="0"/>
                    </a:rPr>
                    <a:t> Wallet</a:t>
                  </a:r>
                </a:p>
              </p:txBody>
            </p:sp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7954C263-DF53-9BFE-76CF-0BD1EC6BD272}"/>
                    </a:ext>
                  </a:extLst>
                </p:cNvPr>
                <p:cNvSpPr/>
                <p:nvPr/>
              </p:nvSpPr>
              <p:spPr>
                <a:xfrm>
                  <a:off x="6139542" y="58284"/>
                  <a:ext cx="1988691" cy="1316816"/>
                </a:xfrm>
                <a:prstGeom prst="rect">
                  <a:avLst/>
                </a:prstGeom>
                <a:noFill/>
                <a:ln w="12700">
                  <a:solidFill>
                    <a:srgbClr val="5A6B86"/>
                  </a:solidFill>
                  <a:prstDash val="dash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tIns="36000"/>
                <a:lstStyle/>
                <a:p>
                  <a:pPr eaLnBrk="1" fontAlgn="auto" hangingPunct="1">
                    <a:spcBef>
                      <a:spcPts val="0"/>
                    </a:spcBef>
                    <a:spcAft>
                      <a:spcPts val="0"/>
                    </a:spcAft>
                    <a:defRPr/>
                  </a:pPr>
                  <a:endParaRPr lang="en-US" sz="2000" i="1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endParaRPr>
                </a:p>
              </p:txBody>
            </p:sp>
          </p:grp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85D3FCA9-8B79-210F-8FE5-203130EFAC87}"/>
                  </a:ext>
                </a:extLst>
              </p:cNvPr>
              <p:cNvSpPr/>
              <p:nvPr/>
            </p:nvSpPr>
            <p:spPr>
              <a:xfrm>
                <a:off x="5501604" y="3951814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📣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84A93590-F8A0-E653-E297-4933756A17E3}"/>
                  </a:ext>
                </a:extLst>
              </p:cNvPr>
              <p:cNvSpPr/>
              <p:nvPr/>
            </p:nvSpPr>
            <p:spPr>
              <a:xfrm>
                <a:off x="6133877" y="3951813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</a:t>
                </a:r>
                <a:r>
                  <a:rPr lang="en-GB" sz="3200" baseline="-10000" dirty="0"/>
                  <a:t>📱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1AFD9619-AA0B-2467-FB55-9BFCD230CFAF}"/>
                  </a:ext>
                </a:extLst>
              </p:cNvPr>
              <p:cNvSpPr/>
              <p:nvPr/>
            </p:nvSpPr>
            <p:spPr>
              <a:xfrm>
                <a:off x="4861649" y="3951814"/>
                <a:ext cx="530040" cy="48205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pPr>
                  <a:lnSpc>
                    <a:spcPts val="1500"/>
                  </a:lnSpc>
                  <a:defRPr/>
                </a:pPr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  </a:t>
                </a:r>
                <a:endPara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75647DB-E644-A761-6E90-F122E8EF99A4}"/>
                </a:ext>
              </a:extLst>
            </p:cNvPr>
            <p:cNvSpPr txBox="1"/>
            <p:nvPr/>
          </p:nvSpPr>
          <p:spPr>
            <a:xfrm>
              <a:off x="5016883" y="5341549"/>
              <a:ext cx="502683" cy="76944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44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🤵</a:t>
              </a:r>
              <a:endParaRPr lang="en-US" sz="4400" dirty="0"/>
            </a:p>
          </p:txBody>
        </p:sp>
      </p:grpSp>
      <p:grpSp>
        <p:nvGrpSpPr>
          <p:cNvPr id="55" name="Group 54">
            <a:extLst>
              <a:ext uri="{FF2B5EF4-FFF2-40B4-BE49-F238E27FC236}">
                <a16:creationId xmlns:a16="http://schemas.microsoft.com/office/drawing/2014/main" id="{309F433F-EF80-15A1-51CA-58B2797D959A}"/>
              </a:ext>
            </a:extLst>
          </p:cNvPr>
          <p:cNvGrpSpPr/>
          <p:nvPr/>
        </p:nvGrpSpPr>
        <p:grpSpPr>
          <a:xfrm>
            <a:off x="262760" y="2529209"/>
            <a:ext cx="1961697" cy="1038741"/>
            <a:chOff x="6221987" y="5100898"/>
            <a:chExt cx="3822790" cy="1038741"/>
          </a:xfrm>
        </p:grpSpPr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38F87F0C-608E-7531-CDF9-35F4D9A3817E}"/>
                </a:ext>
              </a:extLst>
            </p:cNvPr>
            <p:cNvSpPr/>
            <p:nvPr/>
          </p:nvSpPr>
          <p:spPr>
            <a:xfrm>
              <a:off x="6221987" y="5100898"/>
              <a:ext cx="3822790" cy="1038741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🍏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brand</a:t>
              </a:r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CF7ABD94-8C46-F7F5-1D85-1E4FBA38F694}"/>
                </a:ext>
              </a:extLst>
            </p:cNvPr>
            <p:cNvSpPr/>
            <p:nvPr/>
          </p:nvSpPr>
          <p:spPr>
            <a:xfrm>
              <a:off x="6385391" y="5490228"/>
              <a:ext cx="3506209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pPr>
                <a:defRPr/>
              </a:pPr>
              <a:r>
                <a:rPr lang="en-GB" sz="44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🪄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</a:t>
              </a:r>
              <a:r>
                <a:rPr lang="en-GB" sz="2400" dirty="0">
                  <a:solidFill>
                    <a:sysClr val="windowText" lastClr="000000"/>
                  </a:solidFill>
                  <a:cs typeface="Arial" panose="020B0604020202020204" pitchFamily="34" charset="0"/>
                </a:rPr>
                <a:t>Wand</a:t>
              </a:r>
              <a:endPara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endParaRPr>
            </a:p>
          </p:txBody>
        </p:sp>
      </p:grpSp>
      <p:sp>
        <p:nvSpPr>
          <p:cNvPr id="62" name="Rectangle 61">
            <a:extLst>
              <a:ext uri="{FF2B5EF4-FFF2-40B4-BE49-F238E27FC236}">
                <a16:creationId xmlns:a16="http://schemas.microsoft.com/office/drawing/2014/main" id="{5B13C7AA-B303-B3E9-2EC0-23D486FACBD1}"/>
              </a:ext>
            </a:extLst>
          </p:cNvPr>
          <p:cNvSpPr/>
          <p:nvPr/>
        </p:nvSpPr>
        <p:spPr>
          <a:xfrm>
            <a:off x="8577333" y="211042"/>
            <a:ext cx="3462268" cy="2752633"/>
          </a:xfrm>
          <a:prstGeom prst="rect">
            <a:avLst/>
          </a:prstGeom>
          <a:noFill/>
          <a:ln w="12700">
            <a:solidFill>
              <a:srgbClr val="5A6B86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2000" i="1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sp>
        <p:nvSpPr>
          <p:cNvPr id="63" name="Content Placeholder 2">
            <a:extLst>
              <a:ext uri="{FF2B5EF4-FFF2-40B4-BE49-F238E27FC236}">
                <a16:creationId xmlns:a16="http://schemas.microsoft.com/office/drawing/2014/main" id="{BAE20EFD-4192-EF19-7F10-32D9D06D48D8}"/>
              </a:ext>
            </a:extLst>
          </p:cNvPr>
          <p:cNvSpPr txBox="1">
            <a:spLocks/>
          </p:cNvSpPr>
          <p:nvPr/>
        </p:nvSpPr>
        <p:spPr>
          <a:xfrm>
            <a:off x="8680133" y="283654"/>
            <a:ext cx="2242841" cy="40011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baseline="-11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🏠</a:t>
            </a:r>
            <a:r>
              <a: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on-premises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95E3CBB-1EE8-9AA1-0EF1-A194615BC501}"/>
              </a:ext>
            </a:extLst>
          </p:cNvPr>
          <p:cNvGrpSpPr/>
          <p:nvPr/>
        </p:nvGrpSpPr>
        <p:grpSpPr>
          <a:xfrm>
            <a:off x="10726797" y="345900"/>
            <a:ext cx="1164577" cy="735598"/>
            <a:chOff x="8013515" y="2736815"/>
            <a:chExt cx="1164577" cy="735598"/>
          </a:xfrm>
        </p:grpSpPr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5F067EEC-7032-C70A-B6B4-446C569FB0F6}"/>
                </a:ext>
              </a:extLst>
            </p:cNvPr>
            <p:cNvSpPr/>
            <p:nvPr/>
          </p:nvSpPr>
          <p:spPr>
            <a:xfrm>
              <a:off x="8048951" y="2736815"/>
              <a:ext cx="1129141" cy="735598"/>
            </a:xfrm>
            <a:prstGeom prst="rect">
              <a:avLst/>
            </a:prstGeom>
            <a:solidFill>
              <a:schemeClr val="bg1">
                <a:lumMod val="85000"/>
                <a:lumOff val="15000"/>
              </a:schemeClr>
            </a:solidFill>
            <a:ln w="12700">
              <a:noFill/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algn="r"/>
              <a:endParaRPr lang="en-US" sz="2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37ED620D-B7BC-2144-56E9-D60407C4FD26}"/>
                </a:ext>
              </a:extLst>
            </p:cNvPr>
            <p:cNvSpPr txBox="1"/>
            <p:nvPr/>
          </p:nvSpPr>
          <p:spPr>
            <a:xfrm>
              <a:off x="8013515" y="2792381"/>
              <a:ext cx="1117685" cy="65659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GB" sz="2800" baseline="-11000" noProof="1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🛜 </a:t>
              </a:r>
              <a:r>
                <a:rPr lang="en-GB" noProof="1"/>
                <a:t>Wi-Fi router</a:t>
              </a:r>
            </a:p>
          </p:txBody>
        </p:sp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00410D03-BE5F-D1F9-8647-0E54AC357B1C}"/>
              </a:ext>
            </a:extLst>
          </p:cNvPr>
          <p:cNvGrpSpPr/>
          <p:nvPr/>
        </p:nvGrpSpPr>
        <p:grpSpPr>
          <a:xfrm>
            <a:off x="248433" y="217186"/>
            <a:ext cx="1972893" cy="1038741"/>
            <a:chOff x="7507403" y="1006813"/>
            <a:chExt cx="640029" cy="1038741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B8C69290-DE83-DDD5-36AD-C20E7778E9DA}"/>
                </a:ext>
              </a:extLst>
            </p:cNvPr>
            <p:cNvSpPr/>
            <p:nvPr/>
          </p:nvSpPr>
          <p:spPr>
            <a:xfrm>
              <a:off x="7538137" y="1386857"/>
              <a:ext cx="580163" cy="562183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36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🧢 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Persona</a:t>
              </a:r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24CBB742-854C-37F4-C9EE-90BA3C404C5E}"/>
                </a:ext>
              </a:extLst>
            </p:cNvPr>
            <p:cNvSpPr/>
            <p:nvPr/>
          </p:nvSpPr>
          <p:spPr>
            <a:xfrm>
              <a:off x="7507403" y="1006813"/>
              <a:ext cx="640029" cy="1038741"/>
            </a:xfrm>
            <a:prstGeom prst="rect">
              <a:avLst/>
            </a:prstGeom>
            <a:noFill/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🧑‍🦰 </a:t>
              </a: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user agent</a:t>
              </a:r>
            </a:p>
          </p:txBody>
        </p:sp>
      </p:grpSp>
      <p:cxnSp>
        <p:nvCxnSpPr>
          <p:cNvPr id="84" name="Straight Arrow Connector 12">
            <a:extLst>
              <a:ext uri="{FF2B5EF4-FFF2-40B4-BE49-F238E27FC236}">
                <a16:creationId xmlns:a16="http://schemas.microsoft.com/office/drawing/2014/main" id="{7C176FEC-5D3B-2781-1BE3-55118BC758BF}"/>
              </a:ext>
            </a:extLst>
          </p:cNvPr>
          <p:cNvCxnSpPr>
            <a:cxnSpLocks/>
            <a:stCxn id="54" idx="2"/>
            <a:endCxn id="56" idx="3"/>
          </p:cNvCxnSpPr>
          <p:nvPr/>
        </p:nvCxnSpPr>
        <p:spPr>
          <a:xfrm rot="5400000">
            <a:off x="2923330" y="1859085"/>
            <a:ext cx="490623" cy="1888367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7" name="Straight Arrow Connector 12">
            <a:extLst>
              <a:ext uri="{FF2B5EF4-FFF2-40B4-BE49-F238E27FC236}">
                <a16:creationId xmlns:a16="http://schemas.microsoft.com/office/drawing/2014/main" id="{04D5E285-7B9E-BBC7-F2E6-D08B5C1BEA6B}"/>
              </a:ext>
            </a:extLst>
          </p:cNvPr>
          <p:cNvCxnSpPr>
            <a:cxnSpLocks/>
            <a:stCxn id="54" idx="0"/>
            <a:endCxn id="82" idx="3"/>
          </p:cNvCxnSpPr>
          <p:nvPr/>
        </p:nvCxnSpPr>
        <p:spPr>
          <a:xfrm rot="16200000" flipV="1">
            <a:off x="2914783" y="43100"/>
            <a:ext cx="504584" cy="1891498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B502F590-7350-B496-86A2-2A39DD16F11D}"/>
              </a:ext>
            </a:extLst>
          </p:cNvPr>
          <p:cNvGrpSpPr/>
          <p:nvPr/>
        </p:nvGrpSpPr>
        <p:grpSpPr>
          <a:xfrm>
            <a:off x="2429185" y="3021549"/>
            <a:ext cx="3332466" cy="830997"/>
            <a:chOff x="2343832" y="2012768"/>
            <a:chExt cx="3332466" cy="830997"/>
          </a:xfrm>
        </p:grpSpPr>
        <p:sp>
          <p:nvSpPr>
            <p:cNvPr id="106" name="Rounded Rectangle 105">
              <a:extLst>
                <a:ext uri="{FF2B5EF4-FFF2-40B4-BE49-F238E27FC236}">
                  <a16:creationId xmlns:a16="http://schemas.microsoft.com/office/drawing/2014/main" id="{D11EDE70-EF87-4AE3-EDA9-0CA1013097F1}"/>
                </a:ext>
              </a:extLst>
            </p:cNvPr>
            <p:cNvSpPr/>
            <p:nvPr/>
          </p:nvSpPr>
          <p:spPr>
            <a:xfrm>
              <a:off x="2343832" y="2223776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107" name="Content Placeholder 2">
              <a:extLst>
                <a:ext uri="{FF2B5EF4-FFF2-40B4-BE49-F238E27FC236}">
                  <a16:creationId xmlns:a16="http://schemas.microsoft.com/office/drawing/2014/main" id="{92734715-E624-6CAF-3E70-9A0D66E4F19C}"/>
                </a:ext>
              </a:extLst>
            </p:cNvPr>
            <p:cNvSpPr txBox="1">
              <a:spLocks/>
            </p:cNvSpPr>
            <p:nvPr/>
          </p:nvSpPr>
          <p:spPr>
            <a:xfrm>
              <a:off x="2726825" y="2012768"/>
              <a:ext cx="2949473" cy="830997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translate locator </a:t>
              </a:r>
              <a:r>
                <a:rPr lang="en-GB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🔆</a:t>
              </a:r>
              <a:b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and get BLE config</a:t>
              </a:r>
            </a:p>
          </p:txBody>
        </p:sp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D2A96BF3-433D-F639-696C-D708458AB12B}"/>
              </a:ext>
            </a:extLst>
          </p:cNvPr>
          <p:cNvGrpSpPr/>
          <p:nvPr/>
        </p:nvGrpSpPr>
        <p:grpSpPr>
          <a:xfrm>
            <a:off x="3760412" y="165367"/>
            <a:ext cx="2873824" cy="707886"/>
            <a:chOff x="2343832" y="2179312"/>
            <a:chExt cx="2873824" cy="707886"/>
          </a:xfrm>
        </p:grpSpPr>
        <p:sp>
          <p:nvSpPr>
            <p:cNvPr id="109" name="Rounded Rectangle 108">
              <a:extLst>
                <a:ext uri="{FF2B5EF4-FFF2-40B4-BE49-F238E27FC236}">
                  <a16:creationId xmlns:a16="http://schemas.microsoft.com/office/drawing/2014/main" id="{3CDC0CA1-F09F-890D-14A8-BD92AF5CF0E2}"/>
                </a:ext>
              </a:extLst>
            </p:cNvPr>
            <p:cNvSpPr/>
            <p:nvPr/>
          </p:nvSpPr>
          <p:spPr>
            <a:xfrm>
              <a:off x="2343832" y="2223776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110" name="Content Placeholder 2">
              <a:extLst>
                <a:ext uri="{FF2B5EF4-FFF2-40B4-BE49-F238E27FC236}">
                  <a16:creationId xmlns:a16="http://schemas.microsoft.com/office/drawing/2014/main" id="{F17F6482-C3C3-D9F3-B2AE-AF831FFD85CB}"/>
                </a:ext>
              </a:extLst>
            </p:cNvPr>
            <p:cNvSpPr txBox="1">
              <a:spLocks/>
            </p:cNvSpPr>
            <p:nvPr/>
          </p:nvSpPr>
          <p:spPr>
            <a:xfrm>
              <a:off x="2735662" y="2179312"/>
              <a:ext cx="2481994" cy="707886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share Wi-Fi credentials</a:t>
              </a:r>
            </a:p>
          </p:txBody>
        </p:sp>
      </p:grp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4CBEC9B2-D4C9-4597-6150-F0F529E6392F}"/>
              </a:ext>
            </a:extLst>
          </p:cNvPr>
          <p:cNvGrpSpPr/>
          <p:nvPr/>
        </p:nvGrpSpPr>
        <p:grpSpPr>
          <a:xfrm>
            <a:off x="5264453" y="1055021"/>
            <a:ext cx="2006749" cy="400110"/>
            <a:chOff x="2343832" y="2128929"/>
            <a:chExt cx="2006749" cy="400110"/>
          </a:xfrm>
        </p:grpSpPr>
        <p:sp>
          <p:nvSpPr>
            <p:cNvPr id="112" name="Rounded Rectangle 111">
              <a:extLst>
                <a:ext uri="{FF2B5EF4-FFF2-40B4-BE49-F238E27FC236}">
                  <a16:creationId xmlns:a16="http://schemas.microsoft.com/office/drawing/2014/main" id="{6D0DF725-A64D-F083-EDB2-A7F05F748BA6}"/>
                </a:ext>
              </a:extLst>
            </p:cNvPr>
            <p:cNvSpPr/>
            <p:nvPr/>
          </p:nvSpPr>
          <p:spPr>
            <a:xfrm>
              <a:off x="2343832" y="2147574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113" name="Content Placeholder 2">
              <a:extLst>
                <a:ext uri="{FF2B5EF4-FFF2-40B4-BE49-F238E27FC236}">
                  <a16:creationId xmlns:a16="http://schemas.microsoft.com/office/drawing/2014/main" id="{7965305A-74A6-AE40-9B24-848A1DE08C80}"/>
                </a:ext>
              </a:extLst>
            </p:cNvPr>
            <p:cNvSpPr txBox="1">
              <a:spLocks/>
            </p:cNvSpPr>
            <p:nvPr/>
          </p:nvSpPr>
          <p:spPr>
            <a:xfrm>
              <a:off x="2711484" y="2128929"/>
              <a:ext cx="1639097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tap or scan</a:t>
              </a:r>
            </a:p>
          </p:txBody>
        </p:sp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B45B9134-B1D5-7815-200C-8CB39F1006F6}"/>
              </a:ext>
            </a:extLst>
          </p:cNvPr>
          <p:cNvGrpSpPr/>
          <p:nvPr/>
        </p:nvGrpSpPr>
        <p:grpSpPr>
          <a:xfrm>
            <a:off x="5268706" y="2266867"/>
            <a:ext cx="3651107" cy="707886"/>
            <a:chOff x="1896792" y="2105052"/>
            <a:chExt cx="3651107" cy="707886"/>
          </a:xfrm>
        </p:grpSpPr>
        <p:sp>
          <p:nvSpPr>
            <p:cNvPr id="115" name="Rounded Rectangle 114">
              <a:extLst>
                <a:ext uri="{FF2B5EF4-FFF2-40B4-BE49-F238E27FC236}">
                  <a16:creationId xmlns:a16="http://schemas.microsoft.com/office/drawing/2014/main" id="{7DAA013B-A945-FEE4-8881-CF45FF8B1C4A}"/>
                </a:ext>
              </a:extLst>
            </p:cNvPr>
            <p:cNvSpPr/>
            <p:nvPr/>
          </p:nvSpPr>
          <p:spPr>
            <a:xfrm>
              <a:off x="1896792" y="2198001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4</a:t>
              </a:r>
            </a:p>
          </p:txBody>
        </p:sp>
        <p:sp>
          <p:nvSpPr>
            <p:cNvPr id="116" name="Content Placeholder 2">
              <a:extLst>
                <a:ext uri="{FF2B5EF4-FFF2-40B4-BE49-F238E27FC236}">
                  <a16:creationId xmlns:a16="http://schemas.microsoft.com/office/drawing/2014/main" id="{625363AA-4EC3-8E1D-3623-7B70FB401B95}"/>
                </a:ext>
              </a:extLst>
            </p:cNvPr>
            <p:cNvSpPr txBox="1">
              <a:spLocks/>
            </p:cNvSpPr>
            <p:nvPr/>
          </p:nvSpPr>
          <p:spPr>
            <a:xfrm>
              <a:off x="2266124" y="2105052"/>
              <a:ext cx="3281775" cy="707886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connect via BLE and </a:t>
              </a:r>
              <a:b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send Wi-Fi credentials</a:t>
              </a:r>
            </a:p>
          </p:txBody>
        </p:sp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B5122FD7-848C-9EF0-00A2-41796A13D67A}"/>
              </a:ext>
            </a:extLst>
          </p:cNvPr>
          <p:cNvGrpSpPr/>
          <p:nvPr/>
        </p:nvGrpSpPr>
        <p:grpSpPr>
          <a:xfrm>
            <a:off x="10212109" y="1858205"/>
            <a:ext cx="1746945" cy="1066500"/>
            <a:chOff x="1735596" y="2200330"/>
            <a:chExt cx="1746945" cy="1066500"/>
          </a:xfrm>
        </p:grpSpPr>
        <p:sp>
          <p:nvSpPr>
            <p:cNvPr id="118" name="Rounded Rectangle 117">
              <a:extLst>
                <a:ext uri="{FF2B5EF4-FFF2-40B4-BE49-F238E27FC236}">
                  <a16:creationId xmlns:a16="http://schemas.microsoft.com/office/drawing/2014/main" id="{91B5928F-7E70-3262-819C-BB343F90B7E8}"/>
                </a:ext>
              </a:extLst>
            </p:cNvPr>
            <p:cNvSpPr/>
            <p:nvPr/>
          </p:nvSpPr>
          <p:spPr>
            <a:xfrm>
              <a:off x="3012043" y="2200330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5</a:t>
              </a:r>
            </a:p>
          </p:txBody>
        </p:sp>
        <p:sp>
          <p:nvSpPr>
            <p:cNvPr id="119" name="Content Placeholder 2">
              <a:extLst>
                <a:ext uri="{FF2B5EF4-FFF2-40B4-BE49-F238E27FC236}">
                  <a16:creationId xmlns:a16="http://schemas.microsoft.com/office/drawing/2014/main" id="{831E99E3-5AD9-7B90-15CF-0064100AF6C9}"/>
                </a:ext>
              </a:extLst>
            </p:cNvPr>
            <p:cNvSpPr txBox="1">
              <a:spLocks/>
            </p:cNvSpPr>
            <p:nvPr/>
          </p:nvSpPr>
          <p:spPr>
            <a:xfrm>
              <a:off x="1735596" y="2558944"/>
              <a:ext cx="1746945" cy="707886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algn="r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connect</a:t>
              </a:r>
              <a:b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</a:b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to router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1416516D-D7A2-6F27-E5E3-C161D88125E4}"/>
              </a:ext>
            </a:extLst>
          </p:cNvPr>
          <p:cNvSpPr txBox="1"/>
          <p:nvPr/>
        </p:nvSpPr>
        <p:spPr>
          <a:xfrm>
            <a:off x="218143" y="6278524"/>
            <a:ext cx="2173672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GB" sz="2800" dirty="0">
                <a:solidFill>
                  <a:srgbClr val="FFFF00"/>
                </a:solidFill>
              </a:rPr>
              <a:t>WI-FIER #3/3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B965D70-9A7B-14C5-0F70-2543E3FD3A8A}"/>
              </a:ext>
            </a:extLst>
          </p:cNvPr>
          <p:cNvSpPr/>
          <p:nvPr/>
        </p:nvSpPr>
        <p:spPr>
          <a:xfrm>
            <a:off x="8788567" y="1143000"/>
            <a:ext cx="1724308" cy="1481717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 w="12700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36000"/>
          <a:lstStyle/>
          <a:p>
            <a:endParaRPr lang="en-GB" sz="2000" dirty="0">
              <a:solidFill>
                <a:schemeClr val="bg2">
                  <a:lumMod val="40000"/>
                  <a:lumOff val="60000"/>
                </a:schemeClr>
              </a:solidFill>
              <a:effectLst>
                <a:glow>
                  <a:schemeClr val="bg1"/>
                </a:glow>
              </a:effectLst>
            </a:endParaRP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73A69C03-1F25-3838-80FA-8F91DDD00BF9}"/>
              </a:ext>
            </a:extLst>
          </p:cNvPr>
          <p:cNvGrpSpPr/>
          <p:nvPr/>
        </p:nvGrpSpPr>
        <p:grpSpPr>
          <a:xfrm>
            <a:off x="8905978" y="1950264"/>
            <a:ext cx="1511474" cy="512403"/>
            <a:chOff x="4941376" y="3971594"/>
            <a:chExt cx="1511474" cy="512403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45BE6593-4B07-6CA0-4E9A-BB4653A74EC7}"/>
                </a:ext>
              </a:extLst>
            </p:cNvPr>
            <p:cNvSpPr/>
            <p:nvPr/>
          </p:nvSpPr>
          <p:spPr>
            <a:xfrm>
              <a:off x="4941376" y="3971594"/>
              <a:ext cx="1511474" cy="512403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E8B87DA-0857-7CE3-5C0B-817D1CE62442}"/>
                </a:ext>
              </a:extLst>
            </p:cNvPr>
            <p:cNvSpPr txBox="1"/>
            <p:nvPr/>
          </p:nvSpPr>
          <p:spPr>
            <a:xfrm>
              <a:off x="4995167" y="4050606"/>
              <a:ext cx="1302958" cy="3795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800" baseline="-11000" noProof="1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🛜</a:t>
              </a:r>
              <a:r>
                <a:rPr lang="en-GB" noProof="1"/>
                <a:t> Wi-Fier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89C6FD1C-53FF-A67E-6774-41ECD681068A}"/>
              </a:ext>
            </a:extLst>
          </p:cNvPr>
          <p:cNvGrpSpPr/>
          <p:nvPr/>
        </p:nvGrpSpPr>
        <p:grpSpPr>
          <a:xfrm>
            <a:off x="8905978" y="1342026"/>
            <a:ext cx="1511473" cy="512403"/>
            <a:chOff x="4941376" y="3971594"/>
            <a:chExt cx="1511473" cy="512403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909D6FEC-7E4F-D140-79B5-8BB20AD5DFC2}"/>
                </a:ext>
              </a:extLst>
            </p:cNvPr>
            <p:cNvSpPr/>
            <p:nvPr/>
          </p:nvSpPr>
          <p:spPr>
            <a:xfrm>
              <a:off x="4941376" y="3971594"/>
              <a:ext cx="1511473" cy="512403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rgbClr val="5A6B86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/>
            <a:lstStyle/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en-US" sz="20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531AF5AB-F66E-EF2A-3CEE-460A15046212}"/>
                </a:ext>
              </a:extLst>
            </p:cNvPr>
            <p:cNvSpPr txBox="1"/>
            <p:nvPr/>
          </p:nvSpPr>
          <p:spPr>
            <a:xfrm>
              <a:off x="4941377" y="4041641"/>
              <a:ext cx="1356748" cy="3795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sz="2800" baseline="-11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🔆</a:t>
              </a:r>
              <a:r>
                <a:rPr lang="en-GB" dirty="0"/>
                <a:t> NFC QR</a:t>
              </a:r>
            </a:p>
          </p:txBody>
        </p:sp>
      </p:grpSp>
      <p:cxnSp>
        <p:nvCxnSpPr>
          <p:cNvPr id="70" name="Straight Arrow Connector 12">
            <a:extLst>
              <a:ext uri="{FF2B5EF4-FFF2-40B4-BE49-F238E27FC236}">
                <a16:creationId xmlns:a16="http://schemas.microsoft.com/office/drawing/2014/main" id="{110E05AB-FB9F-0AA7-9500-F48145A59246}"/>
              </a:ext>
            </a:extLst>
          </p:cNvPr>
          <p:cNvCxnSpPr>
            <a:cxnSpLocks/>
            <a:stCxn id="53" idx="3"/>
            <a:endCxn id="26" idx="1"/>
          </p:cNvCxnSpPr>
          <p:nvPr/>
        </p:nvCxnSpPr>
        <p:spPr>
          <a:xfrm flipV="1">
            <a:off x="5006501" y="1601869"/>
            <a:ext cx="3898800" cy="0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3" name="Straight Arrow Connector 12">
            <a:extLst>
              <a:ext uri="{FF2B5EF4-FFF2-40B4-BE49-F238E27FC236}">
                <a16:creationId xmlns:a16="http://schemas.microsoft.com/office/drawing/2014/main" id="{DE5E7884-97FF-419B-99A5-D0064140BD51}"/>
              </a:ext>
            </a:extLst>
          </p:cNvPr>
          <p:cNvCxnSpPr>
            <a:cxnSpLocks/>
            <a:stCxn id="51" idx="3"/>
            <a:endCxn id="28" idx="1"/>
          </p:cNvCxnSpPr>
          <p:nvPr/>
        </p:nvCxnSpPr>
        <p:spPr>
          <a:xfrm flipV="1">
            <a:off x="5014188" y="2206466"/>
            <a:ext cx="3891790" cy="12303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3" name="Straight Arrow Connector 12">
            <a:extLst>
              <a:ext uri="{FF2B5EF4-FFF2-40B4-BE49-F238E27FC236}">
                <a16:creationId xmlns:a16="http://schemas.microsoft.com/office/drawing/2014/main" id="{511410F8-EB42-19E4-4081-5CAE1E7DCEBF}"/>
              </a:ext>
            </a:extLst>
          </p:cNvPr>
          <p:cNvCxnSpPr>
            <a:cxnSpLocks/>
            <a:stCxn id="28" idx="3"/>
            <a:endCxn id="66" idx="2"/>
          </p:cNvCxnSpPr>
          <p:nvPr/>
        </p:nvCxnSpPr>
        <p:spPr>
          <a:xfrm flipV="1">
            <a:off x="10417452" y="1058056"/>
            <a:ext cx="868188" cy="1148410"/>
          </a:xfrm>
          <a:prstGeom prst="bentConnector2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0B40D316-0BE6-9D01-B6CD-5B3A80B73A26}"/>
              </a:ext>
            </a:extLst>
          </p:cNvPr>
          <p:cNvSpPr txBox="1"/>
          <p:nvPr/>
        </p:nvSpPr>
        <p:spPr>
          <a:xfrm>
            <a:off x="3299398" y="2112657"/>
            <a:ext cx="304571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PT" dirty="0"/>
              <a:t>     </a:t>
            </a:r>
          </a:p>
        </p:txBody>
      </p:sp>
      <p:cxnSp>
        <p:nvCxnSpPr>
          <p:cNvPr id="7" name="Straight Arrow Connector 12">
            <a:extLst>
              <a:ext uri="{FF2B5EF4-FFF2-40B4-BE49-F238E27FC236}">
                <a16:creationId xmlns:a16="http://schemas.microsoft.com/office/drawing/2014/main" id="{4AB21F63-7BA6-76A8-CD0D-8BAECD76334D}"/>
              </a:ext>
            </a:extLst>
          </p:cNvPr>
          <p:cNvCxnSpPr>
            <a:cxnSpLocks/>
            <a:stCxn id="56" idx="2"/>
            <a:endCxn id="28" idx="2"/>
          </p:cNvCxnSpPr>
          <p:nvPr/>
        </p:nvCxnSpPr>
        <p:spPr>
          <a:xfrm rot="5400000" flipH="1" flipV="1">
            <a:off x="4900020" y="-1193744"/>
            <a:ext cx="1105283" cy="8418106"/>
          </a:xfrm>
          <a:prstGeom prst="bentConnector3">
            <a:avLst>
              <a:gd name="adj1" fmla="val -41096"/>
            </a:avLst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4" name="Straight Arrow Connector 12">
            <a:extLst>
              <a:ext uri="{FF2B5EF4-FFF2-40B4-BE49-F238E27FC236}">
                <a16:creationId xmlns:a16="http://schemas.microsoft.com/office/drawing/2014/main" id="{EBD98AC9-D547-ED8B-6792-82A6C3C57C10}"/>
              </a:ext>
            </a:extLst>
          </p:cNvPr>
          <p:cNvCxnSpPr>
            <a:cxnSpLocks/>
            <a:stCxn id="82" idx="2"/>
            <a:endCxn id="56" idx="0"/>
          </p:cNvCxnSpPr>
          <p:nvPr/>
        </p:nvCxnSpPr>
        <p:spPr>
          <a:xfrm>
            <a:off x="1234880" y="1255927"/>
            <a:ext cx="8729" cy="1273282"/>
          </a:xfrm>
          <a:prstGeom prst="straightConnector1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4E6894C-D90F-7F7D-D544-97059504CA09}"/>
              </a:ext>
            </a:extLst>
          </p:cNvPr>
          <p:cNvGrpSpPr/>
          <p:nvPr/>
        </p:nvGrpSpPr>
        <p:grpSpPr>
          <a:xfrm>
            <a:off x="1382695" y="1352553"/>
            <a:ext cx="1604809" cy="707886"/>
            <a:chOff x="2343832" y="2179312"/>
            <a:chExt cx="1604809" cy="707886"/>
          </a:xfrm>
        </p:grpSpPr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0340D90A-9E98-3ACB-ECDD-EE2199F7EC63}"/>
                </a:ext>
              </a:extLst>
            </p:cNvPr>
            <p:cNvSpPr/>
            <p:nvPr/>
          </p:nvSpPr>
          <p:spPr>
            <a:xfrm>
              <a:off x="2343832" y="2223776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6</a:t>
              </a:r>
            </a:p>
          </p:txBody>
        </p:sp>
        <p:sp>
          <p:nvSpPr>
            <p:cNvPr id="19" name="Content Placeholder 2">
              <a:extLst>
                <a:ext uri="{FF2B5EF4-FFF2-40B4-BE49-F238E27FC236}">
                  <a16:creationId xmlns:a16="http://schemas.microsoft.com/office/drawing/2014/main" id="{024168FD-2618-D0D5-CEB1-D8BFA80D8515}"/>
                </a:ext>
              </a:extLst>
            </p:cNvPr>
            <p:cNvSpPr txBox="1">
              <a:spLocks/>
            </p:cNvSpPr>
            <p:nvPr/>
          </p:nvSpPr>
          <p:spPr>
            <a:xfrm>
              <a:off x="2735662" y="2179312"/>
              <a:ext cx="1212979" cy="707886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publish updates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2FB29C7E-40E7-7F42-D321-8668B19ACAAC}"/>
              </a:ext>
            </a:extLst>
          </p:cNvPr>
          <p:cNvGrpSpPr/>
          <p:nvPr/>
        </p:nvGrpSpPr>
        <p:grpSpPr>
          <a:xfrm>
            <a:off x="1223004" y="4123739"/>
            <a:ext cx="4872996" cy="400110"/>
            <a:chOff x="2343832" y="2191187"/>
            <a:chExt cx="4872996" cy="400110"/>
          </a:xfrm>
        </p:grpSpPr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8493E3A0-B88C-C0B0-2999-E86BB9E25E0A}"/>
                </a:ext>
              </a:extLst>
            </p:cNvPr>
            <p:cNvSpPr/>
            <p:nvPr/>
          </p:nvSpPr>
          <p:spPr>
            <a:xfrm>
              <a:off x="2343832" y="2223776"/>
              <a:ext cx="360000" cy="360000"/>
            </a:xfrm>
            <a:prstGeom prst="round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lIns="45720" tIns="45720" rIns="45720" rtlCol="0" anchor="ctr"/>
            <a:lstStyle/>
            <a:p>
              <a:pPr algn="ctr"/>
              <a:r>
                <a:rPr lang="en-GB" b="1" dirty="0">
                  <a:solidFill>
                    <a:schemeClr val="tx1"/>
                  </a:solidFill>
                </a:rPr>
                <a:t>7</a:t>
              </a:r>
            </a:p>
          </p:txBody>
        </p:sp>
        <p:sp>
          <p:nvSpPr>
            <p:cNvPr id="22" name="Content Placeholder 2">
              <a:extLst>
                <a:ext uri="{FF2B5EF4-FFF2-40B4-BE49-F238E27FC236}">
                  <a16:creationId xmlns:a16="http://schemas.microsoft.com/office/drawing/2014/main" id="{F89A5814-A6A1-063A-B1AD-1EE5F81B3220}"/>
                </a:ext>
              </a:extLst>
            </p:cNvPr>
            <p:cNvSpPr txBox="1">
              <a:spLocks/>
            </p:cNvSpPr>
            <p:nvPr/>
          </p:nvSpPr>
          <p:spPr>
            <a:xfrm>
              <a:off x="2735662" y="2191187"/>
              <a:ext cx="4481166" cy="400110"/>
            </a:xfrm>
            <a:prstGeom prst="rect">
              <a:avLst/>
            </a:prstGeom>
          </p:spPr>
          <p:txBody>
            <a:bodyPr wrap="square">
              <a:sp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Wingdings" panose="05000000000000000000" pitchFamily="2" charset="2"/>
                <a:buChar char="§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6858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SzPct val="90000"/>
                <a:buFont typeface="Amazon Ember" panose="020B0603020204020204" pitchFamily="34" charset="0"/>
                <a:buChar char="–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9144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143000" indent="-228600" algn="l" defTabSz="914400" rtl="0" eaLnBrk="1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1200"/>
                </a:spcAft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mazon Ember" panose="020B0603020204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lnSpc>
                  <a:spcPct val="100000"/>
                </a:lnSpc>
                <a:spcAft>
                  <a:spcPts val="600"/>
                </a:spcAft>
                <a:buNone/>
              </a:pPr>
              <a:r>
                <a:rPr lang="en-US" sz="2000" i="1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proactively rotate Wi-Fi  credentials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32111555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Rectangle 99">
            <a:extLst>
              <a:ext uri="{FF2B5EF4-FFF2-40B4-BE49-F238E27FC236}">
                <a16:creationId xmlns:a16="http://schemas.microsoft.com/office/drawing/2014/main" id="{89C34C7D-6C91-65D9-48E2-5CBD17E19807}"/>
              </a:ext>
            </a:extLst>
          </p:cNvPr>
          <p:cNvSpPr/>
          <p:nvPr/>
        </p:nvSpPr>
        <p:spPr>
          <a:xfrm>
            <a:off x="1724514" y="889575"/>
            <a:ext cx="2060685" cy="566425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👥 Domain</a:t>
            </a:r>
          </a:p>
        </p:txBody>
      </p:sp>
      <p:cxnSp>
        <p:nvCxnSpPr>
          <p:cNvPr id="101" name="Straight Arrow Connector 44">
            <a:extLst>
              <a:ext uri="{FF2B5EF4-FFF2-40B4-BE49-F238E27FC236}">
                <a16:creationId xmlns:a16="http://schemas.microsoft.com/office/drawing/2014/main" id="{3941CEED-F2CB-0FB3-72B3-7C0D211DF4CD}"/>
              </a:ext>
            </a:extLst>
          </p:cNvPr>
          <p:cNvCxnSpPr>
            <a:cxnSpLocks/>
            <a:stCxn id="100" idx="1"/>
            <a:endCxn id="104" idx="1"/>
          </p:cNvCxnSpPr>
          <p:nvPr/>
        </p:nvCxnSpPr>
        <p:spPr>
          <a:xfrm rot="10800000" flipV="1">
            <a:off x="1708564" y="1172788"/>
            <a:ext cx="15950" cy="845340"/>
          </a:xfrm>
          <a:prstGeom prst="bentConnector3">
            <a:avLst>
              <a:gd name="adj1" fmla="val 1533229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031005FE-AD72-9345-68D8-D5A65375DF33}"/>
              </a:ext>
            </a:extLst>
          </p:cNvPr>
          <p:cNvGrpSpPr/>
          <p:nvPr/>
        </p:nvGrpSpPr>
        <p:grpSpPr>
          <a:xfrm>
            <a:off x="1708564" y="1819411"/>
            <a:ext cx="2064467" cy="566426"/>
            <a:chOff x="1480526" y="1003960"/>
            <a:chExt cx="2064467" cy="566426"/>
          </a:xfrm>
        </p:grpSpPr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90D43C4C-92F4-298D-219C-1B3EC78A3321}"/>
                </a:ext>
              </a:extLst>
            </p:cNvPr>
            <p:cNvSpPr/>
            <p:nvPr/>
          </p:nvSpPr>
          <p:spPr>
            <a:xfrm>
              <a:off x="1484308" y="1003960"/>
              <a:ext cx="2060685" cy="566426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🛰️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Relayer</a:t>
              </a:r>
              <a:endParaRPr lang="en-GB" sz="20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endParaRP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E8F2ACCF-D7DE-EDAD-8D80-866EC43DBF5F}"/>
                </a:ext>
              </a:extLst>
            </p:cNvPr>
            <p:cNvSpPr txBox="1"/>
            <p:nvPr/>
          </p:nvSpPr>
          <p:spPr>
            <a:xfrm>
              <a:off x="1480526" y="1018011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32508C1B-D6AE-1F13-A422-E051273F64A9}"/>
                </a:ext>
              </a:extLst>
            </p:cNvPr>
            <p:cNvSpPr txBox="1"/>
            <p:nvPr/>
          </p:nvSpPr>
          <p:spPr>
            <a:xfrm>
              <a:off x="1496477" y="1197051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</p:grpSp>
      <p:cxnSp>
        <p:nvCxnSpPr>
          <p:cNvPr id="106" name="Straight Arrow Connector 44">
            <a:extLst>
              <a:ext uri="{FF2B5EF4-FFF2-40B4-BE49-F238E27FC236}">
                <a16:creationId xmlns:a16="http://schemas.microsoft.com/office/drawing/2014/main" id="{38748617-C2E7-676A-148B-DFE3F3AE0686}"/>
              </a:ext>
            </a:extLst>
          </p:cNvPr>
          <p:cNvCxnSpPr>
            <a:cxnSpLocks/>
            <a:stCxn id="105" idx="1"/>
            <a:endCxn id="120" idx="1"/>
          </p:cNvCxnSpPr>
          <p:nvPr/>
        </p:nvCxnSpPr>
        <p:spPr>
          <a:xfrm rot="10800000" flipV="1">
            <a:off x="1716127" y="2197168"/>
            <a:ext cx="8389" cy="745538"/>
          </a:xfrm>
          <a:prstGeom prst="bentConnector3">
            <a:avLst>
              <a:gd name="adj1" fmla="val 2824997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7D7D3F90-0BEE-60A1-B39E-9F705F6B90F3}"/>
              </a:ext>
            </a:extLst>
          </p:cNvPr>
          <p:cNvGrpSpPr/>
          <p:nvPr/>
        </p:nvGrpSpPr>
        <p:grpSpPr>
          <a:xfrm>
            <a:off x="1699435" y="3676681"/>
            <a:ext cx="2091772" cy="566426"/>
            <a:chOff x="1471397" y="3045788"/>
            <a:chExt cx="2091772" cy="566426"/>
          </a:xfrm>
        </p:grpSpPr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137C5DB9-888C-3AC0-17F7-B76F2118DC74}"/>
                </a:ext>
              </a:extLst>
            </p:cNvPr>
            <p:cNvGrpSpPr/>
            <p:nvPr/>
          </p:nvGrpSpPr>
          <p:grpSpPr>
            <a:xfrm>
              <a:off x="1471397" y="3045788"/>
              <a:ext cx="2078203" cy="566426"/>
              <a:chOff x="1471397" y="3045788"/>
              <a:chExt cx="2078203" cy="566426"/>
            </a:xfrm>
          </p:grpSpPr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2B0E5089-027B-715A-C1AE-B79598AE34FD}"/>
                  </a:ext>
                </a:extLst>
              </p:cNvPr>
              <p:cNvSpPr txBox="1"/>
              <p:nvPr/>
            </p:nvSpPr>
            <p:spPr>
              <a:xfrm>
                <a:off x="1484308" y="3045788"/>
                <a:ext cx="2065292" cy="566426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08000" rIns="144000" bIns="144000" anchor="ctr"/>
              <a:lstStyle>
                <a:defPPr>
                  <a:defRPr lang="en-US"/>
                </a:defPPr>
                <a:lvl1pPr>
                  <a:defRPr sz="3200" baseline="-900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en-GB" dirty="0"/>
                  <a:t>📡</a:t>
                </a:r>
                <a:r>
                  <a:rPr lang="en-GB" baseline="0" dirty="0"/>
                  <a:t> </a:t>
                </a:r>
                <a:r>
                  <a:rPr lang="en-GB" sz="2400" baseline="0" dirty="0">
                    <a:solidFill>
                      <a:schemeClr val="tx1"/>
                    </a:solidFill>
                    <a:latin typeface="+mj-lt"/>
                    <a:cs typeface="Arial" panose="020B0604020202020204" pitchFamily="34" charset="0"/>
                  </a:rPr>
                  <a:t>Antenna</a:t>
                </a:r>
              </a:p>
            </p:txBody>
          </p:sp>
          <p:grpSp>
            <p:nvGrpSpPr>
              <p:cNvPr id="112" name="Group 111">
                <a:extLst>
                  <a:ext uri="{FF2B5EF4-FFF2-40B4-BE49-F238E27FC236}">
                    <a16:creationId xmlns:a16="http://schemas.microsoft.com/office/drawing/2014/main" id="{B3FEA172-ADC1-BCCE-915B-038A7239AE46}"/>
                  </a:ext>
                </a:extLst>
              </p:cNvPr>
              <p:cNvGrpSpPr/>
              <p:nvPr/>
            </p:nvGrpSpPr>
            <p:grpSpPr>
              <a:xfrm>
                <a:off x="1471397" y="3062835"/>
                <a:ext cx="250647" cy="538510"/>
                <a:chOff x="1583163" y="1918820"/>
                <a:chExt cx="250647" cy="538510"/>
              </a:xfrm>
            </p:grpSpPr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9A7612BE-B645-7712-B31C-FF5464979718}"/>
                    </a:ext>
                  </a:extLst>
                </p:cNvPr>
                <p:cNvSpPr txBox="1"/>
                <p:nvPr/>
              </p:nvSpPr>
              <p:spPr>
                <a:xfrm>
                  <a:off x="1590154" y="1918820"/>
                  <a:ext cx="243656" cy="369332"/>
                </a:xfrm>
                <a:prstGeom prst="rect">
                  <a:avLst/>
                </a:prstGeom>
                <a:noFill/>
              </p:spPr>
              <p:txBody>
                <a:bodyPr wrap="none" lIns="0" rIns="0" rtlCol="0">
                  <a:spAutoFit/>
                </a:bodyPr>
                <a:lstStyle/>
                <a:p>
                  <a:pPr algn="l"/>
                  <a:r>
                    <a:rPr lang="en-US" dirty="0"/>
                    <a:t>    </a:t>
                  </a:r>
                </a:p>
              </p:txBody>
            </p:sp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C5C00D98-0D99-F617-04FF-1C339243BCCA}"/>
                    </a:ext>
                  </a:extLst>
                </p:cNvPr>
                <p:cNvSpPr txBox="1"/>
                <p:nvPr/>
              </p:nvSpPr>
              <p:spPr>
                <a:xfrm>
                  <a:off x="1583163" y="2087998"/>
                  <a:ext cx="243656" cy="369332"/>
                </a:xfrm>
                <a:prstGeom prst="rect">
                  <a:avLst/>
                </a:prstGeom>
                <a:noFill/>
              </p:spPr>
              <p:txBody>
                <a:bodyPr wrap="none" lIns="0" rIns="0" rtlCol="0">
                  <a:spAutoFit/>
                </a:bodyPr>
                <a:lstStyle/>
                <a:p>
                  <a:pPr algn="l"/>
                  <a:r>
                    <a:rPr lang="en-US" dirty="0"/>
                    <a:t>    </a:t>
                  </a:r>
                </a:p>
              </p:txBody>
            </p:sp>
          </p:grpSp>
        </p:grp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86340366-89BC-ACE7-EE60-E4186DB1D6A0}"/>
                </a:ext>
              </a:extLst>
            </p:cNvPr>
            <p:cNvSpPr txBox="1"/>
            <p:nvPr/>
          </p:nvSpPr>
          <p:spPr>
            <a:xfrm>
              <a:off x="3318115" y="3064311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C4941AF5-2477-2151-8949-4EF6BD6F8927}"/>
                </a:ext>
              </a:extLst>
            </p:cNvPr>
            <p:cNvSpPr txBox="1"/>
            <p:nvPr/>
          </p:nvSpPr>
          <p:spPr>
            <a:xfrm>
              <a:off x="3319513" y="3233489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A09CE292-3BD4-FA9D-CC17-8A791DEDCE63}"/>
              </a:ext>
            </a:extLst>
          </p:cNvPr>
          <p:cNvGrpSpPr/>
          <p:nvPr/>
        </p:nvGrpSpPr>
        <p:grpSpPr>
          <a:xfrm>
            <a:off x="1709135" y="2743542"/>
            <a:ext cx="2082245" cy="565200"/>
            <a:chOff x="1481097" y="1844201"/>
            <a:chExt cx="2082245" cy="565200"/>
          </a:xfrm>
        </p:grpSpPr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1065902E-EF31-472D-E71C-DEBAAC4B3E02}"/>
                </a:ext>
              </a:extLst>
            </p:cNvPr>
            <p:cNvGrpSpPr/>
            <p:nvPr/>
          </p:nvGrpSpPr>
          <p:grpSpPr>
            <a:xfrm>
              <a:off x="1481097" y="1844201"/>
              <a:ext cx="2068503" cy="565200"/>
              <a:chOff x="1481097" y="1844201"/>
              <a:chExt cx="2068503" cy="565200"/>
            </a:xfrm>
          </p:grpSpPr>
          <p:grpSp>
            <p:nvGrpSpPr>
              <p:cNvPr id="119" name="Group 118">
                <a:extLst>
                  <a:ext uri="{FF2B5EF4-FFF2-40B4-BE49-F238E27FC236}">
                    <a16:creationId xmlns:a16="http://schemas.microsoft.com/office/drawing/2014/main" id="{CD1FB63D-BF0F-CA44-1E28-82BCE2538D66}"/>
                  </a:ext>
                </a:extLst>
              </p:cNvPr>
              <p:cNvGrpSpPr/>
              <p:nvPr/>
            </p:nvGrpSpPr>
            <p:grpSpPr>
              <a:xfrm>
                <a:off x="1488915" y="1844201"/>
                <a:ext cx="2060685" cy="565200"/>
                <a:chOff x="2467360" y="2224696"/>
                <a:chExt cx="2060685" cy="565200"/>
              </a:xfrm>
            </p:grpSpPr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3C76C431-4188-41DF-F9DE-233CE6F03CC6}"/>
                    </a:ext>
                  </a:extLst>
                </p:cNvPr>
                <p:cNvSpPr/>
                <p:nvPr/>
              </p:nvSpPr>
              <p:spPr>
                <a:xfrm>
                  <a:off x="2467360" y="2224696"/>
                  <a:ext cx="2060685" cy="565200"/>
                </a:xfrm>
                <a:prstGeom prst="rect">
                  <a:avLst/>
                </a:prstGeom>
                <a:solidFill>
                  <a:schemeClr val="bg1"/>
                </a:solidFill>
                <a:ln w="28575">
                  <a:solidFill>
                    <a:schemeClr val="tx1">
                      <a:lumMod val="50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08000" rIns="144000" bIns="144000" anchor="ctr"/>
                <a:lstStyle/>
                <a:p>
                  <a:endParaRPr lang="en-US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endParaRPr>
                </a:p>
              </p:txBody>
            </p:sp>
            <p:sp>
              <p:nvSpPr>
                <p:cNvPr id="123" name="TextBox 122">
                  <a:extLst>
                    <a:ext uri="{FF2B5EF4-FFF2-40B4-BE49-F238E27FC236}">
                      <a16:creationId xmlns:a16="http://schemas.microsoft.com/office/drawing/2014/main" id="{1F6A3FE1-CB6F-A4CB-2131-A588127F4097}"/>
                    </a:ext>
                  </a:extLst>
                </p:cNvPr>
                <p:cNvSpPr txBox="1"/>
                <p:nvPr/>
              </p:nvSpPr>
              <p:spPr>
                <a:xfrm>
                  <a:off x="2516954" y="2293144"/>
                  <a:ext cx="1560435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GB" sz="3200" baseline="-9000" noProof="1">
                      <a:solidFill>
                        <a:schemeClr val="bg2">
                          <a:lumMod val="40000"/>
                          <a:lumOff val="60000"/>
                        </a:schemeClr>
                      </a:solidFill>
                      <a:effectLst>
                        <a:glow>
                          <a:schemeClr val="bg1"/>
                        </a:glow>
                      </a:effectLst>
                    </a:rPr>
                    <a:t>🛜</a:t>
                  </a:r>
                  <a:r>
                    <a:rPr lang="en-GB" sz="2000" noProof="1"/>
                    <a:t> </a:t>
                  </a:r>
                  <a:r>
                    <a:rPr lang="en-GB" sz="2400" noProof="1"/>
                    <a:t>Wi-Fier</a:t>
                  </a:r>
                  <a:endParaRPr lang="en-GB" sz="2000" noProof="1"/>
                </a:p>
              </p:txBody>
            </p:sp>
          </p:grp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734DD866-60A3-0888-DBDA-CECEFFA5EE3E}"/>
                  </a:ext>
                </a:extLst>
              </p:cNvPr>
              <p:cNvSpPr txBox="1"/>
              <p:nvPr/>
            </p:nvSpPr>
            <p:spPr>
              <a:xfrm>
                <a:off x="1488088" y="1858699"/>
                <a:ext cx="243656" cy="369332"/>
              </a:xfrm>
              <a:prstGeom prst="rect">
                <a:avLst/>
              </a:prstGeom>
              <a:noFill/>
            </p:spPr>
            <p:txBody>
              <a:bodyPr wrap="none" lIns="0" rIns="0" rtlCol="0">
                <a:spAutoFit/>
              </a:bodyPr>
              <a:lstStyle/>
              <a:p>
                <a:pPr algn="l"/>
                <a:r>
                  <a:rPr lang="en-US" dirty="0"/>
                  <a:t>    </a:t>
                </a:r>
              </a:p>
            </p:txBody>
          </p:sp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70D2CDF1-EA55-2636-E81A-32BF563869BF}"/>
                  </a:ext>
                </a:extLst>
              </p:cNvPr>
              <p:cNvSpPr txBox="1"/>
              <p:nvPr/>
            </p:nvSpPr>
            <p:spPr>
              <a:xfrm>
                <a:off x="1481097" y="2027877"/>
                <a:ext cx="243656" cy="369332"/>
              </a:xfrm>
              <a:prstGeom prst="rect">
                <a:avLst/>
              </a:prstGeom>
              <a:noFill/>
            </p:spPr>
            <p:txBody>
              <a:bodyPr wrap="none" lIns="0" rIns="0" rtlCol="0">
                <a:spAutoFit/>
              </a:bodyPr>
              <a:lstStyle/>
              <a:p>
                <a:pPr algn="l"/>
                <a:r>
                  <a:rPr lang="en-US" dirty="0"/>
                  <a:t>    </a:t>
                </a:r>
              </a:p>
            </p:txBody>
          </p:sp>
        </p:grp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3329ED4E-D38F-CCBF-AAF9-64D98C298DC8}"/>
                </a:ext>
              </a:extLst>
            </p:cNvPr>
            <p:cNvSpPr txBox="1"/>
            <p:nvPr/>
          </p:nvSpPr>
          <p:spPr>
            <a:xfrm>
              <a:off x="3318288" y="1860097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C856C8FE-A461-05A0-2A8A-9EB34D79F8BD}"/>
                </a:ext>
              </a:extLst>
            </p:cNvPr>
            <p:cNvSpPr txBox="1"/>
            <p:nvPr/>
          </p:nvSpPr>
          <p:spPr>
            <a:xfrm>
              <a:off x="3319686" y="2029275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</p:grpSp>
      <p:sp>
        <p:nvSpPr>
          <p:cNvPr id="132" name="Rectangle 131">
            <a:extLst>
              <a:ext uri="{FF2B5EF4-FFF2-40B4-BE49-F238E27FC236}">
                <a16:creationId xmlns:a16="http://schemas.microsoft.com/office/drawing/2014/main" id="{8EA931F2-D85A-B7BC-FD31-495FB28AE4AC}"/>
              </a:ext>
            </a:extLst>
          </p:cNvPr>
          <p:cNvSpPr/>
          <p:nvPr/>
        </p:nvSpPr>
        <p:spPr>
          <a:xfrm>
            <a:off x="1707738" y="4607124"/>
            <a:ext cx="2065292" cy="566426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🔌 </a:t>
            </a:r>
            <a:r>
              <a:rPr lang="en-GB" sz="24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  <a:latin typeface="+mj-lt"/>
                <a:cs typeface="Arial" panose="020B0604020202020204" pitchFamily="34" charset="0"/>
              </a:rPr>
              <a:t>Pluggable</a:t>
            </a:r>
          </a:p>
        </p:txBody>
      </p:sp>
      <p:cxnSp>
        <p:nvCxnSpPr>
          <p:cNvPr id="135" name="Straight Arrow Connector 44">
            <a:extLst>
              <a:ext uri="{FF2B5EF4-FFF2-40B4-BE49-F238E27FC236}">
                <a16:creationId xmlns:a16="http://schemas.microsoft.com/office/drawing/2014/main" id="{F8A89197-204A-6273-44BB-6714F27D9A31}"/>
              </a:ext>
            </a:extLst>
          </p:cNvPr>
          <p:cNvCxnSpPr>
            <a:cxnSpLocks/>
            <a:stCxn id="121" idx="1"/>
            <a:endCxn id="113" idx="1"/>
          </p:cNvCxnSpPr>
          <p:nvPr/>
        </p:nvCxnSpPr>
        <p:spPr>
          <a:xfrm rot="10800000" flipV="1">
            <a:off x="1706427" y="3111884"/>
            <a:ext cx="2709" cy="766510"/>
          </a:xfrm>
          <a:prstGeom prst="bentConnector3">
            <a:avLst>
              <a:gd name="adj1" fmla="val 8538538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6" name="Straight Arrow Connector 44">
            <a:extLst>
              <a:ext uri="{FF2B5EF4-FFF2-40B4-BE49-F238E27FC236}">
                <a16:creationId xmlns:a16="http://schemas.microsoft.com/office/drawing/2014/main" id="{A0CF6921-6D84-EFFC-5507-6E5565E05A53}"/>
              </a:ext>
            </a:extLst>
          </p:cNvPr>
          <p:cNvCxnSpPr>
            <a:cxnSpLocks/>
            <a:stCxn id="114" idx="1"/>
            <a:endCxn id="132" idx="1"/>
          </p:cNvCxnSpPr>
          <p:nvPr/>
        </p:nvCxnSpPr>
        <p:spPr>
          <a:xfrm rot="10800000" flipH="1" flipV="1">
            <a:off x="1699434" y="4047571"/>
            <a:ext cx="8303" cy="842765"/>
          </a:xfrm>
          <a:prstGeom prst="bentConnector3">
            <a:avLst>
              <a:gd name="adj1" fmla="val -2753222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8" name="Straight Arrow Connector 44">
            <a:extLst>
              <a:ext uri="{FF2B5EF4-FFF2-40B4-BE49-F238E27FC236}">
                <a16:creationId xmlns:a16="http://schemas.microsoft.com/office/drawing/2014/main" id="{CB855DC6-19EA-DB89-AF2A-667EDE35437E}"/>
              </a:ext>
            </a:extLst>
          </p:cNvPr>
          <p:cNvCxnSpPr>
            <a:cxnSpLocks/>
            <a:stCxn id="140" idx="3"/>
            <a:endCxn id="100" idx="3"/>
          </p:cNvCxnSpPr>
          <p:nvPr/>
        </p:nvCxnSpPr>
        <p:spPr>
          <a:xfrm flipH="1" flipV="1">
            <a:off x="3785199" y="1172788"/>
            <a:ext cx="3373" cy="847687"/>
          </a:xfrm>
          <a:prstGeom prst="bentConnector3">
            <a:avLst>
              <a:gd name="adj1" fmla="val -677735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9" name="Straight Arrow Connector 44">
            <a:extLst>
              <a:ext uri="{FF2B5EF4-FFF2-40B4-BE49-F238E27FC236}">
                <a16:creationId xmlns:a16="http://schemas.microsoft.com/office/drawing/2014/main" id="{927E768B-DF5B-6B4C-07BE-7C991FE6E09F}"/>
              </a:ext>
            </a:extLst>
          </p:cNvPr>
          <p:cNvCxnSpPr>
            <a:cxnSpLocks/>
            <a:stCxn id="117" idx="3"/>
            <a:endCxn id="141" idx="3"/>
          </p:cNvCxnSpPr>
          <p:nvPr/>
        </p:nvCxnSpPr>
        <p:spPr>
          <a:xfrm flipH="1" flipV="1">
            <a:off x="3781581" y="2189653"/>
            <a:ext cx="8401" cy="754451"/>
          </a:xfrm>
          <a:prstGeom prst="bentConnector3">
            <a:avLst>
              <a:gd name="adj1" fmla="val -2721105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40" name="TextBox 139">
            <a:extLst>
              <a:ext uri="{FF2B5EF4-FFF2-40B4-BE49-F238E27FC236}">
                <a16:creationId xmlns:a16="http://schemas.microsoft.com/office/drawing/2014/main" id="{CCAE26A3-FC31-2F56-0239-396E84700C1E}"/>
              </a:ext>
            </a:extLst>
          </p:cNvPr>
          <p:cNvSpPr txBox="1"/>
          <p:nvPr/>
        </p:nvSpPr>
        <p:spPr>
          <a:xfrm>
            <a:off x="3544916" y="1835809"/>
            <a:ext cx="243656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8046E79A-B0E3-4140-1D08-FBE30CB4AA06}"/>
              </a:ext>
            </a:extLst>
          </p:cNvPr>
          <p:cNvSpPr txBox="1"/>
          <p:nvPr/>
        </p:nvSpPr>
        <p:spPr>
          <a:xfrm>
            <a:off x="3537925" y="2004987"/>
            <a:ext cx="243656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</a:t>
            </a:r>
          </a:p>
        </p:txBody>
      </p:sp>
      <p:cxnSp>
        <p:nvCxnSpPr>
          <p:cNvPr id="142" name="Straight Arrow Connector 44">
            <a:extLst>
              <a:ext uri="{FF2B5EF4-FFF2-40B4-BE49-F238E27FC236}">
                <a16:creationId xmlns:a16="http://schemas.microsoft.com/office/drawing/2014/main" id="{2C028AD8-05F5-9690-EF2E-56069102C66B}"/>
              </a:ext>
            </a:extLst>
          </p:cNvPr>
          <p:cNvCxnSpPr>
            <a:cxnSpLocks/>
            <a:stCxn id="109" idx="3"/>
            <a:endCxn id="118" idx="3"/>
          </p:cNvCxnSpPr>
          <p:nvPr/>
        </p:nvCxnSpPr>
        <p:spPr>
          <a:xfrm flipV="1">
            <a:off x="3789809" y="3113282"/>
            <a:ext cx="1571" cy="766588"/>
          </a:xfrm>
          <a:prstGeom prst="bentConnector3">
            <a:avLst>
              <a:gd name="adj1" fmla="val 14651241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43" name="Straight Arrow Connector 44">
            <a:extLst>
              <a:ext uri="{FF2B5EF4-FFF2-40B4-BE49-F238E27FC236}">
                <a16:creationId xmlns:a16="http://schemas.microsoft.com/office/drawing/2014/main" id="{D4FF57AF-84AB-671E-ECFC-CF82C68F5543}"/>
              </a:ext>
            </a:extLst>
          </p:cNvPr>
          <p:cNvCxnSpPr>
            <a:cxnSpLocks/>
            <a:stCxn id="132" idx="3"/>
            <a:endCxn id="110" idx="3"/>
          </p:cNvCxnSpPr>
          <p:nvPr/>
        </p:nvCxnSpPr>
        <p:spPr>
          <a:xfrm flipV="1">
            <a:off x="3773030" y="4049048"/>
            <a:ext cx="18177" cy="841289"/>
          </a:xfrm>
          <a:prstGeom prst="bentConnector3">
            <a:avLst>
              <a:gd name="adj1" fmla="val 1357633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45" name="Content Placeholder 2">
            <a:extLst>
              <a:ext uri="{FF2B5EF4-FFF2-40B4-BE49-F238E27FC236}">
                <a16:creationId xmlns:a16="http://schemas.microsoft.com/office/drawing/2014/main" id="{BB03976F-A035-9A44-C7BA-FDFAC0563434}"/>
              </a:ext>
            </a:extLst>
          </p:cNvPr>
          <p:cNvSpPr txBox="1">
            <a:spLocks/>
          </p:cNvSpPr>
          <p:nvPr/>
        </p:nvSpPr>
        <p:spPr>
          <a:xfrm>
            <a:off x="288029" y="1525263"/>
            <a:ext cx="1189052" cy="116955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translate and forward  commands via secure WebSocket</a:t>
            </a:r>
          </a:p>
        </p:txBody>
      </p:sp>
      <p:sp>
        <p:nvSpPr>
          <p:cNvPr id="149" name="Content Placeholder 2">
            <a:extLst>
              <a:ext uri="{FF2B5EF4-FFF2-40B4-BE49-F238E27FC236}">
                <a16:creationId xmlns:a16="http://schemas.microsoft.com/office/drawing/2014/main" id="{952317C3-275E-6E9E-9F82-2BF5549F4E79}"/>
              </a:ext>
            </a:extLst>
          </p:cNvPr>
          <p:cNvSpPr txBox="1">
            <a:spLocks/>
          </p:cNvSpPr>
          <p:nvPr/>
        </p:nvSpPr>
        <p:spPr>
          <a:xfrm>
            <a:off x="1699433" y="4276948"/>
            <a:ext cx="2048515" cy="30777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pPr algn="ctr"/>
            <a:r>
              <a:rPr lang="en-US" dirty="0">
                <a:solidFill>
                  <a:schemeClr val="accent4"/>
                </a:solidFill>
              </a:rPr>
              <a:t>physical cable</a:t>
            </a:r>
          </a:p>
        </p:txBody>
      </p:sp>
      <p:sp>
        <p:nvSpPr>
          <p:cNvPr id="150" name="Content Placeholder 2">
            <a:extLst>
              <a:ext uri="{FF2B5EF4-FFF2-40B4-BE49-F238E27FC236}">
                <a16:creationId xmlns:a16="http://schemas.microsoft.com/office/drawing/2014/main" id="{AB70832F-B280-359D-2ECA-D9854BCD2534}"/>
              </a:ext>
            </a:extLst>
          </p:cNvPr>
          <p:cNvSpPr txBox="1">
            <a:spLocks/>
          </p:cNvSpPr>
          <p:nvPr/>
        </p:nvSpPr>
        <p:spPr>
          <a:xfrm>
            <a:off x="1718222" y="3339638"/>
            <a:ext cx="2048515" cy="30777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pPr algn="ctr"/>
            <a:r>
              <a:rPr lang="en-US" dirty="0">
                <a:solidFill>
                  <a:schemeClr val="accent4"/>
                </a:solidFill>
              </a:rPr>
              <a:t>physical cable</a:t>
            </a:r>
          </a:p>
        </p:txBody>
      </p:sp>
      <p:sp>
        <p:nvSpPr>
          <p:cNvPr id="151" name="Content Placeholder 2">
            <a:extLst>
              <a:ext uri="{FF2B5EF4-FFF2-40B4-BE49-F238E27FC236}">
                <a16:creationId xmlns:a16="http://schemas.microsoft.com/office/drawing/2014/main" id="{03C55B14-3B80-8D12-E72B-67502EBBA52B}"/>
              </a:ext>
            </a:extLst>
          </p:cNvPr>
          <p:cNvSpPr txBox="1">
            <a:spLocks/>
          </p:cNvSpPr>
          <p:nvPr/>
        </p:nvSpPr>
        <p:spPr>
          <a:xfrm>
            <a:off x="1699432" y="2417444"/>
            <a:ext cx="2048515" cy="30777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pPr algn="ctr"/>
            <a:r>
              <a:rPr lang="en-US" dirty="0">
                <a:solidFill>
                  <a:schemeClr val="accent2"/>
                </a:solidFill>
              </a:rPr>
              <a:t>https public internet</a:t>
            </a:r>
          </a:p>
        </p:txBody>
      </p:sp>
      <p:sp>
        <p:nvSpPr>
          <p:cNvPr id="152" name="Content Placeholder 2">
            <a:extLst>
              <a:ext uri="{FF2B5EF4-FFF2-40B4-BE49-F238E27FC236}">
                <a16:creationId xmlns:a16="http://schemas.microsoft.com/office/drawing/2014/main" id="{5A468FFE-6194-D12C-2BBF-0B3315993824}"/>
              </a:ext>
            </a:extLst>
          </p:cNvPr>
          <p:cNvSpPr txBox="1">
            <a:spLocks/>
          </p:cNvSpPr>
          <p:nvPr/>
        </p:nvSpPr>
        <p:spPr>
          <a:xfrm>
            <a:off x="1699431" y="1487036"/>
            <a:ext cx="2048515" cy="30777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pPr algn="ctr"/>
            <a:r>
              <a:rPr lang="en-US" dirty="0">
                <a:solidFill>
                  <a:schemeClr val="accent2"/>
                </a:solidFill>
              </a:rPr>
              <a:t>https public internet</a:t>
            </a:r>
          </a:p>
        </p:txBody>
      </p:sp>
      <p:sp>
        <p:nvSpPr>
          <p:cNvPr id="155" name="Content Placeholder 2">
            <a:extLst>
              <a:ext uri="{FF2B5EF4-FFF2-40B4-BE49-F238E27FC236}">
                <a16:creationId xmlns:a16="http://schemas.microsoft.com/office/drawing/2014/main" id="{11681D72-6203-CF3A-7028-7E88C007C62E}"/>
              </a:ext>
            </a:extLst>
          </p:cNvPr>
          <p:cNvSpPr txBox="1">
            <a:spLocks/>
          </p:cNvSpPr>
          <p:nvPr/>
        </p:nvSpPr>
        <p:spPr>
          <a:xfrm>
            <a:off x="4024175" y="1517848"/>
            <a:ext cx="1076064" cy="116955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translate and forward events via https call</a:t>
            </a: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90EB1F83-97C5-4075-BEFD-2BB38F9CC210}"/>
              </a:ext>
            </a:extLst>
          </p:cNvPr>
          <p:cNvSpPr/>
          <p:nvPr/>
        </p:nvSpPr>
        <p:spPr>
          <a:xfrm>
            <a:off x="7947616" y="894430"/>
            <a:ext cx="2060685" cy="566425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👥 Domain</a:t>
            </a:r>
          </a:p>
        </p:txBody>
      </p:sp>
      <p:cxnSp>
        <p:nvCxnSpPr>
          <p:cNvPr id="159" name="Straight Arrow Connector 44">
            <a:extLst>
              <a:ext uri="{FF2B5EF4-FFF2-40B4-BE49-F238E27FC236}">
                <a16:creationId xmlns:a16="http://schemas.microsoft.com/office/drawing/2014/main" id="{DDCC0A64-2A79-24E8-4306-2B08958C4842}"/>
              </a:ext>
            </a:extLst>
          </p:cNvPr>
          <p:cNvCxnSpPr>
            <a:cxnSpLocks/>
            <a:stCxn id="158" idx="1"/>
            <a:endCxn id="162" idx="1"/>
          </p:cNvCxnSpPr>
          <p:nvPr/>
        </p:nvCxnSpPr>
        <p:spPr>
          <a:xfrm rot="10800000" flipV="1">
            <a:off x="7931666" y="1177643"/>
            <a:ext cx="15950" cy="845340"/>
          </a:xfrm>
          <a:prstGeom prst="bentConnector3">
            <a:avLst>
              <a:gd name="adj1" fmla="val 1533229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60" name="Group 159">
            <a:extLst>
              <a:ext uri="{FF2B5EF4-FFF2-40B4-BE49-F238E27FC236}">
                <a16:creationId xmlns:a16="http://schemas.microsoft.com/office/drawing/2014/main" id="{B865ECBF-56E6-7FA9-6D94-3F8496DC079B}"/>
              </a:ext>
            </a:extLst>
          </p:cNvPr>
          <p:cNvGrpSpPr/>
          <p:nvPr/>
        </p:nvGrpSpPr>
        <p:grpSpPr>
          <a:xfrm>
            <a:off x="7931666" y="1824266"/>
            <a:ext cx="2064467" cy="566426"/>
            <a:chOff x="1480526" y="1003960"/>
            <a:chExt cx="2064467" cy="566426"/>
          </a:xfrm>
        </p:grpSpPr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1E4A7F0D-A27E-A820-7B9F-C2D2282F3B04}"/>
                </a:ext>
              </a:extLst>
            </p:cNvPr>
            <p:cNvSpPr/>
            <p:nvPr/>
          </p:nvSpPr>
          <p:spPr>
            <a:xfrm>
              <a:off x="1484308" y="1003960"/>
              <a:ext cx="2060685" cy="566426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🛰️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Relayer</a:t>
              </a:r>
              <a:endParaRPr lang="en-GB" sz="20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endParaRPr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BABD9A14-2AD9-9B7E-F853-0E20D5839242}"/>
                </a:ext>
              </a:extLst>
            </p:cNvPr>
            <p:cNvSpPr txBox="1"/>
            <p:nvPr/>
          </p:nvSpPr>
          <p:spPr>
            <a:xfrm>
              <a:off x="1480526" y="1018011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588C7AF0-8C47-8790-693A-23761F932570}"/>
                </a:ext>
              </a:extLst>
            </p:cNvPr>
            <p:cNvSpPr txBox="1"/>
            <p:nvPr/>
          </p:nvSpPr>
          <p:spPr>
            <a:xfrm>
              <a:off x="1496477" y="1197051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</p:grpSp>
      <p:cxnSp>
        <p:nvCxnSpPr>
          <p:cNvPr id="164" name="Straight Arrow Connector 44">
            <a:extLst>
              <a:ext uri="{FF2B5EF4-FFF2-40B4-BE49-F238E27FC236}">
                <a16:creationId xmlns:a16="http://schemas.microsoft.com/office/drawing/2014/main" id="{159A55BD-BA4D-C6CC-1863-D4CA7BA3B24C}"/>
              </a:ext>
            </a:extLst>
          </p:cNvPr>
          <p:cNvCxnSpPr>
            <a:cxnSpLocks/>
            <a:stCxn id="163" idx="1"/>
            <a:endCxn id="178" idx="1"/>
          </p:cNvCxnSpPr>
          <p:nvPr/>
        </p:nvCxnSpPr>
        <p:spPr>
          <a:xfrm rot="10800000" flipV="1">
            <a:off x="7939229" y="2202023"/>
            <a:ext cx="8389" cy="745538"/>
          </a:xfrm>
          <a:prstGeom prst="bentConnector3">
            <a:avLst>
              <a:gd name="adj1" fmla="val 2824997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1AB3139C-4129-8E5C-3EC8-838E3D5F15DA}"/>
              </a:ext>
            </a:extLst>
          </p:cNvPr>
          <p:cNvGrpSpPr/>
          <p:nvPr/>
        </p:nvGrpSpPr>
        <p:grpSpPr>
          <a:xfrm>
            <a:off x="7922537" y="3681536"/>
            <a:ext cx="2091772" cy="566426"/>
            <a:chOff x="1471397" y="3045788"/>
            <a:chExt cx="2091772" cy="566426"/>
          </a:xfrm>
        </p:grpSpPr>
        <p:grpSp>
          <p:nvGrpSpPr>
            <p:cNvPr id="166" name="Group 165">
              <a:extLst>
                <a:ext uri="{FF2B5EF4-FFF2-40B4-BE49-F238E27FC236}">
                  <a16:creationId xmlns:a16="http://schemas.microsoft.com/office/drawing/2014/main" id="{4FCC2789-7A11-0BDE-76CD-D557F8C38874}"/>
                </a:ext>
              </a:extLst>
            </p:cNvPr>
            <p:cNvGrpSpPr/>
            <p:nvPr/>
          </p:nvGrpSpPr>
          <p:grpSpPr>
            <a:xfrm>
              <a:off x="1471397" y="3045788"/>
              <a:ext cx="2078203" cy="566426"/>
              <a:chOff x="1471397" y="3045788"/>
              <a:chExt cx="2078203" cy="566426"/>
            </a:xfrm>
          </p:grpSpPr>
          <p:sp>
            <p:nvSpPr>
              <p:cNvPr id="169" name="TextBox 168">
                <a:extLst>
                  <a:ext uri="{FF2B5EF4-FFF2-40B4-BE49-F238E27FC236}">
                    <a16:creationId xmlns:a16="http://schemas.microsoft.com/office/drawing/2014/main" id="{0DC85EA9-1E5E-86C2-C7D3-2BAB94EA8DED}"/>
                  </a:ext>
                </a:extLst>
              </p:cNvPr>
              <p:cNvSpPr txBox="1"/>
              <p:nvPr/>
            </p:nvSpPr>
            <p:spPr>
              <a:xfrm>
                <a:off x="1484308" y="3045788"/>
                <a:ext cx="2065292" cy="566426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08000" rIns="144000" bIns="144000" anchor="ctr"/>
              <a:lstStyle>
                <a:defPPr>
                  <a:defRPr lang="en-US"/>
                </a:defPPr>
                <a:lvl1pPr>
                  <a:defRPr sz="3200" baseline="-900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en-GB" dirty="0"/>
                  <a:t>📡</a:t>
                </a:r>
                <a:r>
                  <a:rPr lang="en-GB" baseline="0" dirty="0"/>
                  <a:t> </a:t>
                </a:r>
                <a:r>
                  <a:rPr lang="en-GB" sz="2400" baseline="0" dirty="0">
                    <a:solidFill>
                      <a:schemeClr val="tx1"/>
                    </a:solidFill>
                    <a:latin typeface="+mj-lt"/>
                    <a:cs typeface="Arial" panose="020B0604020202020204" pitchFamily="34" charset="0"/>
                  </a:rPr>
                  <a:t>Antenna</a:t>
                </a:r>
                <a:r>
                  <a:rPr lang="en-GB" sz="2400" baseline="30000" dirty="0">
                    <a:solidFill>
                      <a:schemeClr val="tx1"/>
                    </a:solidFill>
                    <a:latin typeface="+mj-lt"/>
                    <a:cs typeface="Arial" panose="020B0604020202020204" pitchFamily="34" charset="0"/>
                  </a:rPr>
                  <a:t>2</a:t>
                </a:r>
              </a:p>
            </p:txBody>
          </p:sp>
          <p:grpSp>
            <p:nvGrpSpPr>
              <p:cNvPr id="170" name="Group 169">
                <a:extLst>
                  <a:ext uri="{FF2B5EF4-FFF2-40B4-BE49-F238E27FC236}">
                    <a16:creationId xmlns:a16="http://schemas.microsoft.com/office/drawing/2014/main" id="{D6041965-90EC-A8DE-577D-93CBA1993137}"/>
                  </a:ext>
                </a:extLst>
              </p:cNvPr>
              <p:cNvGrpSpPr/>
              <p:nvPr/>
            </p:nvGrpSpPr>
            <p:grpSpPr>
              <a:xfrm>
                <a:off x="1471397" y="3062835"/>
                <a:ext cx="250647" cy="538510"/>
                <a:chOff x="1583163" y="1918820"/>
                <a:chExt cx="250647" cy="538510"/>
              </a:xfrm>
            </p:grpSpPr>
            <p:sp>
              <p:nvSpPr>
                <p:cNvPr id="171" name="TextBox 170">
                  <a:extLst>
                    <a:ext uri="{FF2B5EF4-FFF2-40B4-BE49-F238E27FC236}">
                      <a16:creationId xmlns:a16="http://schemas.microsoft.com/office/drawing/2014/main" id="{301D3432-0241-E08C-BA9F-32895C993DC9}"/>
                    </a:ext>
                  </a:extLst>
                </p:cNvPr>
                <p:cNvSpPr txBox="1"/>
                <p:nvPr/>
              </p:nvSpPr>
              <p:spPr>
                <a:xfrm>
                  <a:off x="1590154" y="1918820"/>
                  <a:ext cx="243656" cy="369332"/>
                </a:xfrm>
                <a:prstGeom prst="rect">
                  <a:avLst/>
                </a:prstGeom>
                <a:noFill/>
              </p:spPr>
              <p:txBody>
                <a:bodyPr wrap="none" lIns="0" rIns="0" rtlCol="0">
                  <a:spAutoFit/>
                </a:bodyPr>
                <a:lstStyle/>
                <a:p>
                  <a:pPr algn="l"/>
                  <a:r>
                    <a:rPr lang="en-US" dirty="0"/>
                    <a:t>    </a:t>
                  </a:r>
                </a:p>
              </p:txBody>
            </p:sp>
            <p:sp>
              <p:nvSpPr>
                <p:cNvPr id="172" name="TextBox 171">
                  <a:extLst>
                    <a:ext uri="{FF2B5EF4-FFF2-40B4-BE49-F238E27FC236}">
                      <a16:creationId xmlns:a16="http://schemas.microsoft.com/office/drawing/2014/main" id="{4B4BACCA-BDE4-C7EB-7F79-2F0715EED9A6}"/>
                    </a:ext>
                  </a:extLst>
                </p:cNvPr>
                <p:cNvSpPr txBox="1"/>
                <p:nvPr/>
              </p:nvSpPr>
              <p:spPr>
                <a:xfrm>
                  <a:off x="1583163" y="2087998"/>
                  <a:ext cx="243656" cy="369332"/>
                </a:xfrm>
                <a:prstGeom prst="rect">
                  <a:avLst/>
                </a:prstGeom>
                <a:noFill/>
              </p:spPr>
              <p:txBody>
                <a:bodyPr wrap="none" lIns="0" rIns="0" rtlCol="0">
                  <a:spAutoFit/>
                </a:bodyPr>
                <a:lstStyle/>
                <a:p>
                  <a:pPr algn="l"/>
                  <a:r>
                    <a:rPr lang="en-US" dirty="0"/>
                    <a:t>    </a:t>
                  </a:r>
                </a:p>
              </p:txBody>
            </p:sp>
          </p:grpSp>
        </p:grp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29E14FAC-2253-25B1-02C0-536F5F2342FF}"/>
                </a:ext>
              </a:extLst>
            </p:cNvPr>
            <p:cNvSpPr txBox="1"/>
            <p:nvPr/>
          </p:nvSpPr>
          <p:spPr>
            <a:xfrm>
              <a:off x="3318115" y="3064311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11A2A995-9E9C-F213-484B-DA091CE13CC6}"/>
                </a:ext>
              </a:extLst>
            </p:cNvPr>
            <p:cNvSpPr txBox="1"/>
            <p:nvPr/>
          </p:nvSpPr>
          <p:spPr>
            <a:xfrm>
              <a:off x="3319513" y="3233489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</p:grp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61C23468-88C6-88DD-0BF3-FD349FFCCAEF}"/>
              </a:ext>
            </a:extLst>
          </p:cNvPr>
          <p:cNvGrpSpPr/>
          <p:nvPr/>
        </p:nvGrpSpPr>
        <p:grpSpPr>
          <a:xfrm>
            <a:off x="7932237" y="2748397"/>
            <a:ext cx="2082245" cy="565200"/>
            <a:chOff x="1481097" y="1844201"/>
            <a:chExt cx="2082245" cy="565200"/>
          </a:xfrm>
        </p:grpSpPr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B8529265-E148-FC06-DDE3-31E25185F14E}"/>
                </a:ext>
              </a:extLst>
            </p:cNvPr>
            <p:cNvGrpSpPr/>
            <p:nvPr/>
          </p:nvGrpSpPr>
          <p:grpSpPr>
            <a:xfrm>
              <a:off x="1481097" y="1844201"/>
              <a:ext cx="2068503" cy="565200"/>
              <a:chOff x="1481097" y="1844201"/>
              <a:chExt cx="2068503" cy="565200"/>
            </a:xfrm>
          </p:grpSpPr>
          <p:grpSp>
            <p:nvGrpSpPr>
              <p:cNvPr id="177" name="Group 176">
                <a:extLst>
                  <a:ext uri="{FF2B5EF4-FFF2-40B4-BE49-F238E27FC236}">
                    <a16:creationId xmlns:a16="http://schemas.microsoft.com/office/drawing/2014/main" id="{CF7120C3-2E84-43B4-4F09-5DDE490699CE}"/>
                  </a:ext>
                </a:extLst>
              </p:cNvPr>
              <p:cNvGrpSpPr/>
              <p:nvPr/>
            </p:nvGrpSpPr>
            <p:grpSpPr>
              <a:xfrm>
                <a:off x="1488915" y="1844201"/>
                <a:ext cx="2060685" cy="565200"/>
                <a:chOff x="2467360" y="2224696"/>
                <a:chExt cx="2060685" cy="565200"/>
              </a:xfrm>
            </p:grpSpPr>
            <p:sp>
              <p:nvSpPr>
                <p:cNvPr id="180" name="Rectangle 179">
                  <a:extLst>
                    <a:ext uri="{FF2B5EF4-FFF2-40B4-BE49-F238E27FC236}">
                      <a16:creationId xmlns:a16="http://schemas.microsoft.com/office/drawing/2014/main" id="{3F8E211C-AAF7-732D-CC7B-4750C4FAB6B5}"/>
                    </a:ext>
                  </a:extLst>
                </p:cNvPr>
                <p:cNvSpPr/>
                <p:nvPr/>
              </p:nvSpPr>
              <p:spPr>
                <a:xfrm>
                  <a:off x="2467360" y="2224696"/>
                  <a:ext cx="2060685" cy="565200"/>
                </a:xfrm>
                <a:prstGeom prst="rect">
                  <a:avLst/>
                </a:prstGeom>
                <a:solidFill>
                  <a:schemeClr val="bg1"/>
                </a:solidFill>
                <a:ln w="28575">
                  <a:solidFill>
                    <a:schemeClr val="tx1">
                      <a:lumMod val="50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08000" rIns="144000" bIns="144000" anchor="ctr"/>
                <a:lstStyle/>
                <a:p>
                  <a:endParaRPr lang="en-US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endParaRPr>
                </a:p>
              </p:txBody>
            </p:sp>
            <p:sp>
              <p:nvSpPr>
                <p:cNvPr id="181" name="TextBox 180">
                  <a:extLst>
                    <a:ext uri="{FF2B5EF4-FFF2-40B4-BE49-F238E27FC236}">
                      <a16:creationId xmlns:a16="http://schemas.microsoft.com/office/drawing/2014/main" id="{EFAB2137-485B-8D1F-EE23-10662AB93A5C}"/>
                    </a:ext>
                  </a:extLst>
                </p:cNvPr>
                <p:cNvSpPr txBox="1"/>
                <p:nvPr/>
              </p:nvSpPr>
              <p:spPr>
                <a:xfrm>
                  <a:off x="2516954" y="2293144"/>
                  <a:ext cx="1560435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GB" sz="3200" baseline="-9000" noProof="1">
                      <a:solidFill>
                        <a:schemeClr val="bg2">
                          <a:lumMod val="40000"/>
                          <a:lumOff val="60000"/>
                        </a:schemeClr>
                      </a:solidFill>
                      <a:effectLst>
                        <a:glow>
                          <a:schemeClr val="bg1"/>
                        </a:glow>
                      </a:effectLst>
                    </a:rPr>
                    <a:t>🛜</a:t>
                  </a:r>
                  <a:r>
                    <a:rPr lang="en-GB" sz="2000" noProof="1"/>
                    <a:t> </a:t>
                  </a:r>
                  <a:r>
                    <a:rPr lang="en-GB" sz="2400" noProof="1"/>
                    <a:t>Wi-Fier</a:t>
                  </a:r>
                  <a:endParaRPr lang="en-GB" sz="2000" noProof="1"/>
                </a:p>
              </p:txBody>
            </p:sp>
          </p:grp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24E17CB5-D7AC-5D0D-708D-5A3A42A02006}"/>
                  </a:ext>
                </a:extLst>
              </p:cNvPr>
              <p:cNvSpPr txBox="1"/>
              <p:nvPr/>
            </p:nvSpPr>
            <p:spPr>
              <a:xfrm>
                <a:off x="1488088" y="1858699"/>
                <a:ext cx="243656" cy="369332"/>
              </a:xfrm>
              <a:prstGeom prst="rect">
                <a:avLst/>
              </a:prstGeom>
              <a:noFill/>
            </p:spPr>
            <p:txBody>
              <a:bodyPr wrap="none" lIns="0" rIns="0" rtlCol="0">
                <a:spAutoFit/>
              </a:bodyPr>
              <a:lstStyle/>
              <a:p>
                <a:pPr algn="l"/>
                <a:r>
                  <a:rPr lang="en-US" dirty="0"/>
                  <a:t>    </a:t>
                </a:r>
              </a:p>
            </p:txBody>
          </p:sp>
          <p:sp>
            <p:nvSpPr>
              <p:cNvPr id="179" name="TextBox 178">
                <a:extLst>
                  <a:ext uri="{FF2B5EF4-FFF2-40B4-BE49-F238E27FC236}">
                    <a16:creationId xmlns:a16="http://schemas.microsoft.com/office/drawing/2014/main" id="{62DFF08C-B562-ED72-F429-210A7DC6CFE0}"/>
                  </a:ext>
                </a:extLst>
              </p:cNvPr>
              <p:cNvSpPr txBox="1"/>
              <p:nvPr/>
            </p:nvSpPr>
            <p:spPr>
              <a:xfrm>
                <a:off x="1481097" y="2027877"/>
                <a:ext cx="243656" cy="369332"/>
              </a:xfrm>
              <a:prstGeom prst="rect">
                <a:avLst/>
              </a:prstGeom>
              <a:noFill/>
            </p:spPr>
            <p:txBody>
              <a:bodyPr wrap="none" lIns="0" rIns="0" rtlCol="0">
                <a:spAutoFit/>
              </a:bodyPr>
              <a:lstStyle/>
              <a:p>
                <a:pPr algn="l"/>
                <a:r>
                  <a:rPr lang="en-US" dirty="0"/>
                  <a:t>    </a:t>
                </a:r>
              </a:p>
            </p:txBody>
          </p:sp>
        </p:grp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2C4B5A3E-70FC-2092-2EAB-6F876C846785}"/>
                </a:ext>
              </a:extLst>
            </p:cNvPr>
            <p:cNvSpPr txBox="1"/>
            <p:nvPr/>
          </p:nvSpPr>
          <p:spPr>
            <a:xfrm>
              <a:off x="3318288" y="1860097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EE6314AC-82C5-A5F0-B381-D9502CCDC628}"/>
                </a:ext>
              </a:extLst>
            </p:cNvPr>
            <p:cNvSpPr txBox="1"/>
            <p:nvPr/>
          </p:nvSpPr>
          <p:spPr>
            <a:xfrm>
              <a:off x="3319686" y="2029275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</p:grpSp>
      <p:grpSp>
        <p:nvGrpSpPr>
          <p:cNvPr id="182" name="Group 181">
            <a:extLst>
              <a:ext uri="{FF2B5EF4-FFF2-40B4-BE49-F238E27FC236}">
                <a16:creationId xmlns:a16="http://schemas.microsoft.com/office/drawing/2014/main" id="{26FF67A5-3347-4EB4-0656-6D5AD569FDCC}"/>
              </a:ext>
            </a:extLst>
          </p:cNvPr>
          <p:cNvGrpSpPr/>
          <p:nvPr/>
        </p:nvGrpSpPr>
        <p:grpSpPr>
          <a:xfrm>
            <a:off x="7930840" y="4612044"/>
            <a:ext cx="2083642" cy="566426"/>
            <a:chOff x="1479700" y="4320245"/>
            <a:chExt cx="2083642" cy="566426"/>
          </a:xfrm>
        </p:grpSpPr>
        <p:grpSp>
          <p:nvGrpSpPr>
            <p:cNvPr id="183" name="Group 182">
              <a:extLst>
                <a:ext uri="{FF2B5EF4-FFF2-40B4-BE49-F238E27FC236}">
                  <a16:creationId xmlns:a16="http://schemas.microsoft.com/office/drawing/2014/main" id="{59C7FB14-5E6A-C627-AABE-2FF4B1EFB86F}"/>
                </a:ext>
              </a:extLst>
            </p:cNvPr>
            <p:cNvGrpSpPr/>
            <p:nvPr/>
          </p:nvGrpSpPr>
          <p:grpSpPr>
            <a:xfrm>
              <a:off x="1479700" y="4320245"/>
              <a:ext cx="2069900" cy="566426"/>
              <a:chOff x="1479700" y="4320245"/>
              <a:chExt cx="2069900" cy="566426"/>
            </a:xfrm>
          </p:grpSpPr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0F10443B-2194-3E9A-266C-707EA55B5751}"/>
                  </a:ext>
                </a:extLst>
              </p:cNvPr>
              <p:cNvSpPr/>
              <p:nvPr/>
            </p:nvSpPr>
            <p:spPr>
              <a:xfrm>
                <a:off x="1484308" y="4320245"/>
                <a:ext cx="2065292" cy="566426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🎬 </a:t>
                </a:r>
                <a:r>
                  <a:rPr lang="en-GB" sz="2400" dirty="0">
                    <a:solidFill>
                      <a:schemeClr val="tx1"/>
                    </a:solidFill>
                    <a:effectLst>
                      <a:glow>
                        <a:schemeClr val="bg1"/>
                      </a:glow>
                    </a:effectLst>
                    <a:latin typeface="+mj-lt"/>
                    <a:cs typeface="Arial" panose="020B0604020202020204" pitchFamily="34" charset="0"/>
                  </a:rPr>
                  <a:t>Relay</a:t>
                </a:r>
              </a:p>
            </p:txBody>
          </p:sp>
          <p:sp>
            <p:nvSpPr>
              <p:cNvPr id="187" name="TextBox 186">
                <a:extLst>
                  <a:ext uri="{FF2B5EF4-FFF2-40B4-BE49-F238E27FC236}">
                    <a16:creationId xmlns:a16="http://schemas.microsoft.com/office/drawing/2014/main" id="{E9A63E3C-585F-09BC-BD8B-151F82E8D37A}"/>
                  </a:ext>
                </a:extLst>
              </p:cNvPr>
              <p:cNvSpPr txBox="1"/>
              <p:nvPr/>
            </p:nvSpPr>
            <p:spPr>
              <a:xfrm>
                <a:off x="1479700" y="4339071"/>
                <a:ext cx="243656" cy="369332"/>
              </a:xfrm>
              <a:prstGeom prst="rect">
                <a:avLst/>
              </a:prstGeom>
              <a:noFill/>
            </p:spPr>
            <p:txBody>
              <a:bodyPr wrap="none" lIns="0" rIns="0" rtlCol="0">
                <a:spAutoFit/>
              </a:bodyPr>
              <a:lstStyle/>
              <a:p>
                <a:pPr algn="l"/>
                <a:r>
                  <a:rPr lang="en-US" dirty="0"/>
                  <a:t>    </a:t>
                </a:r>
              </a:p>
            </p:txBody>
          </p:sp>
          <p:sp>
            <p:nvSpPr>
              <p:cNvPr id="188" name="TextBox 187">
                <a:extLst>
                  <a:ext uri="{FF2B5EF4-FFF2-40B4-BE49-F238E27FC236}">
                    <a16:creationId xmlns:a16="http://schemas.microsoft.com/office/drawing/2014/main" id="{869C9D62-FA61-093D-9888-A9BBABA9BBEE}"/>
                  </a:ext>
                </a:extLst>
              </p:cNvPr>
              <p:cNvSpPr txBox="1"/>
              <p:nvPr/>
            </p:nvSpPr>
            <p:spPr>
              <a:xfrm>
                <a:off x="1481098" y="4508249"/>
                <a:ext cx="243656" cy="369332"/>
              </a:xfrm>
              <a:prstGeom prst="rect">
                <a:avLst/>
              </a:prstGeom>
              <a:noFill/>
            </p:spPr>
            <p:txBody>
              <a:bodyPr wrap="none" lIns="0" rIns="0" rtlCol="0">
                <a:spAutoFit/>
              </a:bodyPr>
              <a:lstStyle/>
              <a:p>
                <a:pPr algn="l"/>
                <a:r>
                  <a:rPr lang="en-US" dirty="0"/>
                  <a:t>    </a:t>
                </a:r>
              </a:p>
            </p:txBody>
          </p:sp>
        </p:grpSp>
        <p:sp>
          <p:nvSpPr>
            <p:cNvPr id="184" name="TextBox 183">
              <a:extLst>
                <a:ext uri="{FF2B5EF4-FFF2-40B4-BE49-F238E27FC236}">
                  <a16:creationId xmlns:a16="http://schemas.microsoft.com/office/drawing/2014/main" id="{B8B38F8D-384D-5FE9-32A0-AE9962549307}"/>
                </a:ext>
              </a:extLst>
            </p:cNvPr>
            <p:cNvSpPr txBox="1"/>
            <p:nvPr/>
          </p:nvSpPr>
          <p:spPr>
            <a:xfrm>
              <a:off x="3318288" y="4334852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4D292198-E334-E479-ED58-C16D46199054}"/>
                </a:ext>
              </a:extLst>
            </p:cNvPr>
            <p:cNvSpPr txBox="1"/>
            <p:nvPr/>
          </p:nvSpPr>
          <p:spPr>
            <a:xfrm>
              <a:off x="3319686" y="4512419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</p:grpSp>
      <p:sp>
        <p:nvSpPr>
          <p:cNvPr id="189" name="Rectangle 188">
            <a:extLst>
              <a:ext uri="{FF2B5EF4-FFF2-40B4-BE49-F238E27FC236}">
                <a16:creationId xmlns:a16="http://schemas.microsoft.com/office/drawing/2014/main" id="{0A635EA8-5C4D-0B12-A7CF-ED38A6F3B595}"/>
              </a:ext>
            </a:extLst>
          </p:cNvPr>
          <p:cNvSpPr/>
          <p:nvPr/>
        </p:nvSpPr>
        <p:spPr>
          <a:xfrm>
            <a:off x="7930840" y="5543158"/>
            <a:ext cx="2065292" cy="566426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🔌 </a:t>
            </a:r>
            <a:r>
              <a:rPr lang="en-GB" sz="24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  <a:latin typeface="+mj-lt"/>
                <a:cs typeface="Arial" panose="020B0604020202020204" pitchFamily="34" charset="0"/>
              </a:rPr>
              <a:t>Pluggable</a:t>
            </a:r>
          </a:p>
        </p:txBody>
      </p:sp>
      <p:cxnSp>
        <p:nvCxnSpPr>
          <p:cNvPr id="190" name="Straight Arrow Connector 44">
            <a:extLst>
              <a:ext uri="{FF2B5EF4-FFF2-40B4-BE49-F238E27FC236}">
                <a16:creationId xmlns:a16="http://schemas.microsoft.com/office/drawing/2014/main" id="{1E63590D-C3B1-FA09-1774-A743DC7D1187}"/>
              </a:ext>
            </a:extLst>
          </p:cNvPr>
          <p:cNvCxnSpPr>
            <a:cxnSpLocks/>
            <a:stCxn id="179" idx="1"/>
            <a:endCxn id="171" idx="1"/>
          </p:cNvCxnSpPr>
          <p:nvPr/>
        </p:nvCxnSpPr>
        <p:spPr>
          <a:xfrm rot="10800000" flipV="1">
            <a:off x="7929529" y="3116739"/>
            <a:ext cx="2709" cy="766510"/>
          </a:xfrm>
          <a:prstGeom prst="bentConnector3">
            <a:avLst>
              <a:gd name="adj1" fmla="val 8538538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91" name="Straight Arrow Connector 44">
            <a:extLst>
              <a:ext uri="{FF2B5EF4-FFF2-40B4-BE49-F238E27FC236}">
                <a16:creationId xmlns:a16="http://schemas.microsoft.com/office/drawing/2014/main" id="{58B35E40-6380-668D-4BC3-78820C9C0C22}"/>
              </a:ext>
            </a:extLst>
          </p:cNvPr>
          <p:cNvCxnSpPr>
            <a:cxnSpLocks/>
            <a:stCxn id="172" idx="1"/>
            <a:endCxn id="187" idx="1"/>
          </p:cNvCxnSpPr>
          <p:nvPr/>
        </p:nvCxnSpPr>
        <p:spPr>
          <a:xfrm rot="10800000" flipH="1" flipV="1">
            <a:off x="7922536" y="4052426"/>
            <a:ext cx="8303" cy="763109"/>
          </a:xfrm>
          <a:prstGeom prst="bentConnector3">
            <a:avLst>
              <a:gd name="adj1" fmla="val -2753222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92" name="Straight Arrow Connector 44">
            <a:extLst>
              <a:ext uri="{FF2B5EF4-FFF2-40B4-BE49-F238E27FC236}">
                <a16:creationId xmlns:a16="http://schemas.microsoft.com/office/drawing/2014/main" id="{0167192D-0552-7A31-435D-D0E770D1AB2F}"/>
              </a:ext>
            </a:extLst>
          </p:cNvPr>
          <p:cNvCxnSpPr>
            <a:cxnSpLocks/>
            <a:stCxn id="188" idx="1"/>
            <a:endCxn id="189" idx="1"/>
          </p:cNvCxnSpPr>
          <p:nvPr/>
        </p:nvCxnSpPr>
        <p:spPr>
          <a:xfrm rot="10800000" flipV="1">
            <a:off x="7930840" y="4984713"/>
            <a:ext cx="1398" cy="841657"/>
          </a:xfrm>
          <a:prstGeom prst="bentConnector3">
            <a:avLst>
              <a:gd name="adj1" fmla="val 16451931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93" name="Straight Arrow Connector 44">
            <a:extLst>
              <a:ext uri="{FF2B5EF4-FFF2-40B4-BE49-F238E27FC236}">
                <a16:creationId xmlns:a16="http://schemas.microsoft.com/office/drawing/2014/main" id="{CBEEEB42-AAE7-1473-0140-B45CB1F0A26A}"/>
              </a:ext>
            </a:extLst>
          </p:cNvPr>
          <p:cNvCxnSpPr>
            <a:cxnSpLocks/>
            <a:stCxn id="195" idx="3"/>
            <a:endCxn id="158" idx="3"/>
          </p:cNvCxnSpPr>
          <p:nvPr/>
        </p:nvCxnSpPr>
        <p:spPr>
          <a:xfrm flipH="1" flipV="1">
            <a:off x="10008301" y="1177643"/>
            <a:ext cx="3373" cy="847687"/>
          </a:xfrm>
          <a:prstGeom prst="bentConnector3">
            <a:avLst>
              <a:gd name="adj1" fmla="val -677735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94" name="Straight Arrow Connector 44">
            <a:extLst>
              <a:ext uri="{FF2B5EF4-FFF2-40B4-BE49-F238E27FC236}">
                <a16:creationId xmlns:a16="http://schemas.microsoft.com/office/drawing/2014/main" id="{AC44F5E4-1BED-6607-7C2C-453219D41B6E}"/>
              </a:ext>
            </a:extLst>
          </p:cNvPr>
          <p:cNvCxnSpPr>
            <a:cxnSpLocks/>
            <a:stCxn id="175" idx="3"/>
            <a:endCxn id="196" idx="3"/>
          </p:cNvCxnSpPr>
          <p:nvPr/>
        </p:nvCxnSpPr>
        <p:spPr>
          <a:xfrm flipH="1" flipV="1">
            <a:off x="10004683" y="2194508"/>
            <a:ext cx="8401" cy="754451"/>
          </a:xfrm>
          <a:prstGeom prst="bentConnector3">
            <a:avLst>
              <a:gd name="adj1" fmla="val -2721105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95" name="TextBox 194">
            <a:extLst>
              <a:ext uri="{FF2B5EF4-FFF2-40B4-BE49-F238E27FC236}">
                <a16:creationId xmlns:a16="http://schemas.microsoft.com/office/drawing/2014/main" id="{BCD5A21D-9DDC-E54D-94E7-BF1AFD31ECA4}"/>
              </a:ext>
            </a:extLst>
          </p:cNvPr>
          <p:cNvSpPr txBox="1"/>
          <p:nvPr/>
        </p:nvSpPr>
        <p:spPr>
          <a:xfrm>
            <a:off x="9768018" y="1840664"/>
            <a:ext cx="243656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</a:t>
            </a:r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14A8FBF9-9F28-A09A-2A0B-7887D9407C24}"/>
              </a:ext>
            </a:extLst>
          </p:cNvPr>
          <p:cNvSpPr txBox="1"/>
          <p:nvPr/>
        </p:nvSpPr>
        <p:spPr>
          <a:xfrm>
            <a:off x="9761027" y="2009842"/>
            <a:ext cx="243656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</a:t>
            </a:r>
          </a:p>
        </p:txBody>
      </p:sp>
      <p:cxnSp>
        <p:nvCxnSpPr>
          <p:cNvPr id="197" name="Straight Arrow Connector 44">
            <a:extLst>
              <a:ext uri="{FF2B5EF4-FFF2-40B4-BE49-F238E27FC236}">
                <a16:creationId xmlns:a16="http://schemas.microsoft.com/office/drawing/2014/main" id="{BB9EB29C-7FBC-2654-2B7E-8F8E725D7AF4}"/>
              </a:ext>
            </a:extLst>
          </p:cNvPr>
          <p:cNvCxnSpPr>
            <a:cxnSpLocks/>
            <a:stCxn id="167" idx="3"/>
            <a:endCxn id="176" idx="3"/>
          </p:cNvCxnSpPr>
          <p:nvPr/>
        </p:nvCxnSpPr>
        <p:spPr>
          <a:xfrm flipV="1">
            <a:off x="10012911" y="3118137"/>
            <a:ext cx="1571" cy="766588"/>
          </a:xfrm>
          <a:prstGeom prst="bentConnector3">
            <a:avLst>
              <a:gd name="adj1" fmla="val 14651241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98" name="Straight Arrow Connector 44">
            <a:extLst>
              <a:ext uri="{FF2B5EF4-FFF2-40B4-BE49-F238E27FC236}">
                <a16:creationId xmlns:a16="http://schemas.microsoft.com/office/drawing/2014/main" id="{3FE1C58E-1CF2-39C3-80E8-21BBAFE53DCD}"/>
              </a:ext>
            </a:extLst>
          </p:cNvPr>
          <p:cNvCxnSpPr>
            <a:cxnSpLocks/>
            <a:stCxn id="184" idx="3"/>
            <a:endCxn id="168" idx="3"/>
          </p:cNvCxnSpPr>
          <p:nvPr/>
        </p:nvCxnSpPr>
        <p:spPr>
          <a:xfrm flipV="1">
            <a:off x="10013084" y="4053903"/>
            <a:ext cx="1225" cy="757414"/>
          </a:xfrm>
          <a:prstGeom prst="bentConnector3">
            <a:avLst>
              <a:gd name="adj1" fmla="val 18761224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99" name="Straight Arrow Connector 44">
            <a:extLst>
              <a:ext uri="{FF2B5EF4-FFF2-40B4-BE49-F238E27FC236}">
                <a16:creationId xmlns:a16="http://schemas.microsoft.com/office/drawing/2014/main" id="{4E34655A-3E80-390B-0AFB-EA4266820625}"/>
              </a:ext>
            </a:extLst>
          </p:cNvPr>
          <p:cNvCxnSpPr>
            <a:cxnSpLocks/>
            <a:stCxn id="189" idx="3"/>
            <a:endCxn id="185" idx="3"/>
          </p:cNvCxnSpPr>
          <p:nvPr/>
        </p:nvCxnSpPr>
        <p:spPr>
          <a:xfrm flipV="1">
            <a:off x="9996132" y="4988884"/>
            <a:ext cx="18350" cy="837487"/>
          </a:xfrm>
          <a:prstGeom prst="bentConnector3">
            <a:avLst>
              <a:gd name="adj1" fmla="val 1345777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00" name="Content Placeholder 2">
            <a:extLst>
              <a:ext uri="{FF2B5EF4-FFF2-40B4-BE49-F238E27FC236}">
                <a16:creationId xmlns:a16="http://schemas.microsoft.com/office/drawing/2014/main" id="{67A6E7EC-8F0F-5CF1-144D-04F12550E302}"/>
              </a:ext>
            </a:extLst>
          </p:cNvPr>
          <p:cNvSpPr txBox="1">
            <a:spLocks/>
          </p:cNvSpPr>
          <p:nvPr/>
        </p:nvSpPr>
        <p:spPr>
          <a:xfrm>
            <a:off x="6179574" y="1226126"/>
            <a:ext cx="1512219" cy="1600438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translate, then encrypt commands with </a:t>
            </a:r>
            <a:r>
              <a:rPr lang="en-US" sz="14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🎬</a:t>
            </a:r>
            <a:r>
              <a:rPr lang="en-US" sz="14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Relay’s public key, and send via secure WebSocket</a:t>
            </a:r>
          </a:p>
        </p:txBody>
      </p:sp>
      <p:sp>
        <p:nvSpPr>
          <p:cNvPr id="201" name="Content Placeholder 2">
            <a:extLst>
              <a:ext uri="{FF2B5EF4-FFF2-40B4-BE49-F238E27FC236}">
                <a16:creationId xmlns:a16="http://schemas.microsoft.com/office/drawing/2014/main" id="{34833229-DADA-DF76-CAAF-6C3C9C8E024D}"/>
              </a:ext>
            </a:extLst>
          </p:cNvPr>
          <p:cNvSpPr txBox="1">
            <a:spLocks/>
          </p:cNvSpPr>
          <p:nvPr/>
        </p:nvSpPr>
        <p:spPr>
          <a:xfrm>
            <a:off x="6327603" y="4516147"/>
            <a:ext cx="1355114" cy="95410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r>
              <a:rPr lang="en-US" dirty="0"/>
              <a:t>decrypt command with </a:t>
            </a:r>
            <a:r>
              <a:rPr lang="en-US" i="0" dirty="0"/>
              <a:t>🎬</a:t>
            </a:r>
            <a:r>
              <a:rPr lang="en-US" dirty="0"/>
              <a:t> Relay’s private key</a:t>
            </a:r>
          </a:p>
        </p:txBody>
      </p:sp>
      <p:sp>
        <p:nvSpPr>
          <p:cNvPr id="202" name="Content Placeholder 2">
            <a:extLst>
              <a:ext uri="{FF2B5EF4-FFF2-40B4-BE49-F238E27FC236}">
                <a16:creationId xmlns:a16="http://schemas.microsoft.com/office/drawing/2014/main" id="{6E5BC961-D132-70DC-DAAB-528397B5C1FA}"/>
              </a:ext>
            </a:extLst>
          </p:cNvPr>
          <p:cNvSpPr txBox="1">
            <a:spLocks/>
          </p:cNvSpPr>
          <p:nvPr/>
        </p:nvSpPr>
        <p:spPr>
          <a:xfrm>
            <a:off x="6340559" y="3485230"/>
            <a:ext cx="1340645" cy="95410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r>
              <a:rPr lang="en-US" dirty="0"/>
              <a:t>convert internet requests to LoRaWAN</a:t>
            </a:r>
          </a:p>
        </p:txBody>
      </p:sp>
      <p:sp>
        <p:nvSpPr>
          <p:cNvPr id="203" name="Content Placeholder 2">
            <a:extLst>
              <a:ext uri="{FF2B5EF4-FFF2-40B4-BE49-F238E27FC236}">
                <a16:creationId xmlns:a16="http://schemas.microsoft.com/office/drawing/2014/main" id="{EBA81368-0A97-3CA4-AB35-95A9DC63AA75}"/>
              </a:ext>
            </a:extLst>
          </p:cNvPr>
          <p:cNvSpPr txBox="1">
            <a:spLocks/>
          </p:cNvSpPr>
          <p:nvPr/>
        </p:nvSpPr>
        <p:spPr>
          <a:xfrm>
            <a:off x="7943182" y="4279772"/>
            <a:ext cx="2048515" cy="30777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pPr algn="ctr"/>
            <a:r>
              <a:rPr lang="en-US" dirty="0">
                <a:solidFill>
                  <a:schemeClr val="accent6"/>
                </a:solidFill>
              </a:rPr>
              <a:t>LoRaWAN</a:t>
            </a:r>
          </a:p>
        </p:txBody>
      </p:sp>
      <p:sp>
        <p:nvSpPr>
          <p:cNvPr id="204" name="Content Placeholder 2">
            <a:extLst>
              <a:ext uri="{FF2B5EF4-FFF2-40B4-BE49-F238E27FC236}">
                <a16:creationId xmlns:a16="http://schemas.microsoft.com/office/drawing/2014/main" id="{51BC8352-48A5-907B-296E-7F1B0BF0FEDC}"/>
              </a:ext>
            </a:extLst>
          </p:cNvPr>
          <p:cNvSpPr txBox="1">
            <a:spLocks/>
          </p:cNvSpPr>
          <p:nvPr/>
        </p:nvSpPr>
        <p:spPr>
          <a:xfrm>
            <a:off x="7922535" y="5212982"/>
            <a:ext cx="2048515" cy="30777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pPr algn="ctr"/>
            <a:r>
              <a:rPr lang="en-US" dirty="0">
                <a:solidFill>
                  <a:schemeClr val="accent4"/>
                </a:solidFill>
              </a:rPr>
              <a:t>physical cable</a:t>
            </a:r>
          </a:p>
        </p:txBody>
      </p:sp>
      <p:sp>
        <p:nvSpPr>
          <p:cNvPr id="205" name="Content Placeholder 2">
            <a:extLst>
              <a:ext uri="{FF2B5EF4-FFF2-40B4-BE49-F238E27FC236}">
                <a16:creationId xmlns:a16="http://schemas.microsoft.com/office/drawing/2014/main" id="{24346827-5424-25AD-8BC2-8F74A66B687D}"/>
              </a:ext>
            </a:extLst>
          </p:cNvPr>
          <p:cNvSpPr txBox="1">
            <a:spLocks/>
          </p:cNvSpPr>
          <p:nvPr/>
        </p:nvSpPr>
        <p:spPr>
          <a:xfrm>
            <a:off x="7941324" y="3344493"/>
            <a:ext cx="2048515" cy="30777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pPr algn="ctr"/>
            <a:r>
              <a:rPr lang="en-US" dirty="0">
                <a:solidFill>
                  <a:schemeClr val="accent4"/>
                </a:solidFill>
              </a:rPr>
              <a:t>physical cable</a:t>
            </a:r>
          </a:p>
        </p:txBody>
      </p:sp>
      <p:sp>
        <p:nvSpPr>
          <p:cNvPr id="206" name="Content Placeholder 2">
            <a:extLst>
              <a:ext uri="{FF2B5EF4-FFF2-40B4-BE49-F238E27FC236}">
                <a16:creationId xmlns:a16="http://schemas.microsoft.com/office/drawing/2014/main" id="{40F94784-C772-A718-FF7E-6222464B2E26}"/>
              </a:ext>
            </a:extLst>
          </p:cNvPr>
          <p:cNvSpPr txBox="1">
            <a:spLocks/>
          </p:cNvSpPr>
          <p:nvPr/>
        </p:nvSpPr>
        <p:spPr>
          <a:xfrm>
            <a:off x="7922534" y="2422299"/>
            <a:ext cx="2048515" cy="30777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pPr algn="ctr"/>
            <a:r>
              <a:rPr lang="en-US" dirty="0">
                <a:solidFill>
                  <a:schemeClr val="accent2"/>
                </a:solidFill>
              </a:rPr>
              <a:t>https public internet</a:t>
            </a:r>
          </a:p>
        </p:txBody>
      </p:sp>
      <p:sp>
        <p:nvSpPr>
          <p:cNvPr id="207" name="Content Placeholder 2">
            <a:extLst>
              <a:ext uri="{FF2B5EF4-FFF2-40B4-BE49-F238E27FC236}">
                <a16:creationId xmlns:a16="http://schemas.microsoft.com/office/drawing/2014/main" id="{41A5F478-6202-F0F4-B5A9-8F6D78B58103}"/>
              </a:ext>
            </a:extLst>
          </p:cNvPr>
          <p:cNvSpPr txBox="1">
            <a:spLocks/>
          </p:cNvSpPr>
          <p:nvPr/>
        </p:nvSpPr>
        <p:spPr>
          <a:xfrm>
            <a:off x="7922533" y="1491891"/>
            <a:ext cx="2048515" cy="30777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pPr algn="ctr"/>
            <a:r>
              <a:rPr lang="en-US" dirty="0">
                <a:solidFill>
                  <a:schemeClr val="accent2"/>
                </a:solidFill>
              </a:rPr>
              <a:t>https public internet</a:t>
            </a:r>
          </a:p>
        </p:txBody>
      </p:sp>
      <p:sp>
        <p:nvSpPr>
          <p:cNvPr id="208" name="Content Placeholder 2">
            <a:extLst>
              <a:ext uri="{FF2B5EF4-FFF2-40B4-BE49-F238E27FC236}">
                <a16:creationId xmlns:a16="http://schemas.microsoft.com/office/drawing/2014/main" id="{6CFC4F8B-B3A7-0CAA-9710-6D5253DC5A53}"/>
              </a:ext>
            </a:extLst>
          </p:cNvPr>
          <p:cNvSpPr txBox="1">
            <a:spLocks/>
          </p:cNvSpPr>
          <p:nvPr/>
        </p:nvSpPr>
        <p:spPr>
          <a:xfrm>
            <a:off x="10256565" y="4487670"/>
            <a:ext cx="1183174" cy="95410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encrypt event with </a:t>
            </a:r>
            <a:r>
              <a:rPr lang="en-GB" sz="14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🛰️  Relayer’s</a:t>
            </a:r>
            <a:r>
              <a:rPr lang="en-US" sz="14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public key</a:t>
            </a:r>
          </a:p>
        </p:txBody>
      </p:sp>
      <p:sp>
        <p:nvSpPr>
          <p:cNvPr id="209" name="Content Placeholder 2">
            <a:extLst>
              <a:ext uri="{FF2B5EF4-FFF2-40B4-BE49-F238E27FC236}">
                <a16:creationId xmlns:a16="http://schemas.microsoft.com/office/drawing/2014/main" id="{3491E443-1DB0-84BD-0B3D-251FA3D2DBA5}"/>
              </a:ext>
            </a:extLst>
          </p:cNvPr>
          <p:cNvSpPr txBox="1">
            <a:spLocks/>
          </p:cNvSpPr>
          <p:nvPr/>
        </p:nvSpPr>
        <p:spPr>
          <a:xfrm>
            <a:off x="10258139" y="3485230"/>
            <a:ext cx="1279820" cy="95410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convert LoRaWAN to secure WebSocket</a:t>
            </a:r>
          </a:p>
        </p:txBody>
      </p:sp>
      <p:sp>
        <p:nvSpPr>
          <p:cNvPr id="210" name="Content Placeholder 2">
            <a:extLst>
              <a:ext uri="{FF2B5EF4-FFF2-40B4-BE49-F238E27FC236}">
                <a16:creationId xmlns:a16="http://schemas.microsoft.com/office/drawing/2014/main" id="{52C059D6-563E-D062-A2B2-7004D33494C5}"/>
              </a:ext>
            </a:extLst>
          </p:cNvPr>
          <p:cNvSpPr txBox="1">
            <a:spLocks/>
          </p:cNvSpPr>
          <p:nvPr/>
        </p:nvSpPr>
        <p:spPr>
          <a:xfrm>
            <a:off x="10255678" y="1226126"/>
            <a:ext cx="1239801" cy="1600438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decrypt events with </a:t>
            </a:r>
            <a:r>
              <a:rPr lang="en-GB" sz="14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🛰️</a:t>
            </a:r>
            <a:r>
              <a:rPr lang="en-GB" sz="14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Relayer’s</a:t>
            </a:r>
            <a:r>
              <a:rPr lang="en-US" sz="14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 private key, translate, and forward via https call</a:t>
            </a:r>
          </a:p>
        </p:txBody>
      </p:sp>
      <p:sp>
        <p:nvSpPr>
          <p:cNvPr id="212" name="TextBox 211">
            <a:extLst>
              <a:ext uri="{FF2B5EF4-FFF2-40B4-BE49-F238E27FC236}">
                <a16:creationId xmlns:a16="http://schemas.microsoft.com/office/drawing/2014/main" id="{26822B3A-65FB-BA4A-DBFD-0574AA1D049E}"/>
              </a:ext>
            </a:extLst>
          </p:cNvPr>
          <p:cNvSpPr txBox="1"/>
          <p:nvPr/>
        </p:nvSpPr>
        <p:spPr>
          <a:xfrm>
            <a:off x="1706426" y="208617"/>
            <a:ext cx="206660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400" i="1" dirty="0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Antenna</a:t>
            </a:r>
          </a:p>
        </p:txBody>
      </p:sp>
      <p:sp>
        <p:nvSpPr>
          <p:cNvPr id="213" name="TextBox 212">
            <a:extLst>
              <a:ext uri="{FF2B5EF4-FFF2-40B4-BE49-F238E27FC236}">
                <a16:creationId xmlns:a16="http://schemas.microsoft.com/office/drawing/2014/main" id="{CEEC2176-6C77-7EE5-4DF4-1258B30EB779}"/>
              </a:ext>
            </a:extLst>
          </p:cNvPr>
          <p:cNvSpPr txBox="1"/>
          <p:nvPr/>
        </p:nvSpPr>
        <p:spPr>
          <a:xfrm>
            <a:off x="7923235" y="208617"/>
            <a:ext cx="206660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2400" i="1" dirty="0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Antenna</a:t>
            </a:r>
            <a:r>
              <a:rPr lang="en-GB" sz="2400" i="1" baseline="30000" dirty="0">
                <a:solidFill>
                  <a:schemeClr val="tx1">
                    <a:lumMod val="75000"/>
                  </a:schemeClr>
                </a:solidFill>
                <a:latin typeface="+mj-lt"/>
                <a:cs typeface="Arial" panose="020B0604020202020204" pitchFamily="34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5547878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59E1E-FE97-09CC-51D6-4F897EDAB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E4FF22A5-481A-3382-9FEC-4E9006F0389D}"/>
              </a:ext>
            </a:extLst>
          </p:cNvPr>
          <p:cNvSpPr/>
          <p:nvPr/>
        </p:nvSpPr>
        <p:spPr>
          <a:xfrm>
            <a:off x="2016593" y="233515"/>
            <a:ext cx="2060685" cy="566425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👥 Domain</a:t>
            </a:r>
          </a:p>
        </p:txBody>
      </p:sp>
      <p:cxnSp>
        <p:nvCxnSpPr>
          <p:cNvPr id="14" name="Straight Arrow Connector 44">
            <a:extLst>
              <a:ext uri="{FF2B5EF4-FFF2-40B4-BE49-F238E27FC236}">
                <a16:creationId xmlns:a16="http://schemas.microsoft.com/office/drawing/2014/main" id="{6465D179-F884-1188-3D57-B93143387BE7}"/>
              </a:ext>
            </a:extLst>
          </p:cNvPr>
          <p:cNvCxnSpPr>
            <a:cxnSpLocks/>
            <a:stCxn id="13" idx="1"/>
            <a:endCxn id="18" idx="1"/>
          </p:cNvCxnSpPr>
          <p:nvPr/>
        </p:nvCxnSpPr>
        <p:spPr>
          <a:xfrm rot="10800000" flipV="1">
            <a:off x="2000643" y="516728"/>
            <a:ext cx="15950" cy="845340"/>
          </a:xfrm>
          <a:prstGeom prst="bentConnector3">
            <a:avLst>
              <a:gd name="adj1" fmla="val 1533229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22" name="Group 21">
            <a:extLst>
              <a:ext uri="{FF2B5EF4-FFF2-40B4-BE49-F238E27FC236}">
                <a16:creationId xmlns:a16="http://schemas.microsoft.com/office/drawing/2014/main" id="{EA4D8130-D702-B610-E062-353005D3EACB}"/>
              </a:ext>
            </a:extLst>
          </p:cNvPr>
          <p:cNvGrpSpPr/>
          <p:nvPr/>
        </p:nvGrpSpPr>
        <p:grpSpPr>
          <a:xfrm>
            <a:off x="2000643" y="1163351"/>
            <a:ext cx="2064467" cy="566426"/>
            <a:chOff x="1480526" y="1003960"/>
            <a:chExt cx="2064467" cy="566426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9058E96-B204-F3E4-DF31-C04D7EA9C315}"/>
                </a:ext>
              </a:extLst>
            </p:cNvPr>
            <p:cNvSpPr/>
            <p:nvPr/>
          </p:nvSpPr>
          <p:spPr>
            <a:xfrm>
              <a:off x="1484308" y="1003960"/>
              <a:ext cx="2060685" cy="566426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🛰️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Relayer</a:t>
              </a:r>
              <a:endParaRPr lang="en-GB" sz="20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226BA077-066D-965D-2B54-E93246810FB1}"/>
                </a:ext>
              </a:extLst>
            </p:cNvPr>
            <p:cNvSpPr txBox="1"/>
            <p:nvPr/>
          </p:nvSpPr>
          <p:spPr>
            <a:xfrm>
              <a:off x="1480526" y="1018011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D6924A2-60FA-230C-0A22-977CE2BA1D2C}"/>
                </a:ext>
              </a:extLst>
            </p:cNvPr>
            <p:cNvSpPr txBox="1"/>
            <p:nvPr/>
          </p:nvSpPr>
          <p:spPr>
            <a:xfrm>
              <a:off x="1496477" y="1197051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</p:grpSp>
      <p:cxnSp>
        <p:nvCxnSpPr>
          <p:cNvPr id="26" name="Straight Arrow Connector 44">
            <a:extLst>
              <a:ext uri="{FF2B5EF4-FFF2-40B4-BE49-F238E27FC236}">
                <a16:creationId xmlns:a16="http://schemas.microsoft.com/office/drawing/2014/main" id="{407DA632-8EE0-BF25-5F55-AAFBFF977123}"/>
              </a:ext>
            </a:extLst>
          </p:cNvPr>
          <p:cNvCxnSpPr>
            <a:cxnSpLocks/>
            <a:stCxn id="21" idx="1"/>
            <a:endCxn id="23" idx="1"/>
          </p:cNvCxnSpPr>
          <p:nvPr/>
        </p:nvCxnSpPr>
        <p:spPr>
          <a:xfrm rot="10800000" flipV="1">
            <a:off x="2008206" y="1541108"/>
            <a:ext cx="8389" cy="745538"/>
          </a:xfrm>
          <a:prstGeom prst="bentConnector3">
            <a:avLst>
              <a:gd name="adj1" fmla="val 2824997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5E17D1A-D323-0BAA-0185-D911FF9560E9}"/>
              </a:ext>
            </a:extLst>
          </p:cNvPr>
          <p:cNvGrpSpPr/>
          <p:nvPr/>
        </p:nvGrpSpPr>
        <p:grpSpPr>
          <a:xfrm>
            <a:off x="1991514" y="3037399"/>
            <a:ext cx="2091772" cy="566426"/>
            <a:chOff x="1471397" y="3045788"/>
            <a:chExt cx="2091772" cy="566426"/>
          </a:xfrm>
        </p:grpSpPr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B7EF546B-4638-2BE7-FEA2-893BC84FF583}"/>
                </a:ext>
              </a:extLst>
            </p:cNvPr>
            <p:cNvGrpSpPr/>
            <p:nvPr/>
          </p:nvGrpSpPr>
          <p:grpSpPr>
            <a:xfrm>
              <a:off x="1471397" y="3045788"/>
              <a:ext cx="2078203" cy="566426"/>
              <a:chOff x="1471397" y="3045788"/>
              <a:chExt cx="2078203" cy="566426"/>
            </a:xfrm>
          </p:grpSpPr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7793BAF-7582-9255-59A6-208D7A96261A}"/>
                  </a:ext>
                </a:extLst>
              </p:cNvPr>
              <p:cNvSpPr txBox="1"/>
              <p:nvPr/>
            </p:nvSpPr>
            <p:spPr>
              <a:xfrm>
                <a:off x="1484308" y="3045788"/>
                <a:ext cx="2065292" cy="566426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08000" rIns="144000" bIns="144000" anchor="ctr"/>
              <a:lstStyle>
                <a:defPPr>
                  <a:defRPr lang="en-US"/>
                </a:defPPr>
                <a:lvl1pPr>
                  <a:defRPr sz="3200" baseline="-900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en-GB" dirty="0"/>
                  <a:t>📡</a:t>
                </a:r>
                <a:r>
                  <a:rPr lang="en-GB" baseline="0" dirty="0"/>
                  <a:t> </a:t>
                </a:r>
                <a:r>
                  <a:rPr lang="en-GB" sz="2400" baseline="0" dirty="0">
                    <a:solidFill>
                      <a:schemeClr val="tx1"/>
                    </a:solidFill>
                    <a:latin typeface="+mj-lt"/>
                    <a:cs typeface="Arial" panose="020B0604020202020204" pitchFamily="34" charset="0"/>
                  </a:rPr>
                  <a:t>Antenna</a:t>
                </a:r>
              </a:p>
            </p:txBody>
          </p:sp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A3B4A8ED-2F34-B143-2D5D-FB20180B92D7}"/>
                  </a:ext>
                </a:extLst>
              </p:cNvPr>
              <p:cNvGrpSpPr/>
              <p:nvPr/>
            </p:nvGrpSpPr>
            <p:grpSpPr>
              <a:xfrm>
                <a:off x="1471397" y="3062835"/>
                <a:ext cx="250647" cy="538510"/>
                <a:chOff x="1583163" y="1918820"/>
                <a:chExt cx="250647" cy="538510"/>
              </a:xfrm>
            </p:grpSpPr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6C4D623A-31F2-0204-1DFD-C8F2D1D14F24}"/>
                    </a:ext>
                  </a:extLst>
                </p:cNvPr>
                <p:cNvSpPr txBox="1"/>
                <p:nvPr/>
              </p:nvSpPr>
              <p:spPr>
                <a:xfrm>
                  <a:off x="1590154" y="1918820"/>
                  <a:ext cx="243656" cy="369332"/>
                </a:xfrm>
                <a:prstGeom prst="rect">
                  <a:avLst/>
                </a:prstGeom>
                <a:noFill/>
              </p:spPr>
              <p:txBody>
                <a:bodyPr wrap="none" lIns="0" rIns="0" rtlCol="0">
                  <a:spAutoFit/>
                </a:bodyPr>
                <a:lstStyle/>
                <a:p>
                  <a:pPr algn="l"/>
                  <a:r>
                    <a:rPr lang="en-US" dirty="0"/>
                    <a:t>    </a:t>
                  </a:r>
                </a:p>
              </p:txBody>
            </p:sp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536F4A0B-5DB7-8D29-1C9D-0257D230F2F4}"/>
                    </a:ext>
                  </a:extLst>
                </p:cNvPr>
                <p:cNvSpPr txBox="1"/>
                <p:nvPr/>
              </p:nvSpPr>
              <p:spPr>
                <a:xfrm>
                  <a:off x="1583163" y="2087998"/>
                  <a:ext cx="243656" cy="369332"/>
                </a:xfrm>
                <a:prstGeom prst="rect">
                  <a:avLst/>
                </a:prstGeom>
                <a:noFill/>
              </p:spPr>
              <p:txBody>
                <a:bodyPr wrap="none" lIns="0" rIns="0" rtlCol="0">
                  <a:spAutoFit/>
                </a:bodyPr>
                <a:lstStyle/>
                <a:p>
                  <a:pPr algn="l"/>
                  <a:r>
                    <a:rPr lang="en-US" dirty="0"/>
                    <a:t>    </a:t>
                  </a:r>
                </a:p>
              </p:txBody>
            </p:sp>
          </p:grp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56A1E47-A538-7A2D-86B6-BDB3A884B87D}"/>
                </a:ext>
              </a:extLst>
            </p:cNvPr>
            <p:cNvSpPr txBox="1"/>
            <p:nvPr/>
          </p:nvSpPr>
          <p:spPr>
            <a:xfrm>
              <a:off x="3318115" y="3064311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26642096-D462-F9FE-B5C1-53A14F8DA97F}"/>
                </a:ext>
              </a:extLst>
            </p:cNvPr>
            <p:cNvSpPr txBox="1"/>
            <p:nvPr/>
          </p:nvSpPr>
          <p:spPr>
            <a:xfrm>
              <a:off x="3319513" y="3233489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6BD1A54-34FA-EA64-8232-D826FB094BAA}"/>
              </a:ext>
            </a:extLst>
          </p:cNvPr>
          <p:cNvGrpSpPr/>
          <p:nvPr/>
        </p:nvGrpSpPr>
        <p:grpSpPr>
          <a:xfrm>
            <a:off x="2001214" y="2087483"/>
            <a:ext cx="2082245" cy="560061"/>
            <a:chOff x="1481097" y="1844202"/>
            <a:chExt cx="2082245" cy="560061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030D6689-B6B1-209E-BAE0-D6B3B02447D0}"/>
                </a:ext>
              </a:extLst>
            </p:cNvPr>
            <p:cNvGrpSpPr/>
            <p:nvPr/>
          </p:nvGrpSpPr>
          <p:grpSpPr>
            <a:xfrm>
              <a:off x="1481097" y="1844202"/>
              <a:ext cx="2068503" cy="560061"/>
              <a:chOff x="1481097" y="1844202"/>
              <a:chExt cx="2068503" cy="560061"/>
            </a:xfrm>
          </p:grpSpPr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915E003F-7835-C560-4A22-DDBFB3913A02}"/>
                  </a:ext>
                </a:extLst>
              </p:cNvPr>
              <p:cNvGrpSpPr/>
              <p:nvPr/>
            </p:nvGrpSpPr>
            <p:grpSpPr>
              <a:xfrm>
                <a:off x="1488915" y="1844202"/>
                <a:ext cx="2060685" cy="560061"/>
                <a:chOff x="2467360" y="2224697"/>
                <a:chExt cx="2060685" cy="560061"/>
              </a:xfrm>
            </p:grpSpPr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85B74DE9-B796-0683-4782-D2194ADC657F}"/>
                    </a:ext>
                  </a:extLst>
                </p:cNvPr>
                <p:cNvSpPr/>
                <p:nvPr/>
              </p:nvSpPr>
              <p:spPr>
                <a:xfrm>
                  <a:off x="2467360" y="2224697"/>
                  <a:ext cx="2060685" cy="560061"/>
                </a:xfrm>
                <a:prstGeom prst="rect">
                  <a:avLst/>
                </a:prstGeom>
                <a:solidFill>
                  <a:schemeClr val="bg1"/>
                </a:solidFill>
                <a:ln w="28575">
                  <a:solidFill>
                    <a:schemeClr val="tx1">
                      <a:lumMod val="50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08000" rIns="144000" bIns="144000" anchor="ctr"/>
                <a:lstStyle/>
                <a:p>
                  <a:endParaRPr lang="en-US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endParaRPr>
                </a:p>
              </p:txBody>
            </p:sp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D80805A-E892-59EF-E44F-C065EDCC0D41}"/>
                    </a:ext>
                  </a:extLst>
                </p:cNvPr>
                <p:cNvSpPr txBox="1"/>
                <p:nvPr/>
              </p:nvSpPr>
              <p:spPr>
                <a:xfrm>
                  <a:off x="2516954" y="2293144"/>
                  <a:ext cx="1560435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GB" sz="3200" baseline="-9000" noProof="1">
                      <a:solidFill>
                        <a:schemeClr val="bg2">
                          <a:lumMod val="40000"/>
                          <a:lumOff val="60000"/>
                        </a:schemeClr>
                      </a:solidFill>
                      <a:effectLst>
                        <a:glow>
                          <a:schemeClr val="bg1"/>
                        </a:glow>
                      </a:effectLst>
                    </a:rPr>
                    <a:t>🛜</a:t>
                  </a:r>
                  <a:r>
                    <a:rPr lang="en-GB" sz="2000" noProof="1"/>
                    <a:t> </a:t>
                  </a:r>
                  <a:r>
                    <a:rPr lang="en-GB" sz="2400" noProof="1"/>
                    <a:t>Wi-Fier</a:t>
                  </a:r>
                  <a:endParaRPr lang="en-GB" sz="2000" noProof="1"/>
                </a:p>
              </p:txBody>
            </p:sp>
          </p:grp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8ABF68B-15ED-AEAF-BEF6-1F93AA716677}"/>
                  </a:ext>
                </a:extLst>
              </p:cNvPr>
              <p:cNvSpPr txBox="1"/>
              <p:nvPr/>
            </p:nvSpPr>
            <p:spPr>
              <a:xfrm>
                <a:off x="1488088" y="1858699"/>
                <a:ext cx="243656" cy="369332"/>
              </a:xfrm>
              <a:prstGeom prst="rect">
                <a:avLst/>
              </a:prstGeom>
              <a:noFill/>
            </p:spPr>
            <p:txBody>
              <a:bodyPr wrap="none" lIns="0" rIns="0" rtlCol="0">
                <a:spAutoFit/>
              </a:bodyPr>
              <a:lstStyle/>
              <a:p>
                <a:pPr algn="l"/>
                <a:r>
                  <a:rPr lang="en-US" dirty="0"/>
                  <a:t>    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64BE948-763B-F171-E60C-15D7276EF98A}"/>
                  </a:ext>
                </a:extLst>
              </p:cNvPr>
              <p:cNvSpPr txBox="1"/>
              <p:nvPr/>
            </p:nvSpPr>
            <p:spPr>
              <a:xfrm>
                <a:off x="1481097" y="2027877"/>
                <a:ext cx="243656" cy="369332"/>
              </a:xfrm>
              <a:prstGeom prst="rect">
                <a:avLst/>
              </a:prstGeom>
              <a:noFill/>
            </p:spPr>
            <p:txBody>
              <a:bodyPr wrap="none" lIns="0" rIns="0" rtlCol="0">
                <a:spAutoFit/>
              </a:bodyPr>
              <a:lstStyle/>
              <a:p>
                <a:pPr algn="l"/>
                <a:r>
                  <a:rPr lang="en-US" dirty="0"/>
                  <a:t>    </a:t>
                </a:r>
              </a:p>
            </p:txBody>
          </p: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757B55C0-BB66-8424-C40D-75541EA98D45}"/>
                </a:ext>
              </a:extLst>
            </p:cNvPr>
            <p:cNvSpPr txBox="1"/>
            <p:nvPr/>
          </p:nvSpPr>
          <p:spPr>
            <a:xfrm>
              <a:off x="3318288" y="1860097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DD5AB6D3-1E05-8288-F20B-E93126BC1F8F}"/>
                </a:ext>
              </a:extLst>
            </p:cNvPr>
            <p:cNvSpPr txBox="1"/>
            <p:nvPr/>
          </p:nvSpPr>
          <p:spPr>
            <a:xfrm>
              <a:off x="3319686" y="2029275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EFF32C49-849C-7B5A-7D76-EB2764093D77}"/>
              </a:ext>
            </a:extLst>
          </p:cNvPr>
          <p:cNvGrpSpPr/>
          <p:nvPr/>
        </p:nvGrpSpPr>
        <p:grpSpPr>
          <a:xfrm>
            <a:off x="1999817" y="3967907"/>
            <a:ext cx="2083642" cy="566426"/>
            <a:chOff x="1479700" y="4320245"/>
            <a:chExt cx="2083642" cy="566426"/>
          </a:xfrm>
        </p:grpSpPr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01727F0E-513A-7ED1-2989-90F876E740B4}"/>
                </a:ext>
              </a:extLst>
            </p:cNvPr>
            <p:cNvGrpSpPr/>
            <p:nvPr/>
          </p:nvGrpSpPr>
          <p:grpSpPr>
            <a:xfrm>
              <a:off x="1479700" y="4320245"/>
              <a:ext cx="2069900" cy="566426"/>
              <a:chOff x="1479700" y="4320245"/>
              <a:chExt cx="2069900" cy="566426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B2EFCFD-A2E7-546D-0A1B-4DA2B32D02C5}"/>
                  </a:ext>
                </a:extLst>
              </p:cNvPr>
              <p:cNvSpPr/>
              <p:nvPr/>
            </p:nvSpPr>
            <p:spPr>
              <a:xfrm>
                <a:off x="1484308" y="4320245"/>
                <a:ext cx="2065292" cy="566426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44000" rIns="144000" bIns="144000" anchor="ctr"/>
              <a:lstStyle/>
              <a:p>
                <a:r>
                  <a:rPr lang="en-GB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rPr>
                  <a:t>🎬 </a:t>
                </a:r>
                <a:r>
                  <a:rPr lang="en-GB" sz="2400" dirty="0">
                    <a:solidFill>
                      <a:schemeClr val="tx1"/>
                    </a:solidFill>
                    <a:effectLst>
                      <a:glow>
                        <a:schemeClr val="bg1"/>
                      </a:glow>
                    </a:effectLst>
                    <a:latin typeface="+mj-lt"/>
                    <a:cs typeface="Arial" panose="020B0604020202020204" pitchFamily="34" charset="0"/>
                  </a:rPr>
                  <a:t>Relay</a:t>
                </a:r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853228D8-888B-384F-AB37-8492498DBBD4}"/>
                  </a:ext>
                </a:extLst>
              </p:cNvPr>
              <p:cNvSpPr txBox="1"/>
              <p:nvPr/>
            </p:nvSpPr>
            <p:spPr>
              <a:xfrm>
                <a:off x="1479700" y="4339071"/>
                <a:ext cx="243656" cy="369332"/>
              </a:xfrm>
              <a:prstGeom prst="rect">
                <a:avLst/>
              </a:prstGeom>
              <a:noFill/>
            </p:spPr>
            <p:txBody>
              <a:bodyPr wrap="none" lIns="0" rIns="0" rtlCol="0">
                <a:spAutoFit/>
              </a:bodyPr>
              <a:lstStyle/>
              <a:p>
                <a:pPr algn="l"/>
                <a:r>
                  <a:rPr lang="en-US" dirty="0"/>
                  <a:t>    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1AAC88D2-5E55-8D97-EDA4-F60063CEA235}"/>
                  </a:ext>
                </a:extLst>
              </p:cNvPr>
              <p:cNvSpPr txBox="1"/>
              <p:nvPr/>
            </p:nvSpPr>
            <p:spPr>
              <a:xfrm>
                <a:off x="1481098" y="4508249"/>
                <a:ext cx="243656" cy="369332"/>
              </a:xfrm>
              <a:prstGeom prst="rect">
                <a:avLst/>
              </a:prstGeom>
              <a:noFill/>
            </p:spPr>
            <p:txBody>
              <a:bodyPr wrap="none" lIns="0" rIns="0" rtlCol="0">
                <a:spAutoFit/>
              </a:bodyPr>
              <a:lstStyle/>
              <a:p>
                <a:pPr algn="l"/>
                <a:r>
                  <a:rPr lang="en-US" dirty="0"/>
                  <a:t>    </a:t>
                </a:r>
              </a:p>
            </p:txBody>
          </p:sp>
        </p:grp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BBB1CEC-3D95-0BDA-FE92-AB879F73107D}"/>
                </a:ext>
              </a:extLst>
            </p:cNvPr>
            <p:cNvSpPr txBox="1"/>
            <p:nvPr/>
          </p:nvSpPr>
          <p:spPr>
            <a:xfrm>
              <a:off x="3318288" y="4334852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B5A6F228-50A0-887C-AEB2-1E8D04616302}"/>
                </a:ext>
              </a:extLst>
            </p:cNvPr>
            <p:cNvSpPr txBox="1"/>
            <p:nvPr/>
          </p:nvSpPr>
          <p:spPr>
            <a:xfrm>
              <a:off x="3319686" y="4512419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FEEE6FF6-1096-02AE-8A08-0659CF9A29B1}"/>
              </a:ext>
            </a:extLst>
          </p:cNvPr>
          <p:cNvSpPr/>
          <p:nvPr/>
        </p:nvSpPr>
        <p:spPr>
          <a:xfrm>
            <a:off x="1999817" y="4899021"/>
            <a:ext cx="2065292" cy="566426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🔌 </a:t>
            </a:r>
            <a:r>
              <a:rPr lang="en-GB" sz="24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  <a:latin typeface="+mj-lt"/>
                <a:cs typeface="Arial" panose="020B0604020202020204" pitchFamily="34" charset="0"/>
              </a:rPr>
              <a:t>Pluggable</a:t>
            </a:r>
          </a:p>
        </p:txBody>
      </p:sp>
      <p:cxnSp>
        <p:nvCxnSpPr>
          <p:cNvPr id="49" name="Straight Arrow Connector 44">
            <a:extLst>
              <a:ext uri="{FF2B5EF4-FFF2-40B4-BE49-F238E27FC236}">
                <a16:creationId xmlns:a16="http://schemas.microsoft.com/office/drawing/2014/main" id="{C97AB908-EC36-9CA3-FD97-7C5F69CBAAAD}"/>
              </a:ext>
            </a:extLst>
          </p:cNvPr>
          <p:cNvCxnSpPr>
            <a:cxnSpLocks/>
            <a:stCxn id="24" idx="1"/>
            <a:endCxn id="30" idx="1"/>
          </p:cNvCxnSpPr>
          <p:nvPr/>
        </p:nvCxnSpPr>
        <p:spPr>
          <a:xfrm rot="10800000" flipV="1">
            <a:off x="1998506" y="2455824"/>
            <a:ext cx="2709" cy="783288"/>
          </a:xfrm>
          <a:prstGeom prst="bentConnector3">
            <a:avLst>
              <a:gd name="adj1" fmla="val 8538538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3" name="Straight Arrow Connector 44">
            <a:extLst>
              <a:ext uri="{FF2B5EF4-FFF2-40B4-BE49-F238E27FC236}">
                <a16:creationId xmlns:a16="http://schemas.microsoft.com/office/drawing/2014/main" id="{286A2E60-E830-552B-A754-218A54B7D246}"/>
              </a:ext>
            </a:extLst>
          </p:cNvPr>
          <p:cNvCxnSpPr>
            <a:cxnSpLocks/>
            <a:stCxn id="31" idx="1"/>
            <a:endCxn id="34" idx="1"/>
          </p:cNvCxnSpPr>
          <p:nvPr/>
        </p:nvCxnSpPr>
        <p:spPr>
          <a:xfrm rot="10800000" flipH="1" flipV="1">
            <a:off x="1991513" y="3408289"/>
            <a:ext cx="8303" cy="763109"/>
          </a:xfrm>
          <a:prstGeom prst="bentConnector3">
            <a:avLst>
              <a:gd name="adj1" fmla="val -2753222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57" name="Straight Arrow Connector 44">
            <a:extLst>
              <a:ext uri="{FF2B5EF4-FFF2-40B4-BE49-F238E27FC236}">
                <a16:creationId xmlns:a16="http://schemas.microsoft.com/office/drawing/2014/main" id="{70241A73-9077-0D7D-16A1-B04B174243AB}"/>
              </a:ext>
            </a:extLst>
          </p:cNvPr>
          <p:cNvCxnSpPr>
            <a:cxnSpLocks/>
            <a:stCxn id="35" idx="1"/>
            <a:endCxn id="8" idx="1"/>
          </p:cNvCxnSpPr>
          <p:nvPr/>
        </p:nvCxnSpPr>
        <p:spPr>
          <a:xfrm rot="10800000" flipV="1">
            <a:off x="1999817" y="4340576"/>
            <a:ext cx="1398" cy="841657"/>
          </a:xfrm>
          <a:prstGeom prst="bentConnector3">
            <a:avLst>
              <a:gd name="adj1" fmla="val 16451931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1" name="Straight Arrow Connector 44">
            <a:extLst>
              <a:ext uri="{FF2B5EF4-FFF2-40B4-BE49-F238E27FC236}">
                <a16:creationId xmlns:a16="http://schemas.microsoft.com/office/drawing/2014/main" id="{C7699A61-4960-A252-B2A6-B4CBE94997CB}"/>
              </a:ext>
            </a:extLst>
          </p:cNvPr>
          <p:cNvCxnSpPr>
            <a:cxnSpLocks/>
            <a:stCxn id="66" idx="3"/>
            <a:endCxn id="13" idx="3"/>
          </p:cNvCxnSpPr>
          <p:nvPr/>
        </p:nvCxnSpPr>
        <p:spPr>
          <a:xfrm flipH="1" flipV="1">
            <a:off x="4077278" y="516728"/>
            <a:ext cx="3373" cy="847687"/>
          </a:xfrm>
          <a:prstGeom prst="bentConnector3">
            <a:avLst>
              <a:gd name="adj1" fmla="val -677735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64" name="Straight Arrow Connector 44">
            <a:extLst>
              <a:ext uri="{FF2B5EF4-FFF2-40B4-BE49-F238E27FC236}">
                <a16:creationId xmlns:a16="http://schemas.microsoft.com/office/drawing/2014/main" id="{30F761CC-41FE-4836-A26B-C6BDD67E5D87}"/>
              </a:ext>
            </a:extLst>
          </p:cNvPr>
          <p:cNvCxnSpPr>
            <a:cxnSpLocks/>
            <a:stCxn id="40" idx="3"/>
            <a:endCxn id="67" idx="3"/>
          </p:cNvCxnSpPr>
          <p:nvPr/>
        </p:nvCxnSpPr>
        <p:spPr>
          <a:xfrm flipH="1" flipV="1">
            <a:off x="4073660" y="1533593"/>
            <a:ext cx="8401" cy="754451"/>
          </a:xfrm>
          <a:prstGeom prst="bentConnector3">
            <a:avLst>
              <a:gd name="adj1" fmla="val -2721105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4E5105BF-9CC6-D537-C388-38C349FD17E9}"/>
              </a:ext>
            </a:extLst>
          </p:cNvPr>
          <p:cNvSpPr txBox="1"/>
          <p:nvPr/>
        </p:nvSpPr>
        <p:spPr>
          <a:xfrm>
            <a:off x="3836995" y="1179749"/>
            <a:ext cx="243656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05894C6-7F74-5B2E-B0AB-84475458114A}"/>
              </a:ext>
            </a:extLst>
          </p:cNvPr>
          <p:cNvSpPr txBox="1"/>
          <p:nvPr/>
        </p:nvSpPr>
        <p:spPr>
          <a:xfrm>
            <a:off x="3830004" y="1348927"/>
            <a:ext cx="243656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</a:t>
            </a:r>
          </a:p>
        </p:txBody>
      </p:sp>
      <p:cxnSp>
        <p:nvCxnSpPr>
          <p:cNvPr id="70" name="Straight Arrow Connector 44">
            <a:extLst>
              <a:ext uri="{FF2B5EF4-FFF2-40B4-BE49-F238E27FC236}">
                <a16:creationId xmlns:a16="http://schemas.microsoft.com/office/drawing/2014/main" id="{A7DB0789-B52F-492F-B0C2-152064C2391D}"/>
              </a:ext>
            </a:extLst>
          </p:cNvPr>
          <p:cNvCxnSpPr>
            <a:cxnSpLocks/>
            <a:stCxn id="37" idx="3"/>
            <a:endCxn id="41" idx="3"/>
          </p:cNvCxnSpPr>
          <p:nvPr/>
        </p:nvCxnSpPr>
        <p:spPr>
          <a:xfrm flipV="1">
            <a:off x="4081888" y="2457222"/>
            <a:ext cx="1571" cy="783366"/>
          </a:xfrm>
          <a:prstGeom prst="bentConnector3">
            <a:avLst>
              <a:gd name="adj1" fmla="val 14651241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4" name="Straight Arrow Connector 44">
            <a:extLst>
              <a:ext uri="{FF2B5EF4-FFF2-40B4-BE49-F238E27FC236}">
                <a16:creationId xmlns:a16="http://schemas.microsoft.com/office/drawing/2014/main" id="{E3FFA7B8-F056-0B61-3115-60385C780BF3}"/>
              </a:ext>
            </a:extLst>
          </p:cNvPr>
          <p:cNvCxnSpPr>
            <a:cxnSpLocks/>
            <a:stCxn id="43" idx="3"/>
            <a:endCxn id="38" idx="3"/>
          </p:cNvCxnSpPr>
          <p:nvPr/>
        </p:nvCxnSpPr>
        <p:spPr>
          <a:xfrm flipV="1">
            <a:off x="4082061" y="3409766"/>
            <a:ext cx="1225" cy="757414"/>
          </a:xfrm>
          <a:prstGeom prst="bentConnector3">
            <a:avLst>
              <a:gd name="adj1" fmla="val 18761224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78" name="Straight Arrow Connector 44">
            <a:extLst>
              <a:ext uri="{FF2B5EF4-FFF2-40B4-BE49-F238E27FC236}">
                <a16:creationId xmlns:a16="http://schemas.microsoft.com/office/drawing/2014/main" id="{09727FAA-793D-4704-53E9-C0482BFD21C9}"/>
              </a:ext>
            </a:extLst>
          </p:cNvPr>
          <p:cNvCxnSpPr>
            <a:cxnSpLocks/>
            <a:stCxn id="8" idx="3"/>
            <a:endCxn id="44" idx="3"/>
          </p:cNvCxnSpPr>
          <p:nvPr/>
        </p:nvCxnSpPr>
        <p:spPr>
          <a:xfrm flipV="1">
            <a:off x="4065109" y="4344747"/>
            <a:ext cx="18350" cy="837487"/>
          </a:xfrm>
          <a:prstGeom prst="bentConnector3">
            <a:avLst>
              <a:gd name="adj1" fmla="val 1345777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82" name="Content Placeholder 2">
            <a:extLst>
              <a:ext uri="{FF2B5EF4-FFF2-40B4-BE49-F238E27FC236}">
                <a16:creationId xmlns:a16="http://schemas.microsoft.com/office/drawing/2014/main" id="{666690F3-658D-65B0-F193-3F37E1FDC2D9}"/>
              </a:ext>
            </a:extLst>
          </p:cNvPr>
          <p:cNvSpPr txBox="1">
            <a:spLocks/>
          </p:cNvSpPr>
          <p:nvPr/>
        </p:nvSpPr>
        <p:spPr>
          <a:xfrm>
            <a:off x="9944" y="1078928"/>
            <a:ext cx="1759216" cy="95410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encrypt command with relay’s public key, and send via secure WebSocket</a:t>
            </a:r>
          </a:p>
        </p:txBody>
      </p:sp>
      <p:sp>
        <p:nvSpPr>
          <p:cNvPr id="83" name="Content Placeholder 2">
            <a:extLst>
              <a:ext uri="{FF2B5EF4-FFF2-40B4-BE49-F238E27FC236}">
                <a16:creationId xmlns:a16="http://schemas.microsoft.com/office/drawing/2014/main" id="{BF4ADE66-D2B6-1A3D-85D6-46C3D72A515B}"/>
              </a:ext>
            </a:extLst>
          </p:cNvPr>
          <p:cNvSpPr txBox="1">
            <a:spLocks/>
          </p:cNvSpPr>
          <p:nvPr/>
        </p:nvSpPr>
        <p:spPr>
          <a:xfrm>
            <a:off x="152924" y="3955900"/>
            <a:ext cx="1598770" cy="738664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r>
              <a:rPr lang="en-US" dirty="0"/>
              <a:t>decrypt command with relay’s private key</a:t>
            </a:r>
          </a:p>
        </p:txBody>
      </p:sp>
      <p:sp>
        <p:nvSpPr>
          <p:cNvPr id="84" name="Content Placeholder 2">
            <a:extLst>
              <a:ext uri="{FF2B5EF4-FFF2-40B4-BE49-F238E27FC236}">
                <a16:creationId xmlns:a16="http://schemas.microsoft.com/office/drawing/2014/main" id="{626431DF-43E3-781D-7254-48AFB79C0619}"/>
              </a:ext>
            </a:extLst>
          </p:cNvPr>
          <p:cNvSpPr txBox="1">
            <a:spLocks/>
          </p:cNvSpPr>
          <p:nvPr/>
        </p:nvSpPr>
        <p:spPr>
          <a:xfrm>
            <a:off x="144309" y="3054446"/>
            <a:ext cx="1598770" cy="738664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r>
              <a:rPr lang="en-US" dirty="0"/>
              <a:t>convert internet requests to LoRaWAN</a:t>
            </a:r>
          </a:p>
        </p:txBody>
      </p:sp>
      <p:sp>
        <p:nvSpPr>
          <p:cNvPr id="85" name="Content Placeholder 2">
            <a:extLst>
              <a:ext uri="{FF2B5EF4-FFF2-40B4-BE49-F238E27FC236}">
                <a16:creationId xmlns:a16="http://schemas.microsoft.com/office/drawing/2014/main" id="{144BFE00-62F2-5148-D974-1E6B5330D956}"/>
              </a:ext>
            </a:extLst>
          </p:cNvPr>
          <p:cNvSpPr txBox="1">
            <a:spLocks/>
          </p:cNvSpPr>
          <p:nvPr/>
        </p:nvSpPr>
        <p:spPr>
          <a:xfrm>
            <a:off x="2012159" y="3635635"/>
            <a:ext cx="2048515" cy="30777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pPr algn="ctr"/>
            <a:r>
              <a:rPr lang="en-US" dirty="0">
                <a:solidFill>
                  <a:schemeClr val="accent6"/>
                </a:solidFill>
              </a:rPr>
              <a:t>LoRaWAN</a:t>
            </a:r>
          </a:p>
        </p:txBody>
      </p:sp>
      <p:sp>
        <p:nvSpPr>
          <p:cNvPr id="86" name="Content Placeholder 2">
            <a:extLst>
              <a:ext uri="{FF2B5EF4-FFF2-40B4-BE49-F238E27FC236}">
                <a16:creationId xmlns:a16="http://schemas.microsoft.com/office/drawing/2014/main" id="{855AD94D-E0AF-97F2-7500-36BE3397B22D}"/>
              </a:ext>
            </a:extLst>
          </p:cNvPr>
          <p:cNvSpPr txBox="1">
            <a:spLocks/>
          </p:cNvSpPr>
          <p:nvPr/>
        </p:nvSpPr>
        <p:spPr>
          <a:xfrm>
            <a:off x="1991512" y="4568845"/>
            <a:ext cx="2048515" cy="30777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pPr algn="ctr"/>
            <a:r>
              <a:rPr lang="en-US" dirty="0">
                <a:solidFill>
                  <a:schemeClr val="accent4"/>
                </a:solidFill>
              </a:rPr>
              <a:t>physical cable</a:t>
            </a:r>
          </a:p>
        </p:txBody>
      </p:sp>
      <p:sp>
        <p:nvSpPr>
          <p:cNvPr id="87" name="Content Placeholder 2">
            <a:extLst>
              <a:ext uri="{FF2B5EF4-FFF2-40B4-BE49-F238E27FC236}">
                <a16:creationId xmlns:a16="http://schemas.microsoft.com/office/drawing/2014/main" id="{073A9F12-5450-0BC3-E5B5-2B301D6FCC6C}"/>
              </a:ext>
            </a:extLst>
          </p:cNvPr>
          <p:cNvSpPr txBox="1">
            <a:spLocks/>
          </p:cNvSpPr>
          <p:nvPr/>
        </p:nvSpPr>
        <p:spPr>
          <a:xfrm>
            <a:off x="2010301" y="2691967"/>
            <a:ext cx="2048515" cy="30777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pPr algn="ctr"/>
            <a:r>
              <a:rPr lang="en-US" dirty="0">
                <a:solidFill>
                  <a:schemeClr val="accent4"/>
                </a:solidFill>
              </a:rPr>
              <a:t>physical cable</a:t>
            </a:r>
          </a:p>
        </p:txBody>
      </p:sp>
      <p:sp>
        <p:nvSpPr>
          <p:cNvPr id="88" name="Content Placeholder 2">
            <a:extLst>
              <a:ext uri="{FF2B5EF4-FFF2-40B4-BE49-F238E27FC236}">
                <a16:creationId xmlns:a16="http://schemas.microsoft.com/office/drawing/2014/main" id="{1D6D2597-B5FF-6512-1538-918C21DFC1B2}"/>
              </a:ext>
            </a:extLst>
          </p:cNvPr>
          <p:cNvSpPr txBox="1">
            <a:spLocks/>
          </p:cNvSpPr>
          <p:nvPr/>
        </p:nvSpPr>
        <p:spPr>
          <a:xfrm>
            <a:off x="1991511" y="1761384"/>
            <a:ext cx="2048515" cy="30777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pPr algn="ctr"/>
            <a:r>
              <a:rPr lang="en-US" dirty="0">
                <a:solidFill>
                  <a:schemeClr val="accent2"/>
                </a:solidFill>
              </a:rPr>
              <a:t>https public internet</a:t>
            </a:r>
          </a:p>
        </p:txBody>
      </p:sp>
      <p:sp>
        <p:nvSpPr>
          <p:cNvPr id="89" name="Content Placeholder 2">
            <a:extLst>
              <a:ext uri="{FF2B5EF4-FFF2-40B4-BE49-F238E27FC236}">
                <a16:creationId xmlns:a16="http://schemas.microsoft.com/office/drawing/2014/main" id="{3AA354A4-F679-B9B0-066D-0AED16A7DB8D}"/>
              </a:ext>
            </a:extLst>
          </p:cNvPr>
          <p:cNvSpPr txBox="1">
            <a:spLocks/>
          </p:cNvSpPr>
          <p:nvPr/>
        </p:nvSpPr>
        <p:spPr>
          <a:xfrm>
            <a:off x="1991510" y="830976"/>
            <a:ext cx="2048515" cy="30777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pPr algn="ctr"/>
            <a:r>
              <a:rPr lang="en-US" dirty="0">
                <a:solidFill>
                  <a:schemeClr val="accent2"/>
                </a:solidFill>
              </a:rPr>
              <a:t>https public internet</a:t>
            </a:r>
          </a:p>
        </p:txBody>
      </p:sp>
      <p:sp>
        <p:nvSpPr>
          <p:cNvPr id="90" name="Content Placeholder 2">
            <a:extLst>
              <a:ext uri="{FF2B5EF4-FFF2-40B4-BE49-F238E27FC236}">
                <a16:creationId xmlns:a16="http://schemas.microsoft.com/office/drawing/2014/main" id="{9F328179-EF45-E7D5-B84F-F4E1D22051FE}"/>
              </a:ext>
            </a:extLst>
          </p:cNvPr>
          <p:cNvSpPr txBox="1">
            <a:spLocks/>
          </p:cNvSpPr>
          <p:nvPr/>
        </p:nvSpPr>
        <p:spPr>
          <a:xfrm>
            <a:off x="4325718" y="3982514"/>
            <a:ext cx="2008259" cy="523220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encrypt event with relayer’s public key</a:t>
            </a:r>
          </a:p>
        </p:txBody>
      </p:sp>
      <p:sp>
        <p:nvSpPr>
          <p:cNvPr id="91" name="Content Placeholder 2">
            <a:extLst>
              <a:ext uri="{FF2B5EF4-FFF2-40B4-BE49-F238E27FC236}">
                <a16:creationId xmlns:a16="http://schemas.microsoft.com/office/drawing/2014/main" id="{F715C107-73BC-9AB8-4965-433351B09EFC}"/>
              </a:ext>
            </a:extLst>
          </p:cNvPr>
          <p:cNvSpPr txBox="1">
            <a:spLocks/>
          </p:cNvSpPr>
          <p:nvPr/>
        </p:nvSpPr>
        <p:spPr>
          <a:xfrm>
            <a:off x="4327116" y="3037399"/>
            <a:ext cx="1589977" cy="73866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convert LoRaWAN to secure WebSocket</a:t>
            </a:r>
          </a:p>
        </p:txBody>
      </p:sp>
      <p:sp>
        <p:nvSpPr>
          <p:cNvPr id="92" name="Content Placeholder 2">
            <a:extLst>
              <a:ext uri="{FF2B5EF4-FFF2-40B4-BE49-F238E27FC236}">
                <a16:creationId xmlns:a16="http://schemas.microsoft.com/office/drawing/2014/main" id="{5B790EB6-6613-16FC-F718-5B6E01FD1141}"/>
              </a:ext>
            </a:extLst>
          </p:cNvPr>
          <p:cNvSpPr txBox="1">
            <a:spLocks/>
          </p:cNvSpPr>
          <p:nvPr/>
        </p:nvSpPr>
        <p:spPr>
          <a:xfrm>
            <a:off x="4324718" y="1078928"/>
            <a:ext cx="1648230" cy="95410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decrypt event with relayer’s private key, and forward via https call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7BD09DD8-9FBB-2F9A-BCB6-CEE75FB8CDDC}"/>
              </a:ext>
            </a:extLst>
          </p:cNvPr>
          <p:cNvSpPr/>
          <p:nvPr/>
        </p:nvSpPr>
        <p:spPr>
          <a:xfrm>
            <a:off x="8108543" y="220271"/>
            <a:ext cx="2060685" cy="566425"/>
          </a:xfrm>
          <a:prstGeom prst="rect">
            <a:avLst/>
          </a:prstGeom>
          <a:solidFill>
            <a:schemeClr val="tx1">
              <a:lumMod val="95000"/>
            </a:schemeClr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24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rPr>
              <a:t>👥 Domain</a:t>
            </a:r>
          </a:p>
        </p:txBody>
      </p:sp>
      <p:cxnSp>
        <p:nvCxnSpPr>
          <p:cNvPr id="101" name="Straight Arrow Connector 44">
            <a:extLst>
              <a:ext uri="{FF2B5EF4-FFF2-40B4-BE49-F238E27FC236}">
                <a16:creationId xmlns:a16="http://schemas.microsoft.com/office/drawing/2014/main" id="{B1ABC83C-9F2A-16FC-7656-EDAFF8F3F1FB}"/>
              </a:ext>
            </a:extLst>
          </p:cNvPr>
          <p:cNvCxnSpPr>
            <a:cxnSpLocks/>
            <a:stCxn id="100" idx="1"/>
            <a:endCxn id="104" idx="1"/>
          </p:cNvCxnSpPr>
          <p:nvPr/>
        </p:nvCxnSpPr>
        <p:spPr>
          <a:xfrm rot="10800000" flipV="1">
            <a:off x="8092593" y="503484"/>
            <a:ext cx="15950" cy="845340"/>
          </a:xfrm>
          <a:prstGeom prst="bentConnector3">
            <a:avLst>
              <a:gd name="adj1" fmla="val 1533229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D6368C8D-C9F7-A8C1-6E30-6ECB8148E66A}"/>
              </a:ext>
            </a:extLst>
          </p:cNvPr>
          <p:cNvGrpSpPr/>
          <p:nvPr/>
        </p:nvGrpSpPr>
        <p:grpSpPr>
          <a:xfrm>
            <a:off x="8092593" y="1150107"/>
            <a:ext cx="2064467" cy="566426"/>
            <a:chOff x="1480526" y="1003960"/>
            <a:chExt cx="2064467" cy="566426"/>
          </a:xfrm>
        </p:grpSpPr>
        <p:sp>
          <p:nvSpPr>
            <p:cNvPr id="103" name="Rectangle 102">
              <a:extLst>
                <a:ext uri="{FF2B5EF4-FFF2-40B4-BE49-F238E27FC236}">
                  <a16:creationId xmlns:a16="http://schemas.microsoft.com/office/drawing/2014/main" id="{1B5C7731-1D3E-5718-EDD6-9FF0A036A5E7}"/>
                </a:ext>
              </a:extLst>
            </p:cNvPr>
            <p:cNvSpPr/>
            <p:nvPr/>
          </p:nvSpPr>
          <p:spPr>
            <a:xfrm>
              <a:off x="1484308" y="1003960"/>
              <a:ext cx="2060685" cy="566426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 w="28575">
              <a:solidFill>
                <a:schemeClr val="tx1">
                  <a:lumMod val="5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44000" tIns="144000" rIns="144000" bIns="144000" anchor="ctr"/>
            <a:lstStyle/>
            <a:p>
              <a:r>
                <a:rPr lang="en-GB" sz="3200" baseline="-9000" dirty="0">
                  <a:solidFill>
                    <a:schemeClr val="bg2">
                      <a:lumMod val="40000"/>
                      <a:lumOff val="60000"/>
                    </a:schemeClr>
                  </a:solidFill>
                  <a:effectLst>
                    <a:glow>
                      <a:schemeClr val="bg1"/>
                    </a:glow>
                  </a:effectLst>
                </a:rPr>
                <a:t>🛰️</a:t>
              </a:r>
              <a:r>
                <a:rPr lang="en-GB" sz="2400" dirty="0">
                  <a:solidFill>
                    <a:sysClr val="windowText" lastClr="000000"/>
                  </a:solidFill>
                  <a:latin typeface="+mj-lt"/>
                  <a:cs typeface="Arial" panose="020B0604020202020204" pitchFamily="34" charset="0"/>
                </a:rPr>
                <a:t> Relayer</a:t>
              </a:r>
              <a:endParaRPr lang="en-GB" sz="2000" dirty="0">
                <a:solidFill>
                  <a:sysClr val="windowText" lastClr="000000"/>
                </a:solidFill>
                <a:latin typeface="+mj-lt"/>
                <a:cs typeface="Arial" panose="020B0604020202020204" pitchFamily="34" charset="0"/>
              </a:endParaRPr>
            </a:p>
          </p:txBody>
        </p: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FB3D0C9D-988C-6FCC-26A2-2CFCFE9F4C4E}"/>
                </a:ext>
              </a:extLst>
            </p:cNvPr>
            <p:cNvSpPr txBox="1"/>
            <p:nvPr/>
          </p:nvSpPr>
          <p:spPr>
            <a:xfrm>
              <a:off x="1480526" y="1018011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7D67282D-B3C2-CBD8-4592-0787C11BF0F6}"/>
                </a:ext>
              </a:extLst>
            </p:cNvPr>
            <p:cNvSpPr txBox="1"/>
            <p:nvPr/>
          </p:nvSpPr>
          <p:spPr>
            <a:xfrm>
              <a:off x="1496477" y="1197051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</p:grpSp>
      <p:cxnSp>
        <p:nvCxnSpPr>
          <p:cNvPr id="106" name="Straight Arrow Connector 44">
            <a:extLst>
              <a:ext uri="{FF2B5EF4-FFF2-40B4-BE49-F238E27FC236}">
                <a16:creationId xmlns:a16="http://schemas.microsoft.com/office/drawing/2014/main" id="{F04D49F3-32EA-B6B3-106E-FFD356FC93DF}"/>
              </a:ext>
            </a:extLst>
          </p:cNvPr>
          <p:cNvCxnSpPr>
            <a:cxnSpLocks/>
            <a:stCxn id="105" idx="1"/>
            <a:endCxn id="120" idx="1"/>
          </p:cNvCxnSpPr>
          <p:nvPr/>
        </p:nvCxnSpPr>
        <p:spPr>
          <a:xfrm rot="10800000" flipV="1">
            <a:off x="8100156" y="1527864"/>
            <a:ext cx="8389" cy="745538"/>
          </a:xfrm>
          <a:prstGeom prst="bentConnector3">
            <a:avLst>
              <a:gd name="adj1" fmla="val 2824997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B22A69B1-73DD-833C-9E13-2B2859C5D937}"/>
              </a:ext>
            </a:extLst>
          </p:cNvPr>
          <p:cNvGrpSpPr/>
          <p:nvPr/>
        </p:nvGrpSpPr>
        <p:grpSpPr>
          <a:xfrm>
            <a:off x="8083464" y="3024155"/>
            <a:ext cx="2091772" cy="566426"/>
            <a:chOff x="1471397" y="3045788"/>
            <a:chExt cx="2091772" cy="566426"/>
          </a:xfrm>
        </p:grpSpPr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1551E737-04CE-F8DF-5820-F0F4F1580F21}"/>
                </a:ext>
              </a:extLst>
            </p:cNvPr>
            <p:cNvGrpSpPr/>
            <p:nvPr/>
          </p:nvGrpSpPr>
          <p:grpSpPr>
            <a:xfrm>
              <a:off x="1471397" y="3045788"/>
              <a:ext cx="2078203" cy="566426"/>
              <a:chOff x="1471397" y="3045788"/>
              <a:chExt cx="2078203" cy="566426"/>
            </a:xfrm>
          </p:grpSpPr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B2B4B7A6-A8E1-B4B1-5F55-70E2A7EAFF28}"/>
                  </a:ext>
                </a:extLst>
              </p:cNvPr>
              <p:cNvSpPr txBox="1"/>
              <p:nvPr/>
            </p:nvSpPr>
            <p:spPr>
              <a:xfrm>
                <a:off x="1484308" y="3045788"/>
                <a:ext cx="2065292" cy="566426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>
                    <a:lumMod val="5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44000" tIns="108000" rIns="144000" bIns="144000" anchor="ctr"/>
              <a:lstStyle>
                <a:defPPr>
                  <a:defRPr lang="en-US"/>
                </a:defPPr>
                <a:lvl1pPr>
                  <a:defRPr sz="3200" baseline="-900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en-GB" dirty="0"/>
                  <a:t>📡</a:t>
                </a:r>
                <a:r>
                  <a:rPr lang="en-GB" baseline="0" dirty="0"/>
                  <a:t> </a:t>
                </a:r>
                <a:r>
                  <a:rPr lang="en-GB" sz="2400" baseline="0" dirty="0">
                    <a:solidFill>
                      <a:schemeClr val="tx1"/>
                    </a:solidFill>
                    <a:latin typeface="+mj-lt"/>
                    <a:cs typeface="Arial" panose="020B0604020202020204" pitchFamily="34" charset="0"/>
                  </a:rPr>
                  <a:t>Antenna</a:t>
                </a:r>
              </a:p>
            </p:txBody>
          </p:sp>
          <p:grpSp>
            <p:nvGrpSpPr>
              <p:cNvPr id="112" name="Group 111">
                <a:extLst>
                  <a:ext uri="{FF2B5EF4-FFF2-40B4-BE49-F238E27FC236}">
                    <a16:creationId xmlns:a16="http://schemas.microsoft.com/office/drawing/2014/main" id="{25B69265-A313-85E7-56D6-E6D7DF845AD0}"/>
                  </a:ext>
                </a:extLst>
              </p:cNvPr>
              <p:cNvGrpSpPr/>
              <p:nvPr/>
            </p:nvGrpSpPr>
            <p:grpSpPr>
              <a:xfrm>
                <a:off x="1471397" y="3062835"/>
                <a:ext cx="250647" cy="538510"/>
                <a:chOff x="1583163" y="1918820"/>
                <a:chExt cx="250647" cy="538510"/>
              </a:xfrm>
            </p:grpSpPr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89D18341-3927-70B7-86B3-774E5C0EC75E}"/>
                    </a:ext>
                  </a:extLst>
                </p:cNvPr>
                <p:cNvSpPr txBox="1"/>
                <p:nvPr/>
              </p:nvSpPr>
              <p:spPr>
                <a:xfrm>
                  <a:off x="1590154" y="1918820"/>
                  <a:ext cx="243656" cy="369332"/>
                </a:xfrm>
                <a:prstGeom prst="rect">
                  <a:avLst/>
                </a:prstGeom>
                <a:noFill/>
              </p:spPr>
              <p:txBody>
                <a:bodyPr wrap="none" lIns="0" rIns="0" rtlCol="0">
                  <a:spAutoFit/>
                </a:bodyPr>
                <a:lstStyle/>
                <a:p>
                  <a:pPr algn="l"/>
                  <a:r>
                    <a:rPr lang="en-US" dirty="0"/>
                    <a:t>    </a:t>
                  </a:r>
                </a:p>
              </p:txBody>
            </p:sp>
            <p:sp>
              <p:nvSpPr>
                <p:cNvPr id="114" name="TextBox 113">
                  <a:extLst>
                    <a:ext uri="{FF2B5EF4-FFF2-40B4-BE49-F238E27FC236}">
                      <a16:creationId xmlns:a16="http://schemas.microsoft.com/office/drawing/2014/main" id="{874174CC-6806-28E9-7CF1-8375115E16B2}"/>
                    </a:ext>
                  </a:extLst>
                </p:cNvPr>
                <p:cNvSpPr txBox="1"/>
                <p:nvPr/>
              </p:nvSpPr>
              <p:spPr>
                <a:xfrm>
                  <a:off x="1583163" y="2087998"/>
                  <a:ext cx="243656" cy="369332"/>
                </a:xfrm>
                <a:prstGeom prst="rect">
                  <a:avLst/>
                </a:prstGeom>
                <a:noFill/>
              </p:spPr>
              <p:txBody>
                <a:bodyPr wrap="none" lIns="0" rIns="0" rtlCol="0">
                  <a:spAutoFit/>
                </a:bodyPr>
                <a:lstStyle/>
                <a:p>
                  <a:pPr algn="l"/>
                  <a:r>
                    <a:rPr lang="en-US" dirty="0"/>
                    <a:t>    </a:t>
                  </a:r>
                </a:p>
              </p:txBody>
            </p:sp>
          </p:grpSp>
        </p:grp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291EEEAA-82F0-84C3-06C4-CBF6A57C0710}"/>
                </a:ext>
              </a:extLst>
            </p:cNvPr>
            <p:cNvSpPr txBox="1"/>
            <p:nvPr/>
          </p:nvSpPr>
          <p:spPr>
            <a:xfrm>
              <a:off x="3318115" y="3064311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E307695B-EC85-B7A4-2128-E3C0B85B6322}"/>
                </a:ext>
              </a:extLst>
            </p:cNvPr>
            <p:cNvSpPr txBox="1"/>
            <p:nvPr/>
          </p:nvSpPr>
          <p:spPr>
            <a:xfrm>
              <a:off x="3319513" y="3233489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</p:grpSp>
      <p:grpSp>
        <p:nvGrpSpPr>
          <p:cNvPr id="115" name="Group 114">
            <a:extLst>
              <a:ext uri="{FF2B5EF4-FFF2-40B4-BE49-F238E27FC236}">
                <a16:creationId xmlns:a16="http://schemas.microsoft.com/office/drawing/2014/main" id="{1FE21FE0-0A0E-F152-5530-DDDB4BACA5AE}"/>
              </a:ext>
            </a:extLst>
          </p:cNvPr>
          <p:cNvGrpSpPr/>
          <p:nvPr/>
        </p:nvGrpSpPr>
        <p:grpSpPr>
          <a:xfrm>
            <a:off x="8093164" y="2074239"/>
            <a:ext cx="2082245" cy="560061"/>
            <a:chOff x="1481097" y="1844202"/>
            <a:chExt cx="2082245" cy="560061"/>
          </a:xfrm>
        </p:grpSpPr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964F7B58-B6E8-7E8D-0982-EBF10E79BA5F}"/>
                </a:ext>
              </a:extLst>
            </p:cNvPr>
            <p:cNvGrpSpPr/>
            <p:nvPr/>
          </p:nvGrpSpPr>
          <p:grpSpPr>
            <a:xfrm>
              <a:off x="1481097" y="1844202"/>
              <a:ext cx="2068503" cy="560061"/>
              <a:chOff x="1481097" y="1844202"/>
              <a:chExt cx="2068503" cy="560061"/>
            </a:xfrm>
          </p:grpSpPr>
          <p:grpSp>
            <p:nvGrpSpPr>
              <p:cNvPr id="119" name="Group 118">
                <a:extLst>
                  <a:ext uri="{FF2B5EF4-FFF2-40B4-BE49-F238E27FC236}">
                    <a16:creationId xmlns:a16="http://schemas.microsoft.com/office/drawing/2014/main" id="{14066531-3949-7295-2B88-481154BBA638}"/>
                  </a:ext>
                </a:extLst>
              </p:cNvPr>
              <p:cNvGrpSpPr/>
              <p:nvPr/>
            </p:nvGrpSpPr>
            <p:grpSpPr>
              <a:xfrm>
                <a:off x="1488915" y="1844202"/>
                <a:ext cx="2060685" cy="560061"/>
                <a:chOff x="2467360" y="2224697"/>
                <a:chExt cx="2060685" cy="560061"/>
              </a:xfrm>
            </p:grpSpPr>
            <p:sp>
              <p:nvSpPr>
                <p:cNvPr id="122" name="Rectangle 121">
                  <a:extLst>
                    <a:ext uri="{FF2B5EF4-FFF2-40B4-BE49-F238E27FC236}">
                      <a16:creationId xmlns:a16="http://schemas.microsoft.com/office/drawing/2014/main" id="{2F644ED3-857B-830F-82B2-2E7F66BDCEEE}"/>
                    </a:ext>
                  </a:extLst>
                </p:cNvPr>
                <p:cNvSpPr/>
                <p:nvPr/>
              </p:nvSpPr>
              <p:spPr>
                <a:xfrm>
                  <a:off x="2467360" y="2224697"/>
                  <a:ext cx="2060685" cy="560061"/>
                </a:xfrm>
                <a:prstGeom prst="rect">
                  <a:avLst/>
                </a:prstGeom>
                <a:solidFill>
                  <a:schemeClr val="bg1"/>
                </a:solidFill>
                <a:ln w="28575">
                  <a:solidFill>
                    <a:schemeClr val="tx1">
                      <a:lumMod val="50000"/>
                    </a:schemeClr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44000" tIns="108000" rIns="144000" bIns="144000" anchor="ctr"/>
                <a:lstStyle/>
                <a:p>
                  <a:endParaRPr lang="en-US" sz="3200" baseline="-9000" dirty="0">
                    <a:solidFill>
                      <a:schemeClr val="bg2">
                        <a:lumMod val="40000"/>
                        <a:lumOff val="60000"/>
                      </a:schemeClr>
                    </a:solidFill>
                    <a:effectLst>
                      <a:glow>
                        <a:schemeClr val="bg1"/>
                      </a:glow>
                    </a:effectLst>
                  </a:endParaRPr>
                </a:p>
              </p:txBody>
            </p:sp>
            <p:sp>
              <p:nvSpPr>
                <p:cNvPr id="123" name="TextBox 122">
                  <a:extLst>
                    <a:ext uri="{FF2B5EF4-FFF2-40B4-BE49-F238E27FC236}">
                      <a16:creationId xmlns:a16="http://schemas.microsoft.com/office/drawing/2014/main" id="{063DC18D-35CE-17DF-BCE6-CF35D77043BE}"/>
                    </a:ext>
                  </a:extLst>
                </p:cNvPr>
                <p:cNvSpPr txBox="1"/>
                <p:nvPr/>
              </p:nvSpPr>
              <p:spPr>
                <a:xfrm>
                  <a:off x="2516954" y="2293144"/>
                  <a:ext cx="1560435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GB" sz="3200" baseline="-9000" noProof="1">
                      <a:solidFill>
                        <a:schemeClr val="bg2">
                          <a:lumMod val="40000"/>
                          <a:lumOff val="60000"/>
                        </a:schemeClr>
                      </a:solidFill>
                      <a:effectLst>
                        <a:glow>
                          <a:schemeClr val="bg1"/>
                        </a:glow>
                      </a:effectLst>
                    </a:rPr>
                    <a:t>🛜</a:t>
                  </a:r>
                  <a:r>
                    <a:rPr lang="en-GB" sz="2000" noProof="1"/>
                    <a:t> </a:t>
                  </a:r>
                  <a:r>
                    <a:rPr lang="en-GB" sz="2400" noProof="1"/>
                    <a:t>Wi-Fier</a:t>
                  </a:r>
                  <a:endParaRPr lang="en-GB" sz="2000" noProof="1"/>
                </a:p>
              </p:txBody>
            </p:sp>
          </p:grpSp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B7AA45ED-E948-A7A2-B974-E13AB93B9F7B}"/>
                  </a:ext>
                </a:extLst>
              </p:cNvPr>
              <p:cNvSpPr txBox="1"/>
              <p:nvPr/>
            </p:nvSpPr>
            <p:spPr>
              <a:xfrm>
                <a:off x="1488088" y="1858699"/>
                <a:ext cx="243656" cy="369332"/>
              </a:xfrm>
              <a:prstGeom prst="rect">
                <a:avLst/>
              </a:prstGeom>
              <a:noFill/>
            </p:spPr>
            <p:txBody>
              <a:bodyPr wrap="none" lIns="0" rIns="0" rtlCol="0">
                <a:spAutoFit/>
              </a:bodyPr>
              <a:lstStyle/>
              <a:p>
                <a:pPr algn="l"/>
                <a:r>
                  <a:rPr lang="en-US" dirty="0"/>
                  <a:t>    </a:t>
                </a:r>
              </a:p>
            </p:txBody>
          </p:sp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AC95BBE1-2186-3689-7E5C-5BD972436D72}"/>
                  </a:ext>
                </a:extLst>
              </p:cNvPr>
              <p:cNvSpPr txBox="1"/>
              <p:nvPr/>
            </p:nvSpPr>
            <p:spPr>
              <a:xfrm>
                <a:off x="1481097" y="2027877"/>
                <a:ext cx="243656" cy="369332"/>
              </a:xfrm>
              <a:prstGeom prst="rect">
                <a:avLst/>
              </a:prstGeom>
              <a:noFill/>
            </p:spPr>
            <p:txBody>
              <a:bodyPr wrap="none" lIns="0" rIns="0" rtlCol="0">
                <a:spAutoFit/>
              </a:bodyPr>
              <a:lstStyle/>
              <a:p>
                <a:pPr algn="l"/>
                <a:r>
                  <a:rPr lang="en-US" dirty="0"/>
                  <a:t>    </a:t>
                </a:r>
              </a:p>
            </p:txBody>
          </p:sp>
        </p:grp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204D90C2-D984-E91A-5102-0958E9F75ACB}"/>
                </a:ext>
              </a:extLst>
            </p:cNvPr>
            <p:cNvSpPr txBox="1"/>
            <p:nvPr/>
          </p:nvSpPr>
          <p:spPr>
            <a:xfrm>
              <a:off x="3318288" y="1860097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B3F9932B-0FB7-44E3-A4DF-2D2A843FB0CB}"/>
                </a:ext>
              </a:extLst>
            </p:cNvPr>
            <p:cNvSpPr txBox="1"/>
            <p:nvPr/>
          </p:nvSpPr>
          <p:spPr>
            <a:xfrm>
              <a:off x="3319686" y="2029275"/>
              <a:ext cx="243656" cy="369332"/>
            </a:xfrm>
            <a:prstGeom prst="rect">
              <a:avLst/>
            </a:prstGeom>
            <a:noFill/>
          </p:spPr>
          <p:txBody>
            <a:bodyPr wrap="none" lIns="0" rIns="0" rtlCol="0">
              <a:spAutoFit/>
            </a:bodyPr>
            <a:lstStyle/>
            <a:p>
              <a:pPr algn="l"/>
              <a:r>
                <a:rPr lang="en-US" dirty="0"/>
                <a:t>    </a:t>
              </a:r>
            </a:p>
          </p:txBody>
        </p:sp>
      </p:grpSp>
      <p:sp>
        <p:nvSpPr>
          <p:cNvPr id="132" name="Rectangle 131">
            <a:extLst>
              <a:ext uri="{FF2B5EF4-FFF2-40B4-BE49-F238E27FC236}">
                <a16:creationId xmlns:a16="http://schemas.microsoft.com/office/drawing/2014/main" id="{B09F6CB8-E35C-163B-A8A8-BE170C14FA23}"/>
              </a:ext>
            </a:extLst>
          </p:cNvPr>
          <p:cNvSpPr/>
          <p:nvPr/>
        </p:nvSpPr>
        <p:spPr>
          <a:xfrm>
            <a:off x="8091767" y="3962987"/>
            <a:ext cx="2065292" cy="566426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>
                <a:lumMod val="5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anchor="ctr"/>
          <a:lstStyle/>
          <a:p>
            <a:r>
              <a:rPr lang="en-GB" sz="3200" baseline="-9000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🔌 </a:t>
            </a:r>
            <a:r>
              <a:rPr lang="en-GB" sz="2400" dirty="0">
                <a:solidFill>
                  <a:schemeClr val="tx1"/>
                </a:solidFill>
                <a:effectLst>
                  <a:glow>
                    <a:schemeClr val="bg1"/>
                  </a:glow>
                </a:effectLst>
                <a:latin typeface="+mj-lt"/>
                <a:cs typeface="Arial" panose="020B0604020202020204" pitchFamily="34" charset="0"/>
              </a:rPr>
              <a:t>Pluggable</a:t>
            </a:r>
          </a:p>
        </p:txBody>
      </p:sp>
      <p:cxnSp>
        <p:nvCxnSpPr>
          <p:cNvPr id="135" name="Straight Arrow Connector 44">
            <a:extLst>
              <a:ext uri="{FF2B5EF4-FFF2-40B4-BE49-F238E27FC236}">
                <a16:creationId xmlns:a16="http://schemas.microsoft.com/office/drawing/2014/main" id="{7898581A-6E8B-04FE-4687-871C518DDEFB}"/>
              </a:ext>
            </a:extLst>
          </p:cNvPr>
          <p:cNvCxnSpPr>
            <a:cxnSpLocks/>
            <a:stCxn id="121" idx="1"/>
            <a:endCxn id="113" idx="1"/>
          </p:cNvCxnSpPr>
          <p:nvPr/>
        </p:nvCxnSpPr>
        <p:spPr>
          <a:xfrm rot="10800000" flipV="1">
            <a:off x="8090456" y="2442580"/>
            <a:ext cx="2709" cy="783288"/>
          </a:xfrm>
          <a:prstGeom prst="bentConnector3">
            <a:avLst>
              <a:gd name="adj1" fmla="val 8538538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6" name="Straight Arrow Connector 44">
            <a:extLst>
              <a:ext uri="{FF2B5EF4-FFF2-40B4-BE49-F238E27FC236}">
                <a16:creationId xmlns:a16="http://schemas.microsoft.com/office/drawing/2014/main" id="{7D9E52F5-82E8-670A-4538-34236AB46646}"/>
              </a:ext>
            </a:extLst>
          </p:cNvPr>
          <p:cNvCxnSpPr>
            <a:cxnSpLocks/>
            <a:stCxn id="114" idx="1"/>
            <a:endCxn id="132" idx="1"/>
          </p:cNvCxnSpPr>
          <p:nvPr/>
        </p:nvCxnSpPr>
        <p:spPr>
          <a:xfrm rot="10800000" flipH="1" flipV="1">
            <a:off x="8083463" y="3395046"/>
            <a:ext cx="8303" cy="851154"/>
          </a:xfrm>
          <a:prstGeom prst="bentConnector3">
            <a:avLst>
              <a:gd name="adj1" fmla="val -2753222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8" name="Straight Arrow Connector 44">
            <a:extLst>
              <a:ext uri="{FF2B5EF4-FFF2-40B4-BE49-F238E27FC236}">
                <a16:creationId xmlns:a16="http://schemas.microsoft.com/office/drawing/2014/main" id="{4D9EFFEA-602D-5C19-B4BF-11AB4E2973B6}"/>
              </a:ext>
            </a:extLst>
          </p:cNvPr>
          <p:cNvCxnSpPr>
            <a:cxnSpLocks/>
            <a:stCxn id="140" idx="3"/>
            <a:endCxn id="100" idx="3"/>
          </p:cNvCxnSpPr>
          <p:nvPr/>
        </p:nvCxnSpPr>
        <p:spPr>
          <a:xfrm flipH="1" flipV="1">
            <a:off x="10169228" y="503484"/>
            <a:ext cx="3373" cy="847687"/>
          </a:xfrm>
          <a:prstGeom prst="bentConnector3">
            <a:avLst>
              <a:gd name="adj1" fmla="val -6777350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39" name="Straight Arrow Connector 44">
            <a:extLst>
              <a:ext uri="{FF2B5EF4-FFF2-40B4-BE49-F238E27FC236}">
                <a16:creationId xmlns:a16="http://schemas.microsoft.com/office/drawing/2014/main" id="{326B0E9A-30DD-9180-A1F9-4109AF8FE79D}"/>
              </a:ext>
            </a:extLst>
          </p:cNvPr>
          <p:cNvCxnSpPr>
            <a:cxnSpLocks/>
            <a:stCxn id="117" idx="3"/>
            <a:endCxn id="141" idx="3"/>
          </p:cNvCxnSpPr>
          <p:nvPr/>
        </p:nvCxnSpPr>
        <p:spPr>
          <a:xfrm flipH="1" flipV="1">
            <a:off x="10165610" y="1520349"/>
            <a:ext cx="8401" cy="754451"/>
          </a:xfrm>
          <a:prstGeom prst="bentConnector3">
            <a:avLst>
              <a:gd name="adj1" fmla="val -2721105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40" name="TextBox 139">
            <a:extLst>
              <a:ext uri="{FF2B5EF4-FFF2-40B4-BE49-F238E27FC236}">
                <a16:creationId xmlns:a16="http://schemas.microsoft.com/office/drawing/2014/main" id="{A3E988B5-BF09-68DC-0DFD-D08AE0F18719}"/>
              </a:ext>
            </a:extLst>
          </p:cNvPr>
          <p:cNvSpPr txBox="1"/>
          <p:nvPr/>
        </p:nvSpPr>
        <p:spPr>
          <a:xfrm>
            <a:off x="9928945" y="1166505"/>
            <a:ext cx="243656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E631EE61-0F93-9FD5-43BC-C0CDEAFD0BB0}"/>
              </a:ext>
            </a:extLst>
          </p:cNvPr>
          <p:cNvSpPr txBox="1"/>
          <p:nvPr/>
        </p:nvSpPr>
        <p:spPr>
          <a:xfrm>
            <a:off x="9921954" y="1335683"/>
            <a:ext cx="243656" cy="369332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dirty="0"/>
              <a:t>    </a:t>
            </a:r>
          </a:p>
        </p:txBody>
      </p:sp>
      <p:cxnSp>
        <p:nvCxnSpPr>
          <p:cNvPr id="142" name="Straight Arrow Connector 44">
            <a:extLst>
              <a:ext uri="{FF2B5EF4-FFF2-40B4-BE49-F238E27FC236}">
                <a16:creationId xmlns:a16="http://schemas.microsoft.com/office/drawing/2014/main" id="{025501CD-A441-FD39-51DD-95B50541F801}"/>
              </a:ext>
            </a:extLst>
          </p:cNvPr>
          <p:cNvCxnSpPr>
            <a:cxnSpLocks/>
            <a:stCxn id="109" idx="3"/>
            <a:endCxn id="118" idx="3"/>
          </p:cNvCxnSpPr>
          <p:nvPr/>
        </p:nvCxnSpPr>
        <p:spPr>
          <a:xfrm flipV="1">
            <a:off x="10173838" y="2443978"/>
            <a:ext cx="1571" cy="783366"/>
          </a:xfrm>
          <a:prstGeom prst="bentConnector3">
            <a:avLst>
              <a:gd name="adj1" fmla="val 14651241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143" name="Straight Arrow Connector 44">
            <a:extLst>
              <a:ext uri="{FF2B5EF4-FFF2-40B4-BE49-F238E27FC236}">
                <a16:creationId xmlns:a16="http://schemas.microsoft.com/office/drawing/2014/main" id="{33074F07-A5F8-8EEE-1EA9-29A68435EFC6}"/>
              </a:ext>
            </a:extLst>
          </p:cNvPr>
          <p:cNvCxnSpPr>
            <a:cxnSpLocks/>
            <a:stCxn id="132" idx="3"/>
            <a:endCxn id="110" idx="3"/>
          </p:cNvCxnSpPr>
          <p:nvPr/>
        </p:nvCxnSpPr>
        <p:spPr>
          <a:xfrm flipV="1">
            <a:off x="10157059" y="3396522"/>
            <a:ext cx="18177" cy="849678"/>
          </a:xfrm>
          <a:prstGeom prst="bentConnector3">
            <a:avLst>
              <a:gd name="adj1" fmla="val 1357633"/>
            </a:avLst>
          </a:prstGeom>
          <a:ln>
            <a:solidFill>
              <a:schemeClr val="tx1"/>
            </a:solidFill>
            <a:prstDash val="solid"/>
            <a:tailEnd type="triangle" w="lg" len="lg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45" name="Content Placeholder 2">
            <a:extLst>
              <a:ext uri="{FF2B5EF4-FFF2-40B4-BE49-F238E27FC236}">
                <a16:creationId xmlns:a16="http://schemas.microsoft.com/office/drawing/2014/main" id="{49E74E6B-270D-D184-65C7-9E56A0E09BD3}"/>
              </a:ext>
            </a:extLst>
          </p:cNvPr>
          <p:cNvSpPr txBox="1">
            <a:spLocks/>
          </p:cNvSpPr>
          <p:nvPr/>
        </p:nvSpPr>
        <p:spPr>
          <a:xfrm>
            <a:off x="6395314" y="1065684"/>
            <a:ext cx="1465796" cy="73866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send command via secure WebSocket</a:t>
            </a:r>
          </a:p>
        </p:txBody>
      </p:sp>
      <p:sp>
        <p:nvSpPr>
          <p:cNvPr id="149" name="Content Placeholder 2">
            <a:extLst>
              <a:ext uri="{FF2B5EF4-FFF2-40B4-BE49-F238E27FC236}">
                <a16:creationId xmlns:a16="http://schemas.microsoft.com/office/drawing/2014/main" id="{F63F4E5D-C8C7-2E8A-1659-881D269B5C62}"/>
              </a:ext>
            </a:extLst>
          </p:cNvPr>
          <p:cNvSpPr txBox="1">
            <a:spLocks/>
          </p:cNvSpPr>
          <p:nvPr/>
        </p:nvSpPr>
        <p:spPr>
          <a:xfrm>
            <a:off x="8083462" y="3632811"/>
            <a:ext cx="2048515" cy="30777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pPr algn="ctr"/>
            <a:r>
              <a:rPr lang="en-US" dirty="0">
                <a:solidFill>
                  <a:schemeClr val="accent4"/>
                </a:solidFill>
              </a:rPr>
              <a:t>physical cable</a:t>
            </a:r>
          </a:p>
        </p:txBody>
      </p:sp>
      <p:sp>
        <p:nvSpPr>
          <p:cNvPr id="150" name="Content Placeholder 2">
            <a:extLst>
              <a:ext uri="{FF2B5EF4-FFF2-40B4-BE49-F238E27FC236}">
                <a16:creationId xmlns:a16="http://schemas.microsoft.com/office/drawing/2014/main" id="{BC3C1B5E-C681-A207-F7CF-539FE5B8B25A}"/>
              </a:ext>
            </a:extLst>
          </p:cNvPr>
          <p:cNvSpPr txBox="1">
            <a:spLocks/>
          </p:cNvSpPr>
          <p:nvPr/>
        </p:nvSpPr>
        <p:spPr>
          <a:xfrm>
            <a:off x="8102251" y="2678723"/>
            <a:ext cx="2048515" cy="30777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pPr algn="ctr"/>
            <a:r>
              <a:rPr lang="en-US" dirty="0">
                <a:solidFill>
                  <a:schemeClr val="accent4"/>
                </a:solidFill>
              </a:rPr>
              <a:t>physical cable</a:t>
            </a:r>
          </a:p>
        </p:txBody>
      </p:sp>
      <p:sp>
        <p:nvSpPr>
          <p:cNvPr id="151" name="Content Placeholder 2">
            <a:extLst>
              <a:ext uri="{FF2B5EF4-FFF2-40B4-BE49-F238E27FC236}">
                <a16:creationId xmlns:a16="http://schemas.microsoft.com/office/drawing/2014/main" id="{32C37843-0E80-0A5B-A071-492047C2F7C7}"/>
              </a:ext>
            </a:extLst>
          </p:cNvPr>
          <p:cNvSpPr txBox="1">
            <a:spLocks/>
          </p:cNvSpPr>
          <p:nvPr/>
        </p:nvSpPr>
        <p:spPr>
          <a:xfrm>
            <a:off x="8083461" y="1748140"/>
            <a:ext cx="2048515" cy="30777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pPr algn="ctr"/>
            <a:r>
              <a:rPr lang="en-US" dirty="0">
                <a:solidFill>
                  <a:schemeClr val="accent2"/>
                </a:solidFill>
              </a:rPr>
              <a:t>https public internet</a:t>
            </a:r>
          </a:p>
        </p:txBody>
      </p:sp>
      <p:sp>
        <p:nvSpPr>
          <p:cNvPr id="152" name="Content Placeholder 2">
            <a:extLst>
              <a:ext uri="{FF2B5EF4-FFF2-40B4-BE49-F238E27FC236}">
                <a16:creationId xmlns:a16="http://schemas.microsoft.com/office/drawing/2014/main" id="{C97AED39-0DBD-63F8-EBC2-EB404F7761F8}"/>
              </a:ext>
            </a:extLst>
          </p:cNvPr>
          <p:cNvSpPr txBox="1">
            <a:spLocks/>
          </p:cNvSpPr>
          <p:nvPr/>
        </p:nvSpPr>
        <p:spPr>
          <a:xfrm>
            <a:off x="8083460" y="817732"/>
            <a:ext cx="2048515" cy="307777"/>
          </a:xfrm>
          <a:prstGeom prst="rect">
            <a:avLst/>
          </a:prstGeom>
        </p:spPr>
        <p:txBody>
          <a:bodyPr wrap="square">
            <a:spAutoFit/>
          </a:bodyPr>
          <a:lstStyle>
            <a:defPPr>
              <a:defRPr lang="en-US"/>
            </a:defPPr>
            <a:lvl1pPr indent="0"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90000"/>
              <a:buFont typeface="Amazon Ember" panose="020B0603020204020204" pitchFamily="34" charset="0"/>
              <a:buNone/>
              <a:defRPr sz="1400" i="1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defRPr>
            </a:lvl1pPr>
            <a:lvl2pPr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/>
            </a:lvl2pPr>
            <a:lvl3pPr marL="6858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/>
            </a:lvl3pPr>
            <a:lvl4pPr marL="9144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4pPr>
            <a:lvl5pPr marL="1143000" indent="-228600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</a:lvl9pPr>
          </a:lstStyle>
          <a:p>
            <a:pPr algn="ctr"/>
            <a:r>
              <a:rPr lang="en-US" dirty="0">
                <a:solidFill>
                  <a:schemeClr val="accent2"/>
                </a:solidFill>
              </a:rPr>
              <a:t>https public internet</a:t>
            </a:r>
          </a:p>
        </p:txBody>
      </p:sp>
      <p:sp>
        <p:nvSpPr>
          <p:cNvPr id="155" name="Content Placeholder 2">
            <a:extLst>
              <a:ext uri="{FF2B5EF4-FFF2-40B4-BE49-F238E27FC236}">
                <a16:creationId xmlns:a16="http://schemas.microsoft.com/office/drawing/2014/main" id="{8C2D8FE8-668E-A499-345B-8C35D549BCF3}"/>
              </a:ext>
            </a:extLst>
          </p:cNvPr>
          <p:cNvSpPr txBox="1">
            <a:spLocks/>
          </p:cNvSpPr>
          <p:nvPr/>
        </p:nvSpPr>
        <p:spPr>
          <a:xfrm>
            <a:off x="10416668" y="1065684"/>
            <a:ext cx="1109673" cy="738664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Wingdings" panose="05000000000000000000" pitchFamily="2" charset="2"/>
              <a:buChar char="§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SzPct val="90000"/>
              <a:buFont typeface="Amazon Ember" panose="020B0603020204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mazon Ember" panose="020B0603020204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bg2">
                    <a:lumMod val="40000"/>
                    <a:lumOff val="60000"/>
                  </a:schemeClr>
                </a:solidFill>
                <a:effectLst>
                  <a:glow>
                    <a:schemeClr val="bg1"/>
                  </a:glow>
                </a:effectLst>
              </a:rPr>
              <a:t>forward events via https call</a:t>
            </a:r>
          </a:p>
        </p:txBody>
      </p:sp>
    </p:spTree>
    <p:extLst>
      <p:ext uri="{BB962C8B-B14F-4D97-AF65-F5344CB8AC3E}">
        <p14:creationId xmlns:p14="http://schemas.microsoft.com/office/powerpoint/2010/main" val="24583708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AWS">
  <a:themeElements>
    <a:clrScheme name="Custom 1">
      <a:dk1>
        <a:srgbClr val="000000"/>
      </a:dk1>
      <a:lt1>
        <a:srgbClr val="FFFFFF"/>
      </a:lt1>
      <a:dk2>
        <a:srgbClr val="424242"/>
      </a:dk2>
      <a:lt2>
        <a:srgbClr val="E7E6E6"/>
      </a:lt2>
      <a:accent1>
        <a:srgbClr val="EE7674"/>
      </a:accent1>
      <a:accent2>
        <a:srgbClr val="EB975C"/>
      </a:accent2>
      <a:accent3>
        <a:srgbClr val="D8B83E"/>
      </a:accent3>
      <a:accent4>
        <a:srgbClr val="77AD41"/>
      </a:accent4>
      <a:accent5>
        <a:srgbClr val="4E68E3"/>
      </a:accent5>
      <a:accent6>
        <a:srgbClr val="AA87F0"/>
      </a:accent6>
      <a:hlink>
        <a:srgbClr val="5DADFD"/>
      </a:hlink>
      <a:folHlink>
        <a:srgbClr val="89BDEE"/>
      </a:folHlink>
    </a:clrScheme>
    <a:fontScheme name="Custom 1">
      <a:majorFont>
        <a:latin typeface="Amazon Ember Display"/>
        <a:ea typeface=""/>
        <a:cs typeface=""/>
      </a:majorFont>
      <a:minorFont>
        <a:latin typeface="Amazon Ember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45720" tIns="45720" rIns="45720" rtlCol="0" anchor="ctr"/>
      <a:lstStyle>
        <a:defPPr algn="ctr">
          <a:defRPr dirty="0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 cap="rnd">
          <a:solidFill>
            <a:schemeClr val="tx1"/>
          </a:solidFill>
          <a:round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rIns="0" rtlCol="0">
        <a:spAutoFit/>
      </a:bodyPr>
      <a:lstStyle>
        <a:defPPr algn="l"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reInvent2022_Template_20220602_jk" id="{4D40DF26-0619-F045-92CA-85A149055DE4}" vid="{7DC3BE44-FE2F-D447-8D75-5EE52C00B4F1}"/>
    </a:ext>
  </a:extLst>
</a:theme>
</file>

<file path=ppt/theme/theme2.xml><?xml version="1.0" encoding="utf-8"?>
<a:theme xmlns:a="http://schemas.openxmlformats.org/drawingml/2006/main" name="Office Theme">
  <a:themeElements>
    <a:clrScheme name="re:Inforce 2022b">
      <a:dk1>
        <a:srgbClr val="000000"/>
      </a:dk1>
      <a:lt1>
        <a:sysClr val="window" lastClr="FFFFFF"/>
      </a:lt1>
      <a:dk2>
        <a:srgbClr val="0000A3"/>
      </a:dk2>
      <a:lt2>
        <a:srgbClr val="F2F4F4"/>
      </a:lt2>
      <a:accent1>
        <a:srgbClr val="1ED35D"/>
      </a:accent1>
      <a:accent2>
        <a:srgbClr val="41B1E8"/>
      </a:accent2>
      <a:accent3>
        <a:srgbClr val="34FF82"/>
      </a:accent3>
      <a:accent4>
        <a:srgbClr val="A548D8"/>
      </a:accent4>
      <a:accent5>
        <a:srgbClr val="E50086"/>
      </a:accent5>
      <a:accent6>
        <a:srgbClr val="4B28E3"/>
      </a:accent6>
      <a:hlink>
        <a:srgbClr val="34FF82"/>
      </a:hlink>
      <a:folHlink>
        <a:srgbClr val="34FF82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re:Inforce 2022b">
      <a:dk1>
        <a:srgbClr val="000000"/>
      </a:dk1>
      <a:lt1>
        <a:sysClr val="window" lastClr="FFFFFF"/>
      </a:lt1>
      <a:dk2>
        <a:srgbClr val="0000A3"/>
      </a:dk2>
      <a:lt2>
        <a:srgbClr val="F2F4F4"/>
      </a:lt2>
      <a:accent1>
        <a:srgbClr val="1ED35D"/>
      </a:accent1>
      <a:accent2>
        <a:srgbClr val="41B1E8"/>
      </a:accent2>
      <a:accent3>
        <a:srgbClr val="34FF82"/>
      </a:accent3>
      <a:accent4>
        <a:srgbClr val="A548D8"/>
      </a:accent4>
      <a:accent5>
        <a:srgbClr val="E50086"/>
      </a:accent5>
      <a:accent6>
        <a:srgbClr val="4B28E3"/>
      </a:accent6>
      <a:hlink>
        <a:srgbClr val="34FF82"/>
      </a:hlink>
      <a:folHlink>
        <a:srgbClr val="34FF82"/>
      </a:folHlink>
    </a:clrScheme>
    <a:fontScheme name="Ember Heavy and Normal">
      <a:majorFont>
        <a:latin typeface="Amazon Ember Heavy"/>
        <a:ea typeface=""/>
        <a:cs typeface=""/>
      </a:majorFont>
      <a:minorFont>
        <a:latin typeface="Amazon Emb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AWS</Template>
  <TotalTime>65535</TotalTime>
  <Words>700</Words>
  <Application>Microsoft Macintosh PowerPoint</Application>
  <PresentationFormat>Widescreen</PresentationFormat>
  <Paragraphs>304</Paragraphs>
  <Slides>9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Segoe UI</vt:lpstr>
      <vt:lpstr>Wingdings</vt:lpstr>
      <vt:lpstr>Amazon Ember Display</vt:lpstr>
      <vt:lpstr>Arial</vt:lpstr>
      <vt:lpstr>Amazon Ember</vt:lpstr>
      <vt:lpstr>AWS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SriHari Thotapalli</dc:creator>
  <cp:lastModifiedBy>Jorge Fonseca</cp:lastModifiedBy>
  <cp:revision>160</cp:revision>
  <dcterms:created xsi:type="dcterms:W3CDTF">2022-10-07T16:14:37Z</dcterms:created>
  <dcterms:modified xsi:type="dcterms:W3CDTF">2025-09-12T08:30:41Z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29eed6f-34eb-4453-9f97-09510b9b219f_Enabled">
    <vt:lpwstr>true</vt:lpwstr>
  </property>
  <property fmtid="{D5CDD505-2E9C-101B-9397-08002B2CF9AE}" pid="3" name="MSIP_Label_929eed6f-34eb-4453-9f97-09510b9b219f_SetDate">
    <vt:lpwstr>2025-04-22T20:22:14Z</vt:lpwstr>
  </property>
  <property fmtid="{D5CDD505-2E9C-101B-9397-08002B2CF9AE}" pid="4" name="MSIP_Label_929eed6f-34eb-4453-9f97-09510b9b219f_Method">
    <vt:lpwstr>Standard</vt:lpwstr>
  </property>
  <property fmtid="{D5CDD505-2E9C-101B-9397-08002B2CF9AE}" pid="5" name="MSIP_Label_929eed6f-34eb-4453-9f97-09510b9b219f_Name">
    <vt:lpwstr>Amazon Pending_Classification</vt:lpwstr>
  </property>
  <property fmtid="{D5CDD505-2E9C-101B-9397-08002B2CF9AE}" pid="6" name="MSIP_Label_929eed6f-34eb-4453-9f97-09510b9b219f_SiteId">
    <vt:lpwstr>5280104a-472d-4538-9ccf-1e1d0efe8b1b</vt:lpwstr>
  </property>
  <property fmtid="{D5CDD505-2E9C-101B-9397-08002B2CF9AE}" pid="7" name="MSIP_Label_929eed6f-34eb-4453-9f97-09510b9b219f_ActionId">
    <vt:lpwstr>08f254ef-ee85-4354-a4e6-4c2984f814f0</vt:lpwstr>
  </property>
  <property fmtid="{D5CDD505-2E9C-101B-9397-08002B2CF9AE}" pid="8" name="MSIP_Label_929eed6f-34eb-4453-9f97-09510b9b219f_ContentBits">
    <vt:lpwstr>0</vt:lpwstr>
  </property>
  <property fmtid="{D5CDD505-2E9C-101B-9397-08002B2CF9AE}" pid="9" name="MSIP_Label_929eed6f-34eb-4453-9f97-09510b9b219f_Tag">
    <vt:lpwstr>50, 3, 0, 1</vt:lpwstr>
  </property>
</Properties>
</file>