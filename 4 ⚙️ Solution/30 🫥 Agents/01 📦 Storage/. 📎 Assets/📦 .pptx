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826" r:id="rId2"/>
    <p:sldId id="1704" r:id="rId3"/>
    <p:sldId id="1859" r:id="rId4"/>
    <p:sldId id="1860" r:id="rId5"/>
  </p:sldIdLst>
  <p:sldSz cx="12192000" cy="6858000"/>
  <p:notesSz cx="6858000" cy="9144000"/>
  <p:embeddedFontLst>
    <p:embeddedFont>
      <p:font typeface="Amazon Ember" panose="020B0603020204020204" pitchFamily="34" charset="0"/>
      <p:regular r:id="rId8"/>
      <p:bold r:id="rId9"/>
      <p:italic r:id="rId10"/>
      <p:boldItalic r:id="rId11"/>
    </p:embeddedFont>
    <p:embeddedFont>
      <p:font typeface="Amazon Ember Display" panose="020B0603020204020204" pitchFamily="34" charset="0"/>
      <p:regular r:id="rId12"/>
      <p:bold r:id="rId13"/>
      <p:italic r:id="rId14"/>
      <p:boldItalic r:id="rId15"/>
    </p:embeddedFont>
    <p:embeddedFont>
      <p:font typeface="Segoe UI" panose="020B0502040204020203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🗄️ User Data" id="{F9BD9DF6-9445-C042-BFFC-16D7A1554B8A}">
          <p14:sldIdLst>
            <p14:sldId id="1826"/>
            <p14:sldId id="1704"/>
            <p14:sldId id="1859"/>
            <p14:sldId id="1860"/>
          </p14:sldIdLst>
        </p14:section>
        <p14:section name="." id="{4C3050E7-71FD-354D-B394-185F1158456F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33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92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B7C14-A422-B479-956F-3FE3ECB6D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285A5-404E-1499-DE52-1F55331E3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A84EC-4638-4E76-10F3-929815F96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0601A42-2D5D-A9FF-6254-3F5C555C1E4C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EF35F-AC6B-7200-5101-FD204C66E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6D97CE4-ABAB-F7AD-496B-49FA31C2FBC8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39340-0100-4A0A-3BD5-247CF67F447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152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7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752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35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2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11" Type="http://schemas.openxmlformats.org/officeDocument/2006/relationships/image" Target="../media/image5.png"/><Relationship Id="rId5" Type="http://schemas.openxmlformats.org/officeDocument/2006/relationships/image" Target="../media/image7.png"/><Relationship Id="rId15" Type="http://schemas.openxmlformats.org/officeDocument/2006/relationships/image" Target="../media/image1.png"/><Relationship Id="rId10" Type="http://schemas.openxmlformats.org/officeDocument/2006/relationships/image" Target="../media/image14.svg"/><Relationship Id="rId4" Type="http://schemas.openxmlformats.org/officeDocument/2006/relationships/image" Target="../media/image4.svg"/><Relationship Id="rId9" Type="http://schemas.openxmlformats.org/officeDocument/2006/relationships/image" Target="../media/image13.png"/><Relationship Id="rId1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12893-5170-17E7-90AD-C099162ED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145763-C400-D7C2-BDB2-5917FB36C9E3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📦 Storage vault</a:t>
            </a:r>
          </a:p>
        </p:txBody>
      </p:sp>
    </p:spTree>
    <p:extLst>
      <p:ext uri="{BB962C8B-B14F-4D97-AF65-F5344CB8AC3E}">
        <p14:creationId xmlns:p14="http://schemas.microsoft.com/office/powerpoint/2010/main" val="201640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EA013-9D41-07BD-2D95-33EB83422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2">
            <a:extLst>
              <a:ext uri="{FF2B5EF4-FFF2-40B4-BE49-F238E27FC236}">
                <a16:creationId xmlns:a16="http://schemas.microsoft.com/office/drawing/2014/main" id="{3000EF22-06D1-91D3-2AE5-42F61F5066DF}"/>
              </a:ext>
            </a:extLst>
          </p:cNvPr>
          <p:cNvCxnSpPr>
            <a:cxnSpLocks/>
          </p:cNvCxnSpPr>
          <p:nvPr/>
        </p:nvCxnSpPr>
        <p:spPr>
          <a:xfrm flipV="1">
            <a:off x="5085548" y="1463444"/>
            <a:ext cx="0" cy="13889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F6D71E17-C947-99DD-6B43-5A5999FAFA33}"/>
              </a:ext>
            </a:extLst>
          </p:cNvPr>
          <p:cNvSpPr txBox="1">
            <a:spLocks/>
          </p:cNvSpPr>
          <p:nvPr/>
        </p:nvSpPr>
        <p:spPr>
          <a:xfrm>
            <a:off x="5309659" y="1613767"/>
            <a:ext cx="1351741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share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storage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DB864F17-58F5-BC55-3C21-1B681D157EC3}"/>
              </a:ext>
            </a:extLst>
          </p:cNvPr>
          <p:cNvSpPr/>
          <p:nvPr/>
        </p:nvSpPr>
        <p:spPr>
          <a:xfrm>
            <a:off x="4905371" y="1646283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12B4097B-BB29-F32B-71E7-F447F464D689}"/>
              </a:ext>
            </a:extLst>
          </p:cNvPr>
          <p:cNvGrpSpPr/>
          <p:nvPr/>
        </p:nvGrpSpPr>
        <p:grpSpPr>
          <a:xfrm>
            <a:off x="1998410" y="434742"/>
            <a:ext cx="3418797" cy="1014729"/>
            <a:chOff x="6139542" y="968452"/>
            <a:chExt cx="3418797" cy="101472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BB93680-03DF-D83C-B540-37B43009F755}"/>
                </a:ext>
              </a:extLst>
            </p:cNvPr>
            <p:cNvSpPr/>
            <p:nvPr/>
          </p:nvSpPr>
          <p:spPr>
            <a:xfrm>
              <a:off x="6236556" y="135184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Vault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C2A7AB86-D70C-B639-08DB-9CD9D1E178EB}"/>
                </a:ext>
              </a:extLst>
            </p:cNvPr>
            <p:cNvSpPr/>
            <p:nvPr/>
          </p:nvSpPr>
          <p:spPr>
            <a:xfrm>
              <a:off x="6139542" y="968452"/>
              <a:ext cx="3418797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E711CB9-DE1B-AF6E-8606-F4F42F1DC596}"/>
              </a:ext>
            </a:extLst>
          </p:cNvPr>
          <p:cNvGrpSpPr/>
          <p:nvPr/>
        </p:nvGrpSpPr>
        <p:grpSpPr>
          <a:xfrm>
            <a:off x="1995634" y="2852348"/>
            <a:ext cx="3418797" cy="1490223"/>
            <a:chOff x="6096000" y="4418672"/>
            <a:chExt cx="2505685" cy="14902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4DACB05-AE11-E8D8-D455-472673403BB3}"/>
                </a:ext>
              </a:extLst>
            </p:cNvPr>
            <p:cNvSpPr/>
            <p:nvPr/>
          </p:nvSpPr>
          <p:spPr>
            <a:xfrm>
              <a:off x="6096000" y="4418672"/>
              <a:ext cx="2505685" cy="1490223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BED5D46-46F6-9D9B-BE39-53165DC5694D}"/>
                </a:ext>
              </a:extLst>
            </p:cNvPr>
            <p:cNvSpPr/>
            <p:nvPr/>
          </p:nvSpPr>
          <p:spPr>
            <a:xfrm>
              <a:off x="6214847" y="5213618"/>
              <a:ext cx="22807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Wallet app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87BEFDF-4AF3-6356-16AD-A8DE2DACC541}"/>
                </a:ext>
              </a:extLst>
            </p:cNvPr>
            <p:cNvSpPr/>
            <p:nvPr/>
          </p:nvSpPr>
          <p:spPr>
            <a:xfrm>
              <a:off x="7930386" y="4546027"/>
              <a:ext cx="5621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2A80E4B-1026-8DA3-C024-6165BE7E5620}"/>
                </a:ext>
              </a:extLst>
            </p:cNvPr>
            <p:cNvSpPr/>
            <p:nvPr/>
          </p:nvSpPr>
          <p:spPr>
            <a:xfrm>
              <a:off x="6214847" y="4546027"/>
              <a:ext cx="159129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Broker</a:t>
              </a:r>
            </a:p>
          </p:txBody>
        </p:sp>
      </p:grpSp>
      <p:cxnSp>
        <p:nvCxnSpPr>
          <p:cNvPr id="10" name="Straight Arrow Connector 12">
            <a:extLst>
              <a:ext uri="{FF2B5EF4-FFF2-40B4-BE49-F238E27FC236}">
                <a16:creationId xmlns:a16="http://schemas.microsoft.com/office/drawing/2014/main" id="{AFCF4742-C837-C701-A309-B0597D5D3E97}"/>
              </a:ext>
            </a:extLst>
          </p:cNvPr>
          <p:cNvCxnSpPr>
            <a:cxnSpLocks/>
          </p:cNvCxnSpPr>
          <p:nvPr/>
        </p:nvCxnSpPr>
        <p:spPr>
          <a:xfrm flipV="1">
            <a:off x="2334108" y="1449471"/>
            <a:ext cx="0" cy="13889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79308FD-9847-0A63-47F8-08B5C78C0A37}"/>
              </a:ext>
            </a:extLst>
          </p:cNvPr>
          <p:cNvSpPr txBox="1">
            <a:spLocks/>
          </p:cNvSpPr>
          <p:nvPr/>
        </p:nvSpPr>
        <p:spPr>
          <a:xfrm>
            <a:off x="2379945" y="2247387"/>
            <a:ext cx="10196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hello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DEE8E0A-7F6C-A5C1-61A6-05A6B388520F}"/>
              </a:ext>
            </a:extLst>
          </p:cNvPr>
          <p:cNvSpPr/>
          <p:nvPr/>
        </p:nvSpPr>
        <p:spPr>
          <a:xfrm>
            <a:off x="2150665" y="223096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B6B4E0D-E8FD-1EE2-98A4-497B674C15FD}"/>
              </a:ext>
            </a:extLst>
          </p:cNvPr>
          <p:cNvGrpSpPr/>
          <p:nvPr/>
        </p:nvGrpSpPr>
        <p:grpSpPr>
          <a:xfrm>
            <a:off x="8413530" y="428837"/>
            <a:ext cx="1954571" cy="1014729"/>
            <a:chOff x="7494698" y="1006813"/>
            <a:chExt cx="928364" cy="10147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EF66AD3-D5C7-05FB-C45E-01A3A462B876}"/>
                </a:ext>
              </a:extLst>
            </p:cNvPr>
            <p:cNvSpPr/>
            <p:nvPr/>
          </p:nvSpPr>
          <p:spPr>
            <a:xfrm>
              <a:off x="7534955" y="1366273"/>
              <a:ext cx="84784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📦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Storage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14517E8-8D83-E674-1D69-7CD620B45C56}"/>
                </a:ext>
              </a:extLst>
            </p:cNvPr>
            <p:cNvSpPr/>
            <p:nvPr/>
          </p:nvSpPr>
          <p:spPr>
            <a:xfrm>
              <a:off x="7494698" y="1006813"/>
              <a:ext cx="928364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17" name="Straight Arrow Connector 12">
            <a:extLst>
              <a:ext uri="{FF2B5EF4-FFF2-40B4-BE49-F238E27FC236}">
                <a16:creationId xmlns:a16="http://schemas.microsoft.com/office/drawing/2014/main" id="{BB740F6B-F7E6-D84D-3B2C-309BD9C21D7F}"/>
              </a:ext>
            </a:extLst>
          </p:cNvPr>
          <p:cNvCxnSpPr>
            <a:cxnSpLocks/>
            <a:stCxn id="15" idx="1"/>
            <a:endCxn id="154" idx="3"/>
          </p:cNvCxnSpPr>
          <p:nvPr/>
        </p:nvCxnSpPr>
        <p:spPr>
          <a:xfrm flipH="1">
            <a:off x="5417207" y="936202"/>
            <a:ext cx="2996323" cy="5905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9A0A866-7204-9052-313B-0155B0053BFB}"/>
              </a:ext>
            </a:extLst>
          </p:cNvPr>
          <p:cNvSpPr txBox="1">
            <a:spLocks/>
          </p:cNvSpPr>
          <p:nvPr/>
        </p:nvSpPr>
        <p:spPr>
          <a:xfrm>
            <a:off x="5948876" y="400798"/>
            <a:ext cx="195457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store user data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AC4B238-3AC1-0D71-0B20-A2C78D147C53}"/>
              </a:ext>
            </a:extLst>
          </p:cNvPr>
          <p:cNvSpPr/>
          <p:nvPr/>
        </p:nvSpPr>
        <p:spPr>
          <a:xfrm>
            <a:off x="5571557" y="437491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EB4D1801-27EB-E6DE-8901-B6A8353512F0}"/>
              </a:ext>
            </a:extLst>
          </p:cNvPr>
          <p:cNvCxnSpPr>
            <a:cxnSpLocks/>
            <a:stCxn id="15" idx="2"/>
            <a:endCxn id="4" idx="3"/>
          </p:cNvCxnSpPr>
          <p:nvPr/>
        </p:nvCxnSpPr>
        <p:spPr>
          <a:xfrm rot="5400000">
            <a:off x="6325677" y="532321"/>
            <a:ext cx="2153894" cy="3976385"/>
          </a:xfrm>
          <a:prstGeom prst="bentConnector2">
            <a:avLst/>
          </a:prstGeom>
          <a:ln w="19050" cap="rnd">
            <a:solidFill>
              <a:schemeClr val="accent4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9650436-835A-501B-721E-1EFD41AE6D2F}"/>
              </a:ext>
            </a:extLst>
          </p:cNvPr>
          <p:cNvSpPr/>
          <p:nvPr/>
        </p:nvSpPr>
        <p:spPr>
          <a:xfrm>
            <a:off x="5580294" y="3767661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9CA8BB3-402B-384C-561E-80B8673E6759}"/>
              </a:ext>
            </a:extLst>
          </p:cNvPr>
          <p:cNvSpPr txBox="1">
            <a:spLocks/>
          </p:cNvSpPr>
          <p:nvPr/>
        </p:nvSpPr>
        <p:spPr>
          <a:xfrm>
            <a:off x="5852225" y="3697641"/>
            <a:ext cx="1513378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subscribe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📦</a:t>
            </a: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storage</a:t>
            </a:r>
          </a:p>
        </p:txBody>
      </p: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DB288754-4C41-6EA8-5DEA-C5B6AF51EE55}"/>
              </a:ext>
            </a:extLst>
          </p:cNvPr>
          <p:cNvCxnSpPr>
            <a:cxnSpLocks/>
          </p:cNvCxnSpPr>
          <p:nvPr/>
        </p:nvCxnSpPr>
        <p:spPr>
          <a:xfrm flipV="1">
            <a:off x="3613069" y="1463444"/>
            <a:ext cx="0" cy="13889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8C0EF798-7195-7CA5-A142-1E903189694E}"/>
              </a:ext>
            </a:extLst>
          </p:cNvPr>
          <p:cNvSpPr txBox="1">
            <a:spLocks/>
          </p:cNvSpPr>
          <p:nvPr/>
        </p:nvSpPr>
        <p:spPr>
          <a:xfrm>
            <a:off x="3649634" y="1640164"/>
            <a:ext cx="10196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bind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2482765-A370-0895-C34D-7CB44F16C8C3}"/>
              </a:ext>
            </a:extLst>
          </p:cNvPr>
          <p:cNvSpPr/>
          <p:nvPr/>
        </p:nvSpPr>
        <p:spPr>
          <a:xfrm>
            <a:off x="3432892" y="1646283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CEBE65-2CC6-8140-0A09-DEEB02823F06}"/>
              </a:ext>
            </a:extLst>
          </p:cNvPr>
          <p:cNvSpPr txBox="1"/>
          <p:nvPr/>
        </p:nvSpPr>
        <p:spPr>
          <a:xfrm>
            <a:off x="178670" y="6248084"/>
            <a:ext cx="157414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STORAGE</a:t>
            </a:r>
          </a:p>
        </p:txBody>
      </p:sp>
    </p:spTree>
    <p:extLst>
      <p:ext uri="{BB962C8B-B14F-4D97-AF65-F5344CB8AC3E}">
        <p14:creationId xmlns:p14="http://schemas.microsoft.com/office/powerpoint/2010/main" val="309475189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259652-7153-BEE9-7EAB-936875C01C27}"/>
              </a:ext>
            </a:extLst>
          </p:cNvPr>
          <p:cNvSpPr/>
          <p:nvPr/>
        </p:nvSpPr>
        <p:spPr>
          <a:xfrm>
            <a:off x="481118" y="1305792"/>
            <a:ext cx="11319355" cy="2963015"/>
          </a:xfrm>
          <a:prstGeom prst="rect">
            <a:avLst/>
          </a:prstGeom>
          <a:noFill/>
          <a:ln w="15875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89CC01-3866-9C01-1D6A-5DA40B0E2DE2}"/>
              </a:ext>
            </a:extLst>
          </p:cNvPr>
          <p:cNvSpPr txBox="1"/>
          <p:nvPr/>
        </p:nvSpPr>
        <p:spPr>
          <a:xfrm>
            <a:off x="178670" y="6248084"/>
            <a:ext cx="2936701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STORAGE @ AWS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2AC4A7D-3792-1112-BADC-EE961AF02C0E}"/>
              </a:ext>
            </a:extLst>
          </p:cNvPr>
          <p:cNvGrpSpPr/>
          <p:nvPr/>
        </p:nvGrpSpPr>
        <p:grpSpPr>
          <a:xfrm>
            <a:off x="5169612" y="251371"/>
            <a:ext cx="1650611" cy="857434"/>
            <a:chOff x="7494698" y="1006814"/>
            <a:chExt cx="783992" cy="857434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FF5039E-C750-6078-5EB8-826B7EA3B4DF}"/>
                </a:ext>
              </a:extLst>
            </p:cNvPr>
            <p:cNvSpPr/>
            <p:nvPr/>
          </p:nvSpPr>
          <p:spPr>
            <a:xfrm>
              <a:off x="7529620" y="1347559"/>
              <a:ext cx="713209" cy="44035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Vault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2738295-4173-072D-523C-282C20D62B85}"/>
                </a:ext>
              </a:extLst>
            </p:cNvPr>
            <p:cNvSpPr/>
            <p:nvPr/>
          </p:nvSpPr>
          <p:spPr>
            <a:xfrm>
              <a:off x="7494698" y="1006814"/>
              <a:ext cx="783992" cy="857434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4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pic>
        <p:nvPicPr>
          <p:cNvPr id="132" name="Graphic 131">
            <a:extLst>
              <a:ext uri="{FF2B5EF4-FFF2-40B4-BE49-F238E27FC236}">
                <a16:creationId xmlns:a16="http://schemas.microsoft.com/office/drawing/2014/main" id="{08BCEA7A-0BFD-6E44-57CA-B0C928B2CF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93933" y="1305114"/>
            <a:ext cx="381000" cy="381000"/>
          </a:xfrm>
          <a:prstGeom prst="rect">
            <a:avLst/>
          </a:prstGeom>
        </p:spPr>
      </p:pic>
      <p:sp>
        <p:nvSpPr>
          <p:cNvPr id="134" name="Rectangle 133">
            <a:extLst>
              <a:ext uri="{FF2B5EF4-FFF2-40B4-BE49-F238E27FC236}">
                <a16:creationId xmlns:a16="http://schemas.microsoft.com/office/drawing/2014/main" id="{8C1565EA-08F3-D8B5-D3A5-2CE8D0E74F79}"/>
              </a:ext>
            </a:extLst>
          </p:cNvPr>
          <p:cNvSpPr/>
          <p:nvPr/>
        </p:nvSpPr>
        <p:spPr>
          <a:xfrm>
            <a:off x="2019393" y="1624274"/>
            <a:ext cx="1147427" cy="39388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📨</a:t>
            </a:r>
            <a:r>
              <a:rPr lang="en-GB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Inbox</a:t>
            </a:r>
          </a:p>
        </p:txBody>
      </p:sp>
      <p:cxnSp>
        <p:nvCxnSpPr>
          <p:cNvPr id="137" name="Straight Arrow Connector 61">
            <a:extLst>
              <a:ext uri="{FF2B5EF4-FFF2-40B4-BE49-F238E27FC236}">
                <a16:creationId xmlns:a16="http://schemas.microsoft.com/office/drawing/2014/main" id="{D8C094F8-F3FA-1528-47BD-5E1D5D315102}"/>
              </a:ext>
            </a:extLst>
          </p:cNvPr>
          <p:cNvCxnSpPr>
            <a:cxnSpLocks/>
            <a:stCxn id="60" idx="1"/>
            <a:endCxn id="134" idx="0"/>
          </p:cNvCxnSpPr>
          <p:nvPr/>
        </p:nvCxnSpPr>
        <p:spPr>
          <a:xfrm rot="10800000" flipV="1">
            <a:off x="2593108" y="680088"/>
            <a:ext cx="2576505" cy="944186"/>
          </a:xfrm>
          <a:prstGeom prst="bentConnector2">
            <a:avLst/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476A00A2-36C1-3B89-F828-AEB6FD70EEAD}"/>
              </a:ext>
            </a:extLst>
          </p:cNvPr>
          <p:cNvGrpSpPr/>
          <p:nvPr/>
        </p:nvGrpSpPr>
        <p:grpSpPr>
          <a:xfrm>
            <a:off x="1567111" y="2121861"/>
            <a:ext cx="2052832" cy="518854"/>
            <a:chOff x="6440267" y="2476895"/>
            <a:chExt cx="2052832" cy="518854"/>
          </a:xfrm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8DAA176-EF36-0BD2-1417-AA64B6199852}"/>
                </a:ext>
              </a:extLst>
            </p:cNvPr>
            <p:cNvSpPr/>
            <p:nvPr/>
          </p:nvSpPr>
          <p:spPr>
            <a:xfrm>
              <a:off x="6440267" y="2476895"/>
              <a:ext cx="2052832" cy="518854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7200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pic>
          <p:nvPicPr>
            <p:cNvPr id="142" name="Graphic 10" descr="AWS Lambda service icon.">
              <a:extLst>
                <a:ext uri="{FF2B5EF4-FFF2-40B4-BE49-F238E27FC236}">
                  <a16:creationId xmlns:a16="http://schemas.microsoft.com/office/drawing/2014/main" id="{8F43C812-D184-6603-D7E6-835BF20597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 bwMode="auto">
            <a:xfrm>
              <a:off x="6518051" y="2556322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392E74ED-6F7F-6E79-B511-FBB77E3A3DE2}"/>
                </a:ext>
              </a:extLst>
            </p:cNvPr>
            <p:cNvSpPr txBox="1"/>
            <p:nvPr/>
          </p:nvSpPr>
          <p:spPr>
            <a:xfrm>
              <a:off x="6878050" y="2513383"/>
              <a:ext cx="151224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  <a:t>read handler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67B0C4F3-D0E0-CCF8-F68C-E332A76B87E2}"/>
              </a:ext>
            </a:extLst>
          </p:cNvPr>
          <p:cNvGrpSpPr/>
          <p:nvPr/>
        </p:nvGrpSpPr>
        <p:grpSpPr>
          <a:xfrm>
            <a:off x="8886450" y="2121861"/>
            <a:ext cx="2060911" cy="518854"/>
            <a:chOff x="4537167" y="5246272"/>
            <a:chExt cx="2060911" cy="518854"/>
          </a:xfrm>
        </p:grpSpPr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0F36A098-F208-E430-2816-1439E9EF2A31}"/>
                </a:ext>
              </a:extLst>
            </p:cNvPr>
            <p:cNvGrpSpPr/>
            <p:nvPr/>
          </p:nvGrpSpPr>
          <p:grpSpPr>
            <a:xfrm>
              <a:off x="4537167" y="5246272"/>
              <a:ext cx="2060911" cy="518854"/>
              <a:chOff x="6440267" y="2476895"/>
              <a:chExt cx="2060911" cy="518854"/>
            </a:xfrm>
          </p:grpSpPr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CCF51205-D191-E54C-046E-D38AB7FF70B3}"/>
                  </a:ext>
                </a:extLst>
              </p:cNvPr>
              <p:cNvSpPr/>
              <p:nvPr/>
            </p:nvSpPr>
            <p:spPr>
              <a:xfrm>
                <a:off x="6440267" y="2476895"/>
                <a:ext cx="2052832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148" name="Graphic 10" descr="AWS Lambda service icon.">
                <a:extLst>
                  <a:ext uri="{FF2B5EF4-FFF2-40B4-BE49-F238E27FC236}">
                    <a16:creationId xmlns:a16="http://schemas.microsoft.com/office/drawing/2014/main" id="{C722620D-8051-9B5D-CD93-381E5AB6DF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 bwMode="auto">
              <a:xfrm>
                <a:off x="6956201" y="2556322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F96C036E-A668-A158-333D-447017608D7F}"/>
                  </a:ext>
                </a:extLst>
              </p:cNvPr>
              <p:cNvSpPr txBox="1"/>
              <p:nvPr/>
            </p:nvSpPr>
            <p:spPr>
              <a:xfrm>
                <a:off x="7316199" y="2513383"/>
                <a:ext cx="118497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SQS, Lambda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write handler</a:t>
                </a:r>
              </a:p>
            </p:txBody>
          </p:sp>
        </p:grpSp>
        <p:pic>
          <p:nvPicPr>
            <p:cNvPr id="146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6E463947-F783-29D8-751A-43014E6CC4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4618464" y="5325699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83D7DC3-ACCA-D780-9DC2-C5AF39A3BE0D}"/>
              </a:ext>
            </a:extLst>
          </p:cNvPr>
          <p:cNvSpPr/>
          <p:nvPr/>
        </p:nvSpPr>
        <p:spPr>
          <a:xfrm>
            <a:off x="8891832" y="1624273"/>
            <a:ext cx="1147427" cy="39388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📨</a:t>
            </a:r>
            <a:r>
              <a:rPr lang="en-GB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Inbox</a:t>
            </a:r>
          </a:p>
        </p:txBody>
      </p:sp>
      <p:cxnSp>
        <p:nvCxnSpPr>
          <p:cNvPr id="152" name="Straight Arrow Connector 61">
            <a:extLst>
              <a:ext uri="{FF2B5EF4-FFF2-40B4-BE49-F238E27FC236}">
                <a16:creationId xmlns:a16="http://schemas.microsoft.com/office/drawing/2014/main" id="{57C9B49C-E907-A199-4633-BAE974E37716}"/>
              </a:ext>
            </a:extLst>
          </p:cNvPr>
          <p:cNvCxnSpPr>
            <a:cxnSpLocks/>
            <a:stCxn id="205" idx="3"/>
            <a:endCxn id="150" idx="0"/>
          </p:cNvCxnSpPr>
          <p:nvPr/>
        </p:nvCxnSpPr>
        <p:spPr>
          <a:xfrm>
            <a:off x="6812143" y="915416"/>
            <a:ext cx="2653403" cy="708857"/>
          </a:xfrm>
          <a:prstGeom prst="bentConnector2">
            <a:avLst/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A970E1B1-A285-74B2-EA4A-94ECB4602A15}"/>
              </a:ext>
            </a:extLst>
          </p:cNvPr>
          <p:cNvGrpSpPr/>
          <p:nvPr/>
        </p:nvGrpSpPr>
        <p:grpSpPr>
          <a:xfrm>
            <a:off x="4889636" y="2136813"/>
            <a:ext cx="2184934" cy="1809548"/>
            <a:chOff x="4485374" y="2926081"/>
            <a:chExt cx="2184934" cy="1809548"/>
          </a:xfrm>
        </p:grpSpPr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9D942BA8-2592-369F-7D69-D33BA2B45641}"/>
                </a:ext>
              </a:extLst>
            </p:cNvPr>
            <p:cNvGrpSpPr/>
            <p:nvPr/>
          </p:nvGrpSpPr>
          <p:grpSpPr>
            <a:xfrm>
              <a:off x="4558377" y="4156281"/>
              <a:ext cx="2052000" cy="518400"/>
              <a:chOff x="612366" y="4202686"/>
              <a:chExt cx="2052000" cy="518400"/>
            </a:xfrm>
          </p:grpSpPr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AB145729-A167-5EDD-A7C2-C3D747DBE128}"/>
                  </a:ext>
                </a:extLst>
              </p:cNvPr>
              <p:cNvGrpSpPr/>
              <p:nvPr/>
            </p:nvGrpSpPr>
            <p:grpSpPr>
              <a:xfrm>
                <a:off x="612366" y="4202686"/>
                <a:ext cx="2052000" cy="518400"/>
                <a:chOff x="6838092" y="3987527"/>
                <a:chExt cx="2052000" cy="518400"/>
              </a:xfrm>
            </p:grpSpPr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B84C2B04-F9DF-F6C4-B93F-26D6269E9FBC}"/>
                    </a:ext>
                  </a:extLst>
                </p:cNvPr>
                <p:cNvSpPr/>
                <p:nvPr/>
              </p:nvSpPr>
              <p:spPr>
                <a:xfrm>
                  <a:off x="6838092" y="3987527"/>
                  <a:ext cx="2052000" cy="518400"/>
                </a:xfrm>
                <a:prstGeom prst="rect">
                  <a:avLst/>
                </a:prstGeom>
                <a:solidFill>
                  <a:schemeClr val="bg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45720" rtlCol="0" anchor="t"/>
                <a:lstStyle/>
                <a:p>
                  <a:r>
                    <a:rPr lang="en-US" sz="1200" i="1" dirty="0">
                      <a:solidFill>
                        <a:schemeClr val="tx1">
                          <a:lumMod val="75000"/>
                        </a:schemeClr>
                      </a:solidFill>
                    </a:rPr>
                    <a:t> </a:t>
                  </a:r>
                  <a:endParaRPr lang="en-US" sz="1600" i="1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159" name="TextBox 11">
                  <a:extLst>
                    <a:ext uri="{FF2B5EF4-FFF2-40B4-BE49-F238E27FC236}">
                      <a16:creationId xmlns:a16="http://schemas.microsoft.com/office/drawing/2014/main" id="{99AF075D-3ED3-07B2-A1BA-420506DF79E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70002" y="4022422"/>
                  <a:ext cx="1568627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en-US" sz="1200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  <a:t>DynamoDB</a:t>
                  </a:r>
                  <a:br>
                    <a:rPr lang="en-US" altLang="en-US" sz="1200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</a:br>
                  <a:r>
                    <a:rPr lang="en-US" altLang="en-US" sz="12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  <a:latin typeface="+mn-lt"/>
                      <a:ea typeface="Amazon Ember" panose="020B0603020204020204" pitchFamily="34" charset="0"/>
                      <a:cs typeface="Arial" panose="020B0604020202020204" pitchFamily="34" charset="0"/>
                    </a:rPr>
                    <a:t>user/vault map</a:t>
                  </a:r>
                </a:p>
              </p:txBody>
            </p:sp>
          </p:grpSp>
          <p:pic>
            <p:nvPicPr>
              <p:cNvPr id="157" name="Graphic 23" descr="Amazon DynamoDB service icon.">
                <a:extLst>
                  <a:ext uri="{FF2B5EF4-FFF2-40B4-BE49-F238E27FC236}">
                    <a16:creationId xmlns:a16="http://schemas.microsoft.com/office/drawing/2014/main" id="{8D3954B1-48D7-BD03-29C2-859411D021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p:blipFill>
            <p:spPr bwMode="auto">
              <a:xfrm>
                <a:off x="694244" y="4282450"/>
                <a:ext cx="360000" cy="360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F6AEC335-333A-59D8-9741-18B54AAF0B6A}"/>
                </a:ext>
              </a:extLst>
            </p:cNvPr>
            <p:cNvGrpSpPr/>
            <p:nvPr/>
          </p:nvGrpSpPr>
          <p:grpSpPr>
            <a:xfrm>
              <a:off x="4563251" y="2979565"/>
              <a:ext cx="2052831" cy="518854"/>
              <a:chOff x="6399966" y="2708142"/>
              <a:chExt cx="2052831" cy="518854"/>
            </a:xfrm>
          </p:grpSpPr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C5D57CE2-BD80-83FB-2FC7-D031486550F6}"/>
                  </a:ext>
                </a:extLst>
              </p:cNvPr>
              <p:cNvSpPr/>
              <p:nvPr/>
            </p:nvSpPr>
            <p:spPr>
              <a:xfrm>
                <a:off x="6399966" y="2708142"/>
                <a:ext cx="2052831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162" name="Graphic 8" descr="Amazon Simple Storage Service (Amazon S3) service icon.">
                <a:extLst>
                  <a:ext uri="{FF2B5EF4-FFF2-40B4-BE49-F238E27FC236}">
                    <a16:creationId xmlns:a16="http://schemas.microsoft.com/office/drawing/2014/main" id="{FE80FD0F-2467-92AA-AB04-09A16AA9E22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 bwMode="auto">
              <a:xfrm>
                <a:off x="6481393" y="2782522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3" name="TextBox 9">
                <a:extLst>
                  <a:ext uri="{FF2B5EF4-FFF2-40B4-BE49-F238E27FC236}">
                    <a16:creationId xmlns:a16="http://schemas.microsoft.com/office/drawing/2014/main" id="{76CDDFB3-C484-31B7-4EF5-322D7C9543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48656" y="2742618"/>
                <a:ext cx="159696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Amazon S3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large items</a:t>
                </a:r>
              </a:p>
            </p:txBody>
          </p:sp>
        </p:grp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4CB827F8-F3F4-9F06-4A2D-DB46422E5FB7}"/>
                </a:ext>
              </a:extLst>
            </p:cNvPr>
            <p:cNvGrpSpPr/>
            <p:nvPr/>
          </p:nvGrpSpPr>
          <p:grpSpPr>
            <a:xfrm>
              <a:off x="4564082" y="3572799"/>
              <a:ext cx="2052000" cy="518400"/>
              <a:chOff x="612366" y="4202686"/>
              <a:chExt cx="2052000" cy="518400"/>
            </a:xfrm>
          </p:grpSpPr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26903DDE-B33D-3C74-2929-5E8DE7B27AAC}"/>
                  </a:ext>
                </a:extLst>
              </p:cNvPr>
              <p:cNvGrpSpPr/>
              <p:nvPr/>
            </p:nvGrpSpPr>
            <p:grpSpPr>
              <a:xfrm>
                <a:off x="612366" y="4202686"/>
                <a:ext cx="2052000" cy="518400"/>
                <a:chOff x="6838092" y="3987527"/>
                <a:chExt cx="2052000" cy="518400"/>
              </a:xfrm>
            </p:grpSpPr>
            <p:sp>
              <p:nvSpPr>
                <p:cNvPr id="167" name="Rectangle 166">
                  <a:extLst>
                    <a:ext uri="{FF2B5EF4-FFF2-40B4-BE49-F238E27FC236}">
                      <a16:creationId xmlns:a16="http://schemas.microsoft.com/office/drawing/2014/main" id="{689347CA-794A-86A6-7979-EEDF9F678730}"/>
                    </a:ext>
                  </a:extLst>
                </p:cNvPr>
                <p:cNvSpPr/>
                <p:nvPr/>
              </p:nvSpPr>
              <p:spPr>
                <a:xfrm>
                  <a:off x="6838092" y="3987527"/>
                  <a:ext cx="2052000" cy="518400"/>
                </a:xfrm>
                <a:prstGeom prst="rect">
                  <a:avLst/>
                </a:prstGeom>
                <a:solidFill>
                  <a:schemeClr val="bg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45720" rtlCol="0" anchor="t"/>
                <a:lstStyle/>
                <a:p>
                  <a:r>
                    <a:rPr lang="en-US" sz="1200" i="1" dirty="0">
                      <a:solidFill>
                        <a:schemeClr val="tx1">
                          <a:lumMod val="75000"/>
                        </a:schemeClr>
                      </a:solidFill>
                    </a:rPr>
                    <a:t> </a:t>
                  </a:r>
                  <a:endParaRPr lang="en-US" sz="1600" i="1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168" name="TextBox 11">
                  <a:extLst>
                    <a:ext uri="{FF2B5EF4-FFF2-40B4-BE49-F238E27FC236}">
                      <a16:creationId xmlns:a16="http://schemas.microsoft.com/office/drawing/2014/main" id="{9F15842E-A868-38AF-7343-F20568393F0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70002" y="4022422"/>
                  <a:ext cx="1568627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en-US" sz="1200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  <a:t>DynamoDB</a:t>
                  </a:r>
                  <a:br>
                    <a:rPr lang="en-US" altLang="en-US" sz="1200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</a:br>
                  <a:r>
                    <a:rPr lang="en-US" altLang="en-US" sz="12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  <a:latin typeface="+mn-lt"/>
                      <a:ea typeface="Amazon Ember" panose="020B0603020204020204" pitchFamily="34" charset="0"/>
                      <a:cs typeface="Arial" panose="020B0604020202020204" pitchFamily="34" charset="0"/>
                    </a:rPr>
                    <a:t>user/vault items</a:t>
                  </a:r>
                </a:p>
              </p:txBody>
            </p:sp>
          </p:grpSp>
          <p:pic>
            <p:nvPicPr>
              <p:cNvPr id="166" name="Graphic 23" descr="Amazon DynamoDB service icon.">
                <a:extLst>
                  <a:ext uri="{FF2B5EF4-FFF2-40B4-BE49-F238E27FC236}">
                    <a16:creationId xmlns:a16="http://schemas.microsoft.com/office/drawing/2014/main" id="{0E7BFDD5-8565-C26D-40F4-36E6AEAC35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p:blipFill>
            <p:spPr bwMode="auto">
              <a:xfrm>
                <a:off x="694244" y="4282450"/>
                <a:ext cx="360000" cy="360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C8BBD910-19A1-E34E-6F5E-737143925D34}"/>
                </a:ext>
              </a:extLst>
            </p:cNvPr>
            <p:cNvSpPr/>
            <p:nvPr/>
          </p:nvSpPr>
          <p:spPr>
            <a:xfrm>
              <a:off x="4485374" y="2926081"/>
              <a:ext cx="2184934" cy="180954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170" name="Straight Arrow Connector 61">
            <a:extLst>
              <a:ext uri="{FF2B5EF4-FFF2-40B4-BE49-F238E27FC236}">
                <a16:creationId xmlns:a16="http://schemas.microsoft.com/office/drawing/2014/main" id="{F1B1404D-FF1C-9BBD-34A3-2E8A8AB5FD16}"/>
              </a:ext>
            </a:extLst>
          </p:cNvPr>
          <p:cNvCxnSpPr>
            <a:cxnSpLocks/>
            <a:stCxn id="231" idx="1"/>
          </p:cNvCxnSpPr>
          <p:nvPr/>
        </p:nvCxnSpPr>
        <p:spPr>
          <a:xfrm rot="10800000">
            <a:off x="7185746" y="2976056"/>
            <a:ext cx="1700704" cy="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7" name="Straight Arrow Connector 61">
            <a:extLst>
              <a:ext uri="{FF2B5EF4-FFF2-40B4-BE49-F238E27FC236}">
                <a16:creationId xmlns:a16="http://schemas.microsoft.com/office/drawing/2014/main" id="{3AFD8BBF-F8E7-1807-B013-A35C56F259A6}"/>
              </a:ext>
            </a:extLst>
          </p:cNvPr>
          <p:cNvCxnSpPr>
            <a:cxnSpLocks/>
            <a:stCxn id="141" idx="2"/>
            <a:endCxn id="169" idx="1"/>
          </p:cNvCxnSpPr>
          <p:nvPr/>
        </p:nvCxnSpPr>
        <p:spPr>
          <a:xfrm rot="16200000" flipH="1">
            <a:off x="3541145" y="1693096"/>
            <a:ext cx="400872" cy="2296109"/>
          </a:xfrm>
          <a:prstGeom prst="bentConnector2">
            <a:avLst/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4" name="Straight Arrow Connector 61">
            <a:extLst>
              <a:ext uri="{FF2B5EF4-FFF2-40B4-BE49-F238E27FC236}">
                <a16:creationId xmlns:a16="http://schemas.microsoft.com/office/drawing/2014/main" id="{4465DE98-53E1-28CD-0668-ACE9F8D6AE63}"/>
              </a:ext>
            </a:extLst>
          </p:cNvPr>
          <p:cNvCxnSpPr>
            <a:cxnSpLocks/>
            <a:stCxn id="60" idx="2"/>
            <a:endCxn id="161" idx="0"/>
          </p:cNvCxnSpPr>
          <p:nvPr/>
        </p:nvCxnSpPr>
        <p:spPr>
          <a:xfrm rot="5400000">
            <a:off x="5453678" y="1649057"/>
            <a:ext cx="1081492" cy="98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73060869-04D0-93AE-3179-65E1497E134C}"/>
              </a:ext>
            </a:extLst>
          </p:cNvPr>
          <p:cNvSpPr txBox="1"/>
          <p:nvPr/>
        </p:nvSpPr>
        <p:spPr>
          <a:xfrm>
            <a:off x="5167637" y="734347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cxnSp>
        <p:nvCxnSpPr>
          <p:cNvPr id="202" name="Straight Arrow Connector 61">
            <a:extLst>
              <a:ext uri="{FF2B5EF4-FFF2-40B4-BE49-F238E27FC236}">
                <a16:creationId xmlns:a16="http://schemas.microsoft.com/office/drawing/2014/main" id="{A47E644F-3D95-5717-AE7B-4CFC655F724E}"/>
              </a:ext>
            </a:extLst>
          </p:cNvPr>
          <p:cNvCxnSpPr>
            <a:cxnSpLocks/>
            <a:stCxn id="231" idx="3"/>
            <a:endCxn id="60" idx="3"/>
          </p:cNvCxnSpPr>
          <p:nvPr/>
        </p:nvCxnSpPr>
        <p:spPr>
          <a:xfrm flipH="1" flipV="1">
            <a:off x="6820223" y="680088"/>
            <a:ext cx="4119059" cy="2295968"/>
          </a:xfrm>
          <a:prstGeom prst="bentConnector3">
            <a:avLst>
              <a:gd name="adj1" fmla="val -5550"/>
            </a:avLst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EE5F8DA3-14A7-0A54-1829-DE7BED7656A0}"/>
              </a:ext>
            </a:extLst>
          </p:cNvPr>
          <p:cNvSpPr txBox="1"/>
          <p:nvPr/>
        </p:nvSpPr>
        <p:spPr>
          <a:xfrm>
            <a:off x="6568487" y="730750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29074E97-E0BF-CAD9-A7A6-B1E092B4AE27}"/>
              </a:ext>
            </a:extLst>
          </p:cNvPr>
          <p:cNvSpPr txBox="1"/>
          <p:nvPr/>
        </p:nvSpPr>
        <p:spPr>
          <a:xfrm>
            <a:off x="10356786" y="2127189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217" name="Content Placeholder 2">
            <a:extLst>
              <a:ext uri="{FF2B5EF4-FFF2-40B4-BE49-F238E27FC236}">
                <a16:creationId xmlns:a16="http://schemas.microsoft.com/office/drawing/2014/main" id="{690C82E3-6388-6987-FE2C-9EC2371C8BAB}"/>
              </a:ext>
            </a:extLst>
          </p:cNvPr>
          <p:cNvSpPr txBox="1">
            <a:spLocks/>
          </p:cNvSpPr>
          <p:nvPr/>
        </p:nvSpPr>
        <p:spPr>
          <a:xfrm>
            <a:off x="2605122" y="696864"/>
            <a:ext cx="1482863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register/read</a:t>
            </a:r>
          </a:p>
        </p:txBody>
      </p:sp>
      <p:sp>
        <p:nvSpPr>
          <p:cNvPr id="218" name="Content Placeholder 2">
            <a:extLst>
              <a:ext uri="{FF2B5EF4-FFF2-40B4-BE49-F238E27FC236}">
                <a16:creationId xmlns:a16="http://schemas.microsoft.com/office/drawing/2014/main" id="{B7233651-60AC-8B48-DF1E-686B1287AB81}"/>
              </a:ext>
            </a:extLst>
          </p:cNvPr>
          <p:cNvSpPr txBox="1">
            <a:spLocks/>
          </p:cNvSpPr>
          <p:nvPr/>
        </p:nvSpPr>
        <p:spPr>
          <a:xfrm>
            <a:off x="6009747" y="1323192"/>
            <a:ext cx="1422845" cy="73866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download large items from pre-signed URL</a:t>
            </a:r>
          </a:p>
        </p:txBody>
      </p:sp>
      <p:sp>
        <p:nvSpPr>
          <p:cNvPr id="219" name="Content Placeholder 2">
            <a:extLst>
              <a:ext uri="{FF2B5EF4-FFF2-40B4-BE49-F238E27FC236}">
                <a16:creationId xmlns:a16="http://schemas.microsoft.com/office/drawing/2014/main" id="{F00EDC2C-8D2E-E2BB-D3CA-AB766FE22A43}"/>
              </a:ext>
            </a:extLst>
          </p:cNvPr>
          <p:cNvSpPr txBox="1">
            <a:spLocks/>
          </p:cNvSpPr>
          <p:nvPr/>
        </p:nvSpPr>
        <p:spPr>
          <a:xfrm>
            <a:off x="6828302" y="926978"/>
            <a:ext cx="2637243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delayed write</a:t>
            </a:r>
          </a:p>
        </p:txBody>
      </p:sp>
      <p:sp>
        <p:nvSpPr>
          <p:cNvPr id="220" name="Content Placeholder 2">
            <a:extLst>
              <a:ext uri="{FF2B5EF4-FFF2-40B4-BE49-F238E27FC236}">
                <a16:creationId xmlns:a16="http://schemas.microsoft.com/office/drawing/2014/main" id="{359657C0-243C-22F7-E0A6-891290F8B8C5}"/>
              </a:ext>
            </a:extLst>
          </p:cNvPr>
          <p:cNvSpPr txBox="1">
            <a:spLocks/>
          </p:cNvSpPr>
          <p:nvPr/>
        </p:nvSpPr>
        <p:spPr>
          <a:xfrm>
            <a:off x="6936663" y="366530"/>
            <a:ext cx="265488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download from pre-signed URL</a:t>
            </a:r>
          </a:p>
        </p:txBody>
      </p:sp>
      <p:sp>
        <p:nvSpPr>
          <p:cNvPr id="221" name="Rounded Rectangle 220">
            <a:extLst>
              <a:ext uri="{FF2B5EF4-FFF2-40B4-BE49-F238E27FC236}">
                <a16:creationId xmlns:a16="http://schemas.microsoft.com/office/drawing/2014/main" id="{7A187E41-A2DF-2112-53FE-F034FF6F3333}"/>
              </a:ext>
            </a:extLst>
          </p:cNvPr>
          <p:cNvSpPr>
            <a:spLocks noChangeAspect="1"/>
          </p:cNvSpPr>
          <p:nvPr/>
        </p:nvSpPr>
        <p:spPr>
          <a:xfrm>
            <a:off x="2211794" y="669110"/>
            <a:ext cx="286369" cy="28636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22" name="Rounded Rectangle 221">
            <a:extLst>
              <a:ext uri="{FF2B5EF4-FFF2-40B4-BE49-F238E27FC236}">
                <a16:creationId xmlns:a16="http://schemas.microsoft.com/office/drawing/2014/main" id="{E2BB7E97-BBB2-C62D-3203-5AC5AED61FC1}"/>
              </a:ext>
            </a:extLst>
          </p:cNvPr>
          <p:cNvSpPr>
            <a:spLocks noChangeAspect="1"/>
          </p:cNvSpPr>
          <p:nvPr/>
        </p:nvSpPr>
        <p:spPr>
          <a:xfrm>
            <a:off x="5614907" y="1419581"/>
            <a:ext cx="286369" cy="28636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3" name="Rounded Rectangle 222">
            <a:extLst>
              <a:ext uri="{FF2B5EF4-FFF2-40B4-BE49-F238E27FC236}">
                <a16:creationId xmlns:a16="http://schemas.microsoft.com/office/drawing/2014/main" id="{B2C19BB8-9685-5448-2A71-1ACAA0D054AE}"/>
              </a:ext>
            </a:extLst>
          </p:cNvPr>
          <p:cNvSpPr>
            <a:spLocks noChangeAspect="1"/>
          </p:cNvSpPr>
          <p:nvPr/>
        </p:nvSpPr>
        <p:spPr>
          <a:xfrm>
            <a:off x="9571831" y="919169"/>
            <a:ext cx="286369" cy="286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4" name="Rounded Rectangle 223">
            <a:extLst>
              <a:ext uri="{FF2B5EF4-FFF2-40B4-BE49-F238E27FC236}">
                <a16:creationId xmlns:a16="http://schemas.microsoft.com/office/drawing/2014/main" id="{2158DFAE-6FA3-4431-57A4-3B5B9722E79A}"/>
              </a:ext>
            </a:extLst>
          </p:cNvPr>
          <p:cNvSpPr>
            <a:spLocks noChangeAspect="1"/>
          </p:cNvSpPr>
          <p:nvPr/>
        </p:nvSpPr>
        <p:spPr>
          <a:xfrm>
            <a:off x="11030615" y="3080860"/>
            <a:ext cx="286369" cy="286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80D167DC-1E72-89DA-6EA3-693AEC3E37A9}"/>
              </a:ext>
            </a:extLst>
          </p:cNvPr>
          <p:cNvSpPr/>
          <p:nvPr/>
        </p:nvSpPr>
        <p:spPr>
          <a:xfrm>
            <a:off x="9868656" y="3750816"/>
            <a:ext cx="1807431" cy="3910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</a:t>
            </a:r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manifester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26" name="Rounded Rectangle 225">
            <a:extLst>
              <a:ext uri="{FF2B5EF4-FFF2-40B4-BE49-F238E27FC236}">
                <a16:creationId xmlns:a16="http://schemas.microsoft.com/office/drawing/2014/main" id="{C285EDE9-20DB-35C7-CC4B-9F457E53B75D}"/>
              </a:ext>
            </a:extLst>
          </p:cNvPr>
          <p:cNvSpPr>
            <a:spLocks noChangeAspect="1"/>
          </p:cNvSpPr>
          <p:nvPr/>
        </p:nvSpPr>
        <p:spPr>
          <a:xfrm>
            <a:off x="2211793" y="2720080"/>
            <a:ext cx="286369" cy="28636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7" name="Rounded Rectangle 226">
            <a:extLst>
              <a:ext uri="{FF2B5EF4-FFF2-40B4-BE49-F238E27FC236}">
                <a16:creationId xmlns:a16="http://schemas.microsoft.com/office/drawing/2014/main" id="{16C09037-2376-A17C-5647-9A93C68AEFB5}"/>
              </a:ext>
            </a:extLst>
          </p:cNvPr>
          <p:cNvSpPr>
            <a:spLocks noChangeAspect="1"/>
          </p:cNvSpPr>
          <p:nvPr/>
        </p:nvSpPr>
        <p:spPr>
          <a:xfrm>
            <a:off x="10023445" y="2762889"/>
            <a:ext cx="286369" cy="286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5</a:t>
            </a: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1392F848-453B-8CDE-B3DC-3662F08052C4}"/>
              </a:ext>
            </a:extLst>
          </p:cNvPr>
          <p:cNvGrpSpPr/>
          <p:nvPr/>
        </p:nvGrpSpPr>
        <p:grpSpPr>
          <a:xfrm>
            <a:off x="8886450" y="2716629"/>
            <a:ext cx="2060911" cy="518854"/>
            <a:chOff x="4537167" y="5246272"/>
            <a:chExt cx="2060911" cy="518854"/>
          </a:xfrm>
        </p:grpSpPr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C3E907CE-7E26-A696-2802-27F72A7B224A}"/>
                </a:ext>
              </a:extLst>
            </p:cNvPr>
            <p:cNvGrpSpPr/>
            <p:nvPr/>
          </p:nvGrpSpPr>
          <p:grpSpPr>
            <a:xfrm>
              <a:off x="4537167" y="5246272"/>
              <a:ext cx="2060911" cy="518854"/>
              <a:chOff x="6440267" y="2476895"/>
              <a:chExt cx="2060911" cy="518854"/>
            </a:xfrm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833072C9-6AC2-8E6E-9CDA-7B5D535A7497}"/>
                  </a:ext>
                </a:extLst>
              </p:cNvPr>
              <p:cNvSpPr/>
              <p:nvPr/>
            </p:nvSpPr>
            <p:spPr>
              <a:xfrm>
                <a:off x="6440267" y="2476895"/>
                <a:ext cx="2052832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232" name="Graphic 10" descr="AWS Lambda service icon.">
                <a:extLst>
                  <a:ext uri="{FF2B5EF4-FFF2-40B4-BE49-F238E27FC236}">
                    <a16:creationId xmlns:a16="http://schemas.microsoft.com/office/drawing/2014/main" id="{1B4FE63E-8ACF-3682-6AD7-A0CFA0366C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 bwMode="auto">
              <a:xfrm>
                <a:off x="6956201" y="2556322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03238B4C-1BF7-253C-7C3F-415EC081F256}"/>
                  </a:ext>
                </a:extLst>
              </p:cNvPr>
              <p:cNvSpPr txBox="1"/>
              <p:nvPr/>
            </p:nvSpPr>
            <p:spPr>
              <a:xfrm>
                <a:off x="7316199" y="2513383"/>
                <a:ext cx="118497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SQS, Lambda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downloader</a:t>
                </a:r>
              </a:p>
            </p:txBody>
          </p:sp>
        </p:grpSp>
        <p:pic>
          <p:nvPicPr>
            <p:cNvPr id="230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D0D6C6C2-0400-98A9-0B11-79C994E6B7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4618464" y="5325699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239" name="Straight Arrow Connector 61">
            <a:extLst>
              <a:ext uri="{FF2B5EF4-FFF2-40B4-BE49-F238E27FC236}">
                <a16:creationId xmlns:a16="http://schemas.microsoft.com/office/drawing/2014/main" id="{F53368D4-4DE0-77ED-73F8-DB31BFCDC56E}"/>
              </a:ext>
            </a:extLst>
          </p:cNvPr>
          <p:cNvCxnSpPr>
            <a:cxnSpLocks/>
          </p:cNvCxnSpPr>
          <p:nvPr/>
        </p:nvCxnSpPr>
        <p:spPr>
          <a:xfrm rot="10800000">
            <a:off x="7182781" y="2407067"/>
            <a:ext cx="1700704" cy="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0" name="Content Placeholder 2">
            <a:extLst>
              <a:ext uri="{FF2B5EF4-FFF2-40B4-BE49-F238E27FC236}">
                <a16:creationId xmlns:a16="http://schemas.microsoft.com/office/drawing/2014/main" id="{D1E59179-D807-E668-1544-97A6F03FFF5F}"/>
              </a:ext>
            </a:extLst>
          </p:cNvPr>
          <p:cNvSpPr txBox="1">
            <a:spLocks/>
          </p:cNvSpPr>
          <p:nvPr/>
        </p:nvSpPr>
        <p:spPr>
          <a:xfrm>
            <a:off x="2500833" y="3052865"/>
            <a:ext cx="1482863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register/read</a:t>
            </a:r>
          </a:p>
        </p:txBody>
      </p:sp>
      <p:sp>
        <p:nvSpPr>
          <p:cNvPr id="241" name="Content Placeholder 2">
            <a:extLst>
              <a:ext uri="{FF2B5EF4-FFF2-40B4-BE49-F238E27FC236}">
                <a16:creationId xmlns:a16="http://schemas.microsoft.com/office/drawing/2014/main" id="{F15C670B-76DF-634A-F96E-851191BDFB26}"/>
              </a:ext>
            </a:extLst>
          </p:cNvPr>
          <p:cNvSpPr txBox="1">
            <a:spLocks/>
          </p:cNvSpPr>
          <p:nvPr/>
        </p:nvSpPr>
        <p:spPr>
          <a:xfrm>
            <a:off x="7291701" y="2988624"/>
            <a:ext cx="1482863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write S3</a:t>
            </a:r>
          </a:p>
        </p:txBody>
      </p:sp>
      <p:sp>
        <p:nvSpPr>
          <p:cNvPr id="242" name="Content Placeholder 2">
            <a:extLst>
              <a:ext uri="{FF2B5EF4-FFF2-40B4-BE49-F238E27FC236}">
                <a16:creationId xmlns:a16="http://schemas.microsoft.com/office/drawing/2014/main" id="{A1926BA9-F958-4D87-3C33-EAEBE0E68915}"/>
              </a:ext>
            </a:extLst>
          </p:cNvPr>
          <p:cNvSpPr txBox="1">
            <a:spLocks/>
          </p:cNvSpPr>
          <p:nvPr/>
        </p:nvSpPr>
        <p:spPr>
          <a:xfrm>
            <a:off x="7299961" y="2419703"/>
            <a:ext cx="1482863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write Dynamo</a:t>
            </a:r>
          </a:p>
        </p:txBody>
      </p:sp>
      <p:sp>
        <p:nvSpPr>
          <p:cNvPr id="243" name="Rounded Rectangle 242">
            <a:extLst>
              <a:ext uri="{FF2B5EF4-FFF2-40B4-BE49-F238E27FC236}">
                <a16:creationId xmlns:a16="http://schemas.microsoft.com/office/drawing/2014/main" id="{2C524493-EBCE-989B-80AB-669A55793B74}"/>
              </a:ext>
            </a:extLst>
          </p:cNvPr>
          <p:cNvSpPr>
            <a:spLocks noChangeAspect="1"/>
          </p:cNvSpPr>
          <p:nvPr/>
        </p:nvSpPr>
        <p:spPr>
          <a:xfrm>
            <a:off x="8521682" y="2025486"/>
            <a:ext cx="286369" cy="286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4" name="Rounded Rectangle 243">
            <a:extLst>
              <a:ext uri="{FF2B5EF4-FFF2-40B4-BE49-F238E27FC236}">
                <a16:creationId xmlns:a16="http://schemas.microsoft.com/office/drawing/2014/main" id="{E6185A5E-3240-FB00-0943-A4D5E1F501AA}"/>
              </a:ext>
            </a:extLst>
          </p:cNvPr>
          <p:cNvSpPr>
            <a:spLocks noChangeAspect="1"/>
          </p:cNvSpPr>
          <p:nvPr/>
        </p:nvSpPr>
        <p:spPr>
          <a:xfrm>
            <a:off x="8525444" y="3066815"/>
            <a:ext cx="286369" cy="286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653324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8DEEA-428B-3397-AA77-0B06FC5B9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32">
            <a:extLst>
              <a:ext uri="{FF2B5EF4-FFF2-40B4-BE49-F238E27FC236}">
                <a16:creationId xmlns:a16="http://schemas.microsoft.com/office/drawing/2014/main" id="{6BE78E2B-0634-B047-145F-6A43AA2138DC}"/>
              </a:ext>
            </a:extLst>
          </p:cNvPr>
          <p:cNvSpPr/>
          <p:nvPr/>
        </p:nvSpPr>
        <p:spPr>
          <a:xfrm>
            <a:off x="3540453" y="1602608"/>
            <a:ext cx="8260959" cy="3700911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F3FFC9-757C-64B6-4F85-7ED514CE3357}"/>
              </a:ext>
            </a:extLst>
          </p:cNvPr>
          <p:cNvSpPr/>
          <p:nvPr/>
        </p:nvSpPr>
        <p:spPr>
          <a:xfrm>
            <a:off x="577370" y="1507919"/>
            <a:ext cx="11319355" cy="3888395"/>
          </a:xfrm>
          <a:prstGeom prst="rect">
            <a:avLst/>
          </a:prstGeom>
          <a:noFill/>
          <a:ln w="15875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7042F1E-ABE4-3EE7-E927-9EDDA4654FF5}"/>
              </a:ext>
            </a:extLst>
          </p:cNvPr>
          <p:cNvGrpSpPr/>
          <p:nvPr/>
        </p:nvGrpSpPr>
        <p:grpSpPr>
          <a:xfrm>
            <a:off x="4691916" y="2348204"/>
            <a:ext cx="2052832" cy="518854"/>
            <a:chOff x="6440267" y="2476895"/>
            <a:chExt cx="2052832" cy="51885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2CD673-0EE5-0F59-1DD5-0453ACD8D829}"/>
                </a:ext>
              </a:extLst>
            </p:cNvPr>
            <p:cNvSpPr/>
            <p:nvPr/>
          </p:nvSpPr>
          <p:spPr>
            <a:xfrm>
              <a:off x="6440267" y="2476895"/>
              <a:ext cx="2052832" cy="518854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7200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pic>
          <p:nvPicPr>
            <p:cNvPr id="10" name="Graphic 10" descr="AWS Lambda service icon.">
              <a:extLst>
                <a:ext uri="{FF2B5EF4-FFF2-40B4-BE49-F238E27FC236}">
                  <a16:creationId xmlns:a16="http://schemas.microsoft.com/office/drawing/2014/main" id="{D0CB5360-2F50-BA3C-9C10-098854B648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 bwMode="auto">
            <a:xfrm>
              <a:off x="6518051" y="2556322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5CDE501-79B4-86DE-3216-BD360E62AA99}"/>
                </a:ext>
              </a:extLst>
            </p:cNvPr>
            <p:cNvSpPr txBox="1"/>
            <p:nvPr/>
          </p:nvSpPr>
          <p:spPr>
            <a:xfrm>
              <a:off x="6878050" y="2513383"/>
              <a:ext cx="151224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  <a:t>cache manager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66897EE-A076-5E19-7318-975089D353EC}"/>
              </a:ext>
            </a:extLst>
          </p:cNvPr>
          <p:cNvGrpSpPr/>
          <p:nvPr/>
        </p:nvGrpSpPr>
        <p:grpSpPr>
          <a:xfrm>
            <a:off x="4691916" y="3510410"/>
            <a:ext cx="2107092" cy="518400"/>
            <a:chOff x="612366" y="4202686"/>
            <a:chExt cx="2107092" cy="5184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8B1DCCD-22A5-1FC6-EA7B-CCB37F5EE579}"/>
                </a:ext>
              </a:extLst>
            </p:cNvPr>
            <p:cNvGrpSpPr/>
            <p:nvPr/>
          </p:nvGrpSpPr>
          <p:grpSpPr>
            <a:xfrm>
              <a:off x="612366" y="4202686"/>
              <a:ext cx="2107092" cy="518400"/>
              <a:chOff x="6838092" y="3987527"/>
              <a:chExt cx="2107092" cy="5184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399D5D8-0897-8C27-6E22-1454FAC3ED97}"/>
                  </a:ext>
                </a:extLst>
              </p:cNvPr>
              <p:cNvSpPr/>
              <p:nvPr/>
            </p:nvSpPr>
            <p:spPr>
              <a:xfrm>
                <a:off x="6838092" y="3987527"/>
                <a:ext cx="2052000" cy="518400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45720" rtlCol="0" anchor="t"/>
              <a:lstStyle/>
              <a:p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</a:rPr>
                  <a:t> </a:t>
                </a:r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6" name="TextBox 11">
                <a:extLst>
                  <a:ext uri="{FF2B5EF4-FFF2-40B4-BE49-F238E27FC236}">
                    <a16:creationId xmlns:a16="http://schemas.microsoft.com/office/drawing/2014/main" id="{E8647B87-A779-7B87-578D-3DAFF80FD4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74266" y="4022422"/>
                <a:ext cx="127091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DynamoDB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cached items</a:t>
                </a:r>
              </a:p>
            </p:txBody>
          </p:sp>
        </p:grpSp>
        <p:pic>
          <p:nvPicPr>
            <p:cNvPr id="14" name="Graphic 23" descr="Amazon DynamoDB service icon.">
              <a:extLst>
                <a:ext uri="{FF2B5EF4-FFF2-40B4-BE49-F238E27FC236}">
                  <a16:creationId xmlns:a16="http://schemas.microsoft.com/office/drawing/2014/main" id="{8CEC4128-88C7-7AD6-4971-CC343FC1C1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 bwMode="auto">
            <a:xfrm>
              <a:off x="694244" y="4282450"/>
              <a:ext cx="360000" cy="360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7CF47AA1-AA13-11A7-4068-3B416B8CC4B2}"/>
              </a:ext>
            </a:extLst>
          </p:cNvPr>
          <p:cNvSpPr/>
          <p:nvPr/>
        </p:nvSpPr>
        <p:spPr>
          <a:xfrm>
            <a:off x="10015819" y="1712382"/>
            <a:ext cx="1684136" cy="392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📮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async post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5644EB-3AFC-ED6E-3BAE-3206A60EDCDC}"/>
              </a:ext>
            </a:extLst>
          </p:cNvPr>
          <p:cNvSpPr txBox="1"/>
          <p:nvPr/>
        </p:nvSpPr>
        <p:spPr>
          <a:xfrm>
            <a:off x="178670" y="6248084"/>
            <a:ext cx="5333191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STORAGE CLIENT CACHE @ AWS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7AC85AD-CBC0-CE76-C8D3-A1AB5F236307}"/>
              </a:ext>
            </a:extLst>
          </p:cNvPr>
          <p:cNvSpPr/>
          <p:nvPr/>
        </p:nvSpPr>
        <p:spPr>
          <a:xfrm>
            <a:off x="7118634" y="1713692"/>
            <a:ext cx="1542323" cy="3910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🚀</a:t>
            </a:r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sync call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B7A4BC6-ABDF-C909-6902-05D0B6B0734E}"/>
              </a:ext>
            </a:extLst>
          </p:cNvPr>
          <p:cNvGrpSpPr/>
          <p:nvPr/>
        </p:nvGrpSpPr>
        <p:grpSpPr>
          <a:xfrm>
            <a:off x="8574614" y="236119"/>
            <a:ext cx="1650611" cy="857434"/>
            <a:chOff x="7494698" y="1006814"/>
            <a:chExt cx="783992" cy="857434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9E78A9F-56C4-9F4F-D9A6-B645BABC2F4B}"/>
                </a:ext>
              </a:extLst>
            </p:cNvPr>
            <p:cNvSpPr/>
            <p:nvPr/>
          </p:nvSpPr>
          <p:spPr>
            <a:xfrm>
              <a:off x="7529620" y="1347559"/>
              <a:ext cx="713209" cy="44035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📦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Storage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68E15DD-8682-6519-F14F-BF70B97B338F}"/>
                </a:ext>
              </a:extLst>
            </p:cNvPr>
            <p:cNvSpPr/>
            <p:nvPr/>
          </p:nvSpPr>
          <p:spPr>
            <a:xfrm>
              <a:off x="7494698" y="1006814"/>
              <a:ext cx="783992" cy="857434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4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sp>
        <p:nvSpPr>
          <p:cNvPr id="81" name="Content Placeholder 2">
            <a:extLst>
              <a:ext uri="{FF2B5EF4-FFF2-40B4-BE49-F238E27FC236}">
                <a16:creationId xmlns:a16="http://schemas.microsoft.com/office/drawing/2014/main" id="{279B0CA5-BF18-186B-CDED-BBD73C2BEC8C}"/>
              </a:ext>
            </a:extLst>
          </p:cNvPr>
          <p:cNvSpPr txBox="1">
            <a:spLocks/>
          </p:cNvSpPr>
          <p:nvPr/>
        </p:nvSpPr>
        <p:spPr>
          <a:xfrm>
            <a:off x="6746384" y="2618377"/>
            <a:ext cx="1828230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read remote, decrypt, decompress</a:t>
            </a:r>
          </a:p>
        </p:txBody>
      </p:sp>
      <p:sp>
        <p:nvSpPr>
          <p:cNvPr id="85" name="Content Placeholder 2">
            <a:extLst>
              <a:ext uri="{FF2B5EF4-FFF2-40B4-BE49-F238E27FC236}">
                <a16:creationId xmlns:a16="http://schemas.microsoft.com/office/drawing/2014/main" id="{3E902239-E1FA-2338-02D1-CAC08D91D7AE}"/>
              </a:ext>
            </a:extLst>
          </p:cNvPr>
          <p:cNvSpPr txBox="1">
            <a:spLocks/>
          </p:cNvSpPr>
          <p:nvPr/>
        </p:nvSpPr>
        <p:spPr>
          <a:xfrm>
            <a:off x="5621107" y="4863698"/>
            <a:ext cx="6275618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compress, encrypt, pre-sign, propagate writes in periodic batches  (100 KB)</a:t>
            </a:r>
          </a:p>
        </p:txBody>
      </p:sp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C6E07826-E1BC-D47F-DE37-24261BF29680}"/>
              </a:ext>
            </a:extLst>
          </p:cNvPr>
          <p:cNvSpPr txBox="1">
            <a:spLocks/>
          </p:cNvSpPr>
          <p:nvPr/>
        </p:nvSpPr>
        <p:spPr>
          <a:xfrm>
            <a:off x="3543774" y="2919311"/>
            <a:ext cx="895453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try read,</a:t>
            </a:r>
            <a:b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write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D6BB27E-D3B4-9F92-D83A-0B26D39B45B9}"/>
              </a:ext>
            </a:extLst>
          </p:cNvPr>
          <p:cNvGrpSpPr/>
          <p:nvPr/>
        </p:nvGrpSpPr>
        <p:grpSpPr>
          <a:xfrm>
            <a:off x="958345" y="2344057"/>
            <a:ext cx="2052832" cy="518854"/>
            <a:chOff x="1282078" y="1911990"/>
            <a:chExt cx="2052832" cy="518854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70D6D276-5525-C852-20EB-FB7AD4631743}"/>
                </a:ext>
              </a:extLst>
            </p:cNvPr>
            <p:cNvGrpSpPr/>
            <p:nvPr/>
          </p:nvGrpSpPr>
          <p:grpSpPr>
            <a:xfrm>
              <a:off x="1282078" y="1911990"/>
              <a:ext cx="2052832" cy="518854"/>
              <a:chOff x="6440267" y="2476895"/>
              <a:chExt cx="2052832" cy="518854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A5711643-FD77-72AE-F393-8374874DF93A}"/>
                  </a:ext>
                </a:extLst>
              </p:cNvPr>
              <p:cNvSpPr/>
              <p:nvPr/>
            </p:nvSpPr>
            <p:spPr>
              <a:xfrm>
                <a:off x="6440267" y="2476895"/>
                <a:ext cx="2052832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2EA1839-596C-C5D7-5E7D-34E960066016}"/>
                  </a:ext>
                </a:extLst>
              </p:cNvPr>
              <p:cNvSpPr txBox="1"/>
              <p:nvPr/>
            </p:nvSpPr>
            <p:spPr>
              <a:xfrm>
                <a:off x="6878050" y="2513383"/>
                <a:ext cx="150911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Compute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general handler</a:t>
                </a:r>
              </a:p>
            </p:txBody>
          </p:sp>
        </p:grpSp>
        <p:pic>
          <p:nvPicPr>
            <p:cNvPr id="89" name="Graphic 7" descr="Compute standard category icon.">
              <a:extLst>
                <a:ext uri="{FF2B5EF4-FFF2-40B4-BE49-F238E27FC236}">
                  <a16:creationId xmlns:a16="http://schemas.microsoft.com/office/drawing/2014/main" id="{EB4356DE-2D51-1051-62F5-7E2C0B7172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1359861" y="1989785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4" name="Content Placeholder 2">
            <a:extLst>
              <a:ext uri="{FF2B5EF4-FFF2-40B4-BE49-F238E27FC236}">
                <a16:creationId xmlns:a16="http://schemas.microsoft.com/office/drawing/2014/main" id="{60C1F840-F0AD-311F-60C1-08412AFA0B59}"/>
              </a:ext>
            </a:extLst>
          </p:cNvPr>
          <p:cNvSpPr txBox="1">
            <a:spLocks/>
          </p:cNvSpPr>
          <p:nvPr/>
        </p:nvSpPr>
        <p:spPr>
          <a:xfrm>
            <a:off x="1500461" y="1803254"/>
            <a:ext cx="2583237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read, write for user X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9233AD9-544B-46EF-567E-F5434C36FA4E}"/>
              </a:ext>
            </a:extLst>
          </p:cNvPr>
          <p:cNvGrpSpPr/>
          <p:nvPr/>
        </p:nvGrpSpPr>
        <p:grpSpPr>
          <a:xfrm>
            <a:off x="4691916" y="2931139"/>
            <a:ext cx="2052000" cy="518400"/>
            <a:chOff x="612366" y="4202686"/>
            <a:chExt cx="2052000" cy="518400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BC1B2FB-8598-64BE-1EA6-BD1B80FE7CA3}"/>
                </a:ext>
              </a:extLst>
            </p:cNvPr>
            <p:cNvGrpSpPr/>
            <p:nvPr/>
          </p:nvGrpSpPr>
          <p:grpSpPr>
            <a:xfrm>
              <a:off x="612366" y="4202686"/>
              <a:ext cx="2052000" cy="518400"/>
              <a:chOff x="6838092" y="3987527"/>
              <a:chExt cx="2052000" cy="518400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0019A5A5-0FCB-35E9-86E8-14C4DF86BCDB}"/>
                  </a:ext>
                </a:extLst>
              </p:cNvPr>
              <p:cNvSpPr/>
              <p:nvPr/>
            </p:nvSpPr>
            <p:spPr>
              <a:xfrm>
                <a:off x="6838092" y="3987527"/>
                <a:ext cx="2052000" cy="518400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45720" rtlCol="0" anchor="t"/>
              <a:lstStyle/>
              <a:p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</a:rPr>
                  <a:t> </a:t>
                </a:r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99" name="TextBox 11">
                <a:extLst>
                  <a:ext uri="{FF2B5EF4-FFF2-40B4-BE49-F238E27FC236}">
                    <a16:creationId xmlns:a16="http://schemas.microsoft.com/office/drawing/2014/main" id="{E2D2B3CB-A654-D3C6-C8D4-92C17CEC04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70002" y="4022422"/>
                <a:ext cx="156862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DynamoDB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user storage map</a:t>
                </a:r>
              </a:p>
            </p:txBody>
          </p:sp>
        </p:grpSp>
        <p:pic>
          <p:nvPicPr>
            <p:cNvPr id="97" name="Graphic 23" descr="Amazon DynamoDB service icon.">
              <a:extLst>
                <a:ext uri="{FF2B5EF4-FFF2-40B4-BE49-F238E27FC236}">
                  <a16:creationId xmlns:a16="http://schemas.microsoft.com/office/drawing/2014/main" id="{95D26234-917B-C789-D073-09D8DF0007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 bwMode="auto">
            <a:xfrm>
              <a:off x="694244" y="4282450"/>
              <a:ext cx="360000" cy="360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7EDA7330-6477-0480-96D8-335A9CF53C10}"/>
              </a:ext>
            </a:extLst>
          </p:cNvPr>
          <p:cNvSpPr/>
          <p:nvPr/>
        </p:nvSpPr>
        <p:spPr>
          <a:xfrm>
            <a:off x="3543774" y="5514263"/>
            <a:ext cx="8352951" cy="4330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📦 </a:t>
            </a:r>
            <a:r>
              <a:rPr lang="en-US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storage client cache</a:t>
            </a:r>
            <a:endParaRPr lang="en-US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103" name="Graphic 102" descr="Stream resource icon for the Amazon DynamoDB service.">
            <a:extLst>
              <a:ext uri="{FF2B5EF4-FFF2-40B4-BE49-F238E27FC236}">
                <a16:creationId xmlns:a16="http://schemas.microsoft.com/office/drawing/2014/main" id="{81E39B6F-0371-3B7D-C14D-3758C9DB461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02972" y="3586272"/>
            <a:ext cx="359999" cy="359999"/>
          </a:xfrm>
          <a:prstGeom prst="rect">
            <a:avLst/>
          </a:prstGeom>
        </p:spPr>
      </p:pic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8DAA4BA-52B3-809F-2BF5-8B5DD7E38092}"/>
              </a:ext>
            </a:extLst>
          </p:cNvPr>
          <p:cNvGrpSpPr/>
          <p:nvPr/>
        </p:nvGrpSpPr>
        <p:grpSpPr>
          <a:xfrm>
            <a:off x="4691915" y="4095945"/>
            <a:ext cx="2203313" cy="518854"/>
            <a:chOff x="4537167" y="5246272"/>
            <a:chExt cx="2203313" cy="518854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236767C7-5EDA-E03F-7E13-6802CE65166B}"/>
                </a:ext>
              </a:extLst>
            </p:cNvPr>
            <p:cNvGrpSpPr/>
            <p:nvPr/>
          </p:nvGrpSpPr>
          <p:grpSpPr>
            <a:xfrm>
              <a:off x="4537167" y="5246272"/>
              <a:ext cx="2203313" cy="518854"/>
              <a:chOff x="6440267" y="2476895"/>
              <a:chExt cx="2203313" cy="518854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424367BF-F12F-104A-307D-BBE599000705}"/>
                  </a:ext>
                </a:extLst>
              </p:cNvPr>
              <p:cNvSpPr/>
              <p:nvPr/>
            </p:nvSpPr>
            <p:spPr>
              <a:xfrm>
                <a:off x="6440267" y="2476895"/>
                <a:ext cx="2052832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108" name="Graphic 10" descr="AWS Lambda service icon.">
                <a:extLst>
                  <a:ext uri="{FF2B5EF4-FFF2-40B4-BE49-F238E27FC236}">
                    <a16:creationId xmlns:a16="http://schemas.microsoft.com/office/drawing/2014/main" id="{E4330B48-1539-AC08-41F8-00D102AEDB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 bwMode="auto">
              <a:xfrm>
                <a:off x="6956201" y="2556322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2973BE57-038A-D5B4-CF58-29C087386E51}"/>
                  </a:ext>
                </a:extLst>
              </p:cNvPr>
              <p:cNvSpPr txBox="1"/>
              <p:nvPr/>
            </p:nvSpPr>
            <p:spPr>
              <a:xfrm>
                <a:off x="7316199" y="2513383"/>
                <a:ext cx="13273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SQS, Lambda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batch replicate</a:t>
                </a:r>
              </a:p>
            </p:txBody>
          </p:sp>
        </p:grpSp>
        <p:pic>
          <p:nvPicPr>
            <p:cNvPr id="106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B8DFF0EC-E99F-9424-E1CF-70472B0551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 bwMode="auto">
            <a:xfrm>
              <a:off x="4618464" y="5325699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B102BF7F-4481-BB00-4461-B1D02AA88A69}"/>
              </a:ext>
            </a:extLst>
          </p:cNvPr>
          <p:cNvGrpSpPr/>
          <p:nvPr/>
        </p:nvGrpSpPr>
        <p:grpSpPr>
          <a:xfrm>
            <a:off x="6825797" y="3510410"/>
            <a:ext cx="2052831" cy="518854"/>
            <a:chOff x="6399966" y="2708142"/>
            <a:chExt cx="2052831" cy="518854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D09CA47C-A2C7-7978-61C4-CAFA8B2686F3}"/>
                </a:ext>
              </a:extLst>
            </p:cNvPr>
            <p:cNvSpPr/>
            <p:nvPr/>
          </p:nvSpPr>
          <p:spPr>
            <a:xfrm>
              <a:off x="6399966" y="2708142"/>
              <a:ext cx="2052831" cy="518854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7200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pic>
          <p:nvPicPr>
            <p:cNvPr id="112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086BF6FE-55AE-70BA-6200-8C32DABB4A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 bwMode="auto">
            <a:xfrm>
              <a:off x="6481393" y="2782522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" name="TextBox 9">
              <a:extLst>
                <a:ext uri="{FF2B5EF4-FFF2-40B4-BE49-F238E27FC236}">
                  <a16:creationId xmlns:a16="http://schemas.microsoft.com/office/drawing/2014/main" id="{064A7943-516F-F88C-5FC3-3B4D9A47CB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8656" y="2742618"/>
              <a:ext cx="15969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Amazon S3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  <a:ea typeface="Amazon Ember" panose="020B0603020204020204" pitchFamily="34" charset="0"/>
                  <a:cs typeface="Arial" panose="020B0604020202020204" pitchFamily="34" charset="0"/>
                </a:rPr>
                <a:t>large cached items</a:t>
              </a:r>
            </a:p>
          </p:txBody>
        </p:sp>
      </p:grpSp>
      <p:sp>
        <p:nvSpPr>
          <p:cNvPr id="117" name="Content Placeholder 2">
            <a:extLst>
              <a:ext uri="{FF2B5EF4-FFF2-40B4-BE49-F238E27FC236}">
                <a16:creationId xmlns:a16="http://schemas.microsoft.com/office/drawing/2014/main" id="{43FA3185-1330-1B99-A64E-0FDDC344B7F0}"/>
              </a:ext>
            </a:extLst>
          </p:cNvPr>
          <p:cNvSpPr txBox="1">
            <a:spLocks/>
          </p:cNvSpPr>
          <p:nvPr/>
        </p:nvSpPr>
        <p:spPr>
          <a:xfrm>
            <a:off x="9399920" y="2904741"/>
            <a:ext cx="1512234" cy="9541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download </a:t>
            </a:r>
            <a:br>
              <a:rPr lang="en-US" alt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</a:br>
            <a:r>
              <a:rPr lang="en-US" alt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from </a:t>
            </a:r>
            <a:br>
              <a:rPr lang="en-US" alt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</a:br>
            <a:r>
              <a:rPr lang="en-US" alt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pre-signed </a:t>
            </a:r>
            <a:br>
              <a:rPr lang="en-US" alt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</a:br>
            <a:r>
              <a:rPr lang="en-US" alt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URL</a:t>
            </a:r>
            <a:endParaRPr lang="en-US" sz="14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D5C8F151-5C45-158A-ECE2-61D4E4CD002C}"/>
              </a:ext>
            </a:extLst>
          </p:cNvPr>
          <p:cNvSpPr>
            <a:spLocks noChangeAspect="1"/>
          </p:cNvSpPr>
          <p:nvPr/>
        </p:nvSpPr>
        <p:spPr>
          <a:xfrm>
            <a:off x="1594288" y="1659851"/>
            <a:ext cx="286369" cy="28636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86A22039-D4F1-A0C1-0464-C71324705724}"/>
              </a:ext>
            </a:extLst>
          </p:cNvPr>
          <p:cNvSpPr>
            <a:spLocks noChangeAspect="1"/>
          </p:cNvSpPr>
          <p:nvPr/>
        </p:nvSpPr>
        <p:spPr>
          <a:xfrm>
            <a:off x="8000983" y="2327587"/>
            <a:ext cx="286369" cy="28636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017DA2E4-500E-5D2D-554B-AC2B62B4E9C6}"/>
              </a:ext>
            </a:extLst>
          </p:cNvPr>
          <p:cNvSpPr>
            <a:spLocks noChangeAspect="1"/>
          </p:cNvSpPr>
          <p:nvPr/>
        </p:nvSpPr>
        <p:spPr>
          <a:xfrm>
            <a:off x="4040415" y="2616346"/>
            <a:ext cx="286369" cy="28636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F7AE2DCE-EF75-2DAC-09DE-25D32C3CB9EF}"/>
              </a:ext>
            </a:extLst>
          </p:cNvPr>
          <p:cNvSpPr>
            <a:spLocks noChangeAspect="1"/>
          </p:cNvSpPr>
          <p:nvPr/>
        </p:nvSpPr>
        <p:spPr>
          <a:xfrm>
            <a:off x="5327176" y="4716494"/>
            <a:ext cx="286369" cy="286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5FBD5D17-BFBA-90AD-6E3E-AD1E862AD1D9}"/>
              </a:ext>
            </a:extLst>
          </p:cNvPr>
          <p:cNvSpPr>
            <a:spLocks noChangeAspect="1"/>
          </p:cNvSpPr>
          <p:nvPr/>
        </p:nvSpPr>
        <p:spPr>
          <a:xfrm>
            <a:off x="9474592" y="2618377"/>
            <a:ext cx="286369" cy="286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EF8144AD-88D6-6413-7A80-DE67B5A7DA44}"/>
              </a:ext>
            </a:extLst>
          </p:cNvPr>
          <p:cNvSpPr>
            <a:spLocks noChangeAspect="1"/>
          </p:cNvSpPr>
          <p:nvPr/>
        </p:nvSpPr>
        <p:spPr>
          <a:xfrm>
            <a:off x="7980965" y="4132428"/>
            <a:ext cx="286369" cy="286369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31" name="Content Placeholder 2">
            <a:extLst>
              <a:ext uri="{FF2B5EF4-FFF2-40B4-BE49-F238E27FC236}">
                <a16:creationId xmlns:a16="http://schemas.microsoft.com/office/drawing/2014/main" id="{CACC7238-97B4-84B8-DA86-5856EA88A505}"/>
              </a:ext>
            </a:extLst>
          </p:cNvPr>
          <p:cNvSpPr txBox="1">
            <a:spLocks/>
          </p:cNvSpPr>
          <p:nvPr/>
        </p:nvSpPr>
        <p:spPr>
          <a:xfrm>
            <a:off x="8251968" y="4121511"/>
            <a:ext cx="172535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delete expired TTLs</a:t>
            </a:r>
          </a:p>
        </p:txBody>
      </p:sp>
      <p:pic>
        <p:nvPicPr>
          <p:cNvPr id="132" name="Graphic 131">
            <a:extLst>
              <a:ext uri="{FF2B5EF4-FFF2-40B4-BE49-F238E27FC236}">
                <a16:creationId xmlns:a16="http://schemas.microsoft.com/office/drawing/2014/main" id="{B24D20F3-F860-B7C4-A1FC-96962899DD7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590185" y="1507241"/>
            <a:ext cx="381000" cy="381000"/>
          </a:xfrm>
          <a:prstGeom prst="rect">
            <a:avLst/>
          </a:prstGeom>
        </p:spPr>
      </p:pic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74A87D8-4407-4882-5C0B-FB5C35B11357}"/>
              </a:ext>
            </a:extLst>
          </p:cNvPr>
          <p:cNvSpPr txBox="1">
            <a:spLocks/>
          </p:cNvSpPr>
          <p:nvPr/>
        </p:nvSpPr>
        <p:spPr>
          <a:xfrm>
            <a:off x="4591251" y="744307"/>
            <a:ext cx="1875207" cy="73866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download referenced large items, decrypt, decompress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094D294-BB53-522E-6DC7-025ADB64B961}"/>
              </a:ext>
            </a:extLst>
          </p:cNvPr>
          <p:cNvSpPr>
            <a:spLocks noChangeAspect="1"/>
          </p:cNvSpPr>
          <p:nvPr/>
        </p:nvSpPr>
        <p:spPr>
          <a:xfrm>
            <a:off x="6088352" y="457484"/>
            <a:ext cx="286369" cy="28636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6095EF1-7A13-7F69-F4AE-FA6C25F7AC97}"/>
              </a:ext>
            </a:extLst>
          </p:cNvPr>
          <p:cNvSpPr>
            <a:spLocks noChangeAspect="1"/>
          </p:cNvSpPr>
          <p:nvPr/>
        </p:nvSpPr>
        <p:spPr>
          <a:xfrm>
            <a:off x="4046988" y="3460795"/>
            <a:ext cx="286369" cy="286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FD9AF4E-E193-3891-998A-1C863C7AE2E7}"/>
              </a:ext>
            </a:extLst>
          </p:cNvPr>
          <p:cNvSpPr>
            <a:spLocks noChangeAspect="1"/>
          </p:cNvSpPr>
          <p:nvPr/>
        </p:nvSpPr>
        <p:spPr>
          <a:xfrm>
            <a:off x="1594288" y="1996007"/>
            <a:ext cx="286369" cy="286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A5C079-5254-9638-26AF-1393F85A1554}"/>
              </a:ext>
            </a:extLst>
          </p:cNvPr>
          <p:cNvSpPr txBox="1"/>
          <p:nvPr/>
        </p:nvSpPr>
        <p:spPr>
          <a:xfrm>
            <a:off x="6314173" y="2358191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8C63F1-D953-F1DA-8C07-2BB5196F79E2}"/>
              </a:ext>
            </a:extLst>
          </p:cNvPr>
          <p:cNvSpPr txBox="1"/>
          <p:nvPr/>
        </p:nvSpPr>
        <p:spPr>
          <a:xfrm>
            <a:off x="7838746" y="488110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cxnSp>
        <p:nvCxnSpPr>
          <p:cNvPr id="17" name="Straight Arrow Connector 61">
            <a:extLst>
              <a:ext uri="{FF2B5EF4-FFF2-40B4-BE49-F238E27FC236}">
                <a16:creationId xmlns:a16="http://schemas.microsoft.com/office/drawing/2014/main" id="{E399808F-0E12-F79F-2B05-758E3CD6500E}"/>
              </a:ext>
            </a:extLst>
          </p:cNvPr>
          <p:cNvCxnSpPr>
            <a:cxnSpLocks/>
            <a:stCxn id="9" idx="3"/>
            <a:endCxn id="57" idx="2"/>
          </p:cNvCxnSpPr>
          <p:nvPr/>
        </p:nvCxnSpPr>
        <p:spPr>
          <a:xfrm flipV="1">
            <a:off x="6744748" y="2104782"/>
            <a:ext cx="1145048" cy="502849"/>
          </a:xfrm>
          <a:prstGeom prst="bentConnector2">
            <a:avLst/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61">
            <a:extLst>
              <a:ext uri="{FF2B5EF4-FFF2-40B4-BE49-F238E27FC236}">
                <a16:creationId xmlns:a16="http://schemas.microsoft.com/office/drawing/2014/main" id="{49BDE994-C9C0-F03C-BFC6-254738B6279C}"/>
              </a:ext>
            </a:extLst>
          </p:cNvPr>
          <p:cNvCxnSpPr>
            <a:cxnSpLocks/>
            <a:stCxn id="107" idx="2"/>
            <a:endCxn id="23" idx="2"/>
          </p:cNvCxnSpPr>
          <p:nvPr/>
        </p:nvCxnSpPr>
        <p:spPr>
          <a:xfrm rot="5400000" flipH="1" flipV="1">
            <a:off x="7033100" y="790013"/>
            <a:ext cx="2510017" cy="5139556"/>
          </a:xfrm>
          <a:prstGeom prst="bentConnector3">
            <a:avLst>
              <a:gd name="adj1" fmla="val -9108"/>
            </a:avLst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1">
            <a:extLst>
              <a:ext uri="{FF2B5EF4-FFF2-40B4-BE49-F238E27FC236}">
                <a16:creationId xmlns:a16="http://schemas.microsoft.com/office/drawing/2014/main" id="{38C61138-1771-8EEE-AC29-74A9548FEB02}"/>
              </a:ext>
            </a:extLst>
          </p:cNvPr>
          <p:cNvCxnSpPr>
            <a:cxnSpLocks/>
            <a:stCxn id="57" idx="0"/>
            <a:endCxn id="60" idx="1"/>
          </p:cNvCxnSpPr>
          <p:nvPr/>
        </p:nvCxnSpPr>
        <p:spPr>
          <a:xfrm rot="5400000" flipH="1" flipV="1">
            <a:off x="7707777" y="846855"/>
            <a:ext cx="1048856" cy="684818"/>
          </a:xfrm>
          <a:prstGeom prst="bentConnector2">
            <a:avLst/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1">
            <a:extLst>
              <a:ext uri="{FF2B5EF4-FFF2-40B4-BE49-F238E27FC236}">
                <a16:creationId xmlns:a16="http://schemas.microsoft.com/office/drawing/2014/main" id="{3BF4D446-EDC0-DCE4-625C-D115CEEF3412}"/>
              </a:ext>
            </a:extLst>
          </p:cNvPr>
          <p:cNvCxnSpPr>
            <a:cxnSpLocks/>
            <a:stCxn id="23" idx="0"/>
            <a:endCxn id="60" idx="3"/>
          </p:cNvCxnSpPr>
          <p:nvPr/>
        </p:nvCxnSpPr>
        <p:spPr>
          <a:xfrm rot="16200000" flipV="1">
            <a:off x="10017783" y="872278"/>
            <a:ext cx="1047546" cy="632662"/>
          </a:xfrm>
          <a:prstGeom prst="bentConnector2">
            <a:avLst/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2" name="Straight Arrow Connector 61">
            <a:extLst>
              <a:ext uri="{FF2B5EF4-FFF2-40B4-BE49-F238E27FC236}">
                <a16:creationId xmlns:a16="http://schemas.microsoft.com/office/drawing/2014/main" id="{F0B61E45-0701-4970-0E5C-DF7A06153A09}"/>
              </a:ext>
            </a:extLst>
          </p:cNvPr>
          <p:cNvCxnSpPr>
            <a:cxnSpLocks/>
            <a:stCxn id="9" idx="1"/>
            <a:endCxn id="15" idx="1"/>
          </p:cNvCxnSpPr>
          <p:nvPr/>
        </p:nvCxnSpPr>
        <p:spPr>
          <a:xfrm rot="10800000" flipV="1">
            <a:off x="4691916" y="2607630"/>
            <a:ext cx="12700" cy="1161979"/>
          </a:xfrm>
          <a:prstGeom prst="bentConnector3">
            <a:avLst>
              <a:gd name="adj1" fmla="val 1800000"/>
            </a:avLst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Straight Arrow Connector 61">
            <a:extLst>
              <a:ext uri="{FF2B5EF4-FFF2-40B4-BE49-F238E27FC236}">
                <a16:creationId xmlns:a16="http://schemas.microsoft.com/office/drawing/2014/main" id="{5F2976D3-AC6D-A90D-5A82-EA74B3E14A20}"/>
              </a:ext>
            </a:extLst>
          </p:cNvPr>
          <p:cNvCxnSpPr>
            <a:cxnSpLocks/>
            <a:stCxn id="78" idx="0"/>
            <a:endCxn id="9" idx="0"/>
          </p:cNvCxnSpPr>
          <p:nvPr/>
        </p:nvCxnSpPr>
        <p:spPr>
          <a:xfrm rot="16200000" flipH="1">
            <a:off x="3849472" y="479345"/>
            <a:ext cx="4147" cy="3733571"/>
          </a:xfrm>
          <a:prstGeom prst="bentConnector3">
            <a:avLst>
              <a:gd name="adj1" fmla="val -5512419"/>
            </a:avLst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Arrow Connector 61">
            <a:extLst>
              <a:ext uri="{FF2B5EF4-FFF2-40B4-BE49-F238E27FC236}">
                <a16:creationId xmlns:a16="http://schemas.microsoft.com/office/drawing/2014/main" id="{A4FB0147-636D-AF45-D603-31BEBC54D0F3}"/>
              </a:ext>
            </a:extLst>
          </p:cNvPr>
          <p:cNvCxnSpPr>
            <a:cxnSpLocks/>
            <a:stCxn id="60" idx="2"/>
            <a:endCxn id="111" idx="3"/>
          </p:cNvCxnSpPr>
          <p:nvPr/>
        </p:nvCxnSpPr>
        <p:spPr>
          <a:xfrm rot="5400000">
            <a:off x="7801132" y="2171049"/>
            <a:ext cx="2676284" cy="521292"/>
          </a:xfrm>
          <a:prstGeom prst="bentConnector2">
            <a:avLst/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6" name="Straight Arrow Connector 61">
            <a:extLst>
              <a:ext uri="{FF2B5EF4-FFF2-40B4-BE49-F238E27FC236}">
                <a16:creationId xmlns:a16="http://schemas.microsoft.com/office/drawing/2014/main" id="{F5CA17CB-6441-DF4E-DF9C-A9508AD1256A}"/>
              </a:ext>
            </a:extLst>
          </p:cNvPr>
          <p:cNvCxnSpPr>
            <a:cxnSpLocks/>
            <a:stCxn id="107" idx="3"/>
            <a:endCxn id="111" idx="2"/>
          </p:cNvCxnSpPr>
          <p:nvPr/>
        </p:nvCxnSpPr>
        <p:spPr>
          <a:xfrm flipV="1">
            <a:off x="6744747" y="4029264"/>
            <a:ext cx="1107466" cy="326108"/>
          </a:xfrm>
          <a:prstGeom prst="bentConnector2">
            <a:avLst/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61">
            <a:extLst>
              <a:ext uri="{FF2B5EF4-FFF2-40B4-BE49-F238E27FC236}">
                <a16:creationId xmlns:a16="http://schemas.microsoft.com/office/drawing/2014/main" id="{2603E646-A9B3-8E14-0D48-C9050178170F}"/>
              </a:ext>
            </a:extLst>
          </p:cNvPr>
          <p:cNvCxnSpPr>
            <a:cxnSpLocks/>
            <a:stCxn id="33" idx="0"/>
            <a:endCxn id="35" idx="1"/>
          </p:cNvCxnSpPr>
          <p:nvPr/>
        </p:nvCxnSpPr>
        <p:spPr>
          <a:xfrm rot="5400000" flipH="1" flipV="1">
            <a:off x="6309895" y="829341"/>
            <a:ext cx="1685415" cy="1372287"/>
          </a:xfrm>
          <a:prstGeom prst="bentConnector2">
            <a:avLst/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586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47351</TotalTime>
  <Words>233</Words>
  <Application>Microsoft Macintosh PowerPoint</Application>
  <PresentationFormat>Widescreen</PresentationFormat>
  <Paragraphs>87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Amazon Ember</vt:lpstr>
      <vt:lpstr>Amazon Ember Display</vt:lpstr>
      <vt:lpstr>Segoe UI</vt:lpstr>
      <vt:lpstr>Wingdings</vt:lpstr>
      <vt:lpstr>AWS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155</cp:revision>
  <dcterms:created xsi:type="dcterms:W3CDTF">2022-10-07T16:14:37Z</dcterms:created>
  <dcterms:modified xsi:type="dcterms:W3CDTF">2025-04-22T20:23:32Z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2025-04-22T20:23:32Z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3a50ff92-e40b-46f6-b4eb-c1a821740062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