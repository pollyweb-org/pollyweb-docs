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1830" r:id="rId2"/>
    <p:sldId id="1725" r:id="rId3"/>
    <p:sldId id="1724" r:id="rId4"/>
    <p:sldId id="1832" r:id="rId5"/>
    <p:sldId id="1833" r:id="rId6"/>
  </p:sldIdLst>
  <p:sldSz cx="12192000" cy="6858000"/>
  <p:notesSz cx="6858000" cy="9144000"/>
  <p:embeddedFontLst>
    <p:embeddedFont>
      <p:font typeface="Amazon Ember" panose="020B0603020204020204" pitchFamily="34" charset="0"/>
      <p:regular r:id="rId9"/>
      <p:bold r:id="rId10"/>
      <p:italic r:id="rId11"/>
      <p:boldItalic r:id="rId12"/>
    </p:embeddedFont>
    <p:embeddedFont>
      <p:font typeface="Amazon Ember Display" panose="020F0603020204020204" pitchFamily="34" charset="0"/>
      <p:regular r:id="rId13"/>
      <p:bold r:id="rId14"/>
      <p:italic r:id="rId15"/>
      <p:boldItalic r:id="rId16"/>
    </p:embeddedFont>
    <p:embeddedFont>
      <p:font typeface="Segoe UI" panose="020B0502040204020203" pitchFamily="34" charset="0"/>
      <p:regular r:id="rId17"/>
      <p:bold r:id="rId18"/>
      <p:italic r:id="rId19"/>
      <p:boldItalic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🔎 User Search" id="{25C240E7-9785-5442-AC31-077BA8F0CCC1}">
          <p14:sldIdLst>
            <p14:sldId id="1830"/>
            <p14:sldId id="1725"/>
            <p14:sldId id="1724"/>
            <p14:sldId id="1832"/>
            <p14:sldId id="1833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a Sylcott" initials="AS" lastIdx="1" clrIdx="0">
    <p:extLst>
      <p:ext uri="{19B8F6BF-5375-455C-9EA6-DF929625EA0E}">
        <p15:presenceInfo xmlns:p15="http://schemas.microsoft.com/office/powerpoint/2012/main" userId="a657808d9f8d3c9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5200"/>
    <a:srgbClr val="AB7942"/>
    <a:srgbClr val="411256"/>
    <a:srgbClr val="C0884B"/>
    <a:srgbClr val="152784"/>
    <a:srgbClr val="ED7100"/>
    <a:srgbClr val="8C4FFF"/>
    <a:srgbClr val="CA24D2"/>
    <a:srgbClr val="BF22C6"/>
    <a:srgbClr val="B821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2DE63D5-997A-4646-A377-4702673A728D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60" autoAdjust="0"/>
    <p:restoredTop sz="96966" autoAdjust="0"/>
  </p:normalViewPr>
  <p:slideViewPr>
    <p:cSldViewPr snapToGrid="0">
      <p:cViewPr varScale="1">
        <p:scale>
          <a:sx n="128" d="100"/>
          <a:sy n="128" d="100"/>
        </p:scale>
        <p:origin x="520" y="1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40" d="100"/>
        <a:sy n="140" d="100"/>
      </p:scale>
      <p:origin x="0" y="0"/>
    </p:cViewPr>
  </p:sorterViewPr>
  <p:notesViewPr>
    <p:cSldViewPr snapToGrid="0" showGuides="1">
      <p:cViewPr varScale="1">
        <p:scale>
          <a:sx n="118" d="100"/>
          <a:sy n="118" d="100"/>
        </p:scale>
        <p:origin x="5160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viewProps" Target="viewProps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/>
              <a:pPr algn="ctr"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/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B93CD-5B90-0A1F-7D65-414FD489B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741C3E-F3A5-03F0-650B-960A0642F6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DDE66A-499F-4C47-4DE0-99E5EB2DEE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BABF6102-3AE7-4CF0-4AAD-3CA516EC56F1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E4E11-E5BA-773F-4D57-25037C523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ea typeface="Segoe UI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8FEB02A-7942-7166-2948-354B2E86D954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542F96DF-134D-4F6A-BFA6-E032E504EEEB}" type="datetime8">
              <a:rPr lang="en-US" smtClean="0"/>
              <a:t>9/6/25 12:25 PM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E7CC49-75B5-C975-67E5-C0C5D8BEDF0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36753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8B648F-DF9C-5499-16F1-9A967BAC4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3CA654-C0EA-E443-28B0-A6CFBDB981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52B16F-9A36-6622-A395-93CDF41C91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09C9CC92-2ACD-C740-AD7B-DE84B15E203D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4149DD-5699-A4C5-AFD6-065EA9FAC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ea typeface="Segoe UI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BAB5483-EBF5-A989-79BF-F7B4F75076E0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542F96DF-134D-4F6A-BFA6-E032E504EEEB}" type="datetime8">
              <a:rPr lang="en-US" smtClean="0"/>
              <a:t>9/6/25 12:25 PM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1E5F56-A65A-0EC1-3990-A96028B97BF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55805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6481B-A0FD-4A52-C9FC-E7EEE75B6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BF656D-71E9-E146-176A-9E7E9AEBB1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D91C94-1CFA-D334-EBAC-24A0504BB9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8054E7-94A7-DD9E-4433-403B5A65B1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6469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1C503-4D35-7C14-D2E0-4AC96D9DF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B3AAA7-3668-BC78-A4CC-D649D96F5B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25FBED-6A8F-00FD-7CB6-EF290365E0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C5DDE0-8266-E39F-CFDA-F9F71A0818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4628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81DE984-16AE-31CB-F6EB-9E948FF26CFC}"/>
              </a:ext>
            </a:extLst>
          </p:cNvPr>
          <p:cNvSpPr/>
          <p:nvPr userDrawn="1"/>
        </p:nvSpPr>
        <p:spPr>
          <a:xfrm>
            <a:off x="-8546" y="-8547"/>
            <a:ext cx="12238646" cy="6895121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45720" tIns="45720" rIns="45720"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0002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11489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7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  <a:lvl2pPr marL="5143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2pPr>
      <a:lvl3pPr marL="8572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mazon Ember" panose="020B0603020204020204" pitchFamily="34" charset="0"/>
        <a:buChar char="–"/>
        <a:defRPr sz="18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3pPr>
      <a:lvl4pPr marL="10858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4pPr>
      <a:lvl5pPr marL="13144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40" userDrawn="1">
          <p15:clr>
            <a:srgbClr val="F26B43"/>
          </p15:clr>
        </p15:guide>
        <p15:guide id="2" pos="7440" userDrawn="1">
          <p15:clr>
            <a:srgbClr val="F26B43"/>
          </p15:clr>
        </p15:guide>
        <p15:guide id="3" orient="horz" pos="192" userDrawn="1">
          <p15:clr>
            <a:srgbClr val="F26B43"/>
          </p15:clr>
        </p15:guide>
        <p15:guide id="4" orient="horz" pos="3936" userDrawn="1">
          <p15:clr>
            <a:srgbClr val="F26B43"/>
          </p15:clr>
        </p15:guide>
        <p15:guide id="5" orient="horz" pos="9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A5AA6-8D64-00AB-CC13-CECF23712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C73948-B482-EB58-87B2-5DF07CA28F64}"/>
              </a:ext>
            </a:extLst>
          </p:cNvPr>
          <p:cNvSpPr txBox="1"/>
          <p:nvPr/>
        </p:nvSpPr>
        <p:spPr>
          <a:xfrm>
            <a:off x="1521508" y="1613118"/>
            <a:ext cx="9148983" cy="3631763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GB" sz="11500" dirty="0">
                <a:solidFill>
                  <a:srgbClr val="FFFF00"/>
                </a:solidFill>
              </a:rPr>
              <a:t>🔎 User Search</a:t>
            </a:r>
          </a:p>
        </p:txBody>
      </p:sp>
    </p:spTree>
    <p:extLst>
      <p:ext uri="{BB962C8B-B14F-4D97-AF65-F5344CB8AC3E}">
        <p14:creationId xmlns:p14="http://schemas.microsoft.com/office/powerpoint/2010/main" val="2817032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D3196-82B8-D245-5072-C719DD83D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roup 52">
            <a:extLst>
              <a:ext uri="{FF2B5EF4-FFF2-40B4-BE49-F238E27FC236}">
                <a16:creationId xmlns:a16="http://schemas.microsoft.com/office/drawing/2014/main" id="{E0CCC76A-76A9-9BDC-C34E-EE4501C73EB8}"/>
              </a:ext>
            </a:extLst>
          </p:cNvPr>
          <p:cNvGrpSpPr/>
          <p:nvPr/>
        </p:nvGrpSpPr>
        <p:grpSpPr>
          <a:xfrm>
            <a:off x="4264418" y="2115324"/>
            <a:ext cx="2998664" cy="1038741"/>
            <a:chOff x="7520892" y="1006813"/>
            <a:chExt cx="664436" cy="1038741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0A3DCA27-B9B6-2312-1451-4CAC066335BA}"/>
                </a:ext>
              </a:extLst>
            </p:cNvPr>
            <p:cNvSpPr/>
            <p:nvPr/>
          </p:nvSpPr>
          <p:spPr>
            <a:xfrm>
              <a:off x="7538137" y="1386857"/>
              <a:ext cx="628958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🔎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Finder</a:t>
              </a: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65F48375-DCB7-C352-0D0C-8E801603939F}"/>
                </a:ext>
              </a:extLst>
            </p:cNvPr>
            <p:cNvSpPr/>
            <p:nvPr/>
          </p:nvSpPr>
          <p:spPr>
            <a:xfrm>
              <a:off x="7520892" y="1006813"/>
              <a:ext cx="664436" cy="1038741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</p:grpSp>
      <p:cxnSp>
        <p:nvCxnSpPr>
          <p:cNvPr id="72" name="Straight Arrow Connector 12">
            <a:extLst>
              <a:ext uri="{FF2B5EF4-FFF2-40B4-BE49-F238E27FC236}">
                <a16:creationId xmlns:a16="http://schemas.microsoft.com/office/drawing/2014/main" id="{0502261A-4F20-3DFD-4EA7-B211B22A2BB6}"/>
              </a:ext>
            </a:extLst>
          </p:cNvPr>
          <p:cNvCxnSpPr>
            <a:cxnSpLocks/>
            <a:stCxn id="65" idx="3"/>
            <a:endCxn id="47" idx="0"/>
          </p:cNvCxnSpPr>
          <p:nvPr/>
        </p:nvCxnSpPr>
        <p:spPr>
          <a:xfrm>
            <a:off x="2899425" y="918453"/>
            <a:ext cx="2189752" cy="1202070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79" name="Group 78">
            <a:extLst>
              <a:ext uri="{FF2B5EF4-FFF2-40B4-BE49-F238E27FC236}">
                <a16:creationId xmlns:a16="http://schemas.microsoft.com/office/drawing/2014/main" id="{EA3E18F0-03FB-281F-E0DE-426F23A93984}"/>
              </a:ext>
            </a:extLst>
          </p:cNvPr>
          <p:cNvGrpSpPr/>
          <p:nvPr/>
        </p:nvGrpSpPr>
        <p:grpSpPr>
          <a:xfrm>
            <a:off x="9649039" y="1976286"/>
            <a:ext cx="1988691" cy="1316816"/>
            <a:chOff x="7388710" y="3835400"/>
            <a:chExt cx="1988691" cy="1316816"/>
          </a:xfrm>
        </p:grpSpPr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6A3E9BA0-2492-DF3C-EFBE-4F0051A56527}"/>
                </a:ext>
              </a:extLst>
            </p:cNvPr>
            <p:cNvGrpSpPr/>
            <p:nvPr/>
          </p:nvGrpSpPr>
          <p:grpSpPr>
            <a:xfrm>
              <a:off x="7388710" y="3835400"/>
              <a:ext cx="1988691" cy="1316816"/>
              <a:chOff x="6139542" y="693286"/>
              <a:chExt cx="1988691" cy="1316816"/>
            </a:xfrm>
          </p:grpSpPr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32B0ACBA-B8A4-7DC8-2C71-FBF213C4828B}"/>
                  </a:ext>
                </a:extLst>
              </p:cNvPr>
              <p:cNvSpPr/>
              <p:nvPr/>
            </p:nvSpPr>
            <p:spPr>
              <a:xfrm>
                <a:off x="6236556" y="1351846"/>
                <a:ext cx="1791009" cy="56218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🧑‍🦰</a:t>
                </a:r>
                <a:r>
                  <a:rPr lang="en-GB" sz="2400" dirty="0">
                    <a:solidFill>
                      <a:sysClr val="windowText" lastClr="000000"/>
                    </a:solidFill>
                    <a:latin typeface="+mj-lt"/>
                    <a:cs typeface="Arial" panose="020B0604020202020204" pitchFamily="34" charset="0"/>
                  </a:rPr>
                  <a:t> Wallet</a:t>
                </a:r>
              </a:p>
            </p:txBody>
          </p:sp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82A35DC5-2B51-A6AE-CCC8-15819FBEF2E8}"/>
                  </a:ext>
                </a:extLst>
              </p:cNvPr>
              <p:cNvSpPr/>
              <p:nvPr/>
            </p:nvSpPr>
            <p:spPr>
              <a:xfrm>
                <a:off x="6139542" y="693286"/>
                <a:ext cx="1988691" cy="1316816"/>
              </a:xfrm>
              <a:prstGeom prst="rect">
                <a:avLst/>
              </a:prstGeom>
              <a:noFill/>
              <a:ln w="12700">
                <a:solidFill>
                  <a:srgbClr val="5A6B86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36000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endParaRPr>
              </a:p>
            </p:txBody>
          </p:sp>
        </p:grp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7B65D1BA-50AB-2E0A-8E43-E8E75340E54A}"/>
                </a:ext>
              </a:extLst>
            </p:cNvPr>
            <p:cNvSpPr/>
            <p:nvPr/>
          </p:nvSpPr>
          <p:spPr>
            <a:xfrm>
              <a:off x="8122107" y="3928533"/>
              <a:ext cx="530040" cy="48205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📣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EDE72ECA-960D-502B-ABA4-D974D09A072F}"/>
                </a:ext>
              </a:extLst>
            </p:cNvPr>
            <p:cNvSpPr/>
            <p:nvPr/>
          </p:nvSpPr>
          <p:spPr>
            <a:xfrm>
              <a:off x="8754380" y="3928533"/>
              <a:ext cx="530040" cy="471542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GB" sz="3200" baseline="-10000" dirty="0"/>
                <a:t>📱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6B575C73-B3C2-76F1-3CE4-A7B74BA1E6A5}"/>
                </a:ext>
              </a:extLst>
            </p:cNvPr>
            <p:cNvSpPr/>
            <p:nvPr/>
          </p:nvSpPr>
          <p:spPr>
            <a:xfrm>
              <a:off x="7482152" y="3928533"/>
              <a:ext cx="530040" cy="48205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🤵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</p:grpSp>
      <p:sp>
        <p:nvSpPr>
          <p:cNvPr id="92" name="Content Placeholder 2">
            <a:extLst>
              <a:ext uri="{FF2B5EF4-FFF2-40B4-BE49-F238E27FC236}">
                <a16:creationId xmlns:a16="http://schemas.microsoft.com/office/drawing/2014/main" id="{210C5AA3-8DEF-BABD-CB76-D9B69F52583E}"/>
              </a:ext>
            </a:extLst>
          </p:cNvPr>
          <p:cNvSpPr txBox="1">
            <a:spLocks/>
          </p:cNvSpPr>
          <p:nvPr/>
        </p:nvSpPr>
        <p:spPr>
          <a:xfrm>
            <a:off x="7892530" y="2773752"/>
            <a:ext cx="1617438" cy="70788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search in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{context📍}</a:t>
            </a:r>
          </a:p>
        </p:txBody>
      </p:sp>
      <p:sp>
        <p:nvSpPr>
          <p:cNvPr id="93" name="Rounded Rectangle 92">
            <a:extLst>
              <a:ext uri="{FF2B5EF4-FFF2-40B4-BE49-F238E27FC236}">
                <a16:creationId xmlns:a16="http://schemas.microsoft.com/office/drawing/2014/main" id="{3F70390B-4AD7-44E9-282C-0D3D0BC696B5}"/>
              </a:ext>
            </a:extLst>
          </p:cNvPr>
          <p:cNvSpPr/>
          <p:nvPr/>
        </p:nvSpPr>
        <p:spPr>
          <a:xfrm>
            <a:off x="7522861" y="2793807"/>
            <a:ext cx="360000" cy="3600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B69F381A-3C6E-E7EC-92E8-7BA7609D1997}"/>
              </a:ext>
            </a:extLst>
          </p:cNvPr>
          <p:cNvSpPr txBox="1"/>
          <p:nvPr/>
        </p:nvSpPr>
        <p:spPr>
          <a:xfrm>
            <a:off x="2819469" y="891835"/>
            <a:ext cx="2131287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36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🌬️</a:t>
            </a:r>
            <a:r>
              <a:rPr lang="en-GB" sz="1800" dirty="0"/>
              <a:t>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broadcast</a:t>
            </a:r>
          </a:p>
        </p:txBody>
      </p:sp>
      <p:sp>
        <p:nvSpPr>
          <p:cNvPr id="104" name="Rounded Rectangle 103">
            <a:extLst>
              <a:ext uri="{FF2B5EF4-FFF2-40B4-BE49-F238E27FC236}">
                <a16:creationId xmlns:a16="http://schemas.microsoft.com/office/drawing/2014/main" id="{4D7E8906-6D68-736A-65D7-4E353E33ED60}"/>
              </a:ext>
            </a:extLst>
          </p:cNvPr>
          <p:cNvSpPr/>
          <p:nvPr/>
        </p:nvSpPr>
        <p:spPr>
          <a:xfrm>
            <a:off x="3053552" y="397107"/>
            <a:ext cx="360000" cy="360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0</a:t>
            </a:r>
          </a:p>
        </p:txBody>
      </p:sp>
      <p:cxnSp>
        <p:nvCxnSpPr>
          <p:cNvPr id="2" name="Straight Arrow Connector 12">
            <a:extLst>
              <a:ext uri="{FF2B5EF4-FFF2-40B4-BE49-F238E27FC236}">
                <a16:creationId xmlns:a16="http://schemas.microsoft.com/office/drawing/2014/main" id="{7A9E0D46-83A0-6AE5-08A6-FCBCF57F822B}"/>
              </a:ext>
            </a:extLst>
          </p:cNvPr>
          <p:cNvCxnSpPr>
            <a:cxnSpLocks/>
            <a:stCxn id="85" idx="1"/>
            <a:endCxn id="57" idx="3"/>
          </p:cNvCxnSpPr>
          <p:nvPr/>
        </p:nvCxnSpPr>
        <p:spPr>
          <a:xfrm flipH="1">
            <a:off x="7263082" y="2634694"/>
            <a:ext cx="2385957" cy="1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4" name="Can 23">
            <a:extLst>
              <a:ext uri="{FF2B5EF4-FFF2-40B4-BE49-F238E27FC236}">
                <a16:creationId xmlns:a16="http://schemas.microsoft.com/office/drawing/2014/main" id="{4310E664-BB2D-175D-4AEB-78ED986401A3}"/>
              </a:ext>
            </a:extLst>
          </p:cNvPr>
          <p:cNvSpPr/>
          <p:nvPr/>
        </p:nvSpPr>
        <p:spPr>
          <a:xfrm>
            <a:off x="6023949" y="2677870"/>
            <a:ext cx="932976" cy="707886"/>
          </a:xfrm>
          <a:prstGeom prst="can">
            <a:avLst/>
          </a:prstGeom>
          <a:ln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i="1" dirty="0">
                <a:solidFill>
                  <a:schemeClr val="bg2"/>
                </a:solidFill>
              </a:rPr>
              <a:t>index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B03A441-98D7-58C7-5B6A-685A638FF8CC}"/>
              </a:ext>
            </a:extLst>
          </p:cNvPr>
          <p:cNvGrpSpPr/>
          <p:nvPr/>
        </p:nvGrpSpPr>
        <p:grpSpPr>
          <a:xfrm>
            <a:off x="6676673" y="383372"/>
            <a:ext cx="2131291" cy="1038741"/>
            <a:chOff x="7507403" y="1006813"/>
            <a:chExt cx="691415" cy="1038741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3A48A20-A9D6-C6B6-401F-0C91EC1C7B3C}"/>
                </a:ext>
              </a:extLst>
            </p:cNvPr>
            <p:cNvSpPr/>
            <p:nvPr/>
          </p:nvSpPr>
          <p:spPr>
            <a:xfrm>
              <a:off x="7538137" y="1386857"/>
              <a:ext cx="628958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36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🧢 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Persona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49F0B658-B221-3E5B-2468-055010C475E2}"/>
                </a:ext>
              </a:extLst>
            </p:cNvPr>
            <p:cNvSpPr/>
            <p:nvPr/>
          </p:nvSpPr>
          <p:spPr>
            <a:xfrm>
              <a:off x="7507403" y="1006813"/>
              <a:ext cx="691415" cy="1038741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</p:grpSp>
      <p:cxnSp>
        <p:nvCxnSpPr>
          <p:cNvPr id="28" name="Straight Arrow Connector 12">
            <a:extLst>
              <a:ext uri="{FF2B5EF4-FFF2-40B4-BE49-F238E27FC236}">
                <a16:creationId xmlns:a16="http://schemas.microsoft.com/office/drawing/2014/main" id="{1F0D0C26-2F1D-3FD5-1EC2-BE70EABBC550}"/>
              </a:ext>
            </a:extLst>
          </p:cNvPr>
          <p:cNvCxnSpPr>
            <a:cxnSpLocks/>
            <a:stCxn id="85" idx="0"/>
            <a:endCxn id="27" idx="3"/>
          </p:cNvCxnSpPr>
          <p:nvPr/>
        </p:nvCxnSpPr>
        <p:spPr>
          <a:xfrm rot="16200000" flipV="1">
            <a:off x="9188904" y="521804"/>
            <a:ext cx="1073543" cy="1835421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6" name="Straight Arrow Connector 12">
            <a:extLst>
              <a:ext uri="{FF2B5EF4-FFF2-40B4-BE49-F238E27FC236}">
                <a16:creationId xmlns:a16="http://schemas.microsoft.com/office/drawing/2014/main" id="{79F8D41F-8214-611A-6936-ADD04494425E}"/>
              </a:ext>
            </a:extLst>
          </p:cNvPr>
          <p:cNvCxnSpPr>
            <a:cxnSpLocks/>
            <a:stCxn id="27" idx="1"/>
            <a:endCxn id="39" idx="0"/>
          </p:cNvCxnSpPr>
          <p:nvPr/>
        </p:nvCxnSpPr>
        <p:spPr>
          <a:xfrm rot="10800000" flipV="1">
            <a:off x="6373543" y="902742"/>
            <a:ext cx="303131" cy="1223293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484CA8CA-4791-ADCD-0945-EBE7F48B306D}"/>
              </a:ext>
            </a:extLst>
          </p:cNvPr>
          <p:cNvSpPr txBox="1"/>
          <p:nvPr/>
        </p:nvSpPr>
        <p:spPr>
          <a:xfrm>
            <a:off x="6251714" y="2126036"/>
            <a:ext cx="243656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dirty="0"/>
              <a:t>    </a:t>
            </a:r>
          </a:p>
        </p:txBody>
      </p:sp>
      <p:sp>
        <p:nvSpPr>
          <p:cNvPr id="42" name="Content Placeholder 2">
            <a:extLst>
              <a:ext uri="{FF2B5EF4-FFF2-40B4-BE49-F238E27FC236}">
                <a16:creationId xmlns:a16="http://schemas.microsoft.com/office/drawing/2014/main" id="{370FDD04-D687-38D3-A71F-B06095927DD7}"/>
              </a:ext>
            </a:extLst>
          </p:cNvPr>
          <p:cNvSpPr txBox="1">
            <a:spLocks/>
          </p:cNvSpPr>
          <p:nvPr/>
        </p:nvSpPr>
        <p:spPr>
          <a:xfrm>
            <a:off x="9333278" y="373433"/>
            <a:ext cx="2504225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disclose preferences</a:t>
            </a:r>
            <a:endParaRPr lang="en-GB" sz="1400" dirty="0"/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ECDBDAF9-305F-2585-F26C-28C6E2CB40EC}"/>
              </a:ext>
            </a:extLst>
          </p:cNvPr>
          <p:cNvSpPr/>
          <p:nvPr/>
        </p:nvSpPr>
        <p:spPr>
          <a:xfrm>
            <a:off x="8963610" y="393488"/>
            <a:ext cx="360000" cy="360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397999F-1425-2405-0226-EC6E0351EC71}"/>
              </a:ext>
            </a:extLst>
          </p:cNvPr>
          <p:cNvSpPr txBox="1"/>
          <p:nvPr/>
        </p:nvSpPr>
        <p:spPr>
          <a:xfrm>
            <a:off x="4967349" y="2120523"/>
            <a:ext cx="243656" cy="1033283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l"/>
            <a:r>
              <a:rPr lang="en-GB" dirty="0"/>
              <a:t>    </a:t>
            </a:r>
          </a:p>
        </p:txBody>
      </p:sp>
      <p:sp>
        <p:nvSpPr>
          <p:cNvPr id="54" name="Can 53">
            <a:extLst>
              <a:ext uri="{FF2B5EF4-FFF2-40B4-BE49-F238E27FC236}">
                <a16:creationId xmlns:a16="http://schemas.microsoft.com/office/drawing/2014/main" id="{12CB8107-3353-9226-AD82-86BBBED9CEA0}"/>
              </a:ext>
            </a:extLst>
          </p:cNvPr>
          <p:cNvSpPr/>
          <p:nvPr/>
        </p:nvSpPr>
        <p:spPr>
          <a:xfrm>
            <a:off x="8294160" y="1093308"/>
            <a:ext cx="315055" cy="412081"/>
          </a:xfrm>
          <a:prstGeom prst="can">
            <a:avLst/>
          </a:prstGeom>
          <a:ln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GB" i="1" dirty="0">
              <a:solidFill>
                <a:schemeClr val="bg2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11244BD-3008-0664-5F82-3AE4806ED689}"/>
              </a:ext>
            </a:extLst>
          </p:cNvPr>
          <p:cNvSpPr txBox="1"/>
          <p:nvPr/>
        </p:nvSpPr>
        <p:spPr>
          <a:xfrm>
            <a:off x="479153" y="434070"/>
            <a:ext cx="7891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🌬️ </a:t>
            </a: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EAFED8E9-945D-67D6-636E-B7CC1513146E}"/>
              </a:ext>
            </a:extLst>
          </p:cNvPr>
          <p:cNvGrpSpPr/>
          <p:nvPr/>
        </p:nvGrpSpPr>
        <p:grpSpPr>
          <a:xfrm>
            <a:off x="561934" y="387001"/>
            <a:ext cx="2344420" cy="3071815"/>
            <a:chOff x="561934" y="387001"/>
            <a:chExt cx="2344420" cy="307181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720FE75E-2BA4-6FE4-07C5-D196749323C9}"/>
                </a:ext>
              </a:extLst>
            </p:cNvPr>
            <p:cNvGrpSpPr/>
            <p:nvPr/>
          </p:nvGrpSpPr>
          <p:grpSpPr>
            <a:xfrm>
              <a:off x="561934" y="387001"/>
              <a:ext cx="2344420" cy="3071815"/>
              <a:chOff x="7507403" y="1006812"/>
              <a:chExt cx="691415" cy="3071815"/>
            </a:xfrm>
          </p:grpSpPr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1FDD2211-BDCD-3F2A-1FEE-E12F9B94DBEC}"/>
                  </a:ext>
                </a:extLst>
              </p:cNvPr>
              <p:cNvSpPr/>
              <p:nvPr/>
            </p:nvSpPr>
            <p:spPr>
              <a:xfrm>
                <a:off x="7538137" y="1386857"/>
                <a:ext cx="628958" cy="56218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36000" bIns="144000" anchor="ctr"/>
              <a:lstStyle/>
              <a:p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🕸 </a:t>
                </a:r>
                <a:r>
                  <a:rPr lang="en-GB" sz="2400" dirty="0">
                    <a:solidFill>
                      <a:sysClr val="windowText" lastClr="000000"/>
                    </a:solidFill>
                    <a:latin typeface="+mj-lt"/>
                    <a:cs typeface="Arial" panose="020B0604020202020204" pitchFamily="34" charset="0"/>
                  </a:rPr>
                  <a:t>Graphs</a:t>
                </a:r>
              </a:p>
            </p:txBody>
          </p: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E81A1FAD-B999-FB54-4FDF-12EEF9A459D2}"/>
                  </a:ext>
                </a:extLst>
              </p:cNvPr>
              <p:cNvSpPr/>
              <p:nvPr/>
            </p:nvSpPr>
            <p:spPr>
              <a:xfrm>
                <a:off x="7507403" y="1006812"/>
                <a:ext cx="691415" cy="3071815"/>
              </a:xfrm>
              <a:prstGeom prst="rect">
                <a:avLst/>
              </a:prstGeom>
              <a:noFill/>
              <a:ln w="12700">
                <a:solidFill>
                  <a:srgbClr val="5A6B86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36000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20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   Streamers</a:t>
                </a:r>
              </a:p>
            </p:txBody>
          </p:sp>
        </p:grp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EB6401E-0128-2B4D-5307-C37404151626}"/>
                </a:ext>
              </a:extLst>
            </p:cNvPr>
            <p:cNvSpPr/>
            <p:nvPr/>
          </p:nvSpPr>
          <p:spPr>
            <a:xfrm>
              <a:off x="667823" y="1455551"/>
              <a:ext cx="2132644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36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📢 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Feedbacks</a:t>
              </a: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E0DFEE66-FEE6-C9DD-F150-59CB50C55133}"/>
                </a:ext>
              </a:extLst>
            </p:cNvPr>
            <p:cNvSpPr/>
            <p:nvPr/>
          </p:nvSpPr>
          <p:spPr>
            <a:xfrm>
              <a:off x="670872" y="2123922"/>
              <a:ext cx="2132644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36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👀 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Advertisers</a:t>
              </a:r>
            </a:p>
          </p:txBody>
        </p: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47CCFE26-40AE-635D-A724-2B0111BABD0F}"/>
              </a:ext>
            </a:extLst>
          </p:cNvPr>
          <p:cNvSpPr txBox="1"/>
          <p:nvPr/>
        </p:nvSpPr>
        <p:spPr>
          <a:xfrm>
            <a:off x="2655769" y="733787"/>
            <a:ext cx="243656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dirty="0"/>
              <a:t>    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EEA95966-0BA0-5171-C9B7-1D9E13522F47}"/>
              </a:ext>
            </a:extLst>
          </p:cNvPr>
          <p:cNvSpPr/>
          <p:nvPr/>
        </p:nvSpPr>
        <p:spPr>
          <a:xfrm>
            <a:off x="666146" y="2792293"/>
            <a:ext cx="2132644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36000" bIns="144000" anchor="ctr"/>
          <a:lstStyle/>
          <a:p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🔥 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Firewalls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B7269E-51FE-A438-B453-1E95981BC519}"/>
              </a:ext>
            </a:extLst>
          </p:cNvPr>
          <p:cNvSpPr txBox="1"/>
          <p:nvPr/>
        </p:nvSpPr>
        <p:spPr>
          <a:xfrm>
            <a:off x="178670" y="6248084"/>
            <a:ext cx="1213474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sz="2800" dirty="0">
                <a:solidFill>
                  <a:srgbClr val="FFFF00"/>
                </a:solidFill>
              </a:rPr>
              <a:t>FINDER</a:t>
            </a:r>
          </a:p>
        </p:txBody>
      </p:sp>
    </p:spTree>
    <p:extLst>
      <p:ext uri="{BB962C8B-B14F-4D97-AF65-F5344CB8AC3E}">
        <p14:creationId xmlns:p14="http://schemas.microsoft.com/office/powerpoint/2010/main" val="958709515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A0941-885F-A1B6-B1A5-349CACF78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extBox 98">
            <a:extLst>
              <a:ext uri="{FF2B5EF4-FFF2-40B4-BE49-F238E27FC236}">
                <a16:creationId xmlns:a16="http://schemas.microsoft.com/office/drawing/2014/main" id="{4E73810B-D05E-A070-30A0-DA6095DAF932}"/>
              </a:ext>
            </a:extLst>
          </p:cNvPr>
          <p:cNvSpPr txBox="1"/>
          <p:nvPr/>
        </p:nvSpPr>
        <p:spPr>
          <a:xfrm>
            <a:off x="2323864" y="2590477"/>
            <a:ext cx="1366955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36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🌬️</a:t>
            </a:r>
            <a:r>
              <a:rPr lang="en-GB" sz="1800" dirty="0"/>
              <a:t>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0107F71-5EDC-9652-6FBD-794F2A9F1A8F}"/>
              </a:ext>
            </a:extLst>
          </p:cNvPr>
          <p:cNvSpPr/>
          <p:nvPr/>
        </p:nvSpPr>
        <p:spPr>
          <a:xfrm>
            <a:off x="335198" y="653853"/>
            <a:ext cx="567464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🧑‍🦰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 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9EB474D-889F-43BA-61D7-B5AD1AB910F1}"/>
              </a:ext>
            </a:extLst>
          </p:cNvPr>
          <p:cNvSpPr/>
          <p:nvPr/>
        </p:nvSpPr>
        <p:spPr>
          <a:xfrm>
            <a:off x="335198" y="1633675"/>
            <a:ext cx="567464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🧑‍🦰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 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1116BCB-6AE6-5644-AEEF-983398A448AA}"/>
              </a:ext>
            </a:extLst>
          </p:cNvPr>
          <p:cNvSpPr/>
          <p:nvPr/>
        </p:nvSpPr>
        <p:spPr>
          <a:xfrm>
            <a:off x="335198" y="2731296"/>
            <a:ext cx="567464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🧑‍🦰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 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8CE4C60-1755-5B9F-79E4-8393903E0DEF}"/>
              </a:ext>
            </a:extLst>
          </p:cNvPr>
          <p:cNvSpPr/>
          <p:nvPr/>
        </p:nvSpPr>
        <p:spPr>
          <a:xfrm>
            <a:off x="1799985" y="2731296"/>
            <a:ext cx="596746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36000" bIns="144000" anchor="ctr"/>
          <a:lstStyle/>
          <a:p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⭐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 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F309AE4D-0E69-7AE2-BC4E-6BF4D784F04D}"/>
              </a:ext>
            </a:extLst>
          </p:cNvPr>
          <p:cNvGrpSpPr/>
          <p:nvPr/>
        </p:nvGrpSpPr>
        <p:grpSpPr>
          <a:xfrm>
            <a:off x="3078031" y="415573"/>
            <a:ext cx="2131291" cy="1038741"/>
            <a:chOff x="7507403" y="1006813"/>
            <a:chExt cx="691415" cy="1038741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765EF2FE-4B4A-4E93-6412-FE6391B2DE27}"/>
                </a:ext>
              </a:extLst>
            </p:cNvPr>
            <p:cNvSpPr/>
            <p:nvPr/>
          </p:nvSpPr>
          <p:spPr>
            <a:xfrm>
              <a:off x="7538137" y="1386857"/>
              <a:ext cx="628958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36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⭐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Reviewer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2FC18F0C-658F-4BAC-6F8D-62DC55706A7F}"/>
                </a:ext>
              </a:extLst>
            </p:cNvPr>
            <p:cNvSpPr/>
            <p:nvPr/>
          </p:nvSpPr>
          <p:spPr>
            <a:xfrm>
              <a:off x="7507403" y="1006813"/>
              <a:ext cx="691415" cy="1038741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user bound</a:t>
              </a: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62A310E8-DDF9-8AA8-FBD0-6B9C087E4545}"/>
              </a:ext>
            </a:extLst>
          </p:cNvPr>
          <p:cNvGrpSpPr/>
          <p:nvPr/>
        </p:nvGrpSpPr>
        <p:grpSpPr>
          <a:xfrm>
            <a:off x="3078031" y="2493016"/>
            <a:ext cx="2131291" cy="1038741"/>
            <a:chOff x="7507403" y="1006813"/>
            <a:chExt cx="691415" cy="1038741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D6B45F16-CBA7-E60B-A41A-A5133E7AA3F9}"/>
                </a:ext>
              </a:extLst>
            </p:cNvPr>
            <p:cNvSpPr/>
            <p:nvPr/>
          </p:nvSpPr>
          <p:spPr>
            <a:xfrm>
              <a:off x="7538137" y="1386857"/>
              <a:ext cx="628958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🔎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Finder</a:t>
              </a: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13D8BC3B-D6F1-5A93-37C8-D0EF51B4CCF8}"/>
                </a:ext>
              </a:extLst>
            </p:cNvPr>
            <p:cNvSpPr/>
            <p:nvPr/>
          </p:nvSpPr>
          <p:spPr>
            <a:xfrm>
              <a:off x="7507403" y="1006813"/>
              <a:ext cx="691415" cy="1038741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user bound</a:t>
              </a:r>
            </a:p>
          </p:txBody>
        </p:sp>
      </p:grpSp>
      <p:cxnSp>
        <p:nvCxnSpPr>
          <p:cNvPr id="58" name="Straight Arrow Connector 12">
            <a:extLst>
              <a:ext uri="{FF2B5EF4-FFF2-40B4-BE49-F238E27FC236}">
                <a16:creationId xmlns:a16="http://schemas.microsoft.com/office/drawing/2014/main" id="{E6DA65F3-FA1C-150A-059F-4116ED2EF745}"/>
              </a:ext>
            </a:extLst>
          </p:cNvPr>
          <p:cNvCxnSpPr>
            <a:cxnSpLocks/>
            <a:stCxn id="30" idx="3"/>
            <a:endCxn id="52" idx="1"/>
          </p:cNvCxnSpPr>
          <p:nvPr/>
        </p:nvCxnSpPr>
        <p:spPr>
          <a:xfrm flipV="1">
            <a:off x="902662" y="934944"/>
            <a:ext cx="2175369" cy="1"/>
          </a:xfrm>
          <a:prstGeom prst="straightConnector1">
            <a:avLst/>
          </a:prstGeom>
          <a:ln>
            <a:solidFill>
              <a:schemeClr val="bg1">
                <a:lumMod val="50000"/>
                <a:lumOff val="50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4" name="Straight Arrow Connector 12">
            <a:extLst>
              <a:ext uri="{FF2B5EF4-FFF2-40B4-BE49-F238E27FC236}">
                <a16:creationId xmlns:a16="http://schemas.microsoft.com/office/drawing/2014/main" id="{6E764E1F-DD76-3823-0B06-09888338283D}"/>
              </a:ext>
            </a:extLst>
          </p:cNvPr>
          <p:cNvCxnSpPr>
            <a:cxnSpLocks/>
            <a:stCxn id="33" idx="3"/>
            <a:endCxn id="34" idx="1"/>
          </p:cNvCxnSpPr>
          <p:nvPr/>
        </p:nvCxnSpPr>
        <p:spPr>
          <a:xfrm>
            <a:off x="902662" y="3012388"/>
            <a:ext cx="897323" cy="0"/>
          </a:xfrm>
          <a:prstGeom prst="straightConnector1">
            <a:avLst/>
          </a:prstGeom>
          <a:ln>
            <a:solidFill>
              <a:schemeClr val="bg1">
                <a:lumMod val="50000"/>
                <a:lumOff val="50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8" name="Straight Arrow Connector 12">
            <a:extLst>
              <a:ext uri="{FF2B5EF4-FFF2-40B4-BE49-F238E27FC236}">
                <a16:creationId xmlns:a16="http://schemas.microsoft.com/office/drawing/2014/main" id="{92F292A5-6C3B-933B-406E-EF964D4E09F0}"/>
              </a:ext>
            </a:extLst>
          </p:cNvPr>
          <p:cNvCxnSpPr>
            <a:cxnSpLocks/>
            <a:stCxn id="34" idx="3"/>
            <a:endCxn id="57" idx="1"/>
          </p:cNvCxnSpPr>
          <p:nvPr/>
        </p:nvCxnSpPr>
        <p:spPr>
          <a:xfrm flipV="1">
            <a:off x="2396731" y="3012387"/>
            <a:ext cx="681300" cy="1"/>
          </a:xfrm>
          <a:prstGeom prst="straightConnector1">
            <a:avLst/>
          </a:prstGeom>
          <a:ln>
            <a:solidFill>
              <a:schemeClr val="bg1">
                <a:lumMod val="50000"/>
                <a:lumOff val="50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Straight Arrow Connector 12">
            <a:extLst>
              <a:ext uri="{FF2B5EF4-FFF2-40B4-BE49-F238E27FC236}">
                <a16:creationId xmlns:a16="http://schemas.microsoft.com/office/drawing/2014/main" id="{EDB3D7CF-BFD6-0F34-5F52-0CB44D71FCB7}"/>
              </a:ext>
            </a:extLst>
          </p:cNvPr>
          <p:cNvCxnSpPr>
            <a:cxnSpLocks/>
            <a:stCxn id="52" idx="2"/>
            <a:endCxn id="57" idx="0"/>
          </p:cNvCxnSpPr>
          <p:nvPr/>
        </p:nvCxnSpPr>
        <p:spPr>
          <a:xfrm>
            <a:off x="4143677" y="1454314"/>
            <a:ext cx="0" cy="1038702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Straight Arrow Connector 12">
            <a:extLst>
              <a:ext uri="{FF2B5EF4-FFF2-40B4-BE49-F238E27FC236}">
                <a16:creationId xmlns:a16="http://schemas.microsoft.com/office/drawing/2014/main" id="{43B5D772-D1E4-9011-E653-19339107EDFD}"/>
              </a:ext>
            </a:extLst>
          </p:cNvPr>
          <p:cNvCxnSpPr>
            <a:cxnSpLocks/>
            <a:stCxn id="32" idx="3"/>
            <a:endCxn id="34" idx="0"/>
          </p:cNvCxnSpPr>
          <p:nvPr/>
        </p:nvCxnSpPr>
        <p:spPr>
          <a:xfrm>
            <a:off x="902662" y="1914767"/>
            <a:ext cx="1195696" cy="816529"/>
          </a:xfrm>
          <a:prstGeom prst="bentConnector2">
            <a:avLst/>
          </a:prstGeom>
          <a:ln>
            <a:solidFill>
              <a:schemeClr val="bg1">
                <a:lumMod val="50000"/>
                <a:lumOff val="50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79" name="Group 78">
            <a:extLst>
              <a:ext uri="{FF2B5EF4-FFF2-40B4-BE49-F238E27FC236}">
                <a16:creationId xmlns:a16="http://schemas.microsoft.com/office/drawing/2014/main" id="{0B82160C-B6D1-FE79-6447-ADB02AA302BA}"/>
              </a:ext>
            </a:extLst>
          </p:cNvPr>
          <p:cNvGrpSpPr/>
          <p:nvPr/>
        </p:nvGrpSpPr>
        <p:grpSpPr>
          <a:xfrm>
            <a:off x="7325811" y="1315257"/>
            <a:ext cx="1988691" cy="1316816"/>
            <a:chOff x="7388710" y="3835400"/>
            <a:chExt cx="1988691" cy="1316816"/>
          </a:xfrm>
        </p:grpSpPr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CC3BADD5-775D-A815-281A-C223BE617D7F}"/>
                </a:ext>
              </a:extLst>
            </p:cNvPr>
            <p:cNvGrpSpPr/>
            <p:nvPr/>
          </p:nvGrpSpPr>
          <p:grpSpPr>
            <a:xfrm>
              <a:off x="7388710" y="3835400"/>
              <a:ext cx="1988691" cy="1316816"/>
              <a:chOff x="6139542" y="693286"/>
              <a:chExt cx="1988691" cy="1316816"/>
            </a:xfrm>
          </p:grpSpPr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9258AC17-74BA-5F84-B02F-CC212B8292F9}"/>
                  </a:ext>
                </a:extLst>
              </p:cNvPr>
              <p:cNvSpPr/>
              <p:nvPr/>
            </p:nvSpPr>
            <p:spPr>
              <a:xfrm>
                <a:off x="6236556" y="1351846"/>
                <a:ext cx="1791009" cy="56218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🧑‍🦰</a:t>
                </a:r>
                <a:r>
                  <a:rPr lang="en-GB" sz="2400" dirty="0">
                    <a:solidFill>
                      <a:sysClr val="windowText" lastClr="000000"/>
                    </a:solidFill>
                    <a:latin typeface="+mj-lt"/>
                    <a:cs typeface="Arial" panose="020B0604020202020204" pitchFamily="34" charset="0"/>
                  </a:rPr>
                  <a:t> Wallet</a:t>
                </a:r>
              </a:p>
            </p:txBody>
          </p:sp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5B04BF58-E0F2-DC29-C329-3769A7B7FC13}"/>
                  </a:ext>
                </a:extLst>
              </p:cNvPr>
              <p:cNvSpPr/>
              <p:nvPr/>
            </p:nvSpPr>
            <p:spPr>
              <a:xfrm>
                <a:off x="6139542" y="693286"/>
                <a:ext cx="1988691" cy="1316816"/>
              </a:xfrm>
              <a:prstGeom prst="rect">
                <a:avLst/>
              </a:prstGeom>
              <a:noFill/>
              <a:ln w="12700">
                <a:solidFill>
                  <a:srgbClr val="5A6B86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36000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endParaRPr>
              </a:p>
            </p:txBody>
          </p:sp>
        </p:grp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302664B5-A37F-45B9-9A17-CEFD39E32D0C}"/>
                </a:ext>
              </a:extLst>
            </p:cNvPr>
            <p:cNvSpPr/>
            <p:nvPr/>
          </p:nvSpPr>
          <p:spPr>
            <a:xfrm>
              <a:off x="8122107" y="3928533"/>
              <a:ext cx="530040" cy="48205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📣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7C7FB9F5-16FC-A69C-7F72-89AE239E779F}"/>
                </a:ext>
              </a:extLst>
            </p:cNvPr>
            <p:cNvSpPr/>
            <p:nvPr/>
          </p:nvSpPr>
          <p:spPr>
            <a:xfrm>
              <a:off x="8754380" y="3928533"/>
              <a:ext cx="530040" cy="471542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GB" sz="3200" baseline="-10000" dirty="0"/>
                <a:t>📱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EEEDB39A-4949-A570-AECA-EE25323CBB0D}"/>
                </a:ext>
              </a:extLst>
            </p:cNvPr>
            <p:cNvSpPr/>
            <p:nvPr/>
          </p:nvSpPr>
          <p:spPr>
            <a:xfrm>
              <a:off x="7482152" y="3928533"/>
              <a:ext cx="530040" cy="48205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🤵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</p:grpSp>
      <p:cxnSp>
        <p:nvCxnSpPr>
          <p:cNvPr id="86" name="Straight Arrow Connector 12">
            <a:extLst>
              <a:ext uri="{FF2B5EF4-FFF2-40B4-BE49-F238E27FC236}">
                <a16:creationId xmlns:a16="http://schemas.microsoft.com/office/drawing/2014/main" id="{808A83C4-9096-10E0-9467-99E83B1ED087}"/>
              </a:ext>
            </a:extLst>
          </p:cNvPr>
          <p:cNvCxnSpPr>
            <a:cxnSpLocks/>
            <a:stCxn id="85" idx="0"/>
            <a:endCxn id="52" idx="3"/>
          </p:cNvCxnSpPr>
          <p:nvPr/>
        </p:nvCxnSpPr>
        <p:spPr>
          <a:xfrm rot="16200000" flipV="1">
            <a:off x="6574584" y="-430317"/>
            <a:ext cx="380313" cy="3110835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9" name="Straight Arrow Connector 12">
            <a:extLst>
              <a:ext uri="{FF2B5EF4-FFF2-40B4-BE49-F238E27FC236}">
                <a16:creationId xmlns:a16="http://schemas.microsoft.com/office/drawing/2014/main" id="{07091E04-B01C-006E-467B-200CF20B1419}"/>
              </a:ext>
            </a:extLst>
          </p:cNvPr>
          <p:cNvCxnSpPr>
            <a:cxnSpLocks/>
            <a:stCxn id="85" idx="2"/>
            <a:endCxn id="57" idx="3"/>
          </p:cNvCxnSpPr>
          <p:nvPr/>
        </p:nvCxnSpPr>
        <p:spPr>
          <a:xfrm rot="5400000">
            <a:off x="6574583" y="1266813"/>
            <a:ext cx="380314" cy="3110835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2" name="Content Placeholder 2">
            <a:extLst>
              <a:ext uri="{FF2B5EF4-FFF2-40B4-BE49-F238E27FC236}">
                <a16:creationId xmlns:a16="http://schemas.microsoft.com/office/drawing/2014/main" id="{E822595C-3DE8-41A9-78D5-3FEC3C98C881}"/>
              </a:ext>
            </a:extLst>
          </p:cNvPr>
          <p:cNvSpPr txBox="1">
            <a:spLocks/>
          </p:cNvSpPr>
          <p:nvPr/>
        </p:nvSpPr>
        <p:spPr>
          <a:xfrm>
            <a:off x="5775501" y="3141505"/>
            <a:ext cx="2221183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search domains </a:t>
            </a:r>
            <a:r>
              <a:rPr lang="en-GB" sz="1400" dirty="0"/>
              <a:t>🔍</a:t>
            </a:r>
          </a:p>
        </p:txBody>
      </p:sp>
      <p:sp>
        <p:nvSpPr>
          <p:cNvPr id="93" name="Rounded Rectangle 92">
            <a:extLst>
              <a:ext uri="{FF2B5EF4-FFF2-40B4-BE49-F238E27FC236}">
                <a16:creationId xmlns:a16="http://schemas.microsoft.com/office/drawing/2014/main" id="{BA3B3860-A732-47C3-31A2-31BB0BC4F839}"/>
              </a:ext>
            </a:extLst>
          </p:cNvPr>
          <p:cNvSpPr/>
          <p:nvPr/>
        </p:nvSpPr>
        <p:spPr>
          <a:xfrm>
            <a:off x="5405833" y="3171499"/>
            <a:ext cx="360000" cy="3600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96" name="Content Placeholder 2">
            <a:extLst>
              <a:ext uri="{FF2B5EF4-FFF2-40B4-BE49-F238E27FC236}">
                <a16:creationId xmlns:a16="http://schemas.microsoft.com/office/drawing/2014/main" id="{BB23B1EA-BB15-2566-314A-F020D13D5342}"/>
              </a:ext>
            </a:extLst>
          </p:cNvPr>
          <p:cNvSpPr txBox="1">
            <a:spLocks/>
          </p:cNvSpPr>
          <p:nvPr/>
        </p:nvSpPr>
        <p:spPr>
          <a:xfrm>
            <a:off x="5765833" y="409462"/>
            <a:ext cx="2684266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submit review </a:t>
            </a:r>
            <a:r>
              <a:rPr lang="en-GB" sz="1400" dirty="0"/>
              <a:t>⭐ ⭐ ⭐</a:t>
            </a:r>
          </a:p>
        </p:txBody>
      </p:sp>
      <p:sp>
        <p:nvSpPr>
          <p:cNvPr id="97" name="Rounded Rectangle 96">
            <a:extLst>
              <a:ext uri="{FF2B5EF4-FFF2-40B4-BE49-F238E27FC236}">
                <a16:creationId xmlns:a16="http://schemas.microsoft.com/office/drawing/2014/main" id="{AB81183B-2A24-CDED-53E5-27CD779D1502}"/>
              </a:ext>
            </a:extLst>
          </p:cNvPr>
          <p:cNvSpPr/>
          <p:nvPr/>
        </p:nvSpPr>
        <p:spPr>
          <a:xfrm>
            <a:off x="5396165" y="439456"/>
            <a:ext cx="360000" cy="3600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6BD7CA27-AE8C-9EEE-8108-D042514B4DB2}"/>
              </a:ext>
            </a:extLst>
          </p:cNvPr>
          <p:cNvSpPr txBox="1"/>
          <p:nvPr/>
        </p:nvSpPr>
        <p:spPr>
          <a:xfrm>
            <a:off x="4045041" y="1683933"/>
            <a:ext cx="2131287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36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🌬️</a:t>
            </a:r>
            <a:r>
              <a:rPr lang="en-GB" sz="1800" dirty="0"/>
              <a:t>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broadcast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4D46570D-80AF-BFA9-8655-781E80201B29}"/>
              </a:ext>
            </a:extLst>
          </p:cNvPr>
          <p:cNvSpPr txBox="1"/>
          <p:nvPr/>
        </p:nvSpPr>
        <p:spPr>
          <a:xfrm>
            <a:off x="935611" y="565611"/>
            <a:ext cx="16343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spc="-300" dirty="0"/>
              <a:t>⭐ ⭐ ⭐ ⭐ ⭐</a:t>
            </a:r>
            <a:endParaRPr lang="en-GB" spc="-300" dirty="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D8D21A47-1925-895D-84A1-69DCA9AE06C6}"/>
              </a:ext>
            </a:extLst>
          </p:cNvPr>
          <p:cNvSpPr txBox="1"/>
          <p:nvPr/>
        </p:nvSpPr>
        <p:spPr>
          <a:xfrm>
            <a:off x="917134" y="1550741"/>
            <a:ext cx="16343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spc="-300" dirty="0"/>
              <a:t>⭐ </a:t>
            </a:r>
            <a:endParaRPr lang="en-GB" spc="-300" dirty="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0BFB805B-5E3F-3EF9-03E2-55DAB89218EE}"/>
              </a:ext>
            </a:extLst>
          </p:cNvPr>
          <p:cNvSpPr txBox="1"/>
          <p:nvPr/>
        </p:nvSpPr>
        <p:spPr>
          <a:xfrm>
            <a:off x="927697" y="2647275"/>
            <a:ext cx="6116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spc="-300" dirty="0"/>
              <a:t>⭐ ⭐</a:t>
            </a:r>
            <a:endParaRPr lang="en-GB" spc="-300" dirty="0"/>
          </a:p>
        </p:txBody>
      </p:sp>
      <p:sp>
        <p:nvSpPr>
          <p:cNvPr id="104" name="Rounded Rectangle 103">
            <a:extLst>
              <a:ext uri="{FF2B5EF4-FFF2-40B4-BE49-F238E27FC236}">
                <a16:creationId xmlns:a16="http://schemas.microsoft.com/office/drawing/2014/main" id="{D6F1DFFB-04A6-CB0F-466D-F933AAAEB783}"/>
              </a:ext>
            </a:extLst>
          </p:cNvPr>
          <p:cNvSpPr/>
          <p:nvPr/>
        </p:nvSpPr>
        <p:spPr>
          <a:xfrm>
            <a:off x="3658636" y="1756285"/>
            <a:ext cx="360000" cy="3600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4</a:t>
            </a:r>
          </a:p>
        </p:txBody>
      </p: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ABCA1843-AA28-3823-95FA-5A325AD3029C}"/>
              </a:ext>
            </a:extLst>
          </p:cNvPr>
          <p:cNvGrpSpPr/>
          <p:nvPr/>
        </p:nvGrpSpPr>
        <p:grpSpPr>
          <a:xfrm>
            <a:off x="9933645" y="412665"/>
            <a:ext cx="1988691" cy="1041649"/>
            <a:chOff x="6139542" y="968452"/>
            <a:chExt cx="1988691" cy="1041649"/>
          </a:xfrm>
        </p:grpSpPr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79B0298C-2E3A-50E0-6365-7A64C82BD20F}"/>
                </a:ext>
              </a:extLst>
            </p:cNvPr>
            <p:cNvSpPr/>
            <p:nvPr/>
          </p:nvSpPr>
          <p:spPr>
            <a:xfrm>
              <a:off x="6139542" y="968452"/>
              <a:ext cx="1988691" cy="104164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user bound</a:t>
              </a:r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71272159-C833-DB51-B818-30D28969C3C4}"/>
                </a:ext>
              </a:extLst>
            </p:cNvPr>
            <p:cNvSpPr/>
            <p:nvPr/>
          </p:nvSpPr>
          <p:spPr>
            <a:xfrm>
              <a:off x="6236556" y="1351846"/>
              <a:ext cx="1791009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🆔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Identity</a:t>
              </a:r>
            </a:p>
          </p:txBody>
        </p:sp>
      </p:grpSp>
      <p:cxnSp>
        <p:nvCxnSpPr>
          <p:cNvPr id="109" name="Straight Arrow Connector 12">
            <a:extLst>
              <a:ext uri="{FF2B5EF4-FFF2-40B4-BE49-F238E27FC236}">
                <a16:creationId xmlns:a16="http://schemas.microsoft.com/office/drawing/2014/main" id="{F055D60C-46C7-C11F-2533-07E7F8CA5569}"/>
              </a:ext>
            </a:extLst>
          </p:cNvPr>
          <p:cNvCxnSpPr>
            <a:cxnSpLocks/>
            <a:endCxn id="107" idx="1"/>
          </p:cNvCxnSpPr>
          <p:nvPr/>
        </p:nvCxnSpPr>
        <p:spPr>
          <a:xfrm flipV="1">
            <a:off x="8450099" y="933490"/>
            <a:ext cx="1483546" cy="1453"/>
          </a:xfrm>
          <a:prstGeom prst="straightConnector1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Rounded Rectangle 109">
            <a:extLst>
              <a:ext uri="{FF2B5EF4-FFF2-40B4-BE49-F238E27FC236}">
                <a16:creationId xmlns:a16="http://schemas.microsoft.com/office/drawing/2014/main" id="{4237904E-EBF7-EC3F-6AD4-E116ADFDAC06}"/>
              </a:ext>
            </a:extLst>
          </p:cNvPr>
          <p:cNvSpPr/>
          <p:nvPr/>
        </p:nvSpPr>
        <p:spPr>
          <a:xfrm>
            <a:off x="9469531" y="2134460"/>
            <a:ext cx="360000" cy="3600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11" name="Content Placeholder 2">
            <a:extLst>
              <a:ext uri="{FF2B5EF4-FFF2-40B4-BE49-F238E27FC236}">
                <a16:creationId xmlns:a16="http://schemas.microsoft.com/office/drawing/2014/main" id="{DF9F6F26-A603-7F1E-4136-33F72ADF782D}"/>
              </a:ext>
            </a:extLst>
          </p:cNvPr>
          <p:cNvSpPr txBox="1">
            <a:spLocks/>
          </p:cNvSpPr>
          <p:nvPr/>
        </p:nvSpPr>
        <p:spPr>
          <a:xfrm>
            <a:off x="9843251" y="2112753"/>
            <a:ext cx="2202392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anti-bot check</a:t>
            </a:r>
            <a:endParaRPr lang="en-GB" sz="1400" dirty="0"/>
          </a:p>
        </p:txBody>
      </p:sp>
      <p:cxnSp>
        <p:nvCxnSpPr>
          <p:cNvPr id="115" name="Straight Arrow Connector 12">
            <a:extLst>
              <a:ext uri="{FF2B5EF4-FFF2-40B4-BE49-F238E27FC236}">
                <a16:creationId xmlns:a16="http://schemas.microsoft.com/office/drawing/2014/main" id="{2856365A-0A8C-6226-5620-B39E18D765D4}"/>
              </a:ext>
            </a:extLst>
          </p:cNvPr>
          <p:cNvCxnSpPr>
            <a:cxnSpLocks/>
            <a:stCxn id="107" idx="2"/>
            <a:endCxn id="85" idx="3"/>
          </p:cNvCxnSpPr>
          <p:nvPr/>
        </p:nvCxnSpPr>
        <p:spPr>
          <a:xfrm rot="5400000">
            <a:off x="9861572" y="907245"/>
            <a:ext cx="519351" cy="1613489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21" name="Rounded Rectangle 120">
            <a:extLst>
              <a:ext uri="{FF2B5EF4-FFF2-40B4-BE49-F238E27FC236}">
                <a16:creationId xmlns:a16="http://schemas.microsoft.com/office/drawing/2014/main" id="{AEE96876-BE70-84FC-A770-997FCD7CB3CB}"/>
              </a:ext>
            </a:extLst>
          </p:cNvPr>
          <p:cNvSpPr/>
          <p:nvPr/>
        </p:nvSpPr>
        <p:spPr>
          <a:xfrm>
            <a:off x="8988386" y="437006"/>
            <a:ext cx="360000" cy="3600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22" name="Content Placeholder 2">
            <a:extLst>
              <a:ext uri="{FF2B5EF4-FFF2-40B4-BE49-F238E27FC236}">
                <a16:creationId xmlns:a16="http://schemas.microsoft.com/office/drawing/2014/main" id="{47D53C38-C5BA-01C4-F9AC-997D05CB5E7D}"/>
              </a:ext>
            </a:extLst>
          </p:cNvPr>
          <p:cNvSpPr txBox="1">
            <a:spLocks/>
          </p:cNvSpPr>
          <p:nvPr/>
        </p:nvSpPr>
        <p:spPr>
          <a:xfrm>
            <a:off x="9362106" y="415299"/>
            <a:ext cx="605422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OK</a:t>
            </a:r>
            <a:endParaRPr lang="en-GB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DCF5F3-9826-8A80-5EED-74A96C42A46E}"/>
              </a:ext>
            </a:extLst>
          </p:cNvPr>
          <p:cNvSpPr txBox="1"/>
          <p:nvPr/>
        </p:nvSpPr>
        <p:spPr>
          <a:xfrm>
            <a:off x="178670" y="6248084"/>
            <a:ext cx="1707199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sz="2800" dirty="0">
                <a:solidFill>
                  <a:srgbClr val="FFFF00"/>
                </a:solidFill>
              </a:rPr>
              <a:t>REVIEWER</a:t>
            </a:r>
          </a:p>
        </p:txBody>
      </p:sp>
    </p:spTree>
    <p:extLst>
      <p:ext uri="{BB962C8B-B14F-4D97-AF65-F5344CB8AC3E}">
        <p14:creationId xmlns:p14="http://schemas.microsoft.com/office/powerpoint/2010/main" val="3557952159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C4379-4013-317F-FED9-2F9C3A661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DC8E61AE-0845-6800-635D-92C162DAE2A0}"/>
              </a:ext>
            </a:extLst>
          </p:cNvPr>
          <p:cNvSpPr/>
          <p:nvPr/>
        </p:nvSpPr>
        <p:spPr>
          <a:xfrm>
            <a:off x="203773" y="2890741"/>
            <a:ext cx="1481277" cy="13034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💵 </a:t>
            </a:r>
            <a:r>
              <a:rPr lang="en-US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seller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EAC0BD4-C2F0-A26C-12B8-68857B37993F}"/>
              </a:ext>
            </a:extLst>
          </p:cNvPr>
          <p:cNvSpPr/>
          <p:nvPr/>
        </p:nvSpPr>
        <p:spPr>
          <a:xfrm>
            <a:off x="10031551" y="2889672"/>
            <a:ext cx="1828801" cy="1300984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🤗 </a:t>
            </a:r>
            <a:r>
              <a:rPr lang="en-US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host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B5600DB-EC2D-D2EF-26F1-2E79BF68DA16}"/>
              </a:ext>
            </a:extLst>
          </p:cNvPr>
          <p:cNvSpPr/>
          <p:nvPr/>
        </p:nvSpPr>
        <p:spPr>
          <a:xfrm>
            <a:off x="2671808" y="2893707"/>
            <a:ext cx="1982110" cy="221556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👀 </a:t>
            </a:r>
            <a:r>
              <a:rPr lang="en-US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advertiser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CC1D1971-7428-E797-D6AF-728103ED2817}"/>
              </a:ext>
            </a:extLst>
          </p:cNvPr>
          <p:cNvSpPr/>
          <p:nvPr/>
        </p:nvSpPr>
        <p:spPr>
          <a:xfrm>
            <a:off x="6555510" y="2888031"/>
            <a:ext cx="1719072" cy="1300984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🧚 </a:t>
            </a:r>
            <a:r>
              <a:rPr lang="en-US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curator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F6721D-B60B-8A75-C624-C18D4F94B1AD}"/>
              </a:ext>
            </a:extLst>
          </p:cNvPr>
          <p:cNvSpPr/>
          <p:nvPr/>
        </p:nvSpPr>
        <p:spPr>
          <a:xfrm>
            <a:off x="10031551" y="815403"/>
            <a:ext cx="1828801" cy="1300984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>
              <a:defRPr/>
            </a:pPr>
            <a:r>
              <a:rPr lang="en-GB" sz="24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🤵</a:t>
            </a:r>
            <a:r>
              <a:rPr lang="en-GB" sz="24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US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broker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83F24947-85CD-5780-2CD9-C259FA80632E}"/>
              </a:ext>
            </a:extLst>
          </p:cNvPr>
          <p:cNvSpPr/>
          <p:nvPr/>
        </p:nvSpPr>
        <p:spPr>
          <a:xfrm>
            <a:off x="6625463" y="3726986"/>
            <a:ext cx="1597235" cy="392400"/>
          </a:xfrm>
          <a:prstGeom prst="rect">
            <a:avLst/>
          </a:prstGeom>
          <a:solidFill>
            <a:schemeClr val="tx1">
              <a:lumMod val="95000"/>
            </a:schemeClr>
          </a:solidFill>
          <a:ln w="2222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36000" bIns="144000" anchor="ctr"/>
          <a:lstStyle/>
          <a:p>
            <a:r>
              <a:rPr lang="en-GB" sz="28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🏦 </a:t>
            </a:r>
            <a:r>
              <a:rPr lang="en-GB" sz="20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Collector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937E803-6B20-4EEE-EFFA-D77A671D9CFF}"/>
              </a:ext>
            </a:extLst>
          </p:cNvPr>
          <p:cNvSpPr/>
          <p:nvPr/>
        </p:nvSpPr>
        <p:spPr>
          <a:xfrm>
            <a:off x="2745902" y="3254173"/>
            <a:ext cx="1845803" cy="392400"/>
          </a:xfrm>
          <a:prstGeom prst="rect">
            <a:avLst/>
          </a:prstGeom>
          <a:solidFill>
            <a:schemeClr val="tx1">
              <a:lumMod val="95000"/>
            </a:schemeClr>
          </a:solidFill>
          <a:ln w="2222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36000" bIns="144000" anchor="ctr"/>
          <a:lstStyle/>
          <a:p>
            <a:r>
              <a:rPr lang="en-GB" sz="28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👀 </a:t>
            </a:r>
            <a:r>
              <a:rPr lang="en-GB" sz="20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Advertiser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8401CD2-EFAF-6E83-EA55-7DC561A0FD65}"/>
              </a:ext>
            </a:extLst>
          </p:cNvPr>
          <p:cNvSpPr/>
          <p:nvPr/>
        </p:nvSpPr>
        <p:spPr>
          <a:xfrm>
            <a:off x="282229" y="3726986"/>
            <a:ext cx="1334145" cy="392400"/>
          </a:xfrm>
          <a:prstGeom prst="rect">
            <a:avLst/>
          </a:prstGeom>
          <a:solidFill>
            <a:schemeClr val="tx1">
              <a:lumMod val="95000"/>
            </a:schemeClr>
          </a:solidFill>
          <a:ln w="2222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36000" bIns="144000" anchor="ctr"/>
          <a:lstStyle/>
          <a:p>
            <a:r>
              <a:rPr lang="en-GB" sz="28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💳 </a:t>
            </a:r>
            <a:r>
              <a:rPr lang="en-GB" sz="20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Payer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B5A3EA-3E03-D785-E75E-F4F861CEDCAE}"/>
              </a:ext>
            </a:extLst>
          </p:cNvPr>
          <p:cNvSpPr/>
          <p:nvPr/>
        </p:nvSpPr>
        <p:spPr>
          <a:xfrm>
            <a:off x="282227" y="3254173"/>
            <a:ext cx="1334146" cy="392400"/>
          </a:xfrm>
          <a:prstGeom prst="rect">
            <a:avLst/>
          </a:prstGeom>
          <a:solidFill>
            <a:schemeClr val="tx1">
              <a:lumMod val="95000"/>
            </a:schemeClr>
          </a:solidFill>
          <a:ln w="2222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36000" bIns="144000" anchor="ctr"/>
          <a:lstStyle/>
          <a:p>
            <a:r>
              <a:rPr lang="en-GB" sz="28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💵 </a:t>
            </a:r>
            <a:r>
              <a:rPr lang="en-GB" sz="20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Seller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560A62-17F7-5B95-08D7-E8A456C50404}"/>
              </a:ext>
            </a:extLst>
          </p:cNvPr>
          <p:cNvSpPr/>
          <p:nvPr/>
        </p:nvSpPr>
        <p:spPr>
          <a:xfrm>
            <a:off x="2745899" y="3726986"/>
            <a:ext cx="1845803" cy="392400"/>
          </a:xfrm>
          <a:prstGeom prst="rect">
            <a:avLst/>
          </a:prstGeom>
          <a:solidFill>
            <a:schemeClr val="tx1">
              <a:lumMod val="95000"/>
            </a:schemeClr>
          </a:solidFill>
          <a:ln w="2222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36000" bIns="144000" anchor="ctr"/>
          <a:lstStyle/>
          <a:p>
            <a:r>
              <a:rPr lang="en-GB" sz="28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🤝 </a:t>
            </a:r>
            <a:r>
              <a:rPr lang="en-GB" sz="20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Biller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B2940BC-FD73-D3BF-CB0F-2BB75E0C420E}"/>
              </a:ext>
            </a:extLst>
          </p:cNvPr>
          <p:cNvSpPr/>
          <p:nvPr/>
        </p:nvSpPr>
        <p:spPr>
          <a:xfrm>
            <a:off x="2745902" y="4190655"/>
            <a:ext cx="1845803" cy="392400"/>
          </a:xfrm>
          <a:prstGeom prst="rect">
            <a:avLst/>
          </a:prstGeom>
          <a:solidFill>
            <a:schemeClr val="tx1">
              <a:lumMod val="95000"/>
            </a:schemeClr>
          </a:solidFill>
          <a:ln w="2222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36000" bIns="144000" anchor="ctr"/>
          <a:lstStyle/>
          <a:p>
            <a:r>
              <a:rPr lang="en-GB" sz="28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🏦 </a:t>
            </a:r>
            <a:r>
              <a:rPr lang="en-GB" sz="20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Collector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96D86D-060E-5551-1E82-69788E782CCA}"/>
              </a:ext>
            </a:extLst>
          </p:cNvPr>
          <p:cNvSpPr/>
          <p:nvPr/>
        </p:nvSpPr>
        <p:spPr>
          <a:xfrm>
            <a:off x="2745898" y="4658355"/>
            <a:ext cx="1845803" cy="392400"/>
          </a:xfrm>
          <a:prstGeom prst="rect">
            <a:avLst/>
          </a:prstGeom>
          <a:solidFill>
            <a:schemeClr val="tx1">
              <a:lumMod val="95000"/>
            </a:schemeClr>
          </a:solidFill>
          <a:ln w="2222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36000" bIns="144000" anchor="ctr"/>
          <a:lstStyle/>
          <a:p>
            <a:r>
              <a:rPr lang="en-GB" sz="28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💳 </a:t>
            </a:r>
            <a:r>
              <a:rPr lang="en-GB" sz="20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Payer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C486039-7D39-891C-DBF3-F71F7EA5C8A3}"/>
              </a:ext>
            </a:extLst>
          </p:cNvPr>
          <p:cNvSpPr/>
          <p:nvPr/>
        </p:nvSpPr>
        <p:spPr>
          <a:xfrm>
            <a:off x="10108125" y="3254173"/>
            <a:ext cx="1688079" cy="392400"/>
          </a:xfrm>
          <a:prstGeom prst="rect">
            <a:avLst/>
          </a:prstGeom>
          <a:solidFill>
            <a:schemeClr val="tx1">
              <a:lumMod val="95000"/>
            </a:schemeClr>
          </a:solidFill>
          <a:ln w="2222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36000" bIns="144000" anchor="ctr"/>
          <a:lstStyle/>
          <a:p>
            <a:r>
              <a:rPr lang="en-GB" sz="28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🤗 </a:t>
            </a:r>
            <a:r>
              <a:rPr lang="en-GB" sz="20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Host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C25C1F6-9159-99B1-FD00-DD01DCA65A70}"/>
              </a:ext>
            </a:extLst>
          </p:cNvPr>
          <p:cNvSpPr/>
          <p:nvPr/>
        </p:nvSpPr>
        <p:spPr>
          <a:xfrm>
            <a:off x="10106664" y="3726986"/>
            <a:ext cx="1688079" cy="392400"/>
          </a:xfrm>
          <a:prstGeom prst="rect">
            <a:avLst/>
          </a:prstGeom>
          <a:solidFill>
            <a:schemeClr val="tx1">
              <a:lumMod val="95000"/>
            </a:schemeClr>
          </a:solidFill>
          <a:ln w="2222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36000" bIns="144000" anchor="ctr"/>
          <a:lstStyle/>
          <a:p>
            <a:r>
              <a:rPr lang="en-GB" sz="28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🏦 </a:t>
            </a:r>
            <a:r>
              <a:rPr lang="en-GB" sz="20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Collector</a:t>
            </a:r>
          </a:p>
        </p:txBody>
      </p:sp>
      <p:cxnSp>
        <p:nvCxnSpPr>
          <p:cNvPr id="32" name="Straight Arrow Connector 12">
            <a:extLst>
              <a:ext uri="{FF2B5EF4-FFF2-40B4-BE49-F238E27FC236}">
                <a16:creationId xmlns:a16="http://schemas.microsoft.com/office/drawing/2014/main" id="{669847E2-4514-6F52-5C4A-E17C7AADF284}"/>
              </a:ext>
            </a:extLst>
          </p:cNvPr>
          <p:cNvCxnSpPr>
            <a:cxnSpLocks/>
            <a:stCxn id="6" idx="1"/>
            <a:endCxn id="4" idx="3"/>
          </p:cNvCxnSpPr>
          <p:nvPr/>
        </p:nvCxnSpPr>
        <p:spPr>
          <a:xfrm flipH="1">
            <a:off x="1616374" y="3923186"/>
            <a:ext cx="1129525" cy="0"/>
          </a:xfrm>
          <a:prstGeom prst="straightConnector1">
            <a:avLst/>
          </a:prstGeom>
          <a:ln>
            <a:solidFill>
              <a:schemeClr val="bg1">
                <a:lumMod val="50000"/>
                <a:lumOff val="50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F246FAD6-9EB2-EEF5-645F-CC336ED70E8A}"/>
              </a:ext>
            </a:extLst>
          </p:cNvPr>
          <p:cNvSpPr/>
          <p:nvPr/>
        </p:nvSpPr>
        <p:spPr>
          <a:xfrm>
            <a:off x="6616960" y="3255483"/>
            <a:ext cx="1605738" cy="391090"/>
          </a:xfrm>
          <a:prstGeom prst="rect">
            <a:avLst/>
          </a:prstGeom>
          <a:solidFill>
            <a:schemeClr val="tx1">
              <a:lumMod val="95000"/>
            </a:schemeClr>
          </a:solidFill>
          <a:ln w="2222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36000" bIns="144000" anchor="ctr"/>
          <a:lstStyle/>
          <a:p>
            <a:r>
              <a:rPr lang="en-GB" sz="28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🧚 </a:t>
            </a:r>
            <a:r>
              <a:rPr lang="en-GB" sz="20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Curator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7F22899-A53E-207D-A93C-31874032E38D}"/>
              </a:ext>
            </a:extLst>
          </p:cNvPr>
          <p:cNvSpPr/>
          <p:nvPr/>
        </p:nvSpPr>
        <p:spPr>
          <a:xfrm>
            <a:off x="10104140" y="1173037"/>
            <a:ext cx="1688400" cy="392400"/>
          </a:xfrm>
          <a:prstGeom prst="rect">
            <a:avLst/>
          </a:prstGeom>
          <a:solidFill>
            <a:schemeClr val="tx1">
              <a:lumMod val="95000"/>
            </a:schemeClr>
          </a:solidFill>
          <a:ln w="2222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36000" bIns="144000" anchor="ctr"/>
          <a:lstStyle/>
          <a:p>
            <a:r>
              <a:rPr lang="en-GB" sz="28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🤵 </a:t>
            </a:r>
            <a:r>
              <a:rPr lang="en-GB" sz="20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Broker</a:t>
            </a:r>
          </a:p>
        </p:txBody>
      </p:sp>
      <p:cxnSp>
        <p:nvCxnSpPr>
          <p:cNvPr id="8" name="Straight Arrow Connector 12">
            <a:extLst>
              <a:ext uri="{FF2B5EF4-FFF2-40B4-BE49-F238E27FC236}">
                <a16:creationId xmlns:a16="http://schemas.microsoft.com/office/drawing/2014/main" id="{559B149D-7706-433B-7E64-10214C044E7C}"/>
              </a:ext>
            </a:extLst>
          </p:cNvPr>
          <p:cNvCxnSpPr>
            <a:cxnSpLocks/>
            <a:stCxn id="4" idx="2"/>
            <a:endCxn id="15" idx="1"/>
          </p:cNvCxnSpPr>
          <p:nvPr/>
        </p:nvCxnSpPr>
        <p:spPr>
          <a:xfrm rot="16200000" flipH="1">
            <a:off x="1713868" y="3354820"/>
            <a:ext cx="267469" cy="1796600"/>
          </a:xfrm>
          <a:prstGeom prst="bentConnector2">
            <a:avLst/>
          </a:prstGeom>
          <a:ln>
            <a:solidFill>
              <a:schemeClr val="bg1">
                <a:lumMod val="50000"/>
                <a:lumOff val="50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Straight Arrow Connector 12">
            <a:extLst>
              <a:ext uri="{FF2B5EF4-FFF2-40B4-BE49-F238E27FC236}">
                <a16:creationId xmlns:a16="http://schemas.microsoft.com/office/drawing/2014/main" id="{D26A71D7-B7B2-37A8-D962-BC01758FF632}"/>
              </a:ext>
            </a:extLst>
          </p:cNvPr>
          <p:cNvCxnSpPr>
            <a:cxnSpLocks/>
            <a:stCxn id="5" idx="3"/>
            <a:endCxn id="2" idx="1"/>
          </p:cNvCxnSpPr>
          <p:nvPr/>
        </p:nvCxnSpPr>
        <p:spPr>
          <a:xfrm>
            <a:off x="1616373" y="3450373"/>
            <a:ext cx="1129529" cy="0"/>
          </a:xfrm>
          <a:prstGeom prst="straightConnector1">
            <a:avLst/>
          </a:prstGeom>
          <a:ln>
            <a:solidFill>
              <a:schemeClr val="bg1">
                <a:lumMod val="50000"/>
                <a:lumOff val="50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2" name="Straight Arrow Connector 12">
            <a:extLst>
              <a:ext uri="{FF2B5EF4-FFF2-40B4-BE49-F238E27FC236}">
                <a16:creationId xmlns:a16="http://schemas.microsoft.com/office/drawing/2014/main" id="{F4210CC8-FFF7-0020-88C0-73D385780544}"/>
              </a:ext>
            </a:extLst>
          </p:cNvPr>
          <p:cNvCxnSpPr>
            <a:cxnSpLocks/>
            <a:endCxn id="71" idx="1"/>
          </p:cNvCxnSpPr>
          <p:nvPr/>
        </p:nvCxnSpPr>
        <p:spPr>
          <a:xfrm rot="16200000" flipH="1">
            <a:off x="2643219" y="5211950"/>
            <a:ext cx="444435" cy="239072"/>
          </a:xfrm>
          <a:prstGeom prst="bentConnector2">
            <a:avLst/>
          </a:prstGeom>
          <a:ln>
            <a:solidFill>
              <a:schemeClr val="bg1">
                <a:lumMod val="50000"/>
                <a:lumOff val="50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1" name="Rectangle 70">
            <a:extLst>
              <a:ext uri="{FF2B5EF4-FFF2-40B4-BE49-F238E27FC236}">
                <a16:creationId xmlns:a16="http://schemas.microsoft.com/office/drawing/2014/main" id="{E831069A-6202-0183-F4E5-F6F9CFC2E381}"/>
              </a:ext>
            </a:extLst>
          </p:cNvPr>
          <p:cNvSpPr/>
          <p:nvPr/>
        </p:nvSpPr>
        <p:spPr>
          <a:xfrm>
            <a:off x="2984972" y="5357504"/>
            <a:ext cx="1376334" cy="392400"/>
          </a:xfrm>
          <a:prstGeom prst="rect">
            <a:avLst/>
          </a:prstGeom>
          <a:solidFill>
            <a:schemeClr val="tx1">
              <a:lumMod val="95000"/>
            </a:schemeClr>
          </a:solidFill>
          <a:ln w="2222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36000" bIns="144000" anchor="ctr"/>
          <a:lstStyle/>
          <a:p>
            <a:r>
              <a:rPr lang="en-GB" sz="28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🧑‍🦰 </a:t>
            </a:r>
            <a:r>
              <a:rPr lang="en-GB" sz="20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Wallet</a:t>
            </a:r>
          </a:p>
        </p:txBody>
      </p:sp>
      <p:cxnSp>
        <p:nvCxnSpPr>
          <p:cNvPr id="78" name="Straight Arrow Connector 12">
            <a:extLst>
              <a:ext uri="{FF2B5EF4-FFF2-40B4-BE49-F238E27FC236}">
                <a16:creationId xmlns:a16="http://schemas.microsoft.com/office/drawing/2014/main" id="{8FFA45AB-A7FE-F2D9-5395-8FDA5F2359D0}"/>
              </a:ext>
            </a:extLst>
          </p:cNvPr>
          <p:cNvCxnSpPr>
            <a:cxnSpLocks/>
            <a:stCxn id="36" idx="1"/>
            <a:endCxn id="2" idx="3"/>
          </p:cNvCxnSpPr>
          <p:nvPr/>
        </p:nvCxnSpPr>
        <p:spPr>
          <a:xfrm flipH="1" flipV="1">
            <a:off x="4591705" y="3450373"/>
            <a:ext cx="2025255" cy="655"/>
          </a:xfrm>
          <a:prstGeom prst="straightConnector1">
            <a:avLst/>
          </a:prstGeom>
          <a:ln>
            <a:solidFill>
              <a:schemeClr val="bg1">
                <a:lumMod val="50000"/>
                <a:lumOff val="50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3B255128-D806-B256-60D4-C5D185977422}"/>
              </a:ext>
            </a:extLst>
          </p:cNvPr>
          <p:cNvSpPr txBox="1"/>
          <p:nvPr/>
        </p:nvSpPr>
        <p:spPr>
          <a:xfrm>
            <a:off x="4413923" y="2248039"/>
            <a:ext cx="202404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16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possible actions</a:t>
            </a:r>
          </a:p>
        </p:txBody>
      </p:sp>
      <p:cxnSp>
        <p:nvCxnSpPr>
          <p:cNvPr id="102" name="Straight Arrow Connector 12">
            <a:extLst>
              <a:ext uri="{FF2B5EF4-FFF2-40B4-BE49-F238E27FC236}">
                <a16:creationId xmlns:a16="http://schemas.microsoft.com/office/drawing/2014/main" id="{54C4606C-28CD-7978-127A-5F638A9E6DD3}"/>
              </a:ext>
            </a:extLst>
          </p:cNvPr>
          <p:cNvCxnSpPr>
            <a:cxnSpLocks/>
            <a:stCxn id="22" idx="1"/>
            <a:endCxn id="44" idx="1"/>
          </p:cNvCxnSpPr>
          <p:nvPr/>
        </p:nvCxnSpPr>
        <p:spPr>
          <a:xfrm rot="10800000" flipH="1">
            <a:off x="10038522" y="1369237"/>
            <a:ext cx="65618" cy="1697778"/>
          </a:xfrm>
          <a:prstGeom prst="bentConnector3">
            <a:avLst>
              <a:gd name="adj1" fmla="val -348380"/>
            </a:avLst>
          </a:prstGeom>
          <a:ln>
            <a:solidFill>
              <a:schemeClr val="bg1">
                <a:lumMod val="50000"/>
                <a:lumOff val="50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6" name="Rounded Rectangle 105">
            <a:extLst>
              <a:ext uri="{FF2B5EF4-FFF2-40B4-BE49-F238E27FC236}">
                <a16:creationId xmlns:a16="http://schemas.microsoft.com/office/drawing/2014/main" id="{487B8BB0-3EE0-91F7-786A-8B33C5C3C13B}"/>
              </a:ext>
            </a:extLst>
          </p:cNvPr>
          <p:cNvSpPr>
            <a:spLocks noChangeAspect="1"/>
          </p:cNvSpPr>
          <p:nvPr/>
        </p:nvSpPr>
        <p:spPr>
          <a:xfrm>
            <a:off x="10524489" y="2249386"/>
            <a:ext cx="273600" cy="2679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sz="1600" b="1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107" name="Straight Arrow Connector 12">
            <a:extLst>
              <a:ext uri="{FF2B5EF4-FFF2-40B4-BE49-F238E27FC236}">
                <a16:creationId xmlns:a16="http://schemas.microsoft.com/office/drawing/2014/main" id="{4C0C73FB-FDEE-65EE-3EBB-43965FE51616}"/>
              </a:ext>
            </a:extLst>
          </p:cNvPr>
          <p:cNvCxnSpPr>
            <a:cxnSpLocks/>
            <a:stCxn id="3" idx="1"/>
            <a:endCxn id="36" idx="3"/>
          </p:cNvCxnSpPr>
          <p:nvPr/>
        </p:nvCxnSpPr>
        <p:spPr>
          <a:xfrm flipH="1">
            <a:off x="8222698" y="3450373"/>
            <a:ext cx="1885427" cy="655"/>
          </a:xfrm>
          <a:prstGeom prst="straightConnector1">
            <a:avLst/>
          </a:prstGeom>
          <a:ln>
            <a:solidFill>
              <a:schemeClr val="bg1">
                <a:lumMod val="50000"/>
                <a:lumOff val="50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C4F949E0-D28E-7CBF-1E40-2C36B5114A1B}"/>
              </a:ext>
            </a:extLst>
          </p:cNvPr>
          <p:cNvSpPr txBox="1"/>
          <p:nvPr/>
        </p:nvSpPr>
        <p:spPr>
          <a:xfrm>
            <a:off x="8631772" y="3552283"/>
            <a:ext cx="1398746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GB" sz="16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summary</a:t>
            </a:r>
          </a:p>
        </p:txBody>
      </p:sp>
      <p:sp>
        <p:nvSpPr>
          <p:cNvPr id="113" name="Rounded Rectangle 112">
            <a:extLst>
              <a:ext uri="{FF2B5EF4-FFF2-40B4-BE49-F238E27FC236}">
                <a16:creationId xmlns:a16="http://schemas.microsoft.com/office/drawing/2014/main" id="{F1397B5F-AD65-65F1-1215-0A01C2482E28}"/>
              </a:ext>
            </a:extLst>
          </p:cNvPr>
          <p:cNvSpPr>
            <a:spLocks noChangeAspect="1"/>
          </p:cNvSpPr>
          <p:nvPr/>
        </p:nvSpPr>
        <p:spPr>
          <a:xfrm>
            <a:off x="8386049" y="3579616"/>
            <a:ext cx="273600" cy="2679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sz="1600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14" name="Rounded Rectangle 113">
            <a:extLst>
              <a:ext uri="{FF2B5EF4-FFF2-40B4-BE49-F238E27FC236}">
                <a16:creationId xmlns:a16="http://schemas.microsoft.com/office/drawing/2014/main" id="{A28D39CC-90AE-2163-8456-DB27062E9EFA}"/>
              </a:ext>
            </a:extLst>
          </p:cNvPr>
          <p:cNvSpPr>
            <a:spLocks noChangeAspect="1"/>
          </p:cNvSpPr>
          <p:nvPr/>
        </p:nvSpPr>
        <p:spPr>
          <a:xfrm>
            <a:off x="4155067" y="2292617"/>
            <a:ext cx="273600" cy="2679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sz="1600" b="1" dirty="0">
                <a:solidFill>
                  <a:schemeClr val="tx1"/>
                </a:solidFill>
              </a:rPr>
              <a:t>6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04EE07F-DFC9-99F6-DC3B-BB463DB6DD5B}"/>
              </a:ext>
            </a:extLst>
          </p:cNvPr>
          <p:cNvGrpSpPr/>
          <p:nvPr/>
        </p:nvGrpSpPr>
        <p:grpSpPr>
          <a:xfrm>
            <a:off x="622767" y="5331486"/>
            <a:ext cx="2024040" cy="338554"/>
            <a:chOff x="4925946" y="985951"/>
            <a:chExt cx="2024040" cy="338554"/>
          </a:xfrm>
        </p:grpSpPr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0D9AF386-DF2E-837B-696F-EC5D582BA29E}"/>
                </a:ext>
              </a:extLst>
            </p:cNvPr>
            <p:cNvSpPr txBox="1"/>
            <p:nvPr/>
          </p:nvSpPr>
          <p:spPr>
            <a:xfrm>
              <a:off x="4925946" y="985951"/>
              <a:ext cx="2024040" cy="33855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lang="en-GB" sz="16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next best actions</a:t>
              </a:r>
            </a:p>
          </p:txBody>
        </p:sp>
        <p:sp>
          <p:nvSpPr>
            <p:cNvPr id="116" name="Rounded Rectangle 115">
              <a:extLst>
                <a:ext uri="{FF2B5EF4-FFF2-40B4-BE49-F238E27FC236}">
                  <a16:creationId xmlns:a16="http://schemas.microsoft.com/office/drawing/2014/main" id="{1B1F170E-23EF-F944-7A8E-71B7D7DD1A1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610011" y="1038369"/>
              <a:ext cx="273600" cy="2679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sz="1600" b="1" dirty="0">
                  <a:solidFill>
                    <a:schemeClr val="tx1"/>
                  </a:solidFill>
                </a:rPr>
                <a:t>8</a:t>
              </a:r>
            </a:p>
          </p:txBody>
        </p:sp>
      </p:grpSp>
      <p:sp>
        <p:nvSpPr>
          <p:cNvPr id="119" name="TextBox 118">
            <a:extLst>
              <a:ext uri="{FF2B5EF4-FFF2-40B4-BE49-F238E27FC236}">
                <a16:creationId xmlns:a16="http://schemas.microsoft.com/office/drawing/2014/main" id="{2249E212-7C8A-7BD0-09A5-2997B9C89BA7}"/>
              </a:ext>
            </a:extLst>
          </p:cNvPr>
          <p:cNvSpPr txBox="1"/>
          <p:nvPr/>
        </p:nvSpPr>
        <p:spPr>
          <a:xfrm>
            <a:off x="4295539" y="1060261"/>
            <a:ext cx="3182893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16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navigate to selected option</a:t>
            </a:r>
          </a:p>
        </p:txBody>
      </p:sp>
      <p:sp>
        <p:nvSpPr>
          <p:cNvPr id="120" name="Rounded Rectangle 119">
            <a:extLst>
              <a:ext uri="{FF2B5EF4-FFF2-40B4-BE49-F238E27FC236}">
                <a16:creationId xmlns:a16="http://schemas.microsoft.com/office/drawing/2014/main" id="{80494E18-13F8-7FD6-C83F-AD8DA0A5FC54}"/>
              </a:ext>
            </a:extLst>
          </p:cNvPr>
          <p:cNvSpPr>
            <a:spLocks noChangeAspect="1"/>
          </p:cNvSpPr>
          <p:nvPr/>
        </p:nvSpPr>
        <p:spPr>
          <a:xfrm>
            <a:off x="4036784" y="1111354"/>
            <a:ext cx="273600" cy="2679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45720" rIns="0" rtlCol="0" anchor="ctr"/>
          <a:lstStyle/>
          <a:p>
            <a:pPr algn="ctr"/>
            <a:r>
              <a:rPr lang="en-GB" sz="1600" b="1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CF32A1EC-9A47-CD82-9074-8939D3D1D6BD}"/>
              </a:ext>
            </a:extLst>
          </p:cNvPr>
          <p:cNvSpPr txBox="1"/>
          <p:nvPr/>
        </p:nvSpPr>
        <p:spPr>
          <a:xfrm>
            <a:off x="2015939" y="3547880"/>
            <a:ext cx="639105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lang="en-GB" sz="16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debit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C93C5069-E622-C014-A409-569D7FA07316}"/>
              </a:ext>
            </a:extLst>
          </p:cNvPr>
          <p:cNvSpPr txBox="1"/>
          <p:nvPr/>
        </p:nvSpPr>
        <p:spPr>
          <a:xfrm>
            <a:off x="844812" y="4380356"/>
            <a:ext cx="1543895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16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payment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21335F86-1816-AF8F-915E-701E15557927}"/>
              </a:ext>
            </a:extLst>
          </p:cNvPr>
          <p:cNvSpPr txBox="1"/>
          <p:nvPr/>
        </p:nvSpPr>
        <p:spPr>
          <a:xfrm>
            <a:off x="2020967" y="3031497"/>
            <a:ext cx="639105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16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ads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7124864C-18CE-F0C5-FC8B-4F73C48AE015}"/>
              </a:ext>
            </a:extLst>
          </p:cNvPr>
          <p:cNvSpPr txBox="1"/>
          <p:nvPr/>
        </p:nvSpPr>
        <p:spPr>
          <a:xfrm>
            <a:off x="9649659" y="2558077"/>
            <a:ext cx="1235293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lang="en-GB" sz="16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bill</a:t>
            </a:r>
          </a:p>
        </p:txBody>
      </p:sp>
      <p:cxnSp>
        <p:nvCxnSpPr>
          <p:cNvPr id="17" name="Straight Arrow Connector 12">
            <a:extLst>
              <a:ext uri="{FF2B5EF4-FFF2-40B4-BE49-F238E27FC236}">
                <a16:creationId xmlns:a16="http://schemas.microsoft.com/office/drawing/2014/main" id="{E667F5D6-6305-BE5E-1FBB-6184FF01FBC2}"/>
              </a:ext>
            </a:extLst>
          </p:cNvPr>
          <p:cNvCxnSpPr>
            <a:cxnSpLocks/>
            <a:stCxn id="16" idx="3"/>
            <a:endCxn id="7" idx="2"/>
          </p:cNvCxnSpPr>
          <p:nvPr/>
        </p:nvCxnSpPr>
        <p:spPr>
          <a:xfrm flipV="1">
            <a:off x="4591701" y="4119386"/>
            <a:ext cx="6359003" cy="735169"/>
          </a:xfrm>
          <a:prstGeom prst="bentConnector2">
            <a:avLst/>
          </a:prstGeom>
          <a:ln>
            <a:solidFill>
              <a:schemeClr val="bg1">
                <a:lumMod val="50000"/>
                <a:lumOff val="50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24" name="Straight Arrow Connector 12">
            <a:extLst>
              <a:ext uri="{FF2B5EF4-FFF2-40B4-BE49-F238E27FC236}">
                <a16:creationId xmlns:a16="http://schemas.microsoft.com/office/drawing/2014/main" id="{6037A19A-1A52-C87C-4932-25DD16D3BF23}"/>
              </a:ext>
            </a:extLst>
          </p:cNvPr>
          <p:cNvCxnSpPr>
            <a:cxnSpLocks/>
            <a:stCxn id="16" idx="3"/>
            <a:endCxn id="131" idx="2"/>
          </p:cNvCxnSpPr>
          <p:nvPr/>
        </p:nvCxnSpPr>
        <p:spPr>
          <a:xfrm flipV="1">
            <a:off x="4591701" y="4119386"/>
            <a:ext cx="2832380" cy="735169"/>
          </a:xfrm>
          <a:prstGeom prst="bentConnector2">
            <a:avLst/>
          </a:prstGeom>
          <a:ln>
            <a:solidFill>
              <a:schemeClr val="bg1">
                <a:lumMod val="50000"/>
                <a:lumOff val="50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54" name="TextBox 153">
            <a:extLst>
              <a:ext uri="{FF2B5EF4-FFF2-40B4-BE49-F238E27FC236}">
                <a16:creationId xmlns:a16="http://schemas.microsoft.com/office/drawing/2014/main" id="{A1260684-EADC-EC0E-E70A-183E4B97DD2A}"/>
              </a:ext>
            </a:extLst>
          </p:cNvPr>
          <p:cNvSpPr txBox="1"/>
          <p:nvPr/>
        </p:nvSpPr>
        <p:spPr>
          <a:xfrm>
            <a:off x="9585913" y="4259867"/>
            <a:ext cx="1091366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GB" sz="16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payment</a:t>
            </a:r>
          </a:p>
        </p:txBody>
      </p:sp>
      <p:cxnSp>
        <p:nvCxnSpPr>
          <p:cNvPr id="215" name="Straight Arrow Connector 12">
            <a:extLst>
              <a:ext uri="{FF2B5EF4-FFF2-40B4-BE49-F238E27FC236}">
                <a16:creationId xmlns:a16="http://schemas.microsoft.com/office/drawing/2014/main" id="{910B6C23-2CE3-3180-FA18-A1CE7E75DEB0}"/>
              </a:ext>
            </a:extLst>
          </p:cNvPr>
          <p:cNvCxnSpPr>
            <a:cxnSpLocks/>
            <a:endCxn id="252" idx="0"/>
          </p:cNvCxnSpPr>
          <p:nvPr/>
        </p:nvCxnSpPr>
        <p:spPr>
          <a:xfrm rot="5400000" flipH="1" flipV="1">
            <a:off x="5548616" y="1497263"/>
            <a:ext cx="23577" cy="2788669"/>
          </a:xfrm>
          <a:prstGeom prst="bentConnector3">
            <a:avLst>
              <a:gd name="adj1" fmla="val 1069589"/>
            </a:avLst>
          </a:prstGeom>
          <a:ln>
            <a:solidFill>
              <a:schemeClr val="bg1">
                <a:lumMod val="50000"/>
                <a:lumOff val="50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23" name="TextBox 222">
            <a:extLst>
              <a:ext uri="{FF2B5EF4-FFF2-40B4-BE49-F238E27FC236}">
                <a16:creationId xmlns:a16="http://schemas.microsoft.com/office/drawing/2014/main" id="{D0D4F86D-B668-AF54-DFD9-9919A7EBDBF2}"/>
              </a:ext>
            </a:extLst>
          </p:cNvPr>
          <p:cNvSpPr txBox="1"/>
          <p:nvPr/>
        </p:nvSpPr>
        <p:spPr>
          <a:xfrm>
            <a:off x="6070481" y="4257754"/>
            <a:ext cx="1091366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GB" sz="16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payment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5785E3D6-A815-C8DC-199C-EB8992622A41}"/>
              </a:ext>
            </a:extLst>
          </p:cNvPr>
          <p:cNvSpPr txBox="1"/>
          <p:nvPr/>
        </p:nvSpPr>
        <p:spPr>
          <a:xfrm>
            <a:off x="4999474" y="3509325"/>
            <a:ext cx="1428215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16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anonymized</a:t>
            </a:r>
          </a:p>
        </p:txBody>
      </p:sp>
      <p:sp>
        <p:nvSpPr>
          <p:cNvPr id="226" name="Rounded Rectangle 225">
            <a:extLst>
              <a:ext uri="{FF2B5EF4-FFF2-40B4-BE49-F238E27FC236}">
                <a16:creationId xmlns:a16="http://schemas.microsoft.com/office/drawing/2014/main" id="{0CE5B752-0F21-98DB-8C99-30B63E573EEB}"/>
              </a:ext>
            </a:extLst>
          </p:cNvPr>
          <p:cNvSpPr>
            <a:spLocks noChangeAspect="1"/>
          </p:cNvSpPr>
          <p:nvPr/>
        </p:nvSpPr>
        <p:spPr>
          <a:xfrm>
            <a:off x="4750892" y="3553903"/>
            <a:ext cx="273600" cy="2679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sz="1600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27" name="Rounded Rectangle 226">
            <a:extLst>
              <a:ext uri="{FF2B5EF4-FFF2-40B4-BE49-F238E27FC236}">
                <a16:creationId xmlns:a16="http://schemas.microsoft.com/office/drawing/2014/main" id="{7B62CE08-CD28-F446-658E-854A68F145D2}"/>
              </a:ext>
            </a:extLst>
          </p:cNvPr>
          <p:cNvSpPr>
            <a:spLocks noChangeAspect="1"/>
          </p:cNvSpPr>
          <p:nvPr/>
        </p:nvSpPr>
        <p:spPr>
          <a:xfrm>
            <a:off x="1781153" y="3088051"/>
            <a:ext cx="273600" cy="267900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sz="1600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29" name="Rounded Rectangle 228">
            <a:extLst>
              <a:ext uri="{FF2B5EF4-FFF2-40B4-BE49-F238E27FC236}">
                <a16:creationId xmlns:a16="http://schemas.microsoft.com/office/drawing/2014/main" id="{F3C141C7-41A3-68FC-C21B-E0E34E97FE32}"/>
              </a:ext>
            </a:extLst>
          </p:cNvPr>
          <p:cNvSpPr>
            <a:spLocks noChangeAspect="1"/>
          </p:cNvSpPr>
          <p:nvPr/>
        </p:nvSpPr>
        <p:spPr>
          <a:xfrm>
            <a:off x="1777487" y="3587050"/>
            <a:ext cx="273600" cy="267900"/>
          </a:xfrm>
          <a:prstGeom prst="roundRect">
            <a:avLst/>
          </a:prstGeom>
          <a:solidFill>
            <a:srgbClr val="9452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sz="1600" b="1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231" name="Rounded Rectangle 230">
            <a:extLst>
              <a:ext uri="{FF2B5EF4-FFF2-40B4-BE49-F238E27FC236}">
                <a16:creationId xmlns:a16="http://schemas.microsoft.com/office/drawing/2014/main" id="{5B324E17-D84D-0281-C00D-C914A57FAC60}"/>
              </a:ext>
            </a:extLst>
          </p:cNvPr>
          <p:cNvSpPr>
            <a:spLocks noChangeAspect="1"/>
          </p:cNvSpPr>
          <p:nvPr/>
        </p:nvSpPr>
        <p:spPr>
          <a:xfrm>
            <a:off x="581182" y="4423721"/>
            <a:ext cx="273600" cy="267900"/>
          </a:xfrm>
          <a:prstGeom prst="roundRect">
            <a:avLst/>
          </a:prstGeom>
          <a:solidFill>
            <a:srgbClr val="9452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sz="1600" b="1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234" name="Rounded Rectangle 233">
            <a:extLst>
              <a:ext uri="{FF2B5EF4-FFF2-40B4-BE49-F238E27FC236}">
                <a16:creationId xmlns:a16="http://schemas.microsoft.com/office/drawing/2014/main" id="{6E91E00C-FB05-4A6B-0641-438453DB39F4}"/>
              </a:ext>
            </a:extLst>
          </p:cNvPr>
          <p:cNvSpPr>
            <a:spLocks noChangeAspect="1"/>
          </p:cNvSpPr>
          <p:nvPr/>
        </p:nvSpPr>
        <p:spPr>
          <a:xfrm>
            <a:off x="7039335" y="4300823"/>
            <a:ext cx="273600" cy="2679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sz="16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235" name="Rounded Rectangle 234">
            <a:extLst>
              <a:ext uri="{FF2B5EF4-FFF2-40B4-BE49-F238E27FC236}">
                <a16:creationId xmlns:a16="http://schemas.microsoft.com/office/drawing/2014/main" id="{7B561FBE-E97C-1A25-3CD0-774BE4176A08}"/>
              </a:ext>
            </a:extLst>
          </p:cNvPr>
          <p:cNvSpPr>
            <a:spLocks noChangeAspect="1"/>
          </p:cNvSpPr>
          <p:nvPr/>
        </p:nvSpPr>
        <p:spPr>
          <a:xfrm>
            <a:off x="10558593" y="4300823"/>
            <a:ext cx="273600" cy="2679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sz="1600" b="1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4AED1827-94B6-DCA2-9A06-0D0D66BBB095}"/>
              </a:ext>
            </a:extLst>
          </p:cNvPr>
          <p:cNvSpPr/>
          <p:nvPr/>
        </p:nvSpPr>
        <p:spPr>
          <a:xfrm>
            <a:off x="3073473" y="199945"/>
            <a:ext cx="1203491" cy="392400"/>
          </a:xfrm>
          <a:prstGeom prst="rect">
            <a:avLst/>
          </a:prstGeom>
          <a:solidFill>
            <a:schemeClr val="tx1">
              <a:lumMod val="95000"/>
            </a:schemeClr>
          </a:solidFill>
          <a:ln w="2222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36000" bIns="144000" anchor="ctr"/>
          <a:lstStyle/>
          <a:p>
            <a:r>
              <a:rPr lang="en-GB" sz="28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🤝 </a:t>
            </a:r>
            <a:r>
              <a:rPr lang="en-GB" sz="20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Biller</a:t>
            </a:r>
          </a:p>
        </p:txBody>
      </p:sp>
      <p:cxnSp>
        <p:nvCxnSpPr>
          <p:cNvPr id="242" name="Straight Arrow Connector 12">
            <a:extLst>
              <a:ext uri="{FF2B5EF4-FFF2-40B4-BE49-F238E27FC236}">
                <a16:creationId xmlns:a16="http://schemas.microsoft.com/office/drawing/2014/main" id="{991AA3EE-B118-5F74-F5DC-479BE87C1911}"/>
              </a:ext>
            </a:extLst>
          </p:cNvPr>
          <p:cNvCxnSpPr>
            <a:cxnSpLocks/>
            <a:stCxn id="10" idx="0"/>
            <a:endCxn id="241" idx="3"/>
          </p:cNvCxnSpPr>
          <p:nvPr/>
        </p:nvCxnSpPr>
        <p:spPr>
          <a:xfrm rot="16200000" flipV="1">
            <a:off x="7401829" y="-2728720"/>
            <a:ext cx="419258" cy="6668988"/>
          </a:xfrm>
          <a:prstGeom prst="bentConnector2">
            <a:avLst/>
          </a:prstGeom>
          <a:ln>
            <a:solidFill>
              <a:schemeClr val="bg1">
                <a:lumMod val="50000"/>
                <a:lumOff val="50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269" name="Group 268">
            <a:extLst>
              <a:ext uri="{FF2B5EF4-FFF2-40B4-BE49-F238E27FC236}">
                <a16:creationId xmlns:a16="http://schemas.microsoft.com/office/drawing/2014/main" id="{FE6E8C38-4677-1D0A-4175-79D66AEE3F38}"/>
              </a:ext>
            </a:extLst>
          </p:cNvPr>
          <p:cNvGrpSpPr/>
          <p:nvPr/>
        </p:nvGrpSpPr>
        <p:grpSpPr>
          <a:xfrm>
            <a:off x="9676369" y="456784"/>
            <a:ext cx="1388515" cy="338554"/>
            <a:chOff x="9740247" y="1519486"/>
            <a:chExt cx="1388515" cy="338554"/>
          </a:xfrm>
        </p:grpSpPr>
        <p:sp>
          <p:nvSpPr>
            <p:cNvPr id="245" name="TextBox 244">
              <a:extLst>
                <a:ext uri="{FF2B5EF4-FFF2-40B4-BE49-F238E27FC236}">
                  <a16:creationId xmlns:a16="http://schemas.microsoft.com/office/drawing/2014/main" id="{03246AF9-F840-5709-4939-7C9FB41CD33B}"/>
                </a:ext>
              </a:extLst>
            </p:cNvPr>
            <p:cNvSpPr txBox="1"/>
            <p:nvPr/>
          </p:nvSpPr>
          <p:spPr>
            <a:xfrm>
              <a:off x="9988830" y="1519486"/>
              <a:ext cx="1139932" cy="33855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lang="en-GB" sz="16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new bill</a:t>
              </a:r>
            </a:p>
          </p:txBody>
        </p:sp>
        <p:sp>
          <p:nvSpPr>
            <p:cNvPr id="246" name="Rounded Rectangle 245">
              <a:extLst>
                <a:ext uri="{FF2B5EF4-FFF2-40B4-BE49-F238E27FC236}">
                  <a16:creationId xmlns:a16="http://schemas.microsoft.com/office/drawing/2014/main" id="{A2E511CB-AB71-CD24-21B8-27CCF24C77D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740247" y="1564064"/>
              <a:ext cx="273600" cy="267900"/>
            </a:xfrm>
            <a:prstGeom prst="round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sz="1600" b="1" dirty="0">
                  <a:solidFill>
                    <a:schemeClr val="tx1"/>
                  </a:solidFill>
                </a:rPr>
                <a:t>2</a:t>
              </a:r>
            </a:p>
          </p:txBody>
        </p:sp>
      </p:grpSp>
      <p:sp>
        <p:nvSpPr>
          <p:cNvPr id="252" name="TextBox 251">
            <a:extLst>
              <a:ext uri="{FF2B5EF4-FFF2-40B4-BE49-F238E27FC236}">
                <a16:creationId xmlns:a16="http://schemas.microsoft.com/office/drawing/2014/main" id="{B424E39E-F618-70C0-BB1E-1D7AD6E8809C}"/>
              </a:ext>
            </a:extLst>
          </p:cNvPr>
          <p:cNvSpPr txBox="1"/>
          <p:nvPr/>
        </p:nvSpPr>
        <p:spPr>
          <a:xfrm>
            <a:off x="6832911" y="2879808"/>
            <a:ext cx="243656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/>
              <a:t>    </a:t>
            </a:r>
          </a:p>
        </p:txBody>
      </p:sp>
      <p:cxnSp>
        <p:nvCxnSpPr>
          <p:cNvPr id="262" name="Straight Arrow Connector 12">
            <a:extLst>
              <a:ext uri="{FF2B5EF4-FFF2-40B4-BE49-F238E27FC236}">
                <a16:creationId xmlns:a16="http://schemas.microsoft.com/office/drawing/2014/main" id="{A3405822-A54E-93B6-60E0-51C256CC4DD6}"/>
              </a:ext>
            </a:extLst>
          </p:cNvPr>
          <p:cNvCxnSpPr>
            <a:cxnSpLocks/>
            <a:stCxn id="265" idx="3"/>
            <a:endCxn id="241" idx="1"/>
          </p:cNvCxnSpPr>
          <p:nvPr/>
        </p:nvCxnSpPr>
        <p:spPr>
          <a:xfrm>
            <a:off x="1471449" y="395919"/>
            <a:ext cx="1602024" cy="226"/>
          </a:xfrm>
          <a:prstGeom prst="straightConnector1">
            <a:avLst/>
          </a:prstGeom>
          <a:ln>
            <a:solidFill>
              <a:schemeClr val="bg1">
                <a:lumMod val="50000"/>
                <a:lumOff val="50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72" name="Straight Arrow Connector 12">
            <a:extLst>
              <a:ext uri="{FF2B5EF4-FFF2-40B4-BE49-F238E27FC236}">
                <a16:creationId xmlns:a16="http://schemas.microsoft.com/office/drawing/2014/main" id="{5501DFAA-EFB3-421A-48AD-B7410D0D3B9E}"/>
              </a:ext>
            </a:extLst>
          </p:cNvPr>
          <p:cNvCxnSpPr>
            <a:cxnSpLocks/>
            <a:stCxn id="10" idx="2"/>
            <a:endCxn id="23" idx="0"/>
          </p:cNvCxnSpPr>
          <p:nvPr/>
        </p:nvCxnSpPr>
        <p:spPr>
          <a:xfrm>
            <a:off x="10945952" y="2116387"/>
            <a:ext cx="0" cy="773285"/>
          </a:xfrm>
          <a:prstGeom prst="straightConnector1">
            <a:avLst/>
          </a:prstGeom>
          <a:ln>
            <a:solidFill>
              <a:schemeClr val="bg1">
                <a:lumMod val="50000"/>
                <a:lumOff val="50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75" name="Rounded Rectangle 274">
            <a:extLst>
              <a:ext uri="{FF2B5EF4-FFF2-40B4-BE49-F238E27FC236}">
                <a16:creationId xmlns:a16="http://schemas.microsoft.com/office/drawing/2014/main" id="{39DE9B6D-5FCC-1D8A-2358-63173929326F}"/>
              </a:ext>
            </a:extLst>
          </p:cNvPr>
          <p:cNvSpPr>
            <a:spLocks noChangeAspect="1"/>
          </p:cNvSpPr>
          <p:nvPr/>
        </p:nvSpPr>
        <p:spPr>
          <a:xfrm>
            <a:off x="9412826" y="2005824"/>
            <a:ext cx="273600" cy="2679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sz="16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76" name="TextBox 275">
            <a:extLst>
              <a:ext uri="{FF2B5EF4-FFF2-40B4-BE49-F238E27FC236}">
                <a16:creationId xmlns:a16="http://schemas.microsoft.com/office/drawing/2014/main" id="{2028F9FB-7E01-6457-6C77-EAC96AD2BC8B}"/>
              </a:ext>
            </a:extLst>
          </p:cNvPr>
          <p:cNvSpPr txBox="1"/>
          <p:nvPr/>
        </p:nvSpPr>
        <p:spPr>
          <a:xfrm>
            <a:off x="8567813" y="2281328"/>
            <a:ext cx="1235293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lang="en-GB" sz="16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goodbye</a:t>
            </a:r>
          </a:p>
        </p:txBody>
      </p:sp>
      <p:sp>
        <p:nvSpPr>
          <p:cNvPr id="277" name="TextBox 276">
            <a:extLst>
              <a:ext uri="{FF2B5EF4-FFF2-40B4-BE49-F238E27FC236}">
                <a16:creationId xmlns:a16="http://schemas.microsoft.com/office/drawing/2014/main" id="{B700FC9C-9284-FA35-C98A-E1868D3C71F2}"/>
              </a:ext>
            </a:extLst>
          </p:cNvPr>
          <p:cNvSpPr txBox="1"/>
          <p:nvPr/>
        </p:nvSpPr>
        <p:spPr>
          <a:xfrm>
            <a:off x="1503719" y="425943"/>
            <a:ext cx="1410543" cy="15696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GB" sz="16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bill items:</a:t>
            </a:r>
          </a:p>
          <a:p>
            <a:r>
              <a:rPr lang="en-GB" sz="16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- summary</a:t>
            </a:r>
          </a:p>
          <a:p>
            <a:r>
              <a:rPr lang="en-GB" sz="16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- analysis</a:t>
            </a:r>
          </a:p>
          <a:p>
            <a:r>
              <a:rPr lang="en-GB" sz="16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- options</a:t>
            </a:r>
          </a:p>
          <a:p>
            <a:r>
              <a:rPr lang="en-GB" sz="16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- actions</a:t>
            </a:r>
          </a:p>
          <a:p>
            <a:r>
              <a:rPr lang="en-GB" sz="16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- locators</a:t>
            </a:r>
          </a:p>
        </p:txBody>
      </p:sp>
      <p:cxnSp>
        <p:nvCxnSpPr>
          <p:cNvPr id="278" name="Straight Arrow Connector 12">
            <a:extLst>
              <a:ext uri="{FF2B5EF4-FFF2-40B4-BE49-F238E27FC236}">
                <a16:creationId xmlns:a16="http://schemas.microsoft.com/office/drawing/2014/main" id="{12FD7CE9-EC23-98B1-CDF1-6E24035B168E}"/>
              </a:ext>
            </a:extLst>
          </p:cNvPr>
          <p:cNvCxnSpPr>
            <a:cxnSpLocks/>
            <a:stCxn id="241" idx="2"/>
          </p:cNvCxnSpPr>
          <p:nvPr/>
        </p:nvCxnSpPr>
        <p:spPr>
          <a:xfrm flipH="1">
            <a:off x="3673139" y="592345"/>
            <a:ext cx="2080" cy="2301362"/>
          </a:xfrm>
          <a:prstGeom prst="straightConnector1">
            <a:avLst/>
          </a:prstGeom>
          <a:ln>
            <a:solidFill>
              <a:schemeClr val="bg1">
                <a:lumMod val="50000"/>
                <a:lumOff val="50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83" name="TextBox 282">
            <a:extLst>
              <a:ext uri="{FF2B5EF4-FFF2-40B4-BE49-F238E27FC236}">
                <a16:creationId xmlns:a16="http://schemas.microsoft.com/office/drawing/2014/main" id="{C9CEC3B9-C61E-BF52-09C5-B01B84897F43}"/>
              </a:ext>
            </a:extLst>
          </p:cNvPr>
          <p:cNvSpPr txBox="1"/>
          <p:nvPr/>
        </p:nvSpPr>
        <p:spPr>
          <a:xfrm>
            <a:off x="3009566" y="1012915"/>
            <a:ext cx="639105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lang="en-GB" sz="16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debit</a:t>
            </a:r>
          </a:p>
        </p:txBody>
      </p:sp>
      <p:sp>
        <p:nvSpPr>
          <p:cNvPr id="284" name="Rounded Rectangle 283">
            <a:extLst>
              <a:ext uri="{FF2B5EF4-FFF2-40B4-BE49-F238E27FC236}">
                <a16:creationId xmlns:a16="http://schemas.microsoft.com/office/drawing/2014/main" id="{33D86450-0061-F613-0496-F961508074A8}"/>
              </a:ext>
            </a:extLst>
          </p:cNvPr>
          <p:cNvSpPr>
            <a:spLocks noChangeAspect="1"/>
          </p:cNvSpPr>
          <p:nvPr/>
        </p:nvSpPr>
        <p:spPr>
          <a:xfrm>
            <a:off x="3278012" y="715158"/>
            <a:ext cx="273600" cy="2679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sz="1600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285" name="TextBox 284">
            <a:extLst>
              <a:ext uri="{FF2B5EF4-FFF2-40B4-BE49-F238E27FC236}">
                <a16:creationId xmlns:a16="http://schemas.microsoft.com/office/drawing/2014/main" id="{CF7F30B8-8F69-5A13-5A9A-F8DE005C6EA5}"/>
              </a:ext>
            </a:extLst>
          </p:cNvPr>
          <p:cNvSpPr txBox="1"/>
          <p:nvPr/>
        </p:nvSpPr>
        <p:spPr>
          <a:xfrm>
            <a:off x="178670" y="6248084"/>
            <a:ext cx="2063065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sz="2800" dirty="0">
                <a:solidFill>
                  <a:srgbClr val="FFFF00"/>
                </a:solidFill>
              </a:rPr>
              <a:t>ADVERTISER</a:t>
            </a:r>
          </a:p>
        </p:txBody>
      </p:sp>
      <p:grpSp>
        <p:nvGrpSpPr>
          <p:cNvPr id="290" name="Group 289">
            <a:extLst>
              <a:ext uri="{FF2B5EF4-FFF2-40B4-BE49-F238E27FC236}">
                <a16:creationId xmlns:a16="http://schemas.microsoft.com/office/drawing/2014/main" id="{FB4D65BB-EC5F-0D77-E8B9-D243AF0C8B8D}"/>
              </a:ext>
            </a:extLst>
          </p:cNvPr>
          <p:cNvGrpSpPr/>
          <p:nvPr/>
        </p:nvGrpSpPr>
        <p:grpSpPr>
          <a:xfrm>
            <a:off x="224094" y="198367"/>
            <a:ext cx="1260278" cy="1788478"/>
            <a:chOff x="212807" y="198367"/>
            <a:chExt cx="1260278" cy="1788478"/>
          </a:xfrm>
        </p:grpSpPr>
        <p:grpSp>
          <p:nvGrpSpPr>
            <p:cNvPr id="287" name="Group 286">
              <a:extLst>
                <a:ext uri="{FF2B5EF4-FFF2-40B4-BE49-F238E27FC236}">
                  <a16:creationId xmlns:a16="http://schemas.microsoft.com/office/drawing/2014/main" id="{35488A1E-4A26-820D-EF9F-164F177FDDEF}"/>
                </a:ext>
              </a:extLst>
            </p:cNvPr>
            <p:cNvGrpSpPr/>
            <p:nvPr/>
          </p:nvGrpSpPr>
          <p:grpSpPr>
            <a:xfrm>
              <a:off x="212807" y="198367"/>
              <a:ext cx="1260278" cy="1788478"/>
              <a:chOff x="212807" y="198367"/>
              <a:chExt cx="1260278" cy="1788478"/>
            </a:xfrm>
          </p:grpSpPr>
          <p:grpSp>
            <p:nvGrpSpPr>
              <p:cNvPr id="268" name="Group 267">
                <a:extLst>
                  <a:ext uri="{FF2B5EF4-FFF2-40B4-BE49-F238E27FC236}">
                    <a16:creationId xmlns:a16="http://schemas.microsoft.com/office/drawing/2014/main" id="{D4429960-43C9-636B-E8CC-F8FA4176DA6F}"/>
                  </a:ext>
                </a:extLst>
              </p:cNvPr>
              <p:cNvGrpSpPr/>
              <p:nvPr/>
            </p:nvGrpSpPr>
            <p:grpSpPr>
              <a:xfrm>
                <a:off x="212807" y="198367"/>
                <a:ext cx="1260278" cy="1788478"/>
                <a:chOff x="2671809" y="1261069"/>
                <a:chExt cx="1260278" cy="1788478"/>
              </a:xfrm>
            </p:grpSpPr>
            <p:sp>
              <p:nvSpPr>
                <p:cNvPr id="261" name="Rectangle 260">
                  <a:extLst>
                    <a:ext uri="{FF2B5EF4-FFF2-40B4-BE49-F238E27FC236}">
                      <a16:creationId xmlns:a16="http://schemas.microsoft.com/office/drawing/2014/main" id="{9507CDF6-0A46-DC66-7A70-2F536E15516D}"/>
                    </a:ext>
                  </a:extLst>
                </p:cNvPr>
                <p:cNvSpPr/>
                <p:nvPr/>
              </p:nvSpPr>
              <p:spPr>
                <a:xfrm>
                  <a:off x="2671809" y="1261069"/>
                  <a:ext cx="1260278" cy="1788478"/>
                </a:xfrm>
                <a:prstGeom prst="rect">
                  <a:avLst/>
                </a:prstGeom>
                <a:solidFill>
                  <a:schemeClr val="bg1">
                    <a:lumMod val="85000"/>
                    <a:lumOff val="15000"/>
                  </a:schemeClr>
                </a:solidFill>
                <a:ln w="12700">
                  <a:solidFill>
                    <a:srgbClr val="5A6B86"/>
                  </a:solidFill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36000" rIns="0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GB" sz="2400" baseline="-11000" dirty="0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effectLst>
                        <a:glow>
                          <a:schemeClr val="bg1"/>
                        </a:glow>
                      </a:effectLst>
                    </a:rPr>
                    <a:t>🤝 </a:t>
                  </a:r>
                  <a:r>
                    <a:rPr lang="en-US" i="1" dirty="0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effectLst>
                        <a:glow>
                          <a:schemeClr val="bg1"/>
                        </a:glow>
                      </a:effectLst>
                    </a:rPr>
                    <a:t>auditing</a:t>
                  </a:r>
                </a:p>
              </p:txBody>
            </p:sp>
            <p:sp>
              <p:nvSpPr>
                <p:cNvPr id="258" name="Rectangle 257">
                  <a:extLst>
                    <a:ext uri="{FF2B5EF4-FFF2-40B4-BE49-F238E27FC236}">
                      <a16:creationId xmlns:a16="http://schemas.microsoft.com/office/drawing/2014/main" id="{BDAD9696-0E13-688E-D4CA-AD91EA80C585}"/>
                    </a:ext>
                  </a:extLst>
                </p:cNvPr>
                <p:cNvSpPr/>
                <p:nvPr/>
              </p:nvSpPr>
              <p:spPr>
                <a:xfrm>
                  <a:off x="2752625" y="1619505"/>
                  <a:ext cx="501299" cy="392400"/>
                </a:xfrm>
                <a:prstGeom prst="rect">
                  <a:avLst/>
                </a:prstGeom>
                <a:solidFill>
                  <a:schemeClr val="bg1"/>
                </a:solidFill>
                <a:ln w="22225">
                  <a:solidFill>
                    <a:schemeClr val="tx1">
                      <a:lumMod val="5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44000" tIns="144000" rIns="36000" bIns="144000" anchor="ctr"/>
                <a:lstStyle/>
                <a:p>
                  <a:r>
                    <a:rPr lang="en-GB" sz="2800" baseline="-9000" dirty="0">
                      <a:solidFill>
                        <a:schemeClr val="tx1"/>
                      </a:solidFill>
                      <a:effectLst>
                        <a:glow>
                          <a:schemeClr val="bg1"/>
                        </a:glow>
                      </a:effectLst>
                    </a:rPr>
                    <a:t>🤗 </a:t>
                  </a:r>
                  <a:r>
                    <a:rPr lang="en-GB" sz="2000" dirty="0">
                      <a:solidFill>
                        <a:schemeClr val="tx1"/>
                      </a:solidFill>
                      <a:latin typeface="+mj-lt"/>
                      <a:cs typeface="Arial" panose="020B0604020202020204" pitchFamily="34" charset="0"/>
                    </a:rPr>
                    <a:t> </a:t>
                  </a:r>
                </a:p>
              </p:txBody>
            </p:sp>
            <p:sp>
              <p:nvSpPr>
                <p:cNvPr id="259" name="Rectangle 258">
                  <a:extLst>
                    <a:ext uri="{FF2B5EF4-FFF2-40B4-BE49-F238E27FC236}">
                      <a16:creationId xmlns:a16="http://schemas.microsoft.com/office/drawing/2014/main" id="{62893914-1561-FF5E-0706-30769625EFDA}"/>
                    </a:ext>
                  </a:extLst>
                </p:cNvPr>
                <p:cNvSpPr/>
                <p:nvPr/>
              </p:nvSpPr>
              <p:spPr>
                <a:xfrm>
                  <a:off x="2752625" y="2107314"/>
                  <a:ext cx="501299" cy="391090"/>
                </a:xfrm>
                <a:prstGeom prst="rect">
                  <a:avLst/>
                </a:prstGeom>
                <a:solidFill>
                  <a:schemeClr val="bg1"/>
                </a:solidFill>
                <a:ln w="22225">
                  <a:solidFill>
                    <a:schemeClr val="tx1">
                      <a:lumMod val="5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44000" tIns="144000" rIns="36000" bIns="144000" anchor="ctr"/>
                <a:lstStyle/>
                <a:p>
                  <a:r>
                    <a:rPr lang="en-GB" sz="2800" baseline="-9000" dirty="0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effectLst>
                        <a:glow>
                          <a:schemeClr val="bg1"/>
                        </a:glow>
                      </a:effectLst>
                    </a:rPr>
                    <a:t>🧚</a:t>
                  </a:r>
                  <a:r>
                    <a:rPr lang="en-GB" sz="2800" baseline="-9000" dirty="0">
                      <a:solidFill>
                        <a:schemeClr val="tx1"/>
                      </a:solidFill>
                      <a:effectLst>
                        <a:glow>
                          <a:schemeClr val="bg1"/>
                        </a:glow>
                      </a:effectLst>
                    </a:rPr>
                    <a:t> </a:t>
                  </a:r>
                  <a:r>
                    <a:rPr lang="en-GB" sz="2000" dirty="0">
                      <a:solidFill>
                        <a:schemeClr val="tx1"/>
                      </a:solidFill>
                      <a:latin typeface="+mj-lt"/>
                      <a:cs typeface="Arial" panose="020B0604020202020204" pitchFamily="34" charset="0"/>
                    </a:rPr>
                    <a:t> </a:t>
                  </a:r>
                </a:p>
              </p:txBody>
            </p:sp>
            <p:sp>
              <p:nvSpPr>
                <p:cNvPr id="260" name="Rectangle 259">
                  <a:extLst>
                    <a:ext uri="{FF2B5EF4-FFF2-40B4-BE49-F238E27FC236}">
                      <a16:creationId xmlns:a16="http://schemas.microsoft.com/office/drawing/2014/main" id="{13CE89A4-5254-F8A4-FFD9-742D7709CF4C}"/>
                    </a:ext>
                  </a:extLst>
                </p:cNvPr>
                <p:cNvSpPr/>
                <p:nvPr/>
              </p:nvSpPr>
              <p:spPr>
                <a:xfrm>
                  <a:off x="3345195" y="2106577"/>
                  <a:ext cx="501299" cy="392400"/>
                </a:xfrm>
                <a:prstGeom prst="rect">
                  <a:avLst/>
                </a:prstGeom>
                <a:solidFill>
                  <a:schemeClr val="bg1"/>
                </a:solidFill>
                <a:ln w="22225">
                  <a:solidFill>
                    <a:schemeClr val="tx1">
                      <a:lumMod val="5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44000" tIns="144000" rIns="36000" bIns="144000" anchor="ctr"/>
                <a:lstStyle/>
                <a:p>
                  <a:r>
                    <a:rPr lang="en-GB" sz="2800" baseline="-9000" dirty="0">
                      <a:solidFill>
                        <a:schemeClr val="tx1"/>
                      </a:solidFill>
                      <a:effectLst>
                        <a:glow>
                          <a:schemeClr val="bg1"/>
                        </a:glow>
                      </a:effectLst>
                    </a:rPr>
                    <a:t>👀 </a:t>
                  </a:r>
                  <a:r>
                    <a:rPr lang="en-GB" sz="2000" dirty="0">
                      <a:solidFill>
                        <a:schemeClr val="tx1"/>
                      </a:solidFill>
                      <a:latin typeface="+mj-lt"/>
                      <a:cs typeface="Arial" panose="020B0604020202020204" pitchFamily="34" charset="0"/>
                    </a:rPr>
                    <a:t> </a:t>
                  </a:r>
                </a:p>
              </p:txBody>
            </p:sp>
            <p:sp>
              <p:nvSpPr>
                <p:cNvPr id="265" name="TextBox 264">
                  <a:extLst>
                    <a:ext uri="{FF2B5EF4-FFF2-40B4-BE49-F238E27FC236}">
                      <a16:creationId xmlns:a16="http://schemas.microsoft.com/office/drawing/2014/main" id="{CFD8FE2E-894F-0E58-C1EE-9F7CBD5BDC9A}"/>
                    </a:ext>
                  </a:extLst>
                </p:cNvPr>
                <p:cNvSpPr txBox="1"/>
                <p:nvPr/>
              </p:nvSpPr>
              <p:spPr>
                <a:xfrm>
                  <a:off x="3675508" y="1273955"/>
                  <a:ext cx="243656" cy="369332"/>
                </a:xfrm>
                <a:prstGeom prst="rect">
                  <a:avLst/>
                </a:prstGeom>
                <a:noFill/>
              </p:spPr>
              <p:txBody>
                <a:bodyPr wrap="none" lIns="0" rIns="0" rtlCol="0">
                  <a:spAutoFit/>
                </a:bodyPr>
                <a:lstStyle/>
                <a:p>
                  <a:pPr algn="l"/>
                  <a:r>
                    <a:rPr lang="en-US" dirty="0"/>
                    <a:t>    </a:t>
                  </a:r>
                </a:p>
              </p:txBody>
            </p:sp>
          </p:grpSp>
          <p:sp>
            <p:nvSpPr>
              <p:cNvPr id="286" name="Rectangle 285">
                <a:extLst>
                  <a:ext uri="{FF2B5EF4-FFF2-40B4-BE49-F238E27FC236}">
                    <a16:creationId xmlns:a16="http://schemas.microsoft.com/office/drawing/2014/main" id="{B42EC763-5F8A-C04F-9D5A-172DDEE9450A}"/>
                  </a:ext>
                </a:extLst>
              </p:cNvPr>
              <p:cNvSpPr/>
              <p:nvPr/>
            </p:nvSpPr>
            <p:spPr>
              <a:xfrm>
                <a:off x="293516" y="1518998"/>
                <a:ext cx="501300" cy="392400"/>
              </a:xfrm>
              <a:prstGeom prst="rect">
                <a:avLst/>
              </a:prstGeom>
              <a:solidFill>
                <a:schemeClr val="bg1"/>
              </a:solidFill>
              <a:ln w="2222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36000" bIns="144000" anchor="ctr"/>
              <a:lstStyle/>
              <a:p>
                <a:r>
                  <a:rPr lang="en-GB" sz="28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🤵</a:t>
                </a:r>
                <a:r>
                  <a:rPr lang="en-GB" sz="2800" baseline="-9000" dirty="0">
                    <a:solidFill>
                      <a:schemeClr val="tx1"/>
                    </a:solidFill>
                    <a:effectLst>
                      <a:glow>
                        <a:schemeClr val="bg1"/>
                      </a:glow>
                    </a:effectLst>
                  </a:rPr>
                  <a:t> </a:t>
                </a:r>
                <a:r>
                  <a:rPr lang="en-GB" sz="2000" dirty="0">
                    <a:solidFill>
                      <a:schemeClr val="tx1"/>
                    </a:solidFill>
                    <a:latin typeface="+mj-lt"/>
                    <a:cs typeface="Arial" panose="020B0604020202020204" pitchFamily="34" charset="0"/>
                  </a:rPr>
                  <a:t> </a:t>
                </a:r>
              </a:p>
            </p:txBody>
          </p:sp>
        </p:grpSp>
        <p:sp>
          <p:nvSpPr>
            <p:cNvPr id="289" name="Rectangle 288">
              <a:extLst>
                <a:ext uri="{FF2B5EF4-FFF2-40B4-BE49-F238E27FC236}">
                  <a16:creationId xmlns:a16="http://schemas.microsoft.com/office/drawing/2014/main" id="{8195573C-BB30-B430-C2DC-2D2A1E2DFC44}"/>
                </a:ext>
              </a:extLst>
            </p:cNvPr>
            <p:cNvSpPr/>
            <p:nvPr/>
          </p:nvSpPr>
          <p:spPr>
            <a:xfrm>
              <a:off x="888559" y="556803"/>
              <a:ext cx="501299" cy="392400"/>
            </a:xfrm>
            <a:prstGeom prst="rect">
              <a:avLst/>
            </a:prstGeom>
            <a:solidFill>
              <a:schemeClr val="bg1"/>
            </a:solidFill>
            <a:ln w="2222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36000" bIns="144000" anchor="ctr"/>
            <a:lstStyle/>
            <a:p>
              <a:r>
                <a:rPr lang="en-GB" sz="2800" baseline="-9000" dirty="0">
                  <a:solidFill>
                    <a:schemeClr val="tx1"/>
                  </a:solidFill>
                  <a:effectLst>
                    <a:glow>
                      <a:schemeClr val="bg1"/>
                    </a:glow>
                  </a:effectLst>
                </a:rPr>
                <a:t>💵 </a:t>
              </a:r>
              <a:r>
                <a:rPr lang="en-GB" sz="2000" dirty="0">
                  <a:solidFill>
                    <a:schemeClr val="tx1"/>
                  </a:solidFill>
                  <a:latin typeface="+mj-lt"/>
                  <a:cs typeface="Arial" panose="020B0604020202020204" pitchFamily="34" charset="0"/>
                </a:rPr>
                <a:t> </a:t>
              </a:r>
            </a:p>
          </p:txBody>
        </p:sp>
      </p:grpSp>
      <p:sp>
        <p:nvSpPr>
          <p:cNvPr id="291" name="TextBox 290">
            <a:extLst>
              <a:ext uri="{FF2B5EF4-FFF2-40B4-BE49-F238E27FC236}">
                <a16:creationId xmlns:a16="http://schemas.microsoft.com/office/drawing/2014/main" id="{B54267EC-725E-4E01-982B-B196FE3E6DED}"/>
              </a:ext>
            </a:extLst>
          </p:cNvPr>
          <p:cNvSpPr txBox="1"/>
          <p:nvPr/>
        </p:nvSpPr>
        <p:spPr>
          <a:xfrm>
            <a:off x="4999474" y="3853638"/>
            <a:ext cx="1624956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16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sorted actions</a:t>
            </a:r>
          </a:p>
        </p:txBody>
      </p:sp>
      <p:sp>
        <p:nvSpPr>
          <p:cNvPr id="292" name="Rounded Rectangle 291">
            <a:extLst>
              <a:ext uri="{FF2B5EF4-FFF2-40B4-BE49-F238E27FC236}">
                <a16:creationId xmlns:a16="http://schemas.microsoft.com/office/drawing/2014/main" id="{EEC0B438-CFAC-68BF-01E6-22CD944A123B}"/>
              </a:ext>
            </a:extLst>
          </p:cNvPr>
          <p:cNvSpPr>
            <a:spLocks noChangeAspect="1"/>
          </p:cNvSpPr>
          <p:nvPr/>
        </p:nvSpPr>
        <p:spPr>
          <a:xfrm>
            <a:off x="4750892" y="3898216"/>
            <a:ext cx="273600" cy="2679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sz="1600" b="1" dirty="0">
                <a:solidFill>
                  <a:schemeClr val="tx1"/>
                </a:solidFill>
              </a:rPr>
              <a:t>7</a:t>
            </a:r>
          </a:p>
        </p:txBody>
      </p:sp>
      <p:cxnSp>
        <p:nvCxnSpPr>
          <p:cNvPr id="27" name="Straight Arrow Connector 12">
            <a:extLst>
              <a:ext uri="{FF2B5EF4-FFF2-40B4-BE49-F238E27FC236}">
                <a16:creationId xmlns:a16="http://schemas.microsoft.com/office/drawing/2014/main" id="{04CA260E-BAF4-0005-C8DA-759C950BA4E1}"/>
              </a:ext>
            </a:extLst>
          </p:cNvPr>
          <p:cNvCxnSpPr>
            <a:cxnSpLocks/>
            <a:endCxn id="71" idx="3"/>
          </p:cNvCxnSpPr>
          <p:nvPr/>
        </p:nvCxnSpPr>
        <p:spPr>
          <a:xfrm rot="5400000">
            <a:off x="4253205" y="5224634"/>
            <a:ext cx="437171" cy="220968"/>
          </a:xfrm>
          <a:prstGeom prst="bentConnector2">
            <a:avLst/>
          </a:prstGeom>
          <a:ln>
            <a:solidFill>
              <a:schemeClr val="bg1">
                <a:lumMod val="50000"/>
                <a:lumOff val="50000"/>
              </a:schemeClr>
            </a:solidFill>
            <a:headEnd type="triangle" w="lg" len="lg"/>
            <a:tailEnd type="non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41" name="Group 40">
            <a:extLst>
              <a:ext uri="{FF2B5EF4-FFF2-40B4-BE49-F238E27FC236}">
                <a16:creationId xmlns:a16="http://schemas.microsoft.com/office/drawing/2014/main" id="{C50E1E50-D39F-5EA7-B07D-EB57E39C7160}"/>
              </a:ext>
            </a:extLst>
          </p:cNvPr>
          <p:cNvGrpSpPr/>
          <p:nvPr/>
        </p:nvGrpSpPr>
        <p:grpSpPr>
          <a:xfrm>
            <a:off x="4750892" y="5331477"/>
            <a:ext cx="2282795" cy="338554"/>
            <a:chOff x="4667191" y="985951"/>
            <a:chExt cx="2282795" cy="338554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A263A264-D3C3-B8AC-612E-390B7FFC3326}"/>
                </a:ext>
              </a:extLst>
            </p:cNvPr>
            <p:cNvSpPr txBox="1"/>
            <p:nvPr/>
          </p:nvSpPr>
          <p:spPr>
            <a:xfrm>
              <a:off x="4925946" y="985951"/>
              <a:ext cx="2024040" cy="33855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lang="en-GB" sz="16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selected action</a:t>
              </a:r>
            </a:p>
          </p:txBody>
        </p:sp>
        <p:sp>
          <p:nvSpPr>
            <p:cNvPr id="43" name="Rounded Rectangle 42">
              <a:extLst>
                <a:ext uri="{FF2B5EF4-FFF2-40B4-BE49-F238E27FC236}">
                  <a16:creationId xmlns:a16="http://schemas.microsoft.com/office/drawing/2014/main" id="{1D18006A-BDB4-9C30-3325-91530335B85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67191" y="1026770"/>
              <a:ext cx="273600" cy="2679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sz="1600" b="1" dirty="0">
                  <a:solidFill>
                    <a:schemeClr val="tx1"/>
                  </a:solidFill>
                </a:rPr>
                <a:t>9</a:t>
              </a:r>
            </a:p>
          </p:txBody>
        </p:sp>
      </p:grpSp>
      <p:cxnSp>
        <p:nvCxnSpPr>
          <p:cNvPr id="12" name="Straight Arrow Connector 12">
            <a:extLst>
              <a:ext uri="{FF2B5EF4-FFF2-40B4-BE49-F238E27FC236}">
                <a16:creationId xmlns:a16="http://schemas.microsoft.com/office/drawing/2014/main" id="{5D5866F1-C970-3165-82FA-7C9F66BFE7BF}"/>
              </a:ext>
            </a:extLst>
          </p:cNvPr>
          <p:cNvCxnSpPr>
            <a:cxnSpLocks/>
            <a:stCxn id="20" idx="0"/>
          </p:cNvCxnSpPr>
          <p:nvPr/>
        </p:nvCxnSpPr>
        <p:spPr>
          <a:xfrm rot="5400000" flipH="1" flipV="1">
            <a:off x="6034138" y="-1103708"/>
            <a:ext cx="1891305" cy="6103524"/>
          </a:xfrm>
          <a:prstGeom prst="bentConnector2">
            <a:avLst/>
          </a:prstGeom>
          <a:ln>
            <a:solidFill>
              <a:schemeClr val="bg1">
                <a:lumMod val="50000"/>
                <a:lumOff val="50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65CFE864-2710-E692-A395-CB90977BFDD7}"/>
              </a:ext>
            </a:extLst>
          </p:cNvPr>
          <p:cNvSpPr txBox="1"/>
          <p:nvPr/>
        </p:nvSpPr>
        <p:spPr>
          <a:xfrm>
            <a:off x="3806200" y="2893706"/>
            <a:ext cx="243656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PT" dirty="0"/>
              <a:t>   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4834806-25DD-E0B8-F03C-B6CFA135ED09}"/>
              </a:ext>
            </a:extLst>
          </p:cNvPr>
          <p:cNvSpPr/>
          <p:nvPr/>
        </p:nvSpPr>
        <p:spPr>
          <a:xfrm>
            <a:off x="10104140" y="1652880"/>
            <a:ext cx="1688400" cy="392400"/>
          </a:xfrm>
          <a:prstGeom prst="rect">
            <a:avLst/>
          </a:prstGeom>
          <a:solidFill>
            <a:schemeClr val="tx1">
              <a:lumMod val="95000"/>
            </a:schemeClr>
          </a:solidFill>
          <a:ln w="2222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36000" bIns="144000" anchor="ctr"/>
          <a:lstStyle/>
          <a:p>
            <a:r>
              <a:rPr lang="en-GB" sz="28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🏦 </a:t>
            </a:r>
            <a:r>
              <a:rPr lang="en-GB" sz="20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Collector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EF71313-3811-B1BE-6265-300F051DCF70}"/>
              </a:ext>
            </a:extLst>
          </p:cNvPr>
          <p:cNvSpPr txBox="1"/>
          <p:nvPr/>
        </p:nvSpPr>
        <p:spPr>
          <a:xfrm>
            <a:off x="10038522" y="2882349"/>
            <a:ext cx="304571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PT" dirty="0"/>
              <a:t>     </a:t>
            </a:r>
          </a:p>
        </p:txBody>
      </p:sp>
      <p:cxnSp>
        <p:nvCxnSpPr>
          <p:cNvPr id="26" name="Straight Arrow Connector 12">
            <a:extLst>
              <a:ext uri="{FF2B5EF4-FFF2-40B4-BE49-F238E27FC236}">
                <a16:creationId xmlns:a16="http://schemas.microsoft.com/office/drawing/2014/main" id="{912AD610-8D30-9131-5C4C-3D0CA34F69E9}"/>
              </a:ext>
            </a:extLst>
          </p:cNvPr>
          <p:cNvCxnSpPr>
            <a:cxnSpLocks/>
            <a:stCxn id="16" idx="3"/>
            <a:endCxn id="9" idx="3"/>
          </p:cNvCxnSpPr>
          <p:nvPr/>
        </p:nvCxnSpPr>
        <p:spPr>
          <a:xfrm flipV="1">
            <a:off x="4591701" y="1849080"/>
            <a:ext cx="7200839" cy="3005475"/>
          </a:xfrm>
          <a:prstGeom prst="bentConnector3">
            <a:avLst>
              <a:gd name="adj1" fmla="val 103175"/>
            </a:avLst>
          </a:prstGeom>
          <a:ln>
            <a:solidFill>
              <a:schemeClr val="bg1">
                <a:lumMod val="50000"/>
                <a:lumOff val="50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5B43C7D2-4C0A-E60B-FEFA-96FB16B3F071}"/>
              </a:ext>
            </a:extLst>
          </p:cNvPr>
          <p:cNvSpPr txBox="1"/>
          <p:nvPr/>
        </p:nvSpPr>
        <p:spPr>
          <a:xfrm>
            <a:off x="11006953" y="2516993"/>
            <a:ext cx="1091366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GB" sz="16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payment</a:t>
            </a: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75F32961-82C1-0583-C33D-872AB3036A1B}"/>
              </a:ext>
            </a:extLst>
          </p:cNvPr>
          <p:cNvSpPr>
            <a:spLocks noChangeAspect="1"/>
          </p:cNvSpPr>
          <p:nvPr/>
        </p:nvSpPr>
        <p:spPr>
          <a:xfrm>
            <a:off x="11603751" y="2249093"/>
            <a:ext cx="273600" cy="2679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sz="1600" b="1" dirty="0">
                <a:solidFill>
                  <a:schemeClr val="tx1"/>
                </a:solidFill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2002458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33885-F462-FB8E-3100-F94542469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9CBE75F-F81A-2433-E250-BD303D622BFB}"/>
              </a:ext>
            </a:extLst>
          </p:cNvPr>
          <p:cNvSpPr/>
          <p:nvPr/>
        </p:nvSpPr>
        <p:spPr>
          <a:xfrm>
            <a:off x="144139" y="2890741"/>
            <a:ext cx="1481277" cy="13034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💵 </a:t>
            </a:r>
            <a:r>
              <a:rPr lang="en-US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seller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50FBDA1-FE11-F35B-9528-7F1D05169BFA}"/>
              </a:ext>
            </a:extLst>
          </p:cNvPr>
          <p:cNvSpPr/>
          <p:nvPr/>
        </p:nvSpPr>
        <p:spPr>
          <a:xfrm>
            <a:off x="9614109" y="2889672"/>
            <a:ext cx="1828801" cy="1300984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🤗 </a:t>
            </a:r>
            <a:r>
              <a:rPr lang="en-US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host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A4B6A18-56DC-EFAC-1B08-E365F1D81889}"/>
              </a:ext>
            </a:extLst>
          </p:cNvPr>
          <p:cNvSpPr/>
          <p:nvPr/>
        </p:nvSpPr>
        <p:spPr>
          <a:xfrm>
            <a:off x="2612174" y="2893707"/>
            <a:ext cx="1982110" cy="221556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👀 </a:t>
            </a:r>
            <a:r>
              <a:rPr lang="en-US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advertiser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8DF03045-DC0E-607B-1BBA-C002772FB9A7}"/>
              </a:ext>
            </a:extLst>
          </p:cNvPr>
          <p:cNvSpPr/>
          <p:nvPr/>
        </p:nvSpPr>
        <p:spPr>
          <a:xfrm>
            <a:off x="6495876" y="2888031"/>
            <a:ext cx="1719072" cy="1300984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🧚 </a:t>
            </a:r>
            <a:r>
              <a:rPr lang="en-US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curator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1A2546-8F10-DB27-F1E0-B4591CEDC90C}"/>
              </a:ext>
            </a:extLst>
          </p:cNvPr>
          <p:cNvSpPr/>
          <p:nvPr/>
        </p:nvSpPr>
        <p:spPr>
          <a:xfrm>
            <a:off x="9614109" y="129209"/>
            <a:ext cx="1828801" cy="198717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>
              <a:defRPr/>
            </a:pPr>
            <a:r>
              <a:rPr lang="en-GB" sz="24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🤵</a:t>
            </a:r>
            <a:r>
              <a:rPr lang="en-GB" sz="24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US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broker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85391E80-2444-35A3-6332-50CD4947D8A9}"/>
              </a:ext>
            </a:extLst>
          </p:cNvPr>
          <p:cNvSpPr/>
          <p:nvPr/>
        </p:nvSpPr>
        <p:spPr>
          <a:xfrm>
            <a:off x="6565829" y="3726986"/>
            <a:ext cx="1597235" cy="392400"/>
          </a:xfrm>
          <a:prstGeom prst="rect">
            <a:avLst/>
          </a:prstGeom>
          <a:solidFill>
            <a:schemeClr val="tx1">
              <a:lumMod val="95000"/>
            </a:schemeClr>
          </a:solidFill>
          <a:ln w="2222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36000" bIns="144000" anchor="ctr"/>
          <a:lstStyle/>
          <a:p>
            <a:r>
              <a:rPr lang="en-GB" sz="28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🏦 </a:t>
            </a:r>
            <a:r>
              <a:rPr lang="en-GB" sz="20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Collector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6E10567-0F89-D6EC-E998-267CFA3B1FEA}"/>
              </a:ext>
            </a:extLst>
          </p:cNvPr>
          <p:cNvSpPr/>
          <p:nvPr/>
        </p:nvSpPr>
        <p:spPr>
          <a:xfrm>
            <a:off x="2686268" y="3254173"/>
            <a:ext cx="1845803" cy="392400"/>
          </a:xfrm>
          <a:prstGeom prst="rect">
            <a:avLst/>
          </a:prstGeom>
          <a:solidFill>
            <a:schemeClr val="tx1">
              <a:lumMod val="95000"/>
            </a:schemeClr>
          </a:solidFill>
          <a:ln w="2222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36000" bIns="144000" anchor="ctr"/>
          <a:lstStyle/>
          <a:p>
            <a:r>
              <a:rPr lang="en-GB" sz="28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👀 </a:t>
            </a:r>
            <a:r>
              <a:rPr lang="en-GB" sz="20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Advertiser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C8EBDE-A196-6C81-3E72-6857476EE8D7}"/>
              </a:ext>
            </a:extLst>
          </p:cNvPr>
          <p:cNvSpPr/>
          <p:nvPr/>
        </p:nvSpPr>
        <p:spPr>
          <a:xfrm>
            <a:off x="222595" y="3726986"/>
            <a:ext cx="1334145" cy="392400"/>
          </a:xfrm>
          <a:prstGeom prst="rect">
            <a:avLst/>
          </a:prstGeom>
          <a:solidFill>
            <a:schemeClr val="tx1">
              <a:lumMod val="95000"/>
            </a:schemeClr>
          </a:solidFill>
          <a:ln w="2222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36000" bIns="144000" anchor="ctr"/>
          <a:lstStyle/>
          <a:p>
            <a:r>
              <a:rPr lang="en-GB" sz="28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💳 </a:t>
            </a:r>
            <a:r>
              <a:rPr lang="en-GB" sz="20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Payer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0830082-E184-CF3F-7D8B-8557D3003489}"/>
              </a:ext>
            </a:extLst>
          </p:cNvPr>
          <p:cNvSpPr/>
          <p:nvPr/>
        </p:nvSpPr>
        <p:spPr>
          <a:xfrm>
            <a:off x="222593" y="3254173"/>
            <a:ext cx="1334146" cy="392400"/>
          </a:xfrm>
          <a:prstGeom prst="rect">
            <a:avLst/>
          </a:prstGeom>
          <a:solidFill>
            <a:schemeClr val="tx1">
              <a:lumMod val="95000"/>
            </a:schemeClr>
          </a:solidFill>
          <a:ln w="2222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36000" bIns="144000" anchor="ctr"/>
          <a:lstStyle/>
          <a:p>
            <a:r>
              <a:rPr lang="en-GB" sz="28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💵 </a:t>
            </a:r>
            <a:r>
              <a:rPr lang="en-GB" sz="20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Seller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5725D5-0509-EAC4-E195-4F8C10A61F01}"/>
              </a:ext>
            </a:extLst>
          </p:cNvPr>
          <p:cNvSpPr/>
          <p:nvPr/>
        </p:nvSpPr>
        <p:spPr>
          <a:xfrm>
            <a:off x="2686265" y="3726986"/>
            <a:ext cx="1845803" cy="392400"/>
          </a:xfrm>
          <a:prstGeom prst="rect">
            <a:avLst/>
          </a:prstGeom>
          <a:solidFill>
            <a:schemeClr val="tx1">
              <a:lumMod val="95000"/>
            </a:schemeClr>
          </a:solidFill>
          <a:ln w="2222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36000" bIns="144000" anchor="ctr"/>
          <a:lstStyle/>
          <a:p>
            <a:r>
              <a:rPr lang="en-GB" sz="28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🤝 </a:t>
            </a:r>
            <a:r>
              <a:rPr lang="en-GB" sz="20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Biller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2F5137B-89EE-1B45-5DCE-8F07327836CD}"/>
              </a:ext>
            </a:extLst>
          </p:cNvPr>
          <p:cNvSpPr/>
          <p:nvPr/>
        </p:nvSpPr>
        <p:spPr>
          <a:xfrm>
            <a:off x="2686268" y="4190655"/>
            <a:ext cx="1845803" cy="392400"/>
          </a:xfrm>
          <a:prstGeom prst="rect">
            <a:avLst/>
          </a:prstGeom>
          <a:solidFill>
            <a:schemeClr val="tx1">
              <a:lumMod val="95000"/>
            </a:schemeClr>
          </a:solidFill>
          <a:ln w="2222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36000" bIns="144000" anchor="ctr"/>
          <a:lstStyle/>
          <a:p>
            <a:r>
              <a:rPr lang="en-GB" sz="28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🏦 </a:t>
            </a:r>
            <a:r>
              <a:rPr lang="en-GB" sz="20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Collector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D22312-8B44-D8B4-54FF-E886FED85733}"/>
              </a:ext>
            </a:extLst>
          </p:cNvPr>
          <p:cNvSpPr/>
          <p:nvPr/>
        </p:nvSpPr>
        <p:spPr>
          <a:xfrm>
            <a:off x="2686264" y="4658355"/>
            <a:ext cx="1845803" cy="392400"/>
          </a:xfrm>
          <a:prstGeom prst="rect">
            <a:avLst/>
          </a:prstGeom>
          <a:solidFill>
            <a:schemeClr val="tx1">
              <a:lumMod val="95000"/>
            </a:schemeClr>
          </a:solidFill>
          <a:ln w="2222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36000" bIns="144000" anchor="ctr"/>
          <a:lstStyle/>
          <a:p>
            <a:r>
              <a:rPr lang="en-GB" sz="28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💳 </a:t>
            </a:r>
            <a:r>
              <a:rPr lang="en-GB" sz="20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Payer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1F87546-28F0-E209-7C11-4F52F75368C8}"/>
              </a:ext>
            </a:extLst>
          </p:cNvPr>
          <p:cNvSpPr/>
          <p:nvPr/>
        </p:nvSpPr>
        <p:spPr>
          <a:xfrm>
            <a:off x="9690683" y="3254173"/>
            <a:ext cx="1688079" cy="392400"/>
          </a:xfrm>
          <a:prstGeom prst="rect">
            <a:avLst/>
          </a:prstGeom>
          <a:solidFill>
            <a:schemeClr val="tx1">
              <a:lumMod val="95000"/>
            </a:schemeClr>
          </a:solidFill>
          <a:ln w="2222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36000" bIns="144000" anchor="ctr"/>
          <a:lstStyle/>
          <a:p>
            <a:r>
              <a:rPr lang="en-GB" sz="28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🤗 </a:t>
            </a:r>
            <a:r>
              <a:rPr lang="en-GB" sz="20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Host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6261D8-D7B9-7F69-2D47-6D501280CB29}"/>
              </a:ext>
            </a:extLst>
          </p:cNvPr>
          <p:cNvSpPr/>
          <p:nvPr/>
        </p:nvSpPr>
        <p:spPr>
          <a:xfrm>
            <a:off x="9689222" y="3726986"/>
            <a:ext cx="1688079" cy="392400"/>
          </a:xfrm>
          <a:prstGeom prst="rect">
            <a:avLst/>
          </a:prstGeom>
          <a:solidFill>
            <a:schemeClr val="tx1">
              <a:lumMod val="95000"/>
            </a:schemeClr>
          </a:solidFill>
          <a:ln w="2222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36000" bIns="144000" anchor="ctr"/>
          <a:lstStyle/>
          <a:p>
            <a:r>
              <a:rPr lang="en-GB" sz="28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🏦 </a:t>
            </a:r>
            <a:r>
              <a:rPr lang="en-GB" sz="20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Collector</a:t>
            </a:r>
          </a:p>
        </p:txBody>
      </p:sp>
      <p:cxnSp>
        <p:nvCxnSpPr>
          <p:cNvPr id="32" name="Straight Arrow Connector 12">
            <a:extLst>
              <a:ext uri="{FF2B5EF4-FFF2-40B4-BE49-F238E27FC236}">
                <a16:creationId xmlns:a16="http://schemas.microsoft.com/office/drawing/2014/main" id="{A4070F3B-A12E-EFA7-5967-9073EFAE4C35}"/>
              </a:ext>
            </a:extLst>
          </p:cNvPr>
          <p:cNvCxnSpPr>
            <a:cxnSpLocks/>
            <a:stCxn id="6" idx="1"/>
            <a:endCxn id="4" idx="3"/>
          </p:cNvCxnSpPr>
          <p:nvPr/>
        </p:nvCxnSpPr>
        <p:spPr>
          <a:xfrm flipH="1">
            <a:off x="1556740" y="3923186"/>
            <a:ext cx="1129525" cy="0"/>
          </a:xfrm>
          <a:prstGeom prst="straightConnector1">
            <a:avLst/>
          </a:prstGeom>
          <a:ln>
            <a:solidFill>
              <a:schemeClr val="bg1">
                <a:lumMod val="50000"/>
                <a:lumOff val="50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B5F78594-E4D4-3CDC-6840-4E04E2BB0F27}"/>
              </a:ext>
            </a:extLst>
          </p:cNvPr>
          <p:cNvSpPr/>
          <p:nvPr/>
        </p:nvSpPr>
        <p:spPr>
          <a:xfrm>
            <a:off x="6557326" y="3255483"/>
            <a:ext cx="1605738" cy="391090"/>
          </a:xfrm>
          <a:prstGeom prst="rect">
            <a:avLst/>
          </a:prstGeom>
          <a:solidFill>
            <a:schemeClr val="tx1">
              <a:lumMod val="95000"/>
            </a:schemeClr>
          </a:solidFill>
          <a:ln w="2222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36000" bIns="144000" anchor="ctr"/>
          <a:lstStyle/>
          <a:p>
            <a:r>
              <a:rPr lang="en-GB" sz="28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🧚 </a:t>
            </a:r>
            <a:r>
              <a:rPr lang="en-GB" sz="20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Curator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EC8F244-5DBF-EDFD-5C18-4D2AB0ACDBD9}"/>
              </a:ext>
            </a:extLst>
          </p:cNvPr>
          <p:cNvSpPr/>
          <p:nvPr/>
        </p:nvSpPr>
        <p:spPr>
          <a:xfrm>
            <a:off x="9686698" y="1173037"/>
            <a:ext cx="1688400" cy="392400"/>
          </a:xfrm>
          <a:prstGeom prst="rect">
            <a:avLst/>
          </a:prstGeom>
          <a:solidFill>
            <a:schemeClr val="tx1">
              <a:lumMod val="95000"/>
            </a:schemeClr>
          </a:solidFill>
          <a:ln w="2222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36000" bIns="144000" anchor="ctr"/>
          <a:lstStyle/>
          <a:p>
            <a:r>
              <a:rPr lang="en-GB" sz="28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🤵 </a:t>
            </a:r>
            <a:r>
              <a:rPr lang="en-GB" sz="20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Broker</a:t>
            </a:r>
          </a:p>
        </p:txBody>
      </p:sp>
      <p:cxnSp>
        <p:nvCxnSpPr>
          <p:cNvPr id="8" name="Straight Arrow Connector 12">
            <a:extLst>
              <a:ext uri="{FF2B5EF4-FFF2-40B4-BE49-F238E27FC236}">
                <a16:creationId xmlns:a16="http://schemas.microsoft.com/office/drawing/2014/main" id="{24824055-B9BD-4B95-EB02-D39A0559D43C}"/>
              </a:ext>
            </a:extLst>
          </p:cNvPr>
          <p:cNvCxnSpPr>
            <a:cxnSpLocks/>
            <a:stCxn id="4" idx="2"/>
            <a:endCxn id="15" idx="1"/>
          </p:cNvCxnSpPr>
          <p:nvPr/>
        </p:nvCxnSpPr>
        <p:spPr>
          <a:xfrm rot="16200000" flipH="1">
            <a:off x="1654234" y="3354820"/>
            <a:ext cx="267469" cy="1796600"/>
          </a:xfrm>
          <a:prstGeom prst="bentConnector2">
            <a:avLst/>
          </a:prstGeom>
          <a:ln>
            <a:solidFill>
              <a:schemeClr val="bg1">
                <a:lumMod val="50000"/>
                <a:lumOff val="50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Straight Arrow Connector 12">
            <a:extLst>
              <a:ext uri="{FF2B5EF4-FFF2-40B4-BE49-F238E27FC236}">
                <a16:creationId xmlns:a16="http://schemas.microsoft.com/office/drawing/2014/main" id="{49503284-BDC4-EB40-4B38-C949BBBBCD03}"/>
              </a:ext>
            </a:extLst>
          </p:cNvPr>
          <p:cNvCxnSpPr>
            <a:cxnSpLocks/>
            <a:stCxn id="5" idx="3"/>
            <a:endCxn id="2" idx="1"/>
          </p:cNvCxnSpPr>
          <p:nvPr/>
        </p:nvCxnSpPr>
        <p:spPr>
          <a:xfrm>
            <a:off x="1556739" y="3450373"/>
            <a:ext cx="1129529" cy="0"/>
          </a:xfrm>
          <a:prstGeom prst="straightConnector1">
            <a:avLst/>
          </a:prstGeom>
          <a:ln>
            <a:solidFill>
              <a:schemeClr val="bg1">
                <a:lumMod val="50000"/>
                <a:lumOff val="50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2" name="Straight Arrow Connector 12">
            <a:extLst>
              <a:ext uri="{FF2B5EF4-FFF2-40B4-BE49-F238E27FC236}">
                <a16:creationId xmlns:a16="http://schemas.microsoft.com/office/drawing/2014/main" id="{9A9711DC-F06A-B660-545E-101901011F57}"/>
              </a:ext>
            </a:extLst>
          </p:cNvPr>
          <p:cNvCxnSpPr>
            <a:cxnSpLocks/>
            <a:endCxn id="71" idx="1"/>
          </p:cNvCxnSpPr>
          <p:nvPr/>
        </p:nvCxnSpPr>
        <p:spPr>
          <a:xfrm rot="16200000" flipH="1">
            <a:off x="2583585" y="5211950"/>
            <a:ext cx="444435" cy="239072"/>
          </a:xfrm>
          <a:prstGeom prst="bentConnector2">
            <a:avLst/>
          </a:prstGeom>
          <a:ln>
            <a:solidFill>
              <a:schemeClr val="bg1">
                <a:lumMod val="50000"/>
                <a:lumOff val="50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1" name="Rectangle 70">
            <a:extLst>
              <a:ext uri="{FF2B5EF4-FFF2-40B4-BE49-F238E27FC236}">
                <a16:creationId xmlns:a16="http://schemas.microsoft.com/office/drawing/2014/main" id="{D8F7D7CD-F42D-D125-6484-1FD95A32FC8F}"/>
              </a:ext>
            </a:extLst>
          </p:cNvPr>
          <p:cNvSpPr/>
          <p:nvPr/>
        </p:nvSpPr>
        <p:spPr>
          <a:xfrm>
            <a:off x="2925338" y="5357504"/>
            <a:ext cx="1376334" cy="392400"/>
          </a:xfrm>
          <a:prstGeom prst="rect">
            <a:avLst/>
          </a:prstGeom>
          <a:solidFill>
            <a:schemeClr val="tx1">
              <a:lumMod val="95000"/>
            </a:schemeClr>
          </a:solidFill>
          <a:ln w="2222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36000" bIns="144000" anchor="ctr"/>
          <a:lstStyle/>
          <a:p>
            <a:r>
              <a:rPr lang="en-GB" sz="28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🧑‍🦰 </a:t>
            </a:r>
            <a:r>
              <a:rPr lang="en-GB" sz="20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Wallet</a:t>
            </a:r>
          </a:p>
        </p:txBody>
      </p:sp>
      <p:cxnSp>
        <p:nvCxnSpPr>
          <p:cNvPr id="78" name="Straight Arrow Connector 12">
            <a:extLst>
              <a:ext uri="{FF2B5EF4-FFF2-40B4-BE49-F238E27FC236}">
                <a16:creationId xmlns:a16="http://schemas.microsoft.com/office/drawing/2014/main" id="{270E9BAD-0958-CCEB-C7B1-1C192D27BA6A}"/>
              </a:ext>
            </a:extLst>
          </p:cNvPr>
          <p:cNvCxnSpPr>
            <a:cxnSpLocks/>
            <a:stCxn id="36" idx="1"/>
            <a:endCxn id="2" idx="3"/>
          </p:cNvCxnSpPr>
          <p:nvPr/>
        </p:nvCxnSpPr>
        <p:spPr>
          <a:xfrm flipH="1" flipV="1">
            <a:off x="4532071" y="3450373"/>
            <a:ext cx="2025255" cy="655"/>
          </a:xfrm>
          <a:prstGeom prst="straightConnector1">
            <a:avLst/>
          </a:prstGeom>
          <a:ln>
            <a:solidFill>
              <a:schemeClr val="bg1">
                <a:lumMod val="50000"/>
                <a:lumOff val="50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B43D73B8-8FEE-7D00-54D6-D558E7CDD034}"/>
              </a:ext>
            </a:extLst>
          </p:cNvPr>
          <p:cNvSpPr txBox="1"/>
          <p:nvPr/>
        </p:nvSpPr>
        <p:spPr>
          <a:xfrm>
            <a:off x="4354289" y="2228161"/>
            <a:ext cx="202404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16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possible actions</a:t>
            </a:r>
          </a:p>
        </p:txBody>
      </p:sp>
      <p:cxnSp>
        <p:nvCxnSpPr>
          <p:cNvPr id="102" name="Straight Arrow Connector 12">
            <a:extLst>
              <a:ext uri="{FF2B5EF4-FFF2-40B4-BE49-F238E27FC236}">
                <a16:creationId xmlns:a16="http://schemas.microsoft.com/office/drawing/2014/main" id="{A9271A41-75FF-8657-4EC1-2B34C2B09F23}"/>
              </a:ext>
            </a:extLst>
          </p:cNvPr>
          <p:cNvCxnSpPr>
            <a:cxnSpLocks/>
            <a:stCxn id="22" idx="1"/>
            <a:endCxn id="37" idx="1"/>
          </p:cNvCxnSpPr>
          <p:nvPr/>
        </p:nvCxnSpPr>
        <p:spPr>
          <a:xfrm rot="10800000" flipH="1">
            <a:off x="9621079" y="1466811"/>
            <a:ext cx="1" cy="1600204"/>
          </a:xfrm>
          <a:prstGeom prst="bentConnector3">
            <a:avLst>
              <a:gd name="adj1" fmla="val -22860000000"/>
            </a:avLst>
          </a:prstGeom>
          <a:ln>
            <a:solidFill>
              <a:schemeClr val="bg1">
                <a:lumMod val="50000"/>
                <a:lumOff val="50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6" name="Rounded Rectangle 105">
            <a:extLst>
              <a:ext uri="{FF2B5EF4-FFF2-40B4-BE49-F238E27FC236}">
                <a16:creationId xmlns:a16="http://schemas.microsoft.com/office/drawing/2014/main" id="{827C60DC-B3B1-8BCF-9A04-62B3018C5585}"/>
              </a:ext>
            </a:extLst>
          </p:cNvPr>
          <p:cNvSpPr>
            <a:spLocks noChangeAspect="1"/>
          </p:cNvSpPr>
          <p:nvPr/>
        </p:nvSpPr>
        <p:spPr>
          <a:xfrm>
            <a:off x="10107047" y="2249386"/>
            <a:ext cx="273600" cy="2679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sz="1600" b="1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107" name="Straight Arrow Connector 12">
            <a:extLst>
              <a:ext uri="{FF2B5EF4-FFF2-40B4-BE49-F238E27FC236}">
                <a16:creationId xmlns:a16="http://schemas.microsoft.com/office/drawing/2014/main" id="{5ED09453-6ABB-4F61-A024-4420BEAEC5C6}"/>
              </a:ext>
            </a:extLst>
          </p:cNvPr>
          <p:cNvCxnSpPr>
            <a:cxnSpLocks/>
            <a:stCxn id="3" idx="1"/>
            <a:endCxn id="36" idx="3"/>
          </p:cNvCxnSpPr>
          <p:nvPr/>
        </p:nvCxnSpPr>
        <p:spPr>
          <a:xfrm flipH="1">
            <a:off x="8163064" y="3450373"/>
            <a:ext cx="1527619" cy="655"/>
          </a:xfrm>
          <a:prstGeom prst="straightConnector1">
            <a:avLst/>
          </a:prstGeom>
          <a:ln>
            <a:solidFill>
              <a:schemeClr val="bg1">
                <a:lumMod val="50000"/>
                <a:lumOff val="50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F6491173-1880-4243-8091-0465128FEBE2}"/>
              </a:ext>
            </a:extLst>
          </p:cNvPr>
          <p:cNvSpPr txBox="1"/>
          <p:nvPr/>
        </p:nvSpPr>
        <p:spPr>
          <a:xfrm>
            <a:off x="8572138" y="3552283"/>
            <a:ext cx="1398746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GB" sz="16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summary</a:t>
            </a:r>
          </a:p>
        </p:txBody>
      </p:sp>
      <p:sp>
        <p:nvSpPr>
          <p:cNvPr id="113" name="Rounded Rectangle 112">
            <a:extLst>
              <a:ext uri="{FF2B5EF4-FFF2-40B4-BE49-F238E27FC236}">
                <a16:creationId xmlns:a16="http://schemas.microsoft.com/office/drawing/2014/main" id="{4AFD45D5-5FAC-73C5-E7E8-EDCFC38A3D43}"/>
              </a:ext>
            </a:extLst>
          </p:cNvPr>
          <p:cNvSpPr>
            <a:spLocks noChangeAspect="1"/>
          </p:cNvSpPr>
          <p:nvPr/>
        </p:nvSpPr>
        <p:spPr>
          <a:xfrm>
            <a:off x="8326415" y="3579616"/>
            <a:ext cx="273600" cy="2679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sz="1600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14" name="Rounded Rectangle 113">
            <a:extLst>
              <a:ext uri="{FF2B5EF4-FFF2-40B4-BE49-F238E27FC236}">
                <a16:creationId xmlns:a16="http://schemas.microsoft.com/office/drawing/2014/main" id="{9F54806B-755D-A06E-9914-D5D489A9C6EC}"/>
              </a:ext>
            </a:extLst>
          </p:cNvPr>
          <p:cNvSpPr>
            <a:spLocks noChangeAspect="1"/>
          </p:cNvSpPr>
          <p:nvPr/>
        </p:nvSpPr>
        <p:spPr>
          <a:xfrm>
            <a:off x="4095433" y="2272739"/>
            <a:ext cx="273600" cy="2679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sz="1600" b="1" dirty="0">
                <a:solidFill>
                  <a:schemeClr val="tx1"/>
                </a:solidFill>
              </a:rPr>
              <a:t>6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EC4600F-66EA-8F09-52CA-867E9F77E372}"/>
              </a:ext>
            </a:extLst>
          </p:cNvPr>
          <p:cNvGrpSpPr/>
          <p:nvPr/>
        </p:nvGrpSpPr>
        <p:grpSpPr>
          <a:xfrm>
            <a:off x="563133" y="5331486"/>
            <a:ext cx="2024040" cy="338554"/>
            <a:chOff x="4925946" y="985951"/>
            <a:chExt cx="2024040" cy="338554"/>
          </a:xfrm>
        </p:grpSpPr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26FA070D-ED6F-6C59-3EF8-BD97520D3D51}"/>
                </a:ext>
              </a:extLst>
            </p:cNvPr>
            <p:cNvSpPr txBox="1"/>
            <p:nvPr/>
          </p:nvSpPr>
          <p:spPr>
            <a:xfrm>
              <a:off x="4925946" y="985951"/>
              <a:ext cx="2024040" cy="33855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lang="en-GB" sz="16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next best actions</a:t>
              </a:r>
            </a:p>
          </p:txBody>
        </p:sp>
        <p:sp>
          <p:nvSpPr>
            <p:cNvPr id="116" name="Rounded Rectangle 115">
              <a:extLst>
                <a:ext uri="{FF2B5EF4-FFF2-40B4-BE49-F238E27FC236}">
                  <a16:creationId xmlns:a16="http://schemas.microsoft.com/office/drawing/2014/main" id="{5BCC5E85-C081-32F5-A2D8-723CA317708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610011" y="1038369"/>
              <a:ext cx="273600" cy="2679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sz="1600" b="1" dirty="0">
                  <a:solidFill>
                    <a:schemeClr val="tx1"/>
                  </a:solidFill>
                </a:rPr>
                <a:t>8</a:t>
              </a:r>
            </a:p>
          </p:txBody>
        </p:sp>
      </p:grpSp>
      <p:sp>
        <p:nvSpPr>
          <p:cNvPr id="119" name="TextBox 118">
            <a:extLst>
              <a:ext uri="{FF2B5EF4-FFF2-40B4-BE49-F238E27FC236}">
                <a16:creationId xmlns:a16="http://schemas.microsoft.com/office/drawing/2014/main" id="{244E7B25-D1C0-B126-0F42-8359F9EB552F}"/>
              </a:ext>
            </a:extLst>
          </p:cNvPr>
          <p:cNvSpPr txBox="1"/>
          <p:nvPr/>
        </p:nvSpPr>
        <p:spPr>
          <a:xfrm>
            <a:off x="3977489" y="1338555"/>
            <a:ext cx="3182893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16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navigate to selected option</a:t>
            </a:r>
          </a:p>
        </p:txBody>
      </p:sp>
      <p:sp>
        <p:nvSpPr>
          <p:cNvPr id="120" name="Rounded Rectangle 119">
            <a:extLst>
              <a:ext uri="{FF2B5EF4-FFF2-40B4-BE49-F238E27FC236}">
                <a16:creationId xmlns:a16="http://schemas.microsoft.com/office/drawing/2014/main" id="{A4D5E8D8-D4BB-1186-9AD9-F7A4306BB09A}"/>
              </a:ext>
            </a:extLst>
          </p:cNvPr>
          <p:cNvSpPr>
            <a:spLocks noChangeAspect="1"/>
          </p:cNvSpPr>
          <p:nvPr/>
        </p:nvSpPr>
        <p:spPr>
          <a:xfrm>
            <a:off x="3718734" y="1389648"/>
            <a:ext cx="273600" cy="2679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45720" rIns="0" rtlCol="0" anchor="ctr"/>
          <a:lstStyle/>
          <a:p>
            <a:pPr algn="ctr"/>
            <a:r>
              <a:rPr lang="en-GB" sz="1600" b="1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7962B406-4278-C40C-7E46-804379D400E7}"/>
              </a:ext>
            </a:extLst>
          </p:cNvPr>
          <p:cNvSpPr txBox="1"/>
          <p:nvPr/>
        </p:nvSpPr>
        <p:spPr>
          <a:xfrm>
            <a:off x="1956305" y="3547880"/>
            <a:ext cx="639105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lang="en-GB" sz="16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debit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77F79E10-93BD-5BC1-9D5D-F373E538D503}"/>
              </a:ext>
            </a:extLst>
          </p:cNvPr>
          <p:cNvSpPr txBox="1"/>
          <p:nvPr/>
        </p:nvSpPr>
        <p:spPr>
          <a:xfrm>
            <a:off x="785178" y="4380356"/>
            <a:ext cx="1543895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16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payment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058E726A-1D5C-6DB6-89AE-CE35043FC9AD}"/>
              </a:ext>
            </a:extLst>
          </p:cNvPr>
          <p:cNvSpPr txBox="1"/>
          <p:nvPr/>
        </p:nvSpPr>
        <p:spPr>
          <a:xfrm>
            <a:off x="1961333" y="3031497"/>
            <a:ext cx="639105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16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ads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5C886897-D8E0-3180-D02E-B883B989D73A}"/>
              </a:ext>
            </a:extLst>
          </p:cNvPr>
          <p:cNvSpPr txBox="1"/>
          <p:nvPr/>
        </p:nvSpPr>
        <p:spPr>
          <a:xfrm>
            <a:off x="9232217" y="2558077"/>
            <a:ext cx="1235293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lang="en-GB" sz="16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bill</a:t>
            </a:r>
          </a:p>
        </p:txBody>
      </p:sp>
      <p:cxnSp>
        <p:nvCxnSpPr>
          <p:cNvPr id="17" name="Straight Arrow Connector 12">
            <a:extLst>
              <a:ext uri="{FF2B5EF4-FFF2-40B4-BE49-F238E27FC236}">
                <a16:creationId xmlns:a16="http://schemas.microsoft.com/office/drawing/2014/main" id="{4579CBE5-5B9C-7216-2E85-91E9DC72DC4F}"/>
              </a:ext>
            </a:extLst>
          </p:cNvPr>
          <p:cNvCxnSpPr>
            <a:cxnSpLocks/>
            <a:stCxn id="16" idx="3"/>
            <a:endCxn id="7" idx="2"/>
          </p:cNvCxnSpPr>
          <p:nvPr/>
        </p:nvCxnSpPr>
        <p:spPr>
          <a:xfrm flipV="1">
            <a:off x="4532067" y="4119386"/>
            <a:ext cx="6001195" cy="735169"/>
          </a:xfrm>
          <a:prstGeom prst="bentConnector2">
            <a:avLst/>
          </a:prstGeom>
          <a:ln>
            <a:solidFill>
              <a:schemeClr val="bg1">
                <a:lumMod val="50000"/>
                <a:lumOff val="50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24" name="Straight Arrow Connector 12">
            <a:extLst>
              <a:ext uri="{FF2B5EF4-FFF2-40B4-BE49-F238E27FC236}">
                <a16:creationId xmlns:a16="http://schemas.microsoft.com/office/drawing/2014/main" id="{8733131C-5D42-AC31-3AEA-7C62DCF739AF}"/>
              </a:ext>
            </a:extLst>
          </p:cNvPr>
          <p:cNvCxnSpPr>
            <a:cxnSpLocks/>
            <a:stCxn id="16" idx="3"/>
            <a:endCxn id="131" idx="2"/>
          </p:cNvCxnSpPr>
          <p:nvPr/>
        </p:nvCxnSpPr>
        <p:spPr>
          <a:xfrm flipV="1">
            <a:off x="4532067" y="4119386"/>
            <a:ext cx="2832380" cy="735169"/>
          </a:xfrm>
          <a:prstGeom prst="bentConnector2">
            <a:avLst/>
          </a:prstGeom>
          <a:ln>
            <a:solidFill>
              <a:schemeClr val="bg1">
                <a:lumMod val="50000"/>
                <a:lumOff val="50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54" name="TextBox 153">
            <a:extLst>
              <a:ext uri="{FF2B5EF4-FFF2-40B4-BE49-F238E27FC236}">
                <a16:creationId xmlns:a16="http://schemas.microsoft.com/office/drawing/2014/main" id="{53C1FD5C-A725-013D-6CA6-21850D387CA9}"/>
              </a:ext>
            </a:extLst>
          </p:cNvPr>
          <p:cNvSpPr txBox="1"/>
          <p:nvPr/>
        </p:nvSpPr>
        <p:spPr>
          <a:xfrm>
            <a:off x="9168471" y="4438769"/>
            <a:ext cx="1091366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GB" sz="16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payment</a:t>
            </a:r>
          </a:p>
        </p:txBody>
      </p:sp>
      <p:cxnSp>
        <p:nvCxnSpPr>
          <p:cNvPr id="215" name="Straight Arrow Connector 12">
            <a:extLst>
              <a:ext uri="{FF2B5EF4-FFF2-40B4-BE49-F238E27FC236}">
                <a16:creationId xmlns:a16="http://schemas.microsoft.com/office/drawing/2014/main" id="{527D20CA-8B60-1FE3-5CA9-E7D1C89C158E}"/>
              </a:ext>
            </a:extLst>
          </p:cNvPr>
          <p:cNvCxnSpPr>
            <a:cxnSpLocks/>
            <a:endCxn id="252" idx="0"/>
          </p:cNvCxnSpPr>
          <p:nvPr/>
        </p:nvCxnSpPr>
        <p:spPr>
          <a:xfrm rot="5400000" flipH="1" flipV="1">
            <a:off x="5488982" y="1497263"/>
            <a:ext cx="23577" cy="2788669"/>
          </a:xfrm>
          <a:prstGeom prst="bentConnector3">
            <a:avLst>
              <a:gd name="adj1" fmla="val 1069589"/>
            </a:avLst>
          </a:prstGeom>
          <a:ln>
            <a:solidFill>
              <a:schemeClr val="bg1">
                <a:lumMod val="50000"/>
                <a:lumOff val="50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23" name="TextBox 222">
            <a:extLst>
              <a:ext uri="{FF2B5EF4-FFF2-40B4-BE49-F238E27FC236}">
                <a16:creationId xmlns:a16="http://schemas.microsoft.com/office/drawing/2014/main" id="{29FAD8A6-AFE2-AB6D-3E44-BC977D7A0E93}"/>
              </a:ext>
            </a:extLst>
          </p:cNvPr>
          <p:cNvSpPr txBox="1"/>
          <p:nvPr/>
        </p:nvSpPr>
        <p:spPr>
          <a:xfrm>
            <a:off x="6010847" y="4436656"/>
            <a:ext cx="1091366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GB" sz="16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payment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3AD55190-C6E9-6D32-C5EB-12C9744EAEFA}"/>
              </a:ext>
            </a:extLst>
          </p:cNvPr>
          <p:cNvSpPr txBox="1"/>
          <p:nvPr/>
        </p:nvSpPr>
        <p:spPr>
          <a:xfrm>
            <a:off x="4939840" y="3509325"/>
            <a:ext cx="1428215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16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anonymized</a:t>
            </a:r>
          </a:p>
        </p:txBody>
      </p:sp>
      <p:sp>
        <p:nvSpPr>
          <p:cNvPr id="226" name="Rounded Rectangle 225">
            <a:extLst>
              <a:ext uri="{FF2B5EF4-FFF2-40B4-BE49-F238E27FC236}">
                <a16:creationId xmlns:a16="http://schemas.microsoft.com/office/drawing/2014/main" id="{EB466988-86D0-76F8-FEF8-2A19E359BBE0}"/>
              </a:ext>
            </a:extLst>
          </p:cNvPr>
          <p:cNvSpPr>
            <a:spLocks noChangeAspect="1"/>
          </p:cNvSpPr>
          <p:nvPr/>
        </p:nvSpPr>
        <p:spPr>
          <a:xfrm>
            <a:off x="4691258" y="3553903"/>
            <a:ext cx="273600" cy="2679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sz="1600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27" name="Rounded Rectangle 226">
            <a:extLst>
              <a:ext uri="{FF2B5EF4-FFF2-40B4-BE49-F238E27FC236}">
                <a16:creationId xmlns:a16="http://schemas.microsoft.com/office/drawing/2014/main" id="{BC24F255-AA4C-BCDB-AC5B-E59A11B47EDE}"/>
              </a:ext>
            </a:extLst>
          </p:cNvPr>
          <p:cNvSpPr>
            <a:spLocks noChangeAspect="1"/>
          </p:cNvSpPr>
          <p:nvPr/>
        </p:nvSpPr>
        <p:spPr>
          <a:xfrm>
            <a:off x="1721519" y="3088051"/>
            <a:ext cx="273600" cy="267900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sz="1600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29" name="Rounded Rectangle 228">
            <a:extLst>
              <a:ext uri="{FF2B5EF4-FFF2-40B4-BE49-F238E27FC236}">
                <a16:creationId xmlns:a16="http://schemas.microsoft.com/office/drawing/2014/main" id="{BAF3D82D-E96A-C6B2-8F3C-FF0E9572DA53}"/>
              </a:ext>
            </a:extLst>
          </p:cNvPr>
          <p:cNvSpPr>
            <a:spLocks noChangeAspect="1"/>
          </p:cNvSpPr>
          <p:nvPr/>
        </p:nvSpPr>
        <p:spPr>
          <a:xfrm>
            <a:off x="1717853" y="3587050"/>
            <a:ext cx="273600" cy="267900"/>
          </a:xfrm>
          <a:prstGeom prst="roundRect">
            <a:avLst/>
          </a:prstGeom>
          <a:solidFill>
            <a:srgbClr val="9452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sz="1600" b="1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231" name="Rounded Rectangle 230">
            <a:extLst>
              <a:ext uri="{FF2B5EF4-FFF2-40B4-BE49-F238E27FC236}">
                <a16:creationId xmlns:a16="http://schemas.microsoft.com/office/drawing/2014/main" id="{B0E174EC-6A24-BA2B-EF8C-E8C1D5BEC3D2}"/>
              </a:ext>
            </a:extLst>
          </p:cNvPr>
          <p:cNvSpPr>
            <a:spLocks noChangeAspect="1"/>
          </p:cNvSpPr>
          <p:nvPr/>
        </p:nvSpPr>
        <p:spPr>
          <a:xfrm>
            <a:off x="521548" y="4423721"/>
            <a:ext cx="273600" cy="267900"/>
          </a:xfrm>
          <a:prstGeom prst="roundRect">
            <a:avLst/>
          </a:prstGeom>
          <a:solidFill>
            <a:srgbClr val="9452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sz="1600" b="1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234" name="Rounded Rectangle 233">
            <a:extLst>
              <a:ext uri="{FF2B5EF4-FFF2-40B4-BE49-F238E27FC236}">
                <a16:creationId xmlns:a16="http://schemas.microsoft.com/office/drawing/2014/main" id="{61A89918-1F0E-EA9F-9390-D496D083C5BC}"/>
              </a:ext>
            </a:extLst>
          </p:cNvPr>
          <p:cNvSpPr>
            <a:spLocks noChangeAspect="1"/>
          </p:cNvSpPr>
          <p:nvPr/>
        </p:nvSpPr>
        <p:spPr>
          <a:xfrm>
            <a:off x="6979701" y="4479725"/>
            <a:ext cx="273600" cy="2679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sz="16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235" name="Rounded Rectangle 234">
            <a:extLst>
              <a:ext uri="{FF2B5EF4-FFF2-40B4-BE49-F238E27FC236}">
                <a16:creationId xmlns:a16="http://schemas.microsoft.com/office/drawing/2014/main" id="{3DCE333C-94FB-5434-47A4-AE6D67E17AB1}"/>
              </a:ext>
            </a:extLst>
          </p:cNvPr>
          <p:cNvSpPr>
            <a:spLocks noChangeAspect="1"/>
          </p:cNvSpPr>
          <p:nvPr/>
        </p:nvSpPr>
        <p:spPr>
          <a:xfrm>
            <a:off x="10141151" y="4479725"/>
            <a:ext cx="273600" cy="2679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sz="1600" b="1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A7CAC361-BCB5-56A3-5B73-41E896B37BBD}"/>
              </a:ext>
            </a:extLst>
          </p:cNvPr>
          <p:cNvSpPr/>
          <p:nvPr/>
        </p:nvSpPr>
        <p:spPr>
          <a:xfrm>
            <a:off x="9700414" y="685134"/>
            <a:ext cx="1674684" cy="392400"/>
          </a:xfrm>
          <a:prstGeom prst="rect">
            <a:avLst/>
          </a:prstGeom>
          <a:solidFill>
            <a:schemeClr val="tx1">
              <a:lumMod val="95000"/>
            </a:schemeClr>
          </a:solidFill>
          <a:ln w="2222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36000" bIns="144000" anchor="ctr"/>
          <a:lstStyle/>
          <a:p>
            <a:r>
              <a:rPr lang="en-GB" sz="28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🤝 </a:t>
            </a:r>
            <a:r>
              <a:rPr lang="en-GB" sz="20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Biller</a:t>
            </a:r>
          </a:p>
        </p:txBody>
      </p:sp>
      <p:cxnSp>
        <p:nvCxnSpPr>
          <p:cNvPr id="242" name="Straight Arrow Connector 12">
            <a:extLst>
              <a:ext uri="{FF2B5EF4-FFF2-40B4-BE49-F238E27FC236}">
                <a16:creationId xmlns:a16="http://schemas.microsoft.com/office/drawing/2014/main" id="{40B193F2-9B00-169D-4574-8DDCD3630C5E}"/>
              </a:ext>
            </a:extLst>
          </p:cNvPr>
          <p:cNvCxnSpPr>
            <a:cxnSpLocks/>
            <a:stCxn id="44" idx="3"/>
            <a:endCxn id="241" idx="3"/>
          </p:cNvCxnSpPr>
          <p:nvPr/>
        </p:nvCxnSpPr>
        <p:spPr>
          <a:xfrm flipV="1">
            <a:off x="11375098" y="881334"/>
            <a:ext cx="12700" cy="487903"/>
          </a:xfrm>
          <a:prstGeom prst="bentConnector3">
            <a:avLst>
              <a:gd name="adj1" fmla="val 5321740"/>
            </a:avLst>
          </a:prstGeom>
          <a:ln>
            <a:solidFill>
              <a:schemeClr val="bg1">
                <a:lumMod val="50000"/>
                <a:lumOff val="50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269" name="Group 268">
            <a:extLst>
              <a:ext uri="{FF2B5EF4-FFF2-40B4-BE49-F238E27FC236}">
                <a16:creationId xmlns:a16="http://schemas.microsoft.com/office/drawing/2014/main" id="{E219A1EB-11FD-E8DA-EE6B-3CE4D09FC3CC}"/>
              </a:ext>
            </a:extLst>
          </p:cNvPr>
          <p:cNvGrpSpPr/>
          <p:nvPr/>
        </p:nvGrpSpPr>
        <p:grpSpPr>
          <a:xfrm>
            <a:off x="11461403" y="246862"/>
            <a:ext cx="689456" cy="1005035"/>
            <a:chOff x="9540384" y="826929"/>
            <a:chExt cx="689456" cy="1005035"/>
          </a:xfrm>
        </p:grpSpPr>
        <p:sp>
          <p:nvSpPr>
            <p:cNvPr id="245" name="TextBox 244">
              <a:extLst>
                <a:ext uri="{FF2B5EF4-FFF2-40B4-BE49-F238E27FC236}">
                  <a16:creationId xmlns:a16="http://schemas.microsoft.com/office/drawing/2014/main" id="{C1775752-7C0B-0EF2-694C-EC3C72E0CF31}"/>
                </a:ext>
              </a:extLst>
            </p:cNvPr>
            <p:cNvSpPr txBox="1"/>
            <p:nvPr/>
          </p:nvSpPr>
          <p:spPr>
            <a:xfrm>
              <a:off x="9540384" y="826929"/>
              <a:ext cx="689456" cy="584775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lang="en-GB" sz="16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new bill</a:t>
              </a:r>
            </a:p>
          </p:txBody>
        </p:sp>
        <p:sp>
          <p:nvSpPr>
            <p:cNvPr id="246" name="Rounded Rectangle 245">
              <a:extLst>
                <a:ext uri="{FF2B5EF4-FFF2-40B4-BE49-F238E27FC236}">
                  <a16:creationId xmlns:a16="http://schemas.microsoft.com/office/drawing/2014/main" id="{A82DF6FC-FFFD-E0A6-583F-45E8D4E07B0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740247" y="1564064"/>
              <a:ext cx="273600" cy="2679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sz="1600" b="1" dirty="0">
                  <a:solidFill>
                    <a:schemeClr val="tx1"/>
                  </a:solidFill>
                </a:rPr>
                <a:t>2</a:t>
              </a:r>
            </a:p>
          </p:txBody>
        </p:sp>
      </p:grpSp>
      <p:sp>
        <p:nvSpPr>
          <p:cNvPr id="252" name="TextBox 251">
            <a:extLst>
              <a:ext uri="{FF2B5EF4-FFF2-40B4-BE49-F238E27FC236}">
                <a16:creationId xmlns:a16="http://schemas.microsoft.com/office/drawing/2014/main" id="{881D377D-C953-DA3F-2D22-A1D694D757BE}"/>
              </a:ext>
            </a:extLst>
          </p:cNvPr>
          <p:cNvSpPr txBox="1"/>
          <p:nvPr/>
        </p:nvSpPr>
        <p:spPr>
          <a:xfrm>
            <a:off x="6773277" y="2879808"/>
            <a:ext cx="243656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/>
              <a:t>    </a:t>
            </a:r>
          </a:p>
        </p:txBody>
      </p:sp>
      <p:cxnSp>
        <p:nvCxnSpPr>
          <p:cNvPr id="262" name="Straight Arrow Connector 12">
            <a:extLst>
              <a:ext uri="{FF2B5EF4-FFF2-40B4-BE49-F238E27FC236}">
                <a16:creationId xmlns:a16="http://schemas.microsoft.com/office/drawing/2014/main" id="{CF1D7981-9F70-BE35-E906-CFBBEF5A4B74}"/>
              </a:ext>
            </a:extLst>
          </p:cNvPr>
          <p:cNvCxnSpPr>
            <a:cxnSpLocks/>
            <a:stCxn id="265" idx="3"/>
            <a:endCxn id="241" idx="0"/>
          </p:cNvCxnSpPr>
          <p:nvPr/>
        </p:nvCxnSpPr>
        <p:spPr>
          <a:xfrm>
            <a:off x="1411815" y="485370"/>
            <a:ext cx="9125941" cy="199764"/>
          </a:xfrm>
          <a:prstGeom prst="bentConnector2">
            <a:avLst/>
          </a:prstGeom>
          <a:ln>
            <a:solidFill>
              <a:schemeClr val="bg1">
                <a:lumMod val="50000"/>
                <a:lumOff val="50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72" name="Straight Arrow Connector 12">
            <a:extLst>
              <a:ext uri="{FF2B5EF4-FFF2-40B4-BE49-F238E27FC236}">
                <a16:creationId xmlns:a16="http://schemas.microsoft.com/office/drawing/2014/main" id="{D4C95635-78E5-2AC3-ACA2-399EBBBD9972}"/>
              </a:ext>
            </a:extLst>
          </p:cNvPr>
          <p:cNvCxnSpPr>
            <a:cxnSpLocks/>
            <a:stCxn id="10" idx="2"/>
            <a:endCxn id="23" idx="0"/>
          </p:cNvCxnSpPr>
          <p:nvPr/>
        </p:nvCxnSpPr>
        <p:spPr>
          <a:xfrm>
            <a:off x="10528510" y="2116387"/>
            <a:ext cx="0" cy="773285"/>
          </a:xfrm>
          <a:prstGeom prst="straightConnector1">
            <a:avLst/>
          </a:prstGeom>
          <a:ln>
            <a:solidFill>
              <a:schemeClr val="bg1">
                <a:lumMod val="50000"/>
                <a:lumOff val="50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75" name="Rounded Rectangle 274">
            <a:extLst>
              <a:ext uri="{FF2B5EF4-FFF2-40B4-BE49-F238E27FC236}">
                <a16:creationId xmlns:a16="http://schemas.microsoft.com/office/drawing/2014/main" id="{51BB5371-9FE7-87A6-DE27-105F567C4B6A}"/>
              </a:ext>
            </a:extLst>
          </p:cNvPr>
          <p:cNvSpPr>
            <a:spLocks noChangeAspect="1"/>
          </p:cNvSpPr>
          <p:nvPr/>
        </p:nvSpPr>
        <p:spPr>
          <a:xfrm>
            <a:off x="8995384" y="2005824"/>
            <a:ext cx="273600" cy="2679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sz="16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76" name="TextBox 275">
            <a:extLst>
              <a:ext uri="{FF2B5EF4-FFF2-40B4-BE49-F238E27FC236}">
                <a16:creationId xmlns:a16="http://schemas.microsoft.com/office/drawing/2014/main" id="{CFB7B7B2-40D9-5E0C-CCF7-0345DE227A2C}"/>
              </a:ext>
            </a:extLst>
          </p:cNvPr>
          <p:cNvSpPr txBox="1"/>
          <p:nvPr/>
        </p:nvSpPr>
        <p:spPr>
          <a:xfrm>
            <a:off x="8150371" y="2281328"/>
            <a:ext cx="1235293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lang="en-GB" sz="16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goodbye</a:t>
            </a:r>
          </a:p>
        </p:txBody>
      </p:sp>
      <p:sp>
        <p:nvSpPr>
          <p:cNvPr id="277" name="TextBox 276">
            <a:extLst>
              <a:ext uri="{FF2B5EF4-FFF2-40B4-BE49-F238E27FC236}">
                <a16:creationId xmlns:a16="http://schemas.microsoft.com/office/drawing/2014/main" id="{51CFDFFE-BC3C-DCDD-1BA5-696C3DC47FB6}"/>
              </a:ext>
            </a:extLst>
          </p:cNvPr>
          <p:cNvSpPr txBox="1"/>
          <p:nvPr/>
        </p:nvSpPr>
        <p:spPr>
          <a:xfrm>
            <a:off x="1462710" y="517875"/>
            <a:ext cx="1410543" cy="15696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GB" sz="16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bill items:</a:t>
            </a:r>
          </a:p>
          <a:p>
            <a:r>
              <a:rPr lang="en-GB" sz="16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- summary</a:t>
            </a:r>
          </a:p>
          <a:p>
            <a:r>
              <a:rPr lang="en-GB" sz="16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- analysis</a:t>
            </a:r>
          </a:p>
          <a:p>
            <a:r>
              <a:rPr lang="en-GB" sz="16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- options</a:t>
            </a:r>
          </a:p>
          <a:p>
            <a:r>
              <a:rPr lang="en-GB" sz="16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- actions</a:t>
            </a:r>
          </a:p>
          <a:p>
            <a:r>
              <a:rPr lang="en-GB" sz="16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- locators</a:t>
            </a:r>
          </a:p>
        </p:txBody>
      </p:sp>
      <p:cxnSp>
        <p:nvCxnSpPr>
          <p:cNvPr id="278" name="Straight Arrow Connector 12">
            <a:extLst>
              <a:ext uri="{FF2B5EF4-FFF2-40B4-BE49-F238E27FC236}">
                <a16:creationId xmlns:a16="http://schemas.microsoft.com/office/drawing/2014/main" id="{B7A02963-D3D8-3037-7324-3A6B4A4B2D4C}"/>
              </a:ext>
            </a:extLst>
          </p:cNvPr>
          <p:cNvCxnSpPr>
            <a:cxnSpLocks/>
            <a:stCxn id="241" idx="1"/>
            <a:endCxn id="31" idx="0"/>
          </p:cNvCxnSpPr>
          <p:nvPr/>
        </p:nvCxnSpPr>
        <p:spPr>
          <a:xfrm rot="10800000" flipV="1">
            <a:off x="3124726" y="881334"/>
            <a:ext cx="6575689" cy="2020894"/>
          </a:xfrm>
          <a:prstGeom prst="bentConnector2">
            <a:avLst/>
          </a:prstGeom>
          <a:ln>
            <a:solidFill>
              <a:schemeClr val="bg1">
                <a:lumMod val="50000"/>
                <a:lumOff val="50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54" name="Group 53">
            <a:extLst>
              <a:ext uri="{FF2B5EF4-FFF2-40B4-BE49-F238E27FC236}">
                <a16:creationId xmlns:a16="http://schemas.microsoft.com/office/drawing/2014/main" id="{91021129-BDD3-A23E-79B5-28D323D46146}"/>
              </a:ext>
            </a:extLst>
          </p:cNvPr>
          <p:cNvGrpSpPr/>
          <p:nvPr/>
        </p:nvGrpSpPr>
        <p:grpSpPr>
          <a:xfrm>
            <a:off x="2472730" y="2136150"/>
            <a:ext cx="639105" cy="636311"/>
            <a:chOff x="3009566" y="715158"/>
            <a:chExt cx="639105" cy="636311"/>
          </a:xfrm>
        </p:grpSpPr>
        <p:sp>
          <p:nvSpPr>
            <p:cNvPr id="283" name="TextBox 282">
              <a:extLst>
                <a:ext uri="{FF2B5EF4-FFF2-40B4-BE49-F238E27FC236}">
                  <a16:creationId xmlns:a16="http://schemas.microsoft.com/office/drawing/2014/main" id="{935B666D-A41B-A184-E27C-5560C62DE31A}"/>
                </a:ext>
              </a:extLst>
            </p:cNvPr>
            <p:cNvSpPr txBox="1"/>
            <p:nvPr/>
          </p:nvSpPr>
          <p:spPr>
            <a:xfrm>
              <a:off x="3009566" y="1012915"/>
              <a:ext cx="639105" cy="33855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r"/>
              <a:r>
                <a:rPr lang="en-GB" sz="16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debit</a:t>
              </a:r>
            </a:p>
          </p:txBody>
        </p:sp>
        <p:sp>
          <p:nvSpPr>
            <p:cNvPr id="284" name="Rounded Rectangle 283">
              <a:extLst>
                <a:ext uri="{FF2B5EF4-FFF2-40B4-BE49-F238E27FC236}">
                  <a16:creationId xmlns:a16="http://schemas.microsoft.com/office/drawing/2014/main" id="{C2C03422-4234-F9D3-87E4-DCA397F6683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78012" y="715158"/>
              <a:ext cx="273600" cy="267900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sz="1600" b="1" dirty="0">
                  <a:solidFill>
                    <a:schemeClr val="tx1"/>
                  </a:solidFill>
                </a:rPr>
                <a:t>A</a:t>
              </a:r>
            </a:p>
          </p:txBody>
        </p:sp>
      </p:grpSp>
      <p:sp>
        <p:nvSpPr>
          <p:cNvPr id="285" name="TextBox 284">
            <a:extLst>
              <a:ext uri="{FF2B5EF4-FFF2-40B4-BE49-F238E27FC236}">
                <a16:creationId xmlns:a16="http://schemas.microsoft.com/office/drawing/2014/main" id="{0B79059B-CEDA-4B41-92CD-D1208CFF1C19}"/>
              </a:ext>
            </a:extLst>
          </p:cNvPr>
          <p:cNvSpPr txBox="1"/>
          <p:nvPr/>
        </p:nvSpPr>
        <p:spPr>
          <a:xfrm>
            <a:off x="119036" y="6248084"/>
            <a:ext cx="2063065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sz="2800" dirty="0">
                <a:solidFill>
                  <a:srgbClr val="FFFF00"/>
                </a:solidFill>
              </a:rPr>
              <a:t>ADVERTISER</a:t>
            </a:r>
          </a:p>
        </p:txBody>
      </p:sp>
      <p:grpSp>
        <p:nvGrpSpPr>
          <p:cNvPr id="290" name="Group 289">
            <a:extLst>
              <a:ext uri="{FF2B5EF4-FFF2-40B4-BE49-F238E27FC236}">
                <a16:creationId xmlns:a16="http://schemas.microsoft.com/office/drawing/2014/main" id="{CF11EA64-C175-DA31-C9AF-CA6F8C4744BB}"/>
              </a:ext>
            </a:extLst>
          </p:cNvPr>
          <p:cNvGrpSpPr/>
          <p:nvPr/>
        </p:nvGrpSpPr>
        <p:grpSpPr>
          <a:xfrm>
            <a:off x="164460" y="129209"/>
            <a:ext cx="1260278" cy="1857636"/>
            <a:chOff x="212807" y="129209"/>
            <a:chExt cx="1260278" cy="1857636"/>
          </a:xfrm>
        </p:grpSpPr>
        <p:grpSp>
          <p:nvGrpSpPr>
            <p:cNvPr id="287" name="Group 286">
              <a:extLst>
                <a:ext uri="{FF2B5EF4-FFF2-40B4-BE49-F238E27FC236}">
                  <a16:creationId xmlns:a16="http://schemas.microsoft.com/office/drawing/2014/main" id="{AF21E810-3952-424A-C706-268BE96FBD3D}"/>
                </a:ext>
              </a:extLst>
            </p:cNvPr>
            <p:cNvGrpSpPr/>
            <p:nvPr/>
          </p:nvGrpSpPr>
          <p:grpSpPr>
            <a:xfrm>
              <a:off x="212807" y="129209"/>
              <a:ext cx="1260278" cy="1857636"/>
              <a:chOff x="212807" y="129209"/>
              <a:chExt cx="1260278" cy="1857636"/>
            </a:xfrm>
          </p:grpSpPr>
          <p:grpSp>
            <p:nvGrpSpPr>
              <p:cNvPr id="268" name="Group 267">
                <a:extLst>
                  <a:ext uri="{FF2B5EF4-FFF2-40B4-BE49-F238E27FC236}">
                    <a16:creationId xmlns:a16="http://schemas.microsoft.com/office/drawing/2014/main" id="{9D2E4B1C-405C-503C-CA05-0D585128C18E}"/>
                  </a:ext>
                </a:extLst>
              </p:cNvPr>
              <p:cNvGrpSpPr/>
              <p:nvPr/>
            </p:nvGrpSpPr>
            <p:grpSpPr>
              <a:xfrm>
                <a:off x="212807" y="129209"/>
                <a:ext cx="1260278" cy="1857636"/>
                <a:chOff x="2671809" y="1191911"/>
                <a:chExt cx="1260278" cy="1857636"/>
              </a:xfrm>
            </p:grpSpPr>
            <p:sp>
              <p:nvSpPr>
                <p:cNvPr id="261" name="Rectangle 260">
                  <a:extLst>
                    <a:ext uri="{FF2B5EF4-FFF2-40B4-BE49-F238E27FC236}">
                      <a16:creationId xmlns:a16="http://schemas.microsoft.com/office/drawing/2014/main" id="{4C48E354-B666-3DE5-EE08-9462A1F05C53}"/>
                    </a:ext>
                  </a:extLst>
                </p:cNvPr>
                <p:cNvSpPr/>
                <p:nvPr/>
              </p:nvSpPr>
              <p:spPr>
                <a:xfrm>
                  <a:off x="2671809" y="1191911"/>
                  <a:ext cx="1260278" cy="1857636"/>
                </a:xfrm>
                <a:prstGeom prst="rect">
                  <a:avLst/>
                </a:prstGeom>
                <a:solidFill>
                  <a:schemeClr val="bg1">
                    <a:lumMod val="85000"/>
                    <a:lumOff val="15000"/>
                  </a:schemeClr>
                </a:solidFill>
                <a:ln w="12700">
                  <a:solidFill>
                    <a:srgbClr val="5A6B86"/>
                  </a:solidFill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36000" rIns="0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GB" sz="2400" baseline="-11000" dirty="0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effectLst>
                        <a:glow>
                          <a:schemeClr val="bg1"/>
                        </a:glow>
                      </a:effectLst>
                    </a:rPr>
                    <a:t>🤝 </a:t>
                  </a:r>
                  <a:r>
                    <a:rPr lang="en-US" i="1" dirty="0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effectLst>
                        <a:glow>
                          <a:schemeClr val="bg1"/>
                        </a:glow>
                      </a:effectLst>
                    </a:rPr>
                    <a:t>auditing</a:t>
                  </a:r>
                </a:p>
              </p:txBody>
            </p:sp>
            <p:sp>
              <p:nvSpPr>
                <p:cNvPr id="258" name="Rectangle 257">
                  <a:extLst>
                    <a:ext uri="{FF2B5EF4-FFF2-40B4-BE49-F238E27FC236}">
                      <a16:creationId xmlns:a16="http://schemas.microsoft.com/office/drawing/2014/main" id="{17883191-9B47-D8CA-B86C-EEEA02C0D336}"/>
                    </a:ext>
                  </a:extLst>
                </p:cNvPr>
                <p:cNvSpPr/>
                <p:nvPr/>
              </p:nvSpPr>
              <p:spPr>
                <a:xfrm>
                  <a:off x="2752625" y="1619505"/>
                  <a:ext cx="501299" cy="392400"/>
                </a:xfrm>
                <a:prstGeom prst="rect">
                  <a:avLst/>
                </a:prstGeom>
                <a:solidFill>
                  <a:schemeClr val="bg1"/>
                </a:solidFill>
                <a:ln w="22225">
                  <a:solidFill>
                    <a:schemeClr val="tx1">
                      <a:lumMod val="5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44000" tIns="144000" rIns="36000" bIns="144000" anchor="ctr"/>
                <a:lstStyle/>
                <a:p>
                  <a:r>
                    <a:rPr lang="en-GB" sz="2800" baseline="-9000" dirty="0">
                      <a:solidFill>
                        <a:schemeClr val="tx1"/>
                      </a:solidFill>
                      <a:effectLst>
                        <a:glow>
                          <a:schemeClr val="bg1"/>
                        </a:glow>
                      </a:effectLst>
                    </a:rPr>
                    <a:t>🤗 </a:t>
                  </a:r>
                  <a:r>
                    <a:rPr lang="en-GB" sz="2000" dirty="0">
                      <a:solidFill>
                        <a:schemeClr val="tx1"/>
                      </a:solidFill>
                      <a:latin typeface="+mj-lt"/>
                      <a:cs typeface="Arial" panose="020B0604020202020204" pitchFamily="34" charset="0"/>
                    </a:rPr>
                    <a:t> </a:t>
                  </a:r>
                </a:p>
              </p:txBody>
            </p:sp>
            <p:sp>
              <p:nvSpPr>
                <p:cNvPr id="259" name="Rectangle 258">
                  <a:extLst>
                    <a:ext uri="{FF2B5EF4-FFF2-40B4-BE49-F238E27FC236}">
                      <a16:creationId xmlns:a16="http://schemas.microsoft.com/office/drawing/2014/main" id="{EC74F532-8475-A382-A7EB-242DC535C820}"/>
                    </a:ext>
                  </a:extLst>
                </p:cNvPr>
                <p:cNvSpPr/>
                <p:nvPr/>
              </p:nvSpPr>
              <p:spPr>
                <a:xfrm>
                  <a:off x="2752625" y="2107314"/>
                  <a:ext cx="501299" cy="391090"/>
                </a:xfrm>
                <a:prstGeom prst="rect">
                  <a:avLst/>
                </a:prstGeom>
                <a:solidFill>
                  <a:schemeClr val="bg1"/>
                </a:solidFill>
                <a:ln w="22225">
                  <a:solidFill>
                    <a:schemeClr val="tx1">
                      <a:lumMod val="5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44000" tIns="144000" rIns="36000" bIns="144000" anchor="ctr"/>
                <a:lstStyle/>
                <a:p>
                  <a:r>
                    <a:rPr lang="en-GB" sz="2800" baseline="-9000" dirty="0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effectLst>
                        <a:glow>
                          <a:schemeClr val="bg1"/>
                        </a:glow>
                      </a:effectLst>
                    </a:rPr>
                    <a:t>🧚</a:t>
                  </a:r>
                  <a:r>
                    <a:rPr lang="en-GB" sz="2800" baseline="-9000" dirty="0">
                      <a:solidFill>
                        <a:schemeClr val="tx1"/>
                      </a:solidFill>
                      <a:effectLst>
                        <a:glow>
                          <a:schemeClr val="bg1"/>
                        </a:glow>
                      </a:effectLst>
                    </a:rPr>
                    <a:t> </a:t>
                  </a:r>
                  <a:r>
                    <a:rPr lang="en-GB" sz="2000" dirty="0">
                      <a:solidFill>
                        <a:schemeClr val="tx1"/>
                      </a:solidFill>
                      <a:latin typeface="+mj-lt"/>
                      <a:cs typeface="Arial" panose="020B0604020202020204" pitchFamily="34" charset="0"/>
                    </a:rPr>
                    <a:t> </a:t>
                  </a:r>
                </a:p>
              </p:txBody>
            </p:sp>
            <p:sp>
              <p:nvSpPr>
                <p:cNvPr id="260" name="Rectangle 259">
                  <a:extLst>
                    <a:ext uri="{FF2B5EF4-FFF2-40B4-BE49-F238E27FC236}">
                      <a16:creationId xmlns:a16="http://schemas.microsoft.com/office/drawing/2014/main" id="{BAAD1259-A4B7-FEB0-03EC-C7399FFDA9A4}"/>
                    </a:ext>
                  </a:extLst>
                </p:cNvPr>
                <p:cNvSpPr/>
                <p:nvPr/>
              </p:nvSpPr>
              <p:spPr>
                <a:xfrm>
                  <a:off x="3345195" y="2106577"/>
                  <a:ext cx="501299" cy="392400"/>
                </a:xfrm>
                <a:prstGeom prst="rect">
                  <a:avLst/>
                </a:prstGeom>
                <a:solidFill>
                  <a:schemeClr val="bg1"/>
                </a:solidFill>
                <a:ln w="22225">
                  <a:solidFill>
                    <a:schemeClr val="tx1">
                      <a:lumMod val="5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44000" tIns="144000" rIns="36000" bIns="144000" anchor="ctr"/>
                <a:lstStyle/>
                <a:p>
                  <a:r>
                    <a:rPr lang="en-GB" sz="2800" baseline="-9000" dirty="0">
                      <a:solidFill>
                        <a:schemeClr val="tx1"/>
                      </a:solidFill>
                      <a:effectLst>
                        <a:glow>
                          <a:schemeClr val="bg1"/>
                        </a:glow>
                      </a:effectLst>
                    </a:rPr>
                    <a:t>👀 </a:t>
                  </a:r>
                  <a:r>
                    <a:rPr lang="en-GB" sz="2000" dirty="0">
                      <a:solidFill>
                        <a:schemeClr val="tx1"/>
                      </a:solidFill>
                      <a:latin typeface="+mj-lt"/>
                      <a:cs typeface="Arial" panose="020B0604020202020204" pitchFamily="34" charset="0"/>
                    </a:rPr>
                    <a:t> </a:t>
                  </a:r>
                </a:p>
              </p:txBody>
            </p:sp>
            <p:sp>
              <p:nvSpPr>
                <p:cNvPr id="265" name="TextBox 264">
                  <a:extLst>
                    <a:ext uri="{FF2B5EF4-FFF2-40B4-BE49-F238E27FC236}">
                      <a16:creationId xmlns:a16="http://schemas.microsoft.com/office/drawing/2014/main" id="{D1AA098D-821D-77BF-AFAB-167439995852}"/>
                    </a:ext>
                  </a:extLst>
                </p:cNvPr>
                <p:cNvSpPr txBox="1"/>
                <p:nvPr/>
              </p:nvSpPr>
              <p:spPr>
                <a:xfrm>
                  <a:off x="3675508" y="1363406"/>
                  <a:ext cx="243656" cy="369332"/>
                </a:xfrm>
                <a:prstGeom prst="rect">
                  <a:avLst/>
                </a:prstGeom>
                <a:noFill/>
              </p:spPr>
              <p:txBody>
                <a:bodyPr wrap="none" lIns="0" rIns="0" rtlCol="0">
                  <a:spAutoFit/>
                </a:bodyPr>
                <a:lstStyle/>
                <a:p>
                  <a:pPr algn="l"/>
                  <a:r>
                    <a:rPr lang="en-US" dirty="0"/>
                    <a:t>    </a:t>
                  </a:r>
                </a:p>
              </p:txBody>
            </p:sp>
          </p:grpSp>
          <p:sp>
            <p:nvSpPr>
              <p:cNvPr id="286" name="Rectangle 285">
                <a:extLst>
                  <a:ext uri="{FF2B5EF4-FFF2-40B4-BE49-F238E27FC236}">
                    <a16:creationId xmlns:a16="http://schemas.microsoft.com/office/drawing/2014/main" id="{717D4144-7A7C-FCDD-49E5-8B351F394237}"/>
                  </a:ext>
                </a:extLst>
              </p:cNvPr>
              <p:cNvSpPr/>
              <p:nvPr/>
            </p:nvSpPr>
            <p:spPr>
              <a:xfrm>
                <a:off x="293516" y="1518998"/>
                <a:ext cx="501300" cy="392400"/>
              </a:xfrm>
              <a:prstGeom prst="rect">
                <a:avLst/>
              </a:prstGeom>
              <a:solidFill>
                <a:schemeClr val="bg1"/>
              </a:solidFill>
              <a:ln w="2222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36000" bIns="144000" anchor="ctr"/>
              <a:lstStyle/>
              <a:p>
                <a:r>
                  <a:rPr lang="en-GB" sz="28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🤵</a:t>
                </a:r>
                <a:r>
                  <a:rPr lang="en-GB" sz="2800" baseline="-9000" dirty="0">
                    <a:solidFill>
                      <a:schemeClr val="tx1"/>
                    </a:solidFill>
                    <a:effectLst>
                      <a:glow>
                        <a:schemeClr val="bg1"/>
                      </a:glow>
                    </a:effectLst>
                  </a:rPr>
                  <a:t> </a:t>
                </a:r>
                <a:r>
                  <a:rPr lang="en-GB" sz="2000" dirty="0">
                    <a:solidFill>
                      <a:schemeClr val="tx1"/>
                    </a:solidFill>
                    <a:latin typeface="+mj-lt"/>
                    <a:cs typeface="Arial" panose="020B0604020202020204" pitchFamily="34" charset="0"/>
                  </a:rPr>
                  <a:t> </a:t>
                </a:r>
              </a:p>
            </p:txBody>
          </p:sp>
        </p:grpSp>
        <p:sp>
          <p:nvSpPr>
            <p:cNvPr id="289" name="Rectangle 288">
              <a:extLst>
                <a:ext uri="{FF2B5EF4-FFF2-40B4-BE49-F238E27FC236}">
                  <a16:creationId xmlns:a16="http://schemas.microsoft.com/office/drawing/2014/main" id="{93417F93-3154-5EA3-4A53-40A427C0D442}"/>
                </a:ext>
              </a:extLst>
            </p:cNvPr>
            <p:cNvSpPr/>
            <p:nvPr/>
          </p:nvSpPr>
          <p:spPr>
            <a:xfrm>
              <a:off x="888559" y="556803"/>
              <a:ext cx="501299" cy="392400"/>
            </a:xfrm>
            <a:prstGeom prst="rect">
              <a:avLst/>
            </a:prstGeom>
            <a:solidFill>
              <a:schemeClr val="bg1"/>
            </a:solidFill>
            <a:ln w="2222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36000" bIns="144000" anchor="ctr"/>
            <a:lstStyle/>
            <a:p>
              <a:r>
                <a:rPr lang="en-GB" sz="2800" baseline="-9000" dirty="0">
                  <a:solidFill>
                    <a:schemeClr val="tx1"/>
                  </a:solidFill>
                  <a:effectLst>
                    <a:glow>
                      <a:schemeClr val="bg1"/>
                    </a:glow>
                  </a:effectLst>
                </a:rPr>
                <a:t>💵 </a:t>
              </a:r>
              <a:r>
                <a:rPr lang="en-GB" sz="2000" dirty="0">
                  <a:solidFill>
                    <a:schemeClr val="tx1"/>
                  </a:solidFill>
                  <a:latin typeface="+mj-lt"/>
                  <a:cs typeface="Arial" panose="020B0604020202020204" pitchFamily="34" charset="0"/>
                </a:rPr>
                <a:t> </a:t>
              </a:r>
            </a:p>
          </p:txBody>
        </p:sp>
      </p:grpSp>
      <p:sp>
        <p:nvSpPr>
          <p:cNvPr id="291" name="TextBox 290">
            <a:extLst>
              <a:ext uri="{FF2B5EF4-FFF2-40B4-BE49-F238E27FC236}">
                <a16:creationId xmlns:a16="http://schemas.microsoft.com/office/drawing/2014/main" id="{27978515-36E2-7BC1-B47A-393B060F2F7D}"/>
              </a:ext>
            </a:extLst>
          </p:cNvPr>
          <p:cNvSpPr txBox="1"/>
          <p:nvPr/>
        </p:nvSpPr>
        <p:spPr>
          <a:xfrm>
            <a:off x="4939840" y="3853638"/>
            <a:ext cx="1624956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16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sorted actions</a:t>
            </a:r>
          </a:p>
        </p:txBody>
      </p:sp>
      <p:sp>
        <p:nvSpPr>
          <p:cNvPr id="292" name="Rounded Rectangle 291">
            <a:extLst>
              <a:ext uri="{FF2B5EF4-FFF2-40B4-BE49-F238E27FC236}">
                <a16:creationId xmlns:a16="http://schemas.microsoft.com/office/drawing/2014/main" id="{0A91749F-39A2-AA44-DD2D-FE69AF3BBDBA}"/>
              </a:ext>
            </a:extLst>
          </p:cNvPr>
          <p:cNvSpPr>
            <a:spLocks noChangeAspect="1"/>
          </p:cNvSpPr>
          <p:nvPr/>
        </p:nvSpPr>
        <p:spPr>
          <a:xfrm>
            <a:off x="4691258" y="3898216"/>
            <a:ext cx="273600" cy="2679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sz="1600" b="1" dirty="0">
                <a:solidFill>
                  <a:schemeClr val="tx1"/>
                </a:solidFill>
              </a:rPr>
              <a:t>7</a:t>
            </a:r>
          </a:p>
        </p:txBody>
      </p:sp>
      <p:cxnSp>
        <p:nvCxnSpPr>
          <p:cNvPr id="27" name="Straight Arrow Connector 12">
            <a:extLst>
              <a:ext uri="{FF2B5EF4-FFF2-40B4-BE49-F238E27FC236}">
                <a16:creationId xmlns:a16="http://schemas.microsoft.com/office/drawing/2014/main" id="{B0E9FB6A-F03C-2C12-9D2B-1EF9D3011581}"/>
              </a:ext>
            </a:extLst>
          </p:cNvPr>
          <p:cNvCxnSpPr>
            <a:cxnSpLocks/>
            <a:endCxn id="71" idx="3"/>
          </p:cNvCxnSpPr>
          <p:nvPr/>
        </p:nvCxnSpPr>
        <p:spPr>
          <a:xfrm rot="5400000">
            <a:off x="4193571" y="5224634"/>
            <a:ext cx="437171" cy="220968"/>
          </a:xfrm>
          <a:prstGeom prst="bentConnector2">
            <a:avLst/>
          </a:prstGeom>
          <a:ln>
            <a:solidFill>
              <a:schemeClr val="bg1">
                <a:lumMod val="50000"/>
                <a:lumOff val="50000"/>
              </a:schemeClr>
            </a:solidFill>
            <a:headEnd type="triangle" w="lg" len="lg"/>
            <a:tailEnd type="non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73E0C54-B578-3F65-022E-CFFCA5143E41}"/>
              </a:ext>
            </a:extLst>
          </p:cNvPr>
          <p:cNvGrpSpPr/>
          <p:nvPr/>
        </p:nvGrpSpPr>
        <p:grpSpPr>
          <a:xfrm>
            <a:off x="4691258" y="5331477"/>
            <a:ext cx="2282795" cy="338554"/>
            <a:chOff x="4667191" y="985951"/>
            <a:chExt cx="2282795" cy="338554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02846FDB-6CA0-864D-2E5D-59BF2017E318}"/>
                </a:ext>
              </a:extLst>
            </p:cNvPr>
            <p:cNvSpPr txBox="1"/>
            <p:nvPr/>
          </p:nvSpPr>
          <p:spPr>
            <a:xfrm>
              <a:off x="4925946" y="985951"/>
              <a:ext cx="2024040" cy="33855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lang="en-GB" sz="16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selected action</a:t>
              </a:r>
            </a:p>
          </p:txBody>
        </p:sp>
        <p:sp>
          <p:nvSpPr>
            <p:cNvPr id="43" name="Rounded Rectangle 42">
              <a:extLst>
                <a:ext uri="{FF2B5EF4-FFF2-40B4-BE49-F238E27FC236}">
                  <a16:creationId xmlns:a16="http://schemas.microsoft.com/office/drawing/2014/main" id="{C5674D27-5306-C134-2D39-04E0895BD33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67191" y="1026770"/>
              <a:ext cx="273600" cy="2679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sz="1600" b="1" dirty="0">
                  <a:solidFill>
                    <a:schemeClr val="tx1"/>
                  </a:solidFill>
                </a:rPr>
                <a:t>9</a:t>
              </a:r>
            </a:p>
          </p:txBody>
        </p:sp>
      </p:grpSp>
      <p:cxnSp>
        <p:nvCxnSpPr>
          <p:cNvPr id="12" name="Straight Arrow Connector 12">
            <a:extLst>
              <a:ext uri="{FF2B5EF4-FFF2-40B4-BE49-F238E27FC236}">
                <a16:creationId xmlns:a16="http://schemas.microsoft.com/office/drawing/2014/main" id="{F134FB37-9679-70A1-D2C4-F53B8503E510}"/>
              </a:ext>
            </a:extLst>
          </p:cNvPr>
          <p:cNvCxnSpPr>
            <a:cxnSpLocks/>
            <a:stCxn id="24" idx="0"/>
            <a:endCxn id="34" idx="1"/>
          </p:cNvCxnSpPr>
          <p:nvPr/>
        </p:nvCxnSpPr>
        <p:spPr>
          <a:xfrm rot="5400000" flipH="1" flipV="1">
            <a:off x="5809256" y="-928054"/>
            <a:ext cx="1615734" cy="6027789"/>
          </a:xfrm>
          <a:prstGeom prst="bentConnector2">
            <a:avLst/>
          </a:prstGeom>
          <a:ln>
            <a:solidFill>
              <a:schemeClr val="bg1">
                <a:lumMod val="50000"/>
                <a:lumOff val="50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E3E39638-433A-261D-7657-4C7522C75ADF}"/>
              </a:ext>
            </a:extLst>
          </p:cNvPr>
          <p:cNvSpPr txBox="1"/>
          <p:nvPr/>
        </p:nvSpPr>
        <p:spPr>
          <a:xfrm>
            <a:off x="3746566" y="2893706"/>
            <a:ext cx="243656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PT" dirty="0"/>
              <a:t>   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DADCFAF-2F6F-BEA0-8A6B-59D51AA9B00F}"/>
              </a:ext>
            </a:extLst>
          </p:cNvPr>
          <p:cNvSpPr/>
          <p:nvPr/>
        </p:nvSpPr>
        <p:spPr>
          <a:xfrm>
            <a:off x="9686698" y="1652880"/>
            <a:ext cx="1688400" cy="392400"/>
          </a:xfrm>
          <a:prstGeom prst="rect">
            <a:avLst/>
          </a:prstGeom>
          <a:solidFill>
            <a:schemeClr val="tx1">
              <a:lumMod val="95000"/>
            </a:schemeClr>
          </a:solidFill>
          <a:ln w="2222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36000" bIns="144000" anchor="ctr"/>
          <a:lstStyle/>
          <a:p>
            <a:r>
              <a:rPr lang="en-GB" sz="28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🏦 </a:t>
            </a:r>
            <a:r>
              <a:rPr lang="en-GB" sz="20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Collector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6D49C6C-6B4E-9271-F412-BFEB4CB717C7}"/>
              </a:ext>
            </a:extLst>
          </p:cNvPr>
          <p:cNvSpPr txBox="1"/>
          <p:nvPr/>
        </p:nvSpPr>
        <p:spPr>
          <a:xfrm>
            <a:off x="9621080" y="2882349"/>
            <a:ext cx="304571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PT" dirty="0"/>
              <a:t>     </a:t>
            </a:r>
          </a:p>
        </p:txBody>
      </p:sp>
      <p:cxnSp>
        <p:nvCxnSpPr>
          <p:cNvPr id="26" name="Straight Arrow Connector 12">
            <a:extLst>
              <a:ext uri="{FF2B5EF4-FFF2-40B4-BE49-F238E27FC236}">
                <a16:creationId xmlns:a16="http://schemas.microsoft.com/office/drawing/2014/main" id="{FF98EB8F-B6A5-11B7-DC38-F78D11EE97D0}"/>
              </a:ext>
            </a:extLst>
          </p:cNvPr>
          <p:cNvCxnSpPr>
            <a:cxnSpLocks/>
            <a:stCxn id="16" idx="3"/>
            <a:endCxn id="9" idx="3"/>
          </p:cNvCxnSpPr>
          <p:nvPr/>
        </p:nvCxnSpPr>
        <p:spPr>
          <a:xfrm flipV="1">
            <a:off x="4532067" y="1849080"/>
            <a:ext cx="6843031" cy="3005475"/>
          </a:xfrm>
          <a:prstGeom prst="bentConnector3">
            <a:avLst>
              <a:gd name="adj1" fmla="val 109732"/>
            </a:avLst>
          </a:prstGeom>
          <a:ln>
            <a:solidFill>
              <a:schemeClr val="bg1">
                <a:lumMod val="50000"/>
                <a:lumOff val="50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B7F569CE-616D-61A8-225F-A0520CC1CBF4}"/>
              </a:ext>
            </a:extLst>
          </p:cNvPr>
          <p:cNvSpPr txBox="1"/>
          <p:nvPr/>
        </p:nvSpPr>
        <p:spPr>
          <a:xfrm>
            <a:off x="2941982" y="2902228"/>
            <a:ext cx="36548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PT" dirty="0"/>
              <a:t>     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2367F58-EEA6-5DD8-E752-B3B67F42306A}"/>
              </a:ext>
            </a:extLst>
          </p:cNvPr>
          <p:cNvSpPr txBox="1"/>
          <p:nvPr/>
        </p:nvSpPr>
        <p:spPr>
          <a:xfrm>
            <a:off x="9631018" y="1093307"/>
            <a:ext cx="36548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PT" dirty="0"/>
              <a:t>      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CB93AD3-B807-A24E-FB99-9E0FA2971A3A}"/>
              </a:ext>
            </a:extLst>
          </p:cNvPr>
          <p:cNvSpPr txBox="1"/>
          <p:nvPr/>
        </p:nvSpPr>
        <p:spPr>
          <a:xfrm>
            <a:off x="9621081" y="1282145"/>
            <a:ext cx="36548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PT" dirty="0"/>
              <a:t>      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B7A173E-AB0B-14DA-AEB9-E5A1E4EC2B1B}"/>
              </a:ext>
            </a:extLst>
          </p:cNvPr>
          <p:cNvSpPr txBox="1"/>
          <p:nvPr/>
        </p:nvSpPr>
        <p:spPr>
          <a:xfrm>
            <a:off x="10679879" y="4432547"/>
            <a:ext cx="1091366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GB" sz="16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payment</a:t>
            </a:r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7CC86E2E-A5A6-E774-1D0D-BDE607B533CE}"/>
              </a:ext>
            </a:extLst>
          </p:cNvPr>
          <p:cNvSpPr>
            <a:spLocks noChangeAspect="1"/>
          </p:cNvSpPr>
          <p:nvPr/>
        </p:nvSpPr>
        <p:spPr>
          <a:xfrm>
            <a:off x="11652559" y="4473503"/>
            <a:ext cx="273600" cy="2679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sz="1600" b="1" dirty="0">
                <a:solidFill>
                  <a:schemeClr val="tx1"/>
                </a:solidFill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3069026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AWS">
  <a:themeElements>
    <a:clrScheme name="Custom 1">
      <a:dk1>
        <a:srgbClr val="000000"/>
      </a:dk1>
      <a:lt1>
        <a:srgbClr val="FFFFFF"/>
      </a:lt1>
      <a:dk2>
        <a:srgbClr val="424242"/>
      </a:dk2>
      <a:lt2>
        <a:srgbClr val="E7E6E6"/>
      </a:lt2>
      <a:accent1>
        <a:srgbClr val="EE7674"/>
      </a:accent1>
      <a:accent2>
        <a:srgbClr val="EB975C"/>
      </a:accent2>
      <a:accent3>
        <a:srgbClr val="D8B83E"/>
      </a:accent3>
      <a:accent4>
        <a:srgbClr val="77AD41"/>
      </a:accent4>
      <a:accent5>
        <a:srgbClr val="4E68E3"/>
      </a:accent5>
      <a:accent6>
        <a:srgbClr val="AA87F0"/>
      </a:accent6>
      <a:hlink>
        <a:srgbClr val="5DADFD"/>
      </a:hlink>
      <a:folHlink>
        <a:srgbClr val="89BDEE"/>
      </a:folHlink>
    </a:clrScheme>
    <a:fontScheme name="Custom 1">
      <a:majorFont>
        <a:latin typeface="Amazon Ember Display"/>
        <a:ea typeface=""/>
        <a:cs typeface=""/>
      </a:majorFont>
      <a:minorFont>
        <a:latin typeface="Amazon Ember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45720" tIns="45720" rIns="45720" rtlCol="0" anchor="ctr"/>
      <a:lstStyle>
        <a:defPPr algn="ctr">
          <a:defRPr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reInvent2022_Template_20220602_jk" id="{4D40DF26-0619-F045-92CA-85A149055DE4}" vid="{7DC3BE44-FE2F-D447-8D75-5EE52C00B4F1}"/>
    </a:ext>
  </a:extLst>
</a:theme>
</file>

<file path=ppt/theme/theme2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AWS</Template>
  <TotalTime>49923</TotalTime>
  <Words>324</Words>
  <Application>Microsoft Macintosh PowerPoint</Application>
  <PresentationFormat>Widescreen</PresentationFormat>
  <Paragraphs>204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Amazon Ember Display</vt:lpstr>
      <vt:lpstr>Amazon Ember</vt:lpstr>
      <vt:lpstr>Segoe UI</vt:lpstr>
      <vt:lpstr>Wingdings</vt:lpstr>
      <vt:lpstr>AWS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SriHari Thotapalli</dc:creator>
  <cp:lastModifiedBy>Jorge Fonseca</cp:lastModifiedBy>
  <cp:revision>158</cp:revision>
  <dcterms:created xsi:type="dcterms:W3CDTF">2022-10-07T16:14:37Z</dcterms:created>
  <dcterms:modified xsi:type="dcterms:W3CDTF">2025-09-07T15:20:45Z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29eed6f-34eb-4453-9f97-09510b9b219f_Enabled">
    <vt:lpwstr>true</vt:lpwstr>
  </property>
  <property fmtid="{D5CDD505-2E9C-101B-9397-08002B2CF9AE}" pid="3" name="MSIP_Label_929eed6f-34eb-4453-9f97-09510b9b219f_SetDate">
    <vt:lpwstr>2025-04-22T20:19:07Z</vt:lpwstr>
  </property>
  <property fmtid="{D5CDD505-2E9C-101B-9397-08002B2CF9AE}" pid="4" name="MSIP_Label_929eed6f-34eb-4453-9f97-09510b9b219f_Method">
    <vt:lpwstr>Standard</vt:lpwstr>
  </property>
  <property fmtid="{D5CDD505-2E9C-101B-9397-08002B2CF9AE}" pid="5" name="MSIP_Label_929eed6f-34eb-4453-9f97-09510b9b219f_Name">
    <vt:lpwstr>Amazon Pending_Classification</vt:lpwstr>
  </property>
  <property fmtid="{D5CDD505-2E9C-101B-9397-08002B2CF9AE}" pid="6" name="MSIP_Label_929eed6f-34eb-4453-9f97-09510b9b219f_SiteId">
    <vt:lpwstr>5280104a-472d-4538-9ccf-1e1d0efe8b1b</vt:lpwstr>
  </property>
  <property fmtid="{D5CDD505-2E9C-101B-9397-08002B2CF9AE}" pid="7" name="MSIP_Label_929eed6f-34eb-4453-9f97-09510b9b219f_ActionId">
    <vt:lpwstr>95b68642-ed85-41cb-99aa-3b883b9396ca</vt:lpwstr>
  </property>
  <property fmtid="{D5CDD505-2E9C-101B-9397-08002B2CF9AE}" pid="8" name="MSIP_Label_929eed6f-34eb-4453-9f97-09510b9b219f_ContentBits">
    <vt:lpwstr>0</vt:lpwstr>
  </property>
  <property fmtid="{D5CDD505-2E9C-101B-9397-08002B2CF9AE}" pid="9" name="MSIP_Label_929eed6f-34eb-4453-9f97-09510b9b219f_Tag">
    <vt:lpwstr>50, 3, 0, 1</vt:lpwstr>
  </property>
</Properties>
</file>