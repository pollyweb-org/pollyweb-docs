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827" r:id="rId2"/>
    <p:sldId id="1822" r:id="rId3"/>
  </p:sldIdLst>
  <p:sldSz cx="12192000" cy="6858000"/>
  <p:notesSz cx="6858000" cy="9144000"/>
  <p:embeddedFontLst>
    <p:embeddedFont>
      <p:font typeface="Amazon Ember" panose="020B0603020204020204" pitchFamily="34" charset="0"/>
      <p:regular r:id="rId6"/>
      <p:bold r:id="rId7"/>
      <p:italic r:id="rId8"/>
      <p:boldItalic r:id="rId9"/>
    </p:embeddedFont>
    <p:embeddedFont>
      <p:font typeface="Amazon Ember Display" panose="020F0603020204020204" pitchFamily="34" charset="0"/>
      <p:regular r:id="rId10"/>
      <p:bold r:id="rId11"/>
      <p:italic r:id="rId12"/>
      <p:boldItalic r:id="rId13"/>
    </p:embeddedFont>
    <p:embeddedFont>
      <p:font typeface="Segoe UI" panose="020B0502040204020203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." id="{4C3050E7-71FD-354D-B394-185F1158456F}">
          <p14:sldIdLst>
            <p14:sldId id="1827"/>
            <p14:sldId id="182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62" autoAdjust="0"/>
    <p:restoredTop sz="96966" autoAdjust="0"/>
  </p:normalViewPr>
  <p:slideViewPr>
    <p:cSldViewPr snapToGrid="0">
      <p:cViewPr varScale="1">
        <p:scale>
          <a:sx n="121" d="100"/>
          <a:sy n="121" d="100"/>
        </p:scale>
        <p:origin x="176" y="3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08D16-A2F3-C04F-311A-D35BA296D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4B9977-534F-92A4-E7E9-107B4F671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082247-1E82-18D4-50FF-7A113F5BA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BB5A4D5-BB1E-0CB6-DC88-35A51A23E15A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29A6D-EC72-6F7C-5A00-ED99508EE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561D84B-ADF5-D723-87BA-7730E44027C4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8/28/25 7:03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A7BD2-95DE-27A4-09F9-32343390E81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491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80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75AF2-8B85-3DDA-F710-B6AB3257A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28BB01-5CF5-698A-377B-4CDC294623CF}"/>
              </a:ext>
            </a:extLst>
          </p:cNvPr>
          <p:cNvSpPr txBox="1"/>
          <p:nvPr/>
        </p:nvSpPr>
        <p:spPr>
          <a:xfrm>
            <a:off x="1521508" y="1613118"/>
            <a:ext cx="9148983" cy="186204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🧢 Persona</a:t>
            </a:r>
          </a:p>
        </p:txBody>
      </p:sp>
    </p:spTree>
    <p:extLst>
      <p:ext uri="{BB962C8B-B14F-4D97-AF65-F5344CB8AC3E}">
        <p14:creationId xmlns:p14="http://schemas.microsoft.com/office/powerpoint/2010/main" val="1908638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A4B11-28E4-4383-4234-1D2ACC2A2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A2E1A46A-4815-BB3F-4B32-641A1BC633E3}"/>
              </a:ext>
            </a:extLst>
          </p:cNvPr>
          <p:cNvGrpSpPr/>
          <p:nvPr/>
        </p:nvGrpSpPr>
        <p:grpSpPr>
          <a:xfrm>
            <a:off x="532072" y="286685"/>
            <a:ext cx="1988691" cy="1316816"/>
            <a:chOff x="7388710" y="3835400"/>
            <a:chExt cx="1988691" cy="1316816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EA135DD-2082-82B8-229B-D96504C2F719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A5B98A6-91CE-6214-67E7-30C7FB70740A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26E611B4-8E15-DE57-6863-BD053AD008F6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D34AFCB-C9D6-A289-FE3A-A5F2A6869F4D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CB8350A-5683-8411-3F6A-C209660F7C20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5DCC587-3B4F-525B-A799-00F4D8D6DE98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🤵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65C00A8-DF45-EB49-177E-15903748AFC7}"/>
              </a:ext>
            </a:extLst>
          </p:cNvPr>
          <p:cNvGrpSpPr/>
          <p:nvPr/>
        </p:nvGrpSpPr>
        <p:grpSpPr>
          <a:xfrm>
            <a:off x="4370665" y="1733659"/>
            <a:ext cx="1954571" cy="1038741"/>
            <a:chOff x="7507403" y="1006813"/>
            <a:chExt cx="634085" cy="1038741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6C658B3-0BE3-0C61-3759-F9E1F7DF4434}"/>
                </a:ext>
              </a:extLst>
            </p:cNvPr>
            <p:cNvSpPr/>
            <p:nvPr/>
          </p:nvSpPr>
          <p:spPr>
            <a:xfrm>
              <a:off x="7538137" y="1386857"/>
              <a:ext cx="575852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🧢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Persona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C29DD33-BB15-CBB8-3AF8-570BEB51013F}"/>
                </a:ext>
              </a:extLst>
            </p:cNvPr>
            <p:cNvSpPr/>
            <p:nvPr/>
          </p:nvSpPr>
          <p:spPr>
            <a:xfrm>
              <a:off x="7507403" y="1006813"/>
              <a:ext cx="63408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800" i="1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176FE8-4475-D22D-1CDA-B52858F752AC}"/>
              </a:ext>
            </a:extLst>
          </p:cNvPr>
          <p:cNvGrpSpPr/>
          <p:nvPr/>
        </p:nvGrpSpPr>
        <p:grpSpPr>
          <a:xfrm>
            <a:off x="547304" y="3185719"/>
            <a:ext cx="1954571" cy="1014729"/>
            <a:chOff x="7494698" y="1006813"/>
            <a:chExt cx="928364" cy="1014729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30E02F3-B421-B727-DE12-CEF982D3B6C4}"/>
                </a:ext>
              </a:extLst>
            </p:cNvPr>
            <p:cNvSpPr/>
            <p:nvPr/>
          </p:nvSpPr>
          <p:spPr>
            <a:xfrm>
              <a:off x="7534955" y="1366273"/>
              <a:ext cx="84784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📦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Storage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789C2BF-9807-BF40-D05B-7A035D51FDC8}"/>
                </a:ext>
              </a:extLst>
            </p:cNvPr>
            <p:cNvSpPr/>
            <p:nvPr/>
          </p:nvSpPr>
          <p:spPr>
            <a:xfrm>
              <a:off x="7494698" y="1006813"/>
              <a:ext cx="928364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cxnSp>
        <p:nvCxnSpPr>
          <p:cNvPr id="61" name="Straight Arrow Connector 12">
            <a:extLst>
              <a:ext uri="{FF2B5EF4-FFF2-40B4-BE49-F238E27FC236}">
                <a16:creationId xmlns:a16="http://schemas.microsoft.com/office/drawing/2014/main" id="{F024E194-DE89-72F2-73F0-621F03168232}"/>
              </a:ext>
            </a:extLst>
          </p:cNvPr>
          <p:cNvCxnSpPr>
            <a:cxnSpLocks/>
            <a:stCxn id="108" idx="2"/>
            <a:endCxn id="60" idx="3"/>
          </p:cNvCxnSpPr>
          <p:nvPr/>
        </p:nvCxnSpPr>
        <p:spPr>
          <a:xfrm rot="5400000">
            <a:off x="3120664" y="2150882"/>
            <a:ext cx="923414" cy="2160991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1382EA11-F2DA-1300-D024-41C13C585AAF}"/>
              </a:ext>
            </a:extLst>
          </p:cNvPr>
          <p:cNvSpPr txBox="1">
            <a:spLocks/>
          </p:cNvSpPr>
          <p:nvPr/>
        </p:nvSpPr>
        <p:spPr>
          <a:xfrm>
            <a:off x="4009897" y="3697560"/>
            <a:ext cx="855134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store</a:t>
            </a:r>
          </a:p>
        </p:txBody>
      </p:sp>
      <p:cxnSp>
        <p:nvCxnSpPr>
          <p:cNvPr id="65" name="Straight Arrow Connector 12">
            <a:extLst>
              <a:ext uri="{FF2B5EF4-FFF2-40B4-BE49-F238E27FC236}">
                <a16:creationId xmlns:a16="http://schemas.microsoft.com/office/drawing/2014/main" id="{FD3D29AC-ABF2-0B55-1245-16D15CD73B85}"/>
              </a:ext>
            </a:extLst>
          </p:cNvPr>
          <p:cNvCxnSpPr>
            <a:cxnSpLocks/>
            <a:stCxn id="54" idx="3"/>
            <a:endCxn id="108" idx="0"/>
          </p:cNvCxnSpPr>
          <p:nvPr/>
        </p:nvCxnSpPr>
        <p:spPr>
          <a:xfrm>
            <a:off x="2520763" y="945093"/>
            <a:ext cx="2142103" cy="791294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6" name="Content Placeholder 2">
            <a:extLst>
              <a:ext uri="{FF2B5EF4-FFF2-40B4-BE49-F238E27FC236}">
                <a16:creationId xmlns:a16="http://schemas.microsoft.com/office/drawing/2014/main" id="{6CD150CE-44FA-9F6F-24E1-EFFB88CD1F63}"/>
              </a:ext>
            </a:extLst>
          </p:cNvPr>
          <p:cNvSpPr txBox="1">
            <a:spLocks/>
          </p:cNvSpPr>
          <p:nvPr/>
        </p:nvSpPr>
        <p:spPr>
          <a:xfrm>
            <a:off x="2550979" y="498091"/>
            <a:ext cx="200903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update </a:t>
            </a:r>
            <a:r>
              <a:rPr lang="en-GB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🧢</a:t>
            </a:r>
            <a:endParaRPr lang="en-US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99F66E0-BDFE-5EC7-9D9A-3D0791CFAD74}"/>
              </a:ext>
            </a:extLst>
          </p:cNvPr>
          <p:cNvGrpSpPr/>
          <p:nvPr/>
        </p:nvGrpSpPr>
        <p:grpSpPr>
          <a:xfrm>
            <a:off x="9503825" y="286685"/>
            <a:ext cx="2215598" cy="1052126"/>
            <a:chOff x="6342510" y="1588554"/>
            <a:chExt cx="2215598" cy="1052126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307E98B4-56F0-4AF8-7EA0-88A3218AD072}"/>
                </a:ext>
              </a:extLst>
            </p:cNvPr>
            <p:cNvGrpSpPr/>
            <p:nvPr/>
          </p:nvGrpSpPr>
          <p:grpSpPr>
            <a:xfrm>
              <a:off x="6342510" y="1588554"/>
              <a:ext cx="2215598" cy="1038741"/>
              <a:chOff x="6104399" y="5100898"/>
              <a:chExt cx="3925067" cy="1038741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AD697CD8-7B45-E3B7-5ECB-853E9B3ED41F}"/>
                  </a:ext>
                </a:extLst>
              </p:cNvPr>
              <p:cNvSpPr/>
              <p:nvPr/>
            </p:nvSpPr>
            <p:spPr>
              <a:xfrm>
                <a:off x="6258929" y="5490228"/>
                <a:ext cx="3621181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🛎️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Concierge</a:t>
                </a: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D89FF920-F6A5-FE48-750F-D6AE76E5046C}"/>
                  </a:ext>
                </a:extLst>
              </p:cNvPr>
              <p:cNvSpPr/>
              <p:nvPr/>
            </p:nvSpPr>
            <p:spPr>
              <a:xfrm>
                <a:off x="6104399" y="5100898"/>
                <a:ext cx="3925067" cy="1038741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GB" sz="2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user bound</a:t>
                </a: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170EDC2-061E-20A6-3861-1B008BBC2FCE}"/>
                </a:ext>
              </a:extLst>
            </p:cNvPr>
            <p:cNvSpPr txBox="1"/>
            <p:nvPr/>
          </p:nvSpPr>
          <p:spPr>
            <a:xfrm flipH="1">
              <a:off x="7969827" y="1600438"/>
              <a:ext cx="378075" cy="1040242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l"/>
              <a:endParaRPr lang="en-US" dirty="0" err="1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208BB23-2D26-276E-EF3B-1682C4BF88DF}"/>
              </a:ext>
            </a:extLst>
          </p:cNvPr>
          <p:cNvGrpSpPr/>
          <p:nvPr/>
        </p:nvGrpSpPr>
        <p:grpSpPr>
          <a:xfrm>
            <a:off x="9498737" y="1730619"/>
            <a:ext cx="2215594" cy="1038741"/>
            <a:chOff x="7507403" y="1006813"/>
            <a:chExt cx="718764" cy="1038741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36D86F92-3597-B02B-4E37-15237A258E05}"/>
                </a:ext>
              </a:extLst>
            </p:cNvPr>
            <p:cNvSpPr/>
            <p:nvPr/>
          </p:nvSpPr>
          <p:spPr>
            <a:xfrm>
              <a:off x="7538137" y="1386857"/>
              <a:ext cx="66068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🕓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Timeline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2016800-AED7-D2F3-0645-9AAF35E54A3D}"/>
                </a:ext>
              </a:extLst>
            </p:cNvPr>
            <p:cNvSpPr/>
            <p:nvPr/>
          </p:nvSpPr>
          <p:spPr>
            <a:xfrm>
              <a:off x="7507403" y="1006813"/>
              <a:ext cx="718764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6E71B11-317C-E92C-5FE3-56A9AFF8D097}"/>
              </a:ext>
            </a:extLst>
          </p:cNvPr>
          <p:cNvGrpSpPr/>
          <p:nvPr/>
        </p:nvGrpSpPr>
        <p:grpSpPr>
          <a:xfrm>
            <a:off x="9503819" y="3161412"/>
            <a:ext cx="2215592" cy="1038741"/>
            <a:chOff x="7520892" y="1006813"/>
            <a:chExt cx="490925" cy="1038741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90A90131-8578-ADDB-33A5-8D203C96A08D}"/>
                </a:ext>
              </a:extLst>
            </p:cNvPr>
            <p:cNvSpPr/>
            <p:nvPr/>
          </p:nvSpPr>
          <p:spPr>
            <a:xfrm>
              <a:off x="7538137" y="1386857"/>
              <a:ext cx="45500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🔎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Finder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FAC47CB-ECB8-2B58-BEE7-AD14307874DC}"/>
                </a:ext>
              </a:extLst>
            </p:cNvPr>
            <p:cNvSpPr/>
            <p:nvPr/>
          </p:nvSpPr>
          <p:spPr>
            <a:xfrm>
              <a:off x="7520892" y="1006813"/>
              <a:ext cx="49092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cxnSp>
        <p:nvCxnSpPr>
          <p:cNvPr id="90" name="Straight Arrow Connector 12">
            <a:extLst>
              <a:ext uri="{FF2B5EF4-FFF2-40B4-BE49-F238E27FC236}">
                <a16:creationId xmlns:a16="http://schemas.microsoft.com/office/drawing/2014/main" id="{E07B8B0C-2672-8FD7-4E55-AF557DB29852}"/>
              </a:ext>
            </a:extLst>
          </p:cNvPr>
          <p:cNvCxnSpPr>
            <a:cxnSpLocks/>
            <a:stCxn id="120" idx="0"/>
            <a:endCxn id="76" idx="1"/>
          </p:cNvCxnSpPr>
          <p:nvPr/>
        </p:nvCxnSpPr>
        <p:spPr>
          <a:xfrm rot="5400000" flipH="1" flipV="1">
            <a:off x="7240916" y="-526318"/>
            <a:ext cx="930535" cy="3595284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3" name="Straight Arrow Connector 12">
            <a:extLst>
              <a:ext uri="{FF2B5EF4-FFF2-40B4-BE49-F238E27FC236}">
                <a16:creationId xmlns:a16="http://schemas.microsoft.com/office/drawing/2014/main" id="{83E798EB-3BDF-C34E-9B08-B10E1E5D563E}"/>
              </a:ext>
            </a:extLst>
          </p:cNvPr>
          <p:cNvCxnSpPr>
            <a:cxnSpLocks/>
            <a:stCxn id="57" idx="3"/>
            <a:endCxn id="86" idx="1"/>
          </p:cNvCxnSpPr>
          <p:nvPr/>
        </p:nvCxnSpPr>
        <p:spPr>
          <a:xfrm flipV="1">
            <a:off x="6325236" y="2249990"/>
            <a:ext cx="3173501" cy="304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6" name="Straight Arrow Connector 12">
            <a:extLst>
              <a:ext uri="{FF2B5EF4-FFF2-40B4-BE49-F238E27FC236}">
                <a16:creationId xmlns:a16="http://schemas.microsoft.com/office/drawing/2014/main" id="{B9FC0770-4F52-5C88-7D41-08679F86C3DE}"/>
              </a:ext>
            </a:extLst>
          </p:cNvPr>
          <p:cNvCxnSpPr>
            <a:cxnSpLocks/>
            <a:stCxn id="120" idx="2"/>
            <a:endCxn id="89" idx="1"/>
          </p:cNvCxnSpPr>
          <p:nvPr/>
        </p:nvCxnSpPr>
        <p:spPr>
          <a:xfrm rot="16200000" flipH="1">
            <a:off x="7250726" y="1427689"/>
            <a:ext cx="910909" cy="3595278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967A1E41-35C6-59F5-91F0-CEE43F6FF60D}"/>
              </a:ext>
            </a:extLst>
          </p:cNvPr>
          <p:cNvSpPr txBox="1"/>
          <p:nvPr/>
        </p:nvSpPr>
        <p:spPr>
          <a:xfrm>
            <a:off x="6335208" y="2249989"/>
            <a:ext cx="26616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anonymized file transcripts</a:t>
            </a:r>
          </a:p>
        </p:txBody>
      </p:sp>
      <p:sp>
        <p:nvSpPr>
          <p:cNvPr id="104" name="Content Placeholder 2">
            <a:extLst>
              <a:ext uri="{FF2B5EF4-FFF2-40B4-BE49-F238E27FC236}">
                <a16:creationId xmlns:a16="http://schemas.microsoft.com/office/drawing/2014/main" id="{CC79B18D-9F55-86C3-BFC8-3B740643E31D}"/>
              </a:ext>
            </a:extLst>
          </p:cNvPr>
          <p:cNvSpPr txBox="1">
            <a:spLocks/>
          </p:cNvSpPr>
          <p:nvPr/>
        </p:nvSpPr>
        <p:spPr>
          <a:xfrm>
            <a:off x="5938292" y="806055"/>
            <a:ext cx="337062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filtered, sorted suppliers</a:t>
            </a:r>
            <a:endParaRPr lang="en-US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FF5A3D0-02CB-A65E-7D92-34FA26D5CE15}"/>
              </a:ext>
            </a:extLst>
          </p:cNvPr>
          <p:cNvSpPr txBox="1"/>
          <p:nvPr/>
        </p:nvSpPr>
        <p:spPr>
          <a:xfrm>
            <a:off x="4541038" y="1736387"/>
            <a:ext cx="243656" cy="103328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</a:t>
            </a:r>
          </a:p>
        </p:txBody>
      </p:sp>
      <p:sp>
        <p:nvSpPr>
          <p:cNvPr id="114" name="Content Placeholder 2">
            <a:extLst>
              <a:ext uri="{FF2B5EF4-FFF2-40B4-BE49-F238E27FC236}">
                <a16:creationId xmlns:a16="http://schemas.microsoft.com/office/drawing/2014/main" id="{D941C8A3-FB21-D0A4-A724-14008BA0F028}"/>
              </a:ext>
            </a:extLst>
          </p:cNvPr>
          <p:cNvSpPr txBox="1">
            <a:spLocks/>
          </p:cNvSpPr>
          <p:nvPr/>
        </p:nvSpPr>
        <p:spPr>
          <a:xfrm>
            <a:off x="2550979" y="977188"/>
            <a:ext cx="200903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upload </a:t>
            </a:r>
            <a:r>
              <a:rPr lang="en-GB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📄</a:t>
            </a:r>
            <a:endParaRPr lang="en-US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19" name="Content Placeholder 2">
            <a:extLst>
              <a:ext uri="{FF2B5EF4-FFF2-40B4-BE49-F238E27FC236}">
                <a16:creationId xmlns:a16="http://schemas.microsoft.com/office/drawing/2014/main" id="{5396BB20-4BC0-CEEA-ACDD-D7B3AA6FFB60}"/>
              </a:ext>
            </a:extLst>
          </p:cNvPr>
          <p:cNvSpPr txBox="1">
            <a:spLocks/>
          </p:cNvSpPr>
          <p:nvPr/>
        </p:nvSpPr>
        <p:spPr>
          <a:xfrm>
            <a:off x="5813309" y="3698389"/>
            <a:ext cx="337062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search preferences</a:t>
            </a:r>
            <a:endParaRPr lang="en-US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701DF13-CC4E-9AEB-BEA7-2554AF14AD85}"/>
              </a:ext>
            </a:extLst>
          </p:cNvPr>
          <p:cNvSpPr txBox="1"/>
          <p:nvPr/>
        </p:nvSpPr>
        <p:spPr>
          <a:xfrm>
            <a:off x="5786713" y="1736591"/>
            <a:ext cx="243656" cy="103328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AECDCE-8385-8AAA-CA35-F6BCEA10D350}"/>
              </a:ext>
            </a:extLst>
          </p:cNvPr>
          <p:cNvSpPr txBox="1"/>
          <p:nvPr/>
        </p:nvSpPr>
        <p:spPr>
          <a:xfrm>
            <a:off x="178670" y="6248084"/>
            <a:ext cx="1603003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PERSONA</a:t>
            </a:r>
          </a:p>
        </p:txBody>
      </p:sp>
    </p:spTree>
    <p:extLst>
      <p:ext uri="{BB962C8B-B14F-4D97-AF65-F5344CB8AC3E}">
        <p14:creationId xmlns:p14="http://schemas.microsoft.com/office/powerpoint/2010/main" val="14433312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47350</TotalTime>
  <Words>54</Words>
  <Application>Microsoft Macintosh PowerPoint</Application>
  <PresentationFormat>Widescreen</PresentationFormat>
  <Paragraphs>26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Amazon Ember Display</vt:lpstr>
      <vt:lpstr>Amazon Ember</vt:lpstr>
      <vt:lpstr>Segoe UI</vt:lpstr>
      <vt:lpstr>Wingdings</vt:lpstr>
      <vt:lpstr>AWS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155</cp:revision>
  <dcterms:created xsi:type="dcterms:W3CDTF">2022-10-07T16:14:37Z</dcterms:created>
  <dcterms:modified xsi:type="dcterms:W3CDTF">2025-08-27T22:03:34Z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2025-04-22T20:13:02Z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e472d3aa-0955-4b94-b7aa-9aabbcbb44cf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